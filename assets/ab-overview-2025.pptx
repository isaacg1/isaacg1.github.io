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61" r:id="rId2"/>
  </p:sldMasterIdLst>
  <p:notesMasterIdLst>
    <p:notesMasterId r:id="rId12"/>
  </p:notesMasterIdLst>
  <p:handoutMasterIdLst>
    <p:handoutMasterId r:id="rId13"/>
  </p:handoutMasterIdLst>
  <p:sldIdLst>
    <p:sldId id="256" r:id="rId3"/>
    <p:sldId id="549" r:id="rId4"/>
    <p:sldId id="550" r:id="rId5"/>
    <p:sldId id="551" r:id="rId6"/>
    <p:sldId id="552" r:id="rId7"/>
    <p:sldId id="553" r:id="rId8"/>
    <p:sldId id="554" r:id="rId9"/>
    <p:sldId id="555" r:id="rId10"/>
    <p:sldId id="556" r:id="rId11"/>
  </p:sldIdLst>
  <p:sldSz cx="9144000" cy="5143500" type="screen16x9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16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F56"/>
    <a:srgbClr val="FF0000"/>
    <a:srgbClr val="C50506"/>
    <a:srgbClr val="ABF7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94"/>
    <p:restoredTop sz="92789"/>
  </p:normalViewPr>
  <p:slideViewPr>
    <p:cSldViewPr snapToGrid="0" snapToObjects="1">
      <p:cViewPr varScale="1">
        <p:scale>
          <a:sx n="135" d="100"/>
          <a:sy n="135" d="100"/>
        </p:scale>
        <p:origin x="522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4" d="100"/>
          <a:sy n="114" d="100"/>
        </p:scale>
        <p:origin x="-4056" y="-10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302366D-2BB1-1D44-A920-38772E07476C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8D69C83-0A30-2C4F-9AA5-F534E6C3E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739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6EBFF33-8740-884E-9117-8CE82C098C33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696913"/>
            <a:ext cx="61960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1B9E779-BDB2-2A4A-A72C-484C260DC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225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Datacenters – PhD, continuing</a:t>
            </a:r>
          </a:p>
          <a:p>
            <a:r>
              <a:rPr lang="en-US" dirty="0"/>
              <a:t>Eds – just getting 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9E779-BDB2-2A4A-A72C-484C260DCC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53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 studying, ongoing projects or in the last year, not just could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9E779-BDB2-2A4A-A72C-484C260DCC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30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questions I’m studying</a:t>
            </a:r>
          </a:p>
          <a:p>
            <a:r>
              <a:rPr lang="en-US" dirty="0"/>
              <a:t>Especially in datacenters.</a:t>
            </a:r>
          </a:p>
          <a:p>
            <a:r>
              <a:rPr lang="en-US" dirty="0"/>
              <a:t>As well as the randomized timers policy</a:t>
            </a:r>
          </a:p>
          <a:p>
            <a:r>
              <a:rPr lang="en-US" dirty="0"/>
              <a:t>We’re using an approach based on “replicas”, which allows us to prove that any generic policy is no better than a mixture of a small, easy to analyze group of policies that we’ve identified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9E779-BDB2-2A4A-A72C-484C260DCC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6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269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9143999" cy="1162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iag-rule.ai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53" b="36625"/>
          <a:stretch/>
        </p:blipFill>
        <p:spPr>
          <a:xfrm>
            <a:off x="1" y="4887618"/>
            <a:ext cx="9143997" cy="255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3028" y="417786"/>
            <a:ext cx="7608972" cy="2334610"/>
          </a:xfrm>
        </p:spPr>
        <p:txBody>
          <a:bodyPr bIns="91440" anchor="b">
            <a:noAutofit/>
          </a:bodyPr>
          <a:lstStyle>
            <a:lvl1pPr>
              <a:lnSpc>
                <a:spcPct val="85000"/>
              </a:lnSpc>
              <a:defRPr sz="4800" b="0" cap="all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028" y="2935454"/>
            <a:ext cx="6999372" cy="11298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horiz_mcc-eng_white.eps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137" y="4239030"/>
            <a:ext cx="3073400" cy="3683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73027" y="4015433"/>
            <a:ext cx="3502640" cy="584200"/>
          </a:xfrm>
          <a:ln>
            <a:noFill/>
          </a:ln>
        </p:spPr>
        <p:txBody>
          <a:bodyPr lIns="0" rIns="0" anchor="b" anchorCtr="0">
            <a:normAutofit/>
          </a:bodyPr>
          <a:lstStyle>
            <a:lvl1pPr marL="0" indent="0">
              <a:buNone/>
              <a:defRPr sz="13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Speaker Name and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49632"/>
            <a:ext cx="7958667" cy="4296968"/>
          </a:xfrm>
        </p:spPr>
        <p:txBody>
          <a:bodyPr anchor="ctr" anchorCtr="0"/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66CA7-F568-4E61-9723-67F4090CE77D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40932" y="1024466"/>
            <a:ext cx="6126480" cy="2633134"/>
          </a:xfrm>
          <a:solidFill>
            <a:schemeClr val="accent1"/>
          </a:solidFill>
        </p:spPr>
        <p:txBody>
          <a:bodyPr lIns="365760" tIns="137160" rIns="365760" bIns="182880" anchor="ctr" anchorCtr="0">
            <a:noAutofit/>
          </a:bodyPr>
          <a:lstStyle>
            <a:lvl1pPr algn="ctr">
              <a:lnSpc>
                <a:spcPct val="90000"/>
              </a:lnSpc>
              <a:defRPr sz="40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40F7-80C6-451E-9805-6DFD31146398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98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40932" y="1024466"/>
            <a:ext cx="6126480" cy="2633134"/>
          </a:xfrm>
          <a:solidFill>
            <a:schemeClr val="accent3"/>
          </a:solidFill>
        </p:spPr>
        <p:txBody>
          <a:bodyPr lIns="365760" tIns="137160" rIns="365760" bIns="182880" anchor="ctr" anchorCtr="0">
            <a:noAutofit/>
          </a:bodyPr>
          <a:lstStyle>
            <a:lvl1pPr algn="ctr">
              <a:lnSpc>
                <a:spcPct val="90000"/>
              </a:lnSpc>
              <a:defRPr sz="40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7CE6-4DFA-4441-864F-4070A7698C74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2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3987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228600" y="228599"/>
            <a:ext cx="8686800" cy="4389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1394" y="1109132"/>
            <a:ext cx="7088909" cy="2463801"/>
          </a:xfrm>
          <a:noFill/>
          <a:ln>
            <a:noFill/>
          </a:ln>
          <a:effectLst/>
        </p:spPr>
        <p:txBody>
          <a:bodyPr lIns="365760" tIns="137160" rIns="365760" bIns="182880" anchor="ctr" anchorCtr="0">
            <a:noAutofit/>
          </a:bodyPr>
          <a:lstStyle>
            <a:lvl1pPr algn="ctr">
              <a:lnSpc>
                <a:spcPct val="85000"/>
              </a:lnSpc>
              <a:defRPr sz="4000" cap="all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0E60-9DA3-4EFD-A7F9-6D82CC0DFB78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269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3999" cy="4648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49632"/>
            <a:ext cx="7992533" cy="4296968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186504-030D-41A6-A015-9891AFB8D7AB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3999" cy="1162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5" t="74963" r="11175" b="9886"/>
          <a:stretch/>
        </p:blipFill>
        <p:spPr>
          <a:xfrm>
            <a:off x="0" y="4342486"/>
            <a:ext cx="9143999" cy="3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4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8400"/>
            <a:ext cx="8397766" cy="33444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933-E941-4B2D-B5D0-6A581B2C5852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9C30EC-D50C-4E53-B1F2-B278A6F811B4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075270"/>
            <a:ext cx="8397766" cy="35222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294885"/>
            <a:ext cx="8703733" cy="670315"/>
          </a:xfrm>
          <a:custGeom>
            <a:avLst/>
            <a:gdLst>
              <a:gd name="connsiteX0" fmla="*/ 0 w 8703733"/>
              <a:gd name="connsiteY0" fmla="*/ 0 h 602584"/>
              <a:gd name="connsiteX1" fmla="*/ 8703733 w 8703733"/>
              <a:gd name="connsiteY1" fmla="*/ 0 h 602584"/>
              <a:gd name="connsiteX2" fmla="*/ 8703733 w 8703733"/>
              <a:gd name="connsiteY2" fmla="*/ 602584 h 602584"/>
              <a:gd name="connsiteX3" fmla="*/ 0 w 8703733"/>
              <a:gd name="connsiteY3" fmla="*/ 602584 h 602584"/>
              <a:gd name="connsiteX4" fmla="*/ 0 w 8703733"/>
              <a:gd name="connsiteY4" fmla="*/ 0 h 602584"/>
              <a:gd name="connsiteX0" fmla="*/ 0 w 8703733"/>
              <a:gd name="connsiteY0" fmla="*/ 0 h 602584"/>
              <a:gd name="connsiteX1" fmla="*/ 8252883 w 8703733"/>
              <a:gd name="connsiteY1" fmla="*/ 0 h 602584"/>
              <a:gd name="connsiteX2" fmla="*/ 8703733 w 8703733"/>
              <a:gd name="connsiteY2" fmla="*/ 602584 h 602584"/>
              <a:gd name="connsiteX3" fmla="*/ 0 w 8703733"/>
              <a:gd name="connsiteY3" fmla="*/ 602584 h 602584"/>
              <a:gd name="connsiteX4" fmla="*/ 0 w 8703733"/>
              <a:gd name="connsiteY4" fmla="*/ 0 h 602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3733" h="602584">
                <a:moveTo>
                  <a:pt x="0" y="0"/>
                </a:moveTo>
                <a:lnTo>
                  <a:pt x="8252883" y="0"/>
                </a:lnTo>
                <a:lnTo>
                  <a:pt x="8703733" y="602584"/>
                </a:lnTo>
                <a:lnTo>
                  <a:pt x="0" y="6025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287"/>
            <a:ext cx="8397766" cy="602584"/>
          </a:xfrm>
        </p:spPr>
        <p:txBody>
          <a:bodyPr anchor="ctr" anchorCtr="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466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34533"/>
            <a:ext cx="3992179" cy="3403600"/>
          </a:xfrm>
        </p:spPr>
        <p:txBody>
          <a:bodyPr/>
          <a:lstStyle>
            <a:lvl1pPr>
              <a:defRPr>
                <a:solidFill>
                  <a:srgbClr val="444444"/>
                </a:solidFill>
              </a:defRPr>
            </a:lvl1pPr>
            <a:lvl2pPr>
              <a:defRPr>
                <a:solidFill>
                  <a:srgbClr val="444444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444444"/>
                </a:solidFill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444444"/>
                </a:solidFill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444444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694622" y="1134533"/>
            <a:ext cx="3992179" cy="3403600"/>
          </a:xfrm>
        </p:spPr>
        <p:txBody>
          <a:bodyPr/>
          <a:lstStyle>
            <a:lvl1pPr>
              <a:defRPr>
                <a:solidFill>
                  <a:srgbClr val="444444"/>
                </a:solidFill>
              </a:defRPr>
            </a:lvl1pPr>
            <a:lvl2pPr>
              <a:defRPr>
                <a:solidFill>
                  <a:srgbClr val="444444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444444"/>
                </a:solidFill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444444"/>
                </a:solidFill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444444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3A71BA-AD46-4DAB-BFE4-499FC0A4EA1B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24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143933" y="152399"/>
            <a:ext cx="8856134" cy="4492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450C366-71BB-472E-8FC2-1C7341ABC47E}" type="datetime1">
              <a:rPr lang="en-US" smtClean="0"/>
              <a:t>11/14/2025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 with Optional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4816" y="4016687"/>
            <a:ext cx="6752895" cy="353943"/>
          </a:xfrm>
          <a:noFill/>
        </p:spPr>
        <p:txBody>
          <a:bodyPr wrap="square" lIns="182880" tIns="45720" bIns="9144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400" i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385380" y="717679"/>
            <a:ext cx="41148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6"/>
          </p:nvPr>
        </p:nvSpPr>
        <p:spPr>
          <a:xfrm>
            <a:off x="4643817" y="717679"/>
            <a:ext cx="41148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0A02B79-2591-4AF8-A364-E1D635417BA6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05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tem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453992" y="465138"/>
            <a:ext cx="2636343" cy="3997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8"/>
          </p:nvPr>
        </p:nvSpPr>
        <p:spPr>
          <a:xfrm>
            <a:off x="6045197" y="465137"/>
            <a:ext cx="2637216" cy="39973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19"/>
          </p:nvPr>
        </p:nvSpPr>
        <p:spPr>
          <a:xfrm>
            <a:off x="3251200" y="465138"/>
            <a:ext cx="2641600" cy="39973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381C7DA-27B7-469C-94A1-12D99651D9DD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602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4817532"/>
            <a:ext cx="9144000" cy="3259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2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"/>
            <a:ext cx="9143999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1079579" y="693682"/>
            <a:ext cx="6999372" cy="2807576"/>
          </a:xfrm>
        </p:spPr>
        <p:txBody>
          <a:bodyPr bIns="91440" anchor="ctr" anchorCtr="0">
            <a:noAutofit/>
          </a:bodyPr>
          <a:lstStyle>
            <a:lvl1pPr algn="ctr">
              <a:lnSpc>
                <a:spcPct val="85000"/>
              </a:lnSpc>
              <a:defRPr sz="4000" b="0" cap="none" spc="0">
                <a:solidFill>
                  <a:schemeClr val="tx1"/>
                </a:solidFill>
                <a:latin typeface="+mj-lt"/>
                <a:cs typeface="Arial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horiz_mcc-eng_purple.eps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00" y="4273552"/>
            <a:ext cx="30734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66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3933834"/>
            <a:ext cx="9144000" cy="1209667"/>
            <a:chOff x="-1276426" y="5245111"/>
            <a:chExt cx="9144000" cy="1612889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4822622" y="5245111"/>
              <a:ext cx="3044952" cy="0"/>
            </a:xfrm>
            <a:prstGeom prst="line">
              <a:avLst/>
            </a:prstGeom>
            <a:ln w="50800">
              <a:solidFill>
                <a:srgbClr val="DF702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-1276426" y="5245668"/>
              <a:ext cx="6099048" cy="0"/>
            </a:xfrm>
            <a:prstGeom prst="line">
              <a:avLst/>
            </a:prstGeom>
            <a:ln w="50800">
              <a:solidFill>
                <a:srgbClr val="0F787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-1276426" y="5272276"/>
              <a:ext cx="9144000" cy="15857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371600" y="3930704"/>
            <a:ext cx="6400800" cy="9737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Here</a:t>
            </a:r>
            <a:br>
              <a:rPr lang="en-US" dirty="0"/>
            </a:br>
            <a:r>
              <a:rPr lang="en-US" dirty="0"/>
              <a:t>Email Here</a:t>
            </a:r>
            <a:br>
              <a:rPr lang="en-US" dirty="0"/>
            </a:br>
            <a:r>
              <a:rPr lang="en-US" dirty="0"/>
              <a:t>Phone Here</a:t>
            </a:r>
          </a:p>
        </p:txBody>
      </p:sp>
      <p:pic>
        <p:nvPicPr>
          <p:cNvPr id="4" name="Picture 3" descr="Stevens-Secondary-PMSColor-R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5428" y="508804"/>
            <a:ext cx="3544298" cy="22710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2800" y="3197996"/>
            <a:ext cx="24384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" y="0"/>
            <a:ext cx="9144000" cy="31919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0216"/>
            <a:ext cx="8397766" cy="82111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4086"/>
            <a:ext cx="8397766" cy="3218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45001" y="4759656"/>
            <a:ext cx="338664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ctr">
              <a:defRPr sz="1100" b="0" i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cs typeface="Arial"/>
              </a:defRPr>
            </a:lvl1pPr>
          </a:lstStyle>
          <a:p>
            <a:fld id="{BA9B540C-44DA-4F69-89C9-7C84606640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8405091" y="4536930"/>
            <a:ext cx="5938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10411-2CB3-48B6-8966-D193A9404F7F}" type="datetime1">
              <a:rPr lang="en-US" smtClean="0"/>
              <a:t>11/14/2025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5740406" y="4758863"/>
            <a:ext cx="325849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IEMS Advisory Board, 11/14/25</a:t>
            </a:r>
            <a:endParaRPr lang="en-US" dirty="0"/>
          </a:p>
        </p:txBody>
      </p:sp>
      <p:pic>
        <p:nvPicPr>
          <p:cNvPr id="5" name="Picture 4" descr="horiz_eng_purple_RGB.eps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9" y="4823239"/>
            <a:ext cx="1676546" cy="16187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71" r:id="rId3"/>
    <p:sldLayoutId id="2147483672" r:id="rId4"/>
    <p:sldLayoutId id="2147483673" r:id="rId5"/>
    <p:sldLayoutId id="2147483670" r:id="rId6"/>
    <p:sldLayoutId id="2147483650" r:id="rId7"/>
    <p:sldLayoutId id="2147483667" r:id="rId8"/>
    <p:sldLayoutId id="2147483662" r:id="rId9"/>
    <p:sldLayoutId id="2147483657" r:id="rId10"/>
    <p:sldLayoutId id="2147483666" r:id="rId11"/>
    <p:sldLayoutId id="2147483665" r:id="rId12"/>
    <p:sldLayoutId id="2147483669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 cap="none" spc="-100" normalizeH="0" baseline="0">
          <a:solidFill>
            <a:schemeClr val="tx2"/>
          </a:solidFill>
          <a:effectLst/>
          <a:latin typeface="+mn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100000"/>
        <a:buFont typeface="Wingdings" charset="2"/>
        <a:buChar char="§"/>
        <a:defRPr sz="19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bg2">
            <a:lumMod val="5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bg2">
            <a:lumMod val="50000"/>
          </a:schemeClr>
        </a:buClr>
        <a:buFont typeface="Wingdings" charset="2"/>
        <a:buChar char="§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bg2">
            <a:lumMod val="5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07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hf hd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7179" y="417785"/>
            <a:ext cx="8498541" cy="3492299"/>
          </a:xfrm>
        </p:spPr>
        <p:txBody>
          <a:bodyPr/>
          <a:lstStyle/>
          <a:p>
            <a:pPr algn="ctr"/>
            <a:r>
              <a:rPr lang="en-US" dirty="0">
                <a:latin typeface="+mj-lt"/>
              </a:rPr>
              <a:t>Prof. Izzy Grosof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Multiserver Stochastic Scheduling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October 18, 2024</a:t>
            </a:r>
          </a:p>
        </p:txBody>
      </p:sp>
    </p:spTree>
    <p:extLst>
      <p:ext uri="{BB962C8B-B14F-4D97-AF65-F5344CB8AC3E}">
        <p14:creationId xmlns:p14="http://schemas.microsoft.com/office/powerpoint/2010/main" val="97765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BB90D4A-FE55-3844-A97F-4FE68DC5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8" y="306609"/>
            <a:ext cx="8397766" cy="503007"/>
          </a:xfrm>
        </p:spPr>
        <p:txBody>
          <a:bodyPr/>
          <a:lstStyle/>
          <a:p>
            <a:r>
              <a:rPr lang="en-US" dirty="0"/>
              <a:t>Stochastic queueing</a:t>
            </a:r>
          </a:p>
        </p:txBody>
      </p:sp>
      <p:sp>
        <p:nvSpPr>
          <p:cNvPr id="9" name="Google Shape;877;p92">
            <a:extLst>
              <a:ext uri="{FF2B5EF4-FFF2-40B4-BE49-F238E27FC236}">
                <a16:creationId xmlns:a16="http://schemas.microsoft.com/office/drawing/2014/main" id="{23D65E7A-8297-F127-AEE0-7BD14C01C0F0}"/>
              </a:ext>
            </a:extLst>
          </p:cNvPr>
          <p:cNvSpPr txBox="1"/>
          <p:nvPr/>
        </p:nvSpPr>
        <p:spPr>
          <a:xfrm>
            <a:off x="407065" y="1034442"/>
            <a:ext cx="7986308" cy="2669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Q: How can we control our stochastic queues to achieve better performance?</a:t>
            </a:r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/>
              <a:t>Current focus applications: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Datacenters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Emergency departments</a:t>
            </a:r>
          </a:p>
        </p:txBody>
      </p:sp>
      <p:pic>
        <p:nvPicPr>
          <p:cNvPr id="2" name="Picture 1" descr="Datacenter">
            <a:extLst>
              <a:ext uri="{FF2B5EF4-FFF2-40B4-BE49-F238E27FC236}">
                <a16:creationId xmlns:a16="http://schemas.microsoft.com/office/drawing/2014/main" id="{85A416C6-6AD8-1ACA-A47F-BA8318E9A5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79" y="1618137"/>
            <a:ext cx="2858606" cy="1907226"/>
          </a:xfrm>
          <a:prstGeom prst="rect">
            <a:avLst/>
          </a:prstGeom>
        </p:spPr>
      </p:pic>
      <p:pic>
        <p:nvPicPr>
          <p:cNvPr id="4" name="Picture 3" descr="A close-up of a sign&#10;&#10;Description automatically generated">
            <a:extLst>
              <a:ext uri="{FF2B5EF4-FFF2-40B4-BE49-F238E27FC236}">
                <a16:creationId xmlns:a16="http://schemas.microsoft.com/office/drawing/2014/main" id="{788A9F5F-7D88-8DFA-809F-48740FAB9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435" y="3650495"/>
            <a:ext cx="4762500" cy="1095375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F4F5E09-6035-4333-5019-FA216CDF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0406" y="4758863"/>
            <a:ext cx="3258499" cy="274637"/>
          </a:xfrm>
        </p:spPr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AABA61-9FCF-157A-BBF1-6327F0EB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4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FF76-3070-CB07-3589-EFAE3979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Highly flexible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24632-9F0D-87B5-E42D-DEFE0610E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47864"/>
            <a:ext cx="8397766" cy="2345314"/>
          </a:xfrm>
        </p:spPr>
        <p:txBody>
          <a:bodyPr/>
          <a:lstStyle/>
          <a:p>
            <a:r>
              <a:rPr lang="en-US" dirty="0"/>
              <a:t>Arrival process: Poisson? Markov modulated?</a:t>
            </a:r>
          </a:p>
          <a:p>
            <a:r>
              <a:rPr lang="en-US" dirty="0"/>
              <a:t>Job durations: Exponential? General? Modulated?</a:t>
            </a:r>
          </a:p>
          <a:p>
            <a:r>
              <a:rPr lang="en-US" dirty="0"/>
              <a:t>Job requirements: Different amounts? Different kinds (GPU)?</a:t>
            </a:r>
          </a:p>
          <a:p>
            <a:r>
              <a:rPr lang="en-US" dirty="0"/>
              <a:t>Objectives: Throughput? Mean response time? Tail? Fairness?</a:t>
            </a:r>
          </a:p>
          <a:p>
            <a:r>
              <a:rPr lang="en-US" dirty="0"/>
              <a:t>Results: Analysis? Optimality? Learning regret?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0FE87-733A-B3DB-0356-223B29A9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59EAA-FBC7-B464-BD37-A1662CA4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34EBED-AFD2-213B-C83A-E5519F1C364F}"/>
              </a:ext>
            </a:extLst>
          </p:cNvPr>
          <p:cNvGrpSpPr/>
          <p:nvPr/>
        </p:nvGrpSpPr>
        <p:grpSpPr>
          <a:xfrm>
            <a:off x="2376804" y="775970"/>
            <a:ext cx="4620260" cy="1855470"/>
            <a:chOff x="541" y="2463"/>
            <a:chExt cx="7276" cy="29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F27C77-CD1B-B8FB-BBD2-91B2DA98CCB9}"/>
                </a:ext>
              </a:extLst>
            </p:cNvPr>
            <p:cNvGrpSpPr/>
            <p:nvPr/>
          </p:nvGrpSpPr>
          <p:grpSpPr>
            <a:xfrm>
              <a:off x="541" y="2463"/>
              <a:ext cx="7276" cy="2922"/>
              <a:chOff x="541" y="2463"/>
              <a:chExt cx="7276" cy="292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35F62C7-2DAB-E8DE-082F-F75D9961233E}"/>
                  </a:ext>
                </a:extLst>
              </p:cNvPr>
              <p:cNvSpPr/>
              <p:nvPr/>
            </p:nvSpPr>
            <p:spPr>
              <a:xfrm>
                <a:off x="6653" y="2463"/>
                <a:ext cx="1164" cy="29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9F1DDE1-3C36-C84A-6EA6-3FA751189CB8}"/>
                  </a:ext>
                </a:extLst>
              </p:cNvPr>
              <p:cNvGrpSpPr/>
              <p:nvPr/>
            </p:nvGrpSpPr>
            <p:grpSpPr>
              <a:xfrm>
                <a:off x="541" y="3047"/>
                <a:ext cx="6918" cy="1729"/>
                <a:chOff x="4612" y="3721"/>
                <a:chExt cx="6918" cy="1729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25007B8-A9AE-E7E3-B68E-95E3C5FC7D16}"/>
                    </a:ext>
                  </a:extLst>
                </p:cNvPr>
                <p:cNvGrpSpPr/>
                <p:nvPr/>
              </p:nvGrpSpPr>
              <p:grpSpPr>
                <a:xfrm>
                  <a:off x="5630" y="3721"/>
                  <a:ext cx="4734" cy="1729"/>
                  <a:chOff x="5630" y="3721"/>
                  <a:chExt cx="4734" cy="1729"/>
                </a:xfrm>
              </p:grpSpPr>
              <p:sp>
                <p:nvSpPr>
                  <p:cNvPr id="28" name="Rectangles 8">
                    <a:extLst>
                      <a:ext uri="{FF2B5EF4-FFF2-40B4-BE49-F238E27FC236}">
                        <a16:creationId xmlns:a16="http://schemas.microsoft.com/office/drawing/2014/main" id="{7ABB60E8-A530-0605-15DC-0E65FA098258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s 9">
                    <a:extLst>
                      <a:ext uri="{FF2B5EF4-FFF2-40B4-BE49-F238E27FC236}">
                        <a16:creationId xmlns:a16="http://schemas.microsoft.com/office/drawing/2014/main" id="{22695569-4C85-93C6-E53A-AFA3C3A6960F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Rectangles 10">
                    <a:extLst>
                      <a:ext uri="{FF2B5EF4-FFF2-40B4-BE49-F238E27FC236}">
                        <a16:creationId xmlns:a16="http://schemas.microsoft.com/office/drawing/2014/main" id="{FD7622EE-4301-B014-467A-852AC36D8BB2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Rectangles 11">
                    <a:extLst>
                      <a:ext uri="{FF2B5EF4-FFF2-40B4-BE49-F238E27FC236}">
                        <a16:creationId xmlns:a16="http://schemas.microsoft.com/office/drawing/2014/main" id="{4E98C4C3-4DE6-86F7-A3CD-733FB50B3CB8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B0A99C8C-16DB-81C9-295A-6F9D26BF27DF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21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4283034E-94BF-F1B2-3CD9-701BB7DA0B54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Rectangles 16">
                  <a:extLst>
                    <a:ext uri="{FF2B5EF4-FFF2-40B4-BE49-F238E27FC236}">
                      <a16:creationId xmlns:a16="http://schemas.microsoft.com/office/drawing/2014/main" id="{B36AF1A3-E4E9-105B-F622-A31CFD2CD1FE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Rectangles 18">
                  <a:extLst>
                    <a:ext uri="{FF2B5EF4-FFF2-40B4-BE49-F238E27FC236}">
                      <a16:creationId xmlns:a16="http://schemas.microsoft.com/office/drawing/2014/main" id="{B0AA0229-2FFB-F447-17FB-2CBED0514BBE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s 19">
                  <a:extLst>
                    <a:ext uri="{FF2B5EF4-FFF2-40B4-BE49-F238E27FC236}">
                      <a16:creationId xmlns:a16="http://schemas.microsoft.com/office/drawing/2014/main" id="{304E1D3C-0E25-93A4-1834-6DB4ACA98803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s 20">
                  <a:extLst>
                    <a:ext uri="{FF2B5EF4-FFF2-40B4-BE49-F238E27FC236}">
                      <a16:creationId xmlns:a16="http://schemas.microsoft.com/office/drawing/2014/main" id="{AD5E0C26-88AE-61EC-B7EE-2ABD5295BCC9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s 21">
                  <a:extLst>
                    <a:ext uri="{FF2B5EF4-FFF2-40B4-BE49-F238E27FC236}">
                      <a16:creationId xmlns:a16="http://schemas.microsoft.com/office/drawing/2014/main" id="{0F0590E3-5CA7-0B18-52DE-121C5E221D45}"/>
                    </a:ext>
                  </a:extLst>
                </p:cNvPr>
                <p:cNvSpPr/>
                <p:nvPr/>
              </p:nvSpPr>
              <p:spPr>
                <a:xfrm>
                  <a:off x="10936" y="4283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CDD1E4B0-6AD4-7AB6-5F52-F5BA66177F0A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Rectangles 17">
                <a:extLst>
                  <a:ext uri="{FF2B5EF4-FFF2-40B4-BE49-F238E27FC236}">
                    <a16:creationId xmlns:a16="http://schemas.microsoft.com/office/drawing/2014/main" id="{0CBE8890-84C9-FD36-486A-A61380B05A96}"/>
                  </a:ext>
                </a:extLst>
              </p:cNvPr>
              <p:cNvSpPr/>
              <p:nvPr/>
            </p:nvSpPr>
            <p:spPr>
              <a:xfrm>
                <a:off x="6865" y="2980"/>
                <a:ext cx="594" cy="1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s 25">
                <a:extLst>
                  <a:ext uri="{FF2B5EF4-FFF2-40B4-BE49-F238E27FC236}">
                    <a16:creationId xmlns:a16="http://schemas.microsoft.com/office/drawing/2014/main" id="{CD121D78-1A0C-09DF-3E2D-EC48A470B421}"/>
                  </a:ext>
                </a:extLst>
              </p:cNvPr>
              <p:cNvSpPr/>
              <p:nvPr/>
            </p:nvSpPr>
            <p:spPr>
              <a:xfrm>
                <a:off x="6934" y="4761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357F221-DB05-D714-191A-C584CB8465A6}"/>
                </a:ext>
              </a:extLst>
            </p:cNvPr>
            <p:cNvCxnSpPr>
              <a:cxnSpLocks/>
              <a:stCxn id="31" idx="3"/>
              <a:endCxn id="13" idx="2"/>
            </p:cNvCxnSpPr>
            <p:nvPr/>
          </p:nvCxnSpPr>
          <p:spPr>
            <a:xfrm>
              <a:off x="6293" y="3918"/>
              <a:ext cx="360" cy="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62FB915-E450-589A-34BC-DC4103166D5E}"/>
              </a:ext>
            </a:extLst>
          </p:cNvPr>
          <p:cNvCxnSpPr/>
          <p:nvPr/>
        </p:nvCxnSpPr>
        <p:spPr>
          <a:xfrm flipV="1">
            <a:off x="7007224" y="1773192"/>
            <a:ext cx="646430" cy="3810"/>
          </a:xfrm>
          <a:prstGeom prst="straightConnector1">
            <a:avLst/>
          </a:prstGeom>
          <a:ln w="635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60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A726-669D-3261-5908-854244D1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</a:t>
            </a:r>
            <a:r>
              <a:rPr lang="en-US" dirty="0" err="1"/>
              <a:t>nonpreemptible</a:t>
            </a:r>
            <a:r>
              <a:rPr lang="en-US" dirty="0"/>
              <a:t>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ABE5-7DEC-AE1A-1FB9-F14654A6B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applications: too much overhead to pause and resume.</a:t>
            </a:r>
          </a:p>
          <a:p>
            <a:r>
              <a:rPr lang="en-US" dirty="0"/>
              <a:t>Existing work: Throughput of FCFS [RM ‘17]. Optimal throughput but poor response time [PG ‘15]. </a:t>
            </a:r>
          </a:p>
          <a:p>
            <a:r>
              <a:rPr lang="en-US" dirty="0"/>
              <a:t>[</a:t>
            </a:r>
            <a:r>
              <a:rPr lang="en-US" b="1" dirty="0"/>
              <a:t>G</a:t>
            </a:r>
            <a:r>
              <a:rPr lang="en-US" dirty="0"/>
              <a:t>HHS ‘23]: Analyze response time of FCFS.</a:t>
            </a:r>
          </a:p>
          <a:p>
            <a:r>
              <a:rPr lang="en-US" dirty="0"/>
              <a:t>[C</a:t>
            </a:r>
            <a:r>
              <a:rPr lang="en-US" b="1" dirty="0"/>
              <a:t>B</a:t>
            </a:r>
            <a:r>
              <a:rPr lang="en-US" dirty="0"/>
              <a:t>G ‘25]: Optimal throughput with controlled response time.</a:t>
            </a:r>
          </a:p>
          <a:p>
            <a:r>
              <a:rPr lang="en-US" dirty="0" err="1"/>
              <a:t>Ziyuan</a:t>
            </a:r>
            <a:r>
              <a:rPr lang="en-US" dirty="0"/>
              <a:t> Wang: Optimal throughput &amp; response time tradeoff.</a:t>
            </a:r>
          </a:p>
          <a:p>
            <a:r>
              <a:rPr lang="en-US" dirty="0"/>
              <a:t>[</a:t>
            </a:r>
            <a:r>
              <a:rPr lang="en-US" b="1" dirty="0"/>
              <a:t>G</a:t>
            </a:r>
            <a:r>
              <a:rPr lang="en-US" dirty="0"/>
              <a:t>A]: Scaling limit</a:t>
            </a:r>
          </a:p>
          <a:p>
            <a:r>
              <a:rPr lang="en-US" dirty="0"/>
              <a:t>[C</a:t>
            </a:r>
            <a:r>
              <a:rPr lang="en-US" b="1" dirty="0"/>
              <a:t>B</a:t>
            </a:r>
            <a:r>
              <a:rPr lang="en-US" dirty="0"/>
              <a:t>G]: Fluid-optimal scheduling.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BB915-D0F2-EA56-B1E8-7D57FE6A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9C339-22A2-3EC9-9B2D-1588F863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470-B00D-80EC-B575-CB843BC6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resource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0B4D7-852A-F2D4-D304-2B9FF9C85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applications: Resource requirement is best modeled as continuous. Ex: Job needs 107 MBs of memory and 1.2 Gb/s of network bandwidth.</a:t>
            </a:r>
          </a:p>
          <a:p>
            <a:r>
              <a:rPr lang="en-US" dirty="0"/>
              <a:t>Existing work: Pre-packaged requirements. Standardized VMs.</a:t>
            </a:r>
          </a:p>
          <a:p>
            <a:r>
              <a:rPr lang="en-US" dirty="0" err="1"/>
              <a:t>Heyuan</a:t>
            </a:r>
            <a:r>
              <a:rPr lang="en-US" dirty="0"/>
              <a:t> Yao: First throughput optimality results with continuous resource requirements.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3CDA3-617E-D0F2-E701-F97F9C83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54895-D709-48B5-0F7B-9B1181E7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2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994C-D8A0-5E22-E943-BB0C33D3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Multistage jobs (Tandem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CB7D-66CD-B5D1-1BBA-290B7587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69256"/>
            <a:ext cx="8397766" cy="2143633"/>
          </a:xfrm>
        </p:spPr>
        <p:txBody>
          <a:bodyPr/>
          <a:lstStyle/>
          <a:p>
            <a:r>
              <a:rPr lang="en-US" dirty="0"/>
              <a:t>Medical wait list: Intake + surgery. Abandon before intake.</a:t>
            </a:r>
          </a:p>
          <a:p>
            <a:r>
              <a:rPr lang="en-US" dirty="0"/>
              <a:t>Cameron Curtis (co-advised): First asymptotic queue length results, as arrival rate approaches capacity.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2C485-B739-7F84-B8CF-30207044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7338E-9B21-1D5B-7D1B-4273540C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32445F0-5B5A-C055-E0F2-92BB9D598C3B}"/>
              </a:ext>
            </a:extLst>
          </p:cNvPr>
          <p:cNvGrpSpPr/>
          <p:nvPr/>
        </p:nvGrpSpPr>
        <p:grpSpPr>
          <a:xfrm>
            <a:off x="1495267" y="1168400"/>
            <a:ext cx="6576796" cy="1158882"/>
            <a:chOff x="1509585" y="1412868"/>
            <a:chExt cx="6576796" cy="115888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813B945-76F5-3B70-B9AC-FABEADBC5C56}"/>
                </a:ext>
              </a:extLst>
            </p:cNvPr>
            <p:cNvGrpSpPr/>
            <p:nvPr/>
          </p:nvGrpSpPr>
          <p:grpSpPr>
            <a:xfrm>
              <a:off x="1973067" y="1412868"/>
              <a:ext cx="2976664" cy="877855"/>
              <a:chOff x="1973067" y="1412868"/>
              <a:chExt cx="2976664" cy="877855"/>
            </a:xfrm>
          </p:grpSpPr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BBFFBFDE-031A-6420-0183-7AC4E611FC5D}"/>
                  </a:ext>
                </a:extLst>
              </p:cNvPr>
              <p:cNvSpPr/>
              <p:nvPr/>
            </p:nvSpPr>
            <p:spPr>
              <a:xfrm>
                <a:off x="1973067" y="1412868"/>
                <a:ext cx="1488332" cy="877855"/>
              </a:xfrm>
              <a:prstGeom prst="arc">
                <a:avLst/>
              </a:prstGeom>
              <a:ln w="25400">
                <a:solidFill>
                  <a:schemeClr val="tx1"/>
                </a:solidFill>
                <a:headEnd type="triangle" w="lg" len="lg"/>
                <a:tailEnd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A1591E-E3E3-0651-73D0-B9E08337C47D}"/>
                  </a:ext>
                </a:extLst>
              </p:cNvPr>
              <p:cNvSpPr txBox="1"/>
              <p:nvPr/>
            </p:nvSpPr>
            <p:spPr>
              <a:xfrm>
                <a:off x="3461399" y="1431969"/>
                <a:ext cx="1488332" cy="43088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Abandon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7A9DAC1-9A10-0B53-BD7D-1DECEC75A5BA}"/>
                </a:ext>
              </a:extLst>
            </p:cNvPr>
            <p:cNvGrpSpPr/>
            <p:nvPr/>
          </p:nvGrpSpPr>
          <p:grpSpPr>
            <a:xfrm>
              <a:off x="1509585" y="1851795"/>
              <a:ext cx="6576796" cy="719955"/>
              <a:chOff x="1780600" y="4161129"/>
              <a:chExt cx="9172830" cy="109855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53206CC-8549-59E6-7469-F2FEA7D12201}"/>
                  </a:ext>
                </a:extLst>
              </p:cNvPr>
              <p:cNvGrpSpPr/>
              <p:nvPr/>
            </p:nvGrpSpPr>
            <p:grpSpPr>
              <a:xfrm>
                <a:off x="1780600" y="4161129"/>
                <a:ext cx="9172830" cy="1098550"/>
                <a:chOff x="1756253" y="4508227"/>
                <a:chExt cx="9172830" cy="1098550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4AE51B88-980C-10EF-86C9-BB97E2FB3D7D}"/>
                    </a:ext>
                  </a:extLst>
                </p:cNvPr>
                <p:cNvGrpSpPr/>
                <p:nvPr/>
              </p:nvGrpSpPr>
              <p:grpSpPr>
                <a:xfrm>
                  <a:off x="1756253" y="4508862"/>
                  <a:ext cx="4587986" cy="1097915"/>
                  <a:chOff x="1756253" y="4508862"/>
                  <a:chExt cx="4587986" cy="1097915"/>
                </a:xfrm>
              </p:grpSpPr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EDA247BF-0122-7B15-F47B-25CCED61F14C}"/>
                      </a:ext>
                    </a:extLst>
                  </p:cNvPr>
                  <p:cNvGrpSpPr/>
                  <p:nvPr/>
                </p:nvGrpSpPr>
                <p:grpSpPr>
                  <a:xfrm>
                    <a:off x="1756253" y="4508862"/>
                    <a:ext cx="4587986" cy="1097915"/>
                    <a:chOff x="3685121" y="3078004"/>
                    <a:chExt cx="4587986" cy="1097915"/>
                  </a:xfrm>
                </p:grpSpPr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3585D4C1-16CA-2161-2EA1-B2E6E13D98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85121" y="3078004"/>
                      <a:ext cx="3652520" cy="1097915"/>
                      <a:chOff x="4612" y="3721"/>
                      <a:chExt cx="5752" cy="1729"/>
                    </a:xfrm>
                  </p:grpSpPr>
                  <p:grpSp>
                    <p:nvGrpSpPr>
                      <p:cNvPr id="74" name="Group 73">
                        <a:extLst>
                          <a:ext uri="{FF2B5EF4-FFF2-40B4-BE49-F238E27FC236}">
                            <a16:creationId xmlns:a16="http://schemas.microsoft.com/office/drawing/2014/main" id="{525C760D-F4CB-427E-7802-CA654EDEBB9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721"/>
                        <a:ext cx="4734" cy="1729"/>
                        <a:chOff x="5630" y="3721"/>
                        <a:chExt cx="4734" cy="1729"/>
                      </a:xfrm>
                    </p:grpSpPr>
                    <p:sp>
                      <p:nvSpPr>
                        <p:cNvPr id="76" name="Rectangles 39">
                          <a:extLst>
                            <a:ext uri="{FF2B5EF4-FFF2-40B4-BE49-F238E27FC236}">
                              <a16:creationId xmlns:a16="http://schemas.microsoft.com/office/drawing/2014/main" id="{32909A97-C50E-2F1B-1D56-8519BC5E15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7" name="Rectangles 40">
                          <a:extLst>
                            <a:ext uri="{FF2B5EF4-FFF2-40B4-BE49-F238E27FC236}">
                              <a16:creationId xmlns:a16="http://schemas.microsoft.com/office/drawing/2014/main" id="{CD286720-5149-72E6-5EF6-1BDD3E1C27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Rectangles 41">
                          <a:extLst>
                            <a:ext uri="{FF2B5EF4-FFF2-40B4-BE49-F238E27FC236}">
                              <a16:creationId xmlns:a16="http://schemas.microsoft.com/office/drawing/2014/main" id="{73B13952-DAAF-4AB1-5FDE-0A76E94CDA1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9" name="Rectangles 42">
                          <a:extLst>
                            <a:ext uri="{FF2B5EF4-FFF2-40B4-BE49-F238E27FC236}">
                              <a16:creationId xmlns:a16="http://schemas.microsoft.com/office/drawing/2014/main" id="{10606F07-FD74-5FD5-4991-60439CF486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80" name="Straight Connector 79">
                          <a:extLst>
                            <a:ext uri="{FF2B5EF4-FFF2-40B4-BE49-F238E27FC236}">
                              <a16:creationId xmlns:a16="http://schemas.microsoft.com/office/drawing/2014/main" id="{0A392FAF-4A30-C327-FEB8-C5485E31446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1" name="Straight Connector 80">
                          <a:extLst>
                            <a:ext uri="{FF2B5EF4-FFF2-40B4-BE49-F238E27FC236}">
                              <a16:creationId xmlns:a16="http://schemas.microsoft.com/office/drawing/2014/main" id="{E183CD8C-3962-EB91-F689-6656159D91DF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75" name="Straight Arrow Connector 74">
                        <a:extLst>
                          <a:ext uri="{FF2B5EF4-FFF2-40B4-BE49-F238E27FC236}">
                            <a16:creationId xmlns:a16="http://schemas.microsoft.com/office/drawing/2014/main" id="{BEB7B2EA-3F97-4DF4-02A4-650421B916CC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73" name="Oval 72">
                      <a:extLst>
                        <a:ext uri="{FF2B5EF4-FFF2-40B4-BE49-F238E27FC236}">
                          <a16:creationId xmlns:a16="http://schemas.microsoft.com/office/drawing/2014/main" id="{CBC0BD36-EE48-C5D9-F2C9-A12F89F1FE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7641" y="3228589"/>
                      <a:ext cx="935466" cy="895948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74C38DDB-40BF-372A-11B9-6B1C37628A4D}"/>
                      </a:ext>
                    </a:extLst>
                  </p:cNvPr>
                  <p:cNvGrpSpPr/>
                  <p:nvPr/>
                </p:nvGrpSpPr>
                <p:grpSpPr>
                  <a:xfrm>
                    <a:off x="4289791" y="4786437"/>
                    <a:ext cx="1815954" cy="705529"/>
                    <a:chOff x="6113355" y="2543694"/>
                    <a:chExt cx="1815954" cy="705529"/>
                  </a:xfrm>
                </p:grpSpPr>
                <p:sp>
                  <p:nvSpPr>
                    <p:cNvPr id="69" name="Rectangles 47">
                      <a:extLst>
                        <a:ext uri="{FF2B5EF4-FFF2-40B4-BE49-F238E27FC236}">
                          <a16:creationId xmlns:a16="http://schemas.microsoft.com/office/drawing/2014/main" id="{1D0431CB-4355-025E-9236-A0607E927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13355" y="2543694"/>
                      <a:ext cx="458478" cy="692829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0" name="Rectangles 47">
                      <a:extLst>
                        <a:ext uri="{FF2B5EF4-FFF2-40B4-BE49-F238E27FC236}">
                          <a16:creationId xmlns:a16="http://schemas.microsoft.com/office/drawing/2014/main" id="{62440562-ADC1-320E-CAEF-8F9CE7C400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9812" y="2901243"/>
                      <a:ext cx="458478" cy="34798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1" name="Rectangles 47">
                      <a:extLst>
                        <a:ext uri="{FF2B5EF4-FFF2-40B4-BE49-F238E27FC236}">
                          <a16:creationId xmlns:a16="http://schemas.microsoft.com/office/drawing/2014/main" id="{CEF93DE8-18AE-D398-74EE-714AC3578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0831" y="2854128"/>
                      <a:ext cx="458478" cy="339611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061C3B4D-5C6F-6C14-1BA3-C33EE3819514}"/>
                    </a:ext>
                  </a:extLst>
                </p:cNvPr>
                <p:cNvGrpSpPr/>
                <p:nvPr/>
              </p:nvGrpSpPr>
              <p:grpSpPr>
                <a:xfrm>
                  <a:off x="6341097" y="4508227"/>
                  <a:ext cx="4587986" cy="1097915"/>
                  <a:chOff x="1756253" y="4508862"/>
                  <a:chExt cx="4587986" cy="1097915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20FCB2BE-6D28-EF49-E218-8E87C3EBD6C1}"/>
                      </a:ext>
                    </a:extLst>
                  </p:cNvPr>
                  <p:cNvGrpSpPr/>
                  <p:nvPr/>
                </p:nvGrpSpPr>
                <p:grpSpPr>
                  <a:xfrm>
                    <a:off x="1756253" y="4508862"/>
                    <a:ext cx="4587986" cy="1097915"/>
                    <a:chOff x="3685121" y="3078004"/>
                    <a:chExt cx="4587986" cy="1097915"/>
                  </a:xfrm>
                </p:grpSpPr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6A6716DB-A524-D8C3-C8C0-A1ACF86A02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85121" y="3078004"/>
                      <a:ext cx="3652520" cy="1097915"/>
                      <a:chOff x="4612" y="3721"/>
                      <a:chExt cx="5752" cy="1729"/>
                    </a:xfrm>
                  </p:grpSpPr>
                  <p:grpSp>
                    <p:nvGrpSpPr>
                      <p:cNvPr id="59" name="Group 58">
                        <a:extLst>
                          <a:ext uri="{FF2B5EF4-FFF2-40B4-BE49-F238E27FC236}">
                            <a16:creationId xmlns:a16="http://schemas.microsoft.com/office/drawing/2014/main" id="{1F20EA07-4F3A-F653-1C5A-43FA390463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30" y="3721"/>
                        <a:ext cx="4734" cy="1729"/>
                        <a:chOff x="5630" y="3721"/>
                        <a:chExt cx="4734" cy="1729"/>
                      </a:xfrm>
                    </p:grpSpPr>
                    <p:sp>
                      <p:nvSpPr>
                        <p:cNvPr id="61" name="Rectangles 39">
                          <a:extLst>
                            <a:ext uri="{FF2B5EF4-FFF2-40B4-BE49-F238E27FC236}">
                              <a16:creationId xmlns:a16="http://schemas.microsoft.com/office/drawing/2014/main" id="{B8661F0B-DCA2-FE76-D0F2-E0DA7B59B6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96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2" name="Rectangles 40">
                          <a:extLst>
                            <a:ext uri="{FF2B5EF4-FFF2-40B4-BE49-F238E27FC236}">
                              <a16:creationId xmlns:a16="http://schemas.microsoft.com/office/drawing/2014/main" id="{F90BFDB8-4A73-9F1A-9EED-F46942A3103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38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3" name="Rectangles 41">
                          <a:extLst>
                            <a:ext uri="{FF2B5EF4-FFF2-40B4-BE49-F238E27FC236}">
                              <a16:creationId xmlns:a16="http://schemas.microsoft.com/office/drawing/2014/main" id="{33B011C7-3811-2EE0-8298-82E3E839B4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0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4" name="Rectangles 42">
                          <a:extLst>
                            <a:ext uri="{FF2B5EF4-FFF2-40B4-BE49-F238E27FC236}">
                              <a16:creationId xmlns:a16="http://schemas.microsoft.com/office/drawing/2014/main" id="{07600C73-515B-CB61-CBAF-3F2C945DC1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22" y="3735"/>
                          <a:ext cx="942" cy="171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20202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65" name="Straight Connector 64">
                          <a:extLst>
                            <a:ext uri="{FF2B5EF4-FFF2-40B4-BE49-F238E27FC236}">
                              <a16:creationId xmlns:a16="http://schemas.microsoft.com/office/drawing/2014/main" id="{67959CA1-17E3-7105-56B4-99B72E820BDF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3721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6" name="Straight Connector 65">
                          <a:extLst>
                            <a:ext uri="{FF2B5EF4-FFF2-40B4-BE49-F238E27FC236}">
                              <a16:creationId xmlns:a16="http://schemas.microsoft.com/office/drawing/2014/main" id="{87C33D61-6670-046C-8973-9D7654C65574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5630" y="5435"/>
                          <a:ext cx="966" cy="15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60" name="Straight Arrow Connector 59">
                        <a:extLst>
                          <a:ext uri="{FF2B5EF4-FFF2-40B4-BE49-F238E27FC236}">
                            <a16:creationId xmlns:a16="http://schemas.microsoft.com/office/drawing/2014/main" id="{1125DFBF-3AED-501C-AD8C-B1A2AFE324D3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12" y="4647"/>
                        <a:ext cx="1018" cy="6"/>
                      </a:xfrm>
                      <a:prstGeom prst="straightConnector1">
                        <a:avLst/>
                      </a:prstGeom>
                      <a:ln w="63500">
                        <a:solidFill>
                          <a:schemeClr val="tx1"/>
                        </a:solidFill>
                        <a:tailEnd type="arrow" w="lg" len="lg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11DC73B5-9A0D-3D6F-2E2E-B78027BB9E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7641" y="3228589"/>
                      <a:ext cx="935466" cy="895948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DC5DA596-C3B6-F8FF-FD48-3424C29CC963}"/>
                      </a:ext>
                    </a:extLst>
                  </p:cNvPr>
                  <p:cNvGrpSpPr/>
                  <p:nvPr/>
                </p:nvGrpSpPr>
                <p:grpSpPr>
                  <a:xfrm>
                    <a:off x="3668883" y="4816597"/>
                    <a:ext cx="2436862" cy="692829"/>
                    <a:chOff x="5492447" y="2573854"/>
                    <a:chExt cx="2436862" cy="692829"/>
                  </a:xfrm>
                </p:grpSpPr>
                <p:sp>
                  <p:nvSpPr>
                    <p:cNvPr id="54" name="Rectangles 47">
                      <a:extLst>
                        <a:ext uri="{FF2B5EF4-FFF2-40B4-BE49-F238E27FC236}">
                          <a16:creationId xmlns:a16="http://schemas.microsoft.com/office/drawing/2014/main" id="{F5913D6C-7638-0E05-BD26-16C2D020A0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2447" y="2573854"/>
                      <a:ext cx="458478" cy="692829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5" name="Rectangles 47">
                      <a:extLst>
                        <a:ext uri="{FF2B5EF4-FFF2-40B4-BE49-F238E27FC236}">
                          <a16:creationId xmlns:a16="http://schemas.microsoft.com/office/drawing/2014/main" id="{0023C174-EB69-59DF-4537-FBB0F69DE8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9239" y="2901243"/>
                      <a:ext cx="458478" cy="34798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" name="Rectangles 47">
                      <a:extLst>
                        <a:ext uri="{FF2B5EF4-FFF2-40B4-BE49-F238E27FC236}">
                          <a16:creationId xmlns:a16="http://schemas.microsoft.com/office/drawing/2014/main" id="{AEE0236B-D3E1-69BA-BB55-B040EB89FF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0831" y="2854128"/>
                      <a:ext cx="458478" cy="339611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</p:grpSp>
          </p:grpSp>
          <p:sp>
            <p:nvSpPr>
              <p:cNvPr id="49" name="Rectangles 47">
                <a:extLst>
                  <a:ext uri="{FF2B5EF4-FFF2-40B4-BE49-F238E27FC236}">
                    <a16:creationId xmlns:a16="http://schemas.microsoft.com/office/drawing/2014/main" id="{478633AD-CB5C-62BB-647F-D440FBBA1DCB}"/>
                  </a:ext>
                </a:extLst>
              </p:cNvPr>
              <p:cNvSpPr/>
              <p:nvPr/>
            </p:nvSpPr>
            <p:spPr>
              <a:xfrm>
                <a:off x="8876244" y="4662875"/>
                <a:ext cx="458478" cy="47627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100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3E1BE-16BC-039D-DDF2-53702218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4752A-243B-AA99-E099-BD55BB14D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Theoretical: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Trace evaluation: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Deployment (coming soon):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79E3A-8C6B-05AA-9045-886AE7FD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DA960-DB2F-16E4-BD32-F96473D62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9AB812-D9E3-A67C-6FFE-C63010341C6B}"/>
                  </a:ext>
                </a:extLst>
              </p:cNvPr>
              <p:cNvSpPr txBox="1"/>
              <p:nvPr/>
            </p:nvSpPr>
            <p:spPr>
              <a:xfrm>
                <a:off x="4353009" y="580794"/>
                <a:ext cx="4030828" cy="1393010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Theorem: In any power-of-two multiserver-job setting,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𝑆𝐹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𝑆𝑅𝑃𝑇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‐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𝑂𝑃𝑇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‐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 </m:t>
                        </m:r>
                      </m:e>
                    </m:func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9AB812-D9E3-A67C-6FFE-C63010341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009" y="580794"/>
                <a:ext cx="4030828" cy="1393010"/>
              </a:xfrm>
              <a:prstGeom prst="rect">
                <a:avLst/>
              </a:prstGeom>
              <a:blipFill>
                <a:blip r:embed="rId2"/>
                <a:stretch>
                  <a:fillRect l="-1499" t="-851" r="-600"/>
                </a:stretch>
              </a:blipFill>
              <a:ln w="381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40C1C5-8747-E96D-8517-4718F9370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520393"/>
              </p:ext>
            </p:extLst>
          </p:nvPr>
        </p:nvGraphicFramePr>
        <p:xfrm>
          <a:off x="4453508" y="1988008"/>
          <a:ext cx="4645895" cy="1814174"/>
        </p:xfrm>
        <a:graphic>
          <a:graphicData uri="http://schemas.openxmlformats.org/drawingml/2006/table">
            <a:tbl>
              <a:tblPr/>
              <a:tblGrid>
                <a:gridCol w="626615">
                  <a:extLst>
                    <a:ext uri="{9D8B030D-6E8A-4147-A177-3AD203B41FA5}">
                      <a16:colId xmlns:a16="http://schemas.microsoft.com/office/drawing/2014/main" val="737226703"/>
                    </a:ext>
                  </a:extLst>
                </a:gridCol>
                <a:gridCol w="716096">
                  <a:extLst>
                    <a:ext uri="{9D8B030D-6E8A-4147-A177-3AD203B41FA5}">
                      <a16:colId xmlns:a16="http://schemas.microsoft.com/office/drawing/2014/main" val="2382886734"/>
                    </a:ext>
                  </a:extLst>
                </a:gridCol>
                <a:gridCol w="1079653">
                  <a:extLst>
                    <a:ext uri="{9D8B030D-6E8A-4147-A177-3AD203B41FA5}">
                      <a16:colId xmlns:a16="http://schemas.microsoft.com/office/drawing/2014/main" val="1051675774"/>
                    </a:ext>
                  </a:extLst>
                </a:gridCol>
                <a:gridCol w="495760">
                  <a:extLst>
                    <a:ext uri="{9D8B030D-6E8A-4147-A177-3AD203B41FA5}">
                      <a16:colId xmlns:a16="http://schemas.microsoft.com/office/drawing/2014/main" val="2879471401"/>
                    </a:ext>
                  </a:extLst>
                </a:gridCol>
                <a:gridCol w="1727771">
                  <a:extLst>
                    <a:ext uri="{9D8B030D-6E8A-4147-A177-3AD203B41FA5}">
                      <a16:colId xmlns:a16="http://schemas.microsoft.com/office/drawing/2014/main" val="3551983198"/>
                    </a:ext>
                  </a:extLst>
                </a:gridCol>
              </a:tblGrid>
              <a:tr h="265522">
                <a:tc>
                  <a:txBody>
                    <a:bodyPr/>
                    <a:lstStyle/>
                    <a:p>
                      <a:r>
                        <a:rPr lang="en-US" sz="1400" dirty="0" err="1"/>
                        <a:t>Job_ID</a:t>
                      </a:r>
                      <a:endParaRPr lang="en-US" sz="14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Task_ID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Arrival_Time</a:t>
                      </a:r>
                      <a:endParaRPr lang="en-US" sz="14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CPU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Memory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43120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/>
                        <a:t>J_1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603123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219666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/>
                        <a:t>J_2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605237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415876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/>
                        <a:t>J_3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607123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338032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 dirty="0"/>
                        <a:t>J_3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607123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434998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 dirty="0"/>
                        <a:t>J_4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609237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549587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/>
                        <a:t>J_4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609237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15.12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812"/>
                  </a:ext>
                </a:extLst>
              </a:tr>
              <a:tr h="221236">
                <a:tc>
                  <a:txBody>
                    <a:bodyPr/>
                    <a:lstStyle/>
                    <a:p>
                      <a:r>
                        <a:rPr lang="en-US" sz="1400"/>
                        <a:t>J_4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609237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1.689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0.0018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8043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0D8BCBA-99E8-FDC0-3040-B31E3D476868}"/>
              </a:ext>
            </a:extLst>
          </p:cNvPr>
          <p:cNvSpPr/>
          <p:nvPr/>
        </p:nvSpPr>
        <p:spPr>
          <a:xfrm>
            <a:off x="4353009" y="1988007"/>
            <a:ext cx="3756752" cy="1814175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lose-up of a building&#10;&#10;Description automatically generated">
            <a:extLst>
              <a:ext uri="{FF2B5EF4-FFF2-40B4-BE49-F238E27FC236}">
                <a16:creationId xmlns:a16="http://schemas.microsoft.com/office/drawing/2014/main" id="{6810218C-152A-75EE-7A3A-62526033A4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3" t="17274"/>
          <a:stretch/>
        </p:blipFill>
        <p:spPr>
          <a:xfrm>
            <a:off x="4839367" y="3797882"/>
            <a:ext cx="2817808" cy="130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5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4925-A2B4-8E9C-458E-D68D6510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&amp;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42B2-2FE7-A494-F788-B53BC197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8400"/>
            <a:ext cx="7970705" cy="3344490"/>
          </a:xfrm>
        </p:spPr>
        <p:txBody>
          <a:bodyPr/>
          <a:lstStyle/>
          <a:p>
            <a:r>
              <a:rPr lang="en-US" dirty="0"/>
              <a:t>Stochastic Models (IEMS 315): Sophomores and juniors, IEMS core. </a:t>
            </a:r>
            <a:br>
              <a:rPr lang="en-US" dirty="0"/>
            </a:br>
            <a:r>
              <a:rPr lang="en-US" dirty="0"/>
              <a:t>2024-25 Cole-Higgins Award (McCormick-wide).</a:t>
            </a:r>
          </a:p>
          <a:p>
            <a:r>
              <a:rPr lang="en-US" dirty="0"/>
              <a:t>Stochastic Processes (IEMS 460-1): 1st-year PhD students. IEMS core.</a:t>
            </a:r>
            <a:br>
              <a:rPr lang="en-US" dirty="0"/>
            </a:br>
            <a:r>
              <a:rPr lang="en-US" dirty="0"/>
              <a:t>2024-25 INFORMS Graduate Teaching Award (IEMS-wide).</a:t>
            </a:r>
          </a:p>
          <a:p>
            <a:r>
              <a:rPr lang="en-US" dirty="0"/>
              <a:t>External service: ACM SIGMETRICS committees,</a:t>
            </a:r>
            <a:br>
              <a:rPr lang="en-US" dirty="0"/>
            </a:br>
            <a:r>
              <a:rPr lang="en-US" dirty="0"/>
              <a:t> YEQT co-organizer.</a:t>
            </a:r>
          </a:p>
          <a:p>
            <a:r>
              <a:rPr lang="en-US" dirty="0"/>
              <a:t>Internal service: Graduate student committee, seminars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70829-5AD4-0DAC-FCD8-FB8286B4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A6672-3C67-A996-A17D-4461D10D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8D60-C3CE-A3E4-0679-A1E1E741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Queueing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0BD8-B99D-2B9E-CA3B-4D3ECD8A8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16894"/>
            <a:ext cx="8397766" cy="13959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Flexible models: Arrivals, duration, resources, objectives.</a:t>
            </a:r>
          </a:p>
          <a:p>
            <a:pPr marL="0" indent="0">
              <a:buNone/>
            </a:pPr>
            <a:r>
              <a:rPr lang="en-US" dirty="0"/>
              <a:t>Results: Theoretical, historical data, deployment (soon).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4D381-3858-04A8-9246-0C315551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IEMS Advisory Board, 11/14/25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61F0C-ED00-4951-061F-A76F00D3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59357D-F569-D117-EA1E-F72CFED7E148}"/>
              </a:ext>
            </a:extLst>
          </p:cNvPr>
          <p:cNvGrpSpPr/>
          <p:nvPr/>
        </p:nvGrpSpPr>
        <p:grpSpPr>
          <a:xfrm>
            <a:off x="2205384" y="1277299"/>
            <a:ext cx="4620260" cy="1855470"/>
            <a:chOff x="541" y="2463"/>
            <a:chExt cx="7276" cy="292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04F41B6-838E-2FEF-7CC9-644F73757DDD}"/>
                </a:ext>
              </a:extLst>
            </p:cNvPr>
            <p:cNvGrpSpPr/>
            <p:nvPr/>
          </p:nvGrpSpPr>
          <p:grpSpPr>
            <a:xfrm>
              <a:off x="541" y="2463"/>
              <a:ext cx="7276" cy="2922"/>
              <a:chOff x="541" y="2463"/>
              <a:chExt cx="7276" cy="2922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2CCBE79-2BF9-6240-B2A1-B702CC44BCDD}"/>
                  </a:ext>
                </a:extLst>
              </p:cNvPr>
              <p:cNvSpPr/>
              <p:nvPr/>
            </p:nvSpPr>
            <p:spPr>
              <a:xfrm>
                <a:off x="6653" y="2463"/>
                <a:ext cx="1164" cy="29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BD3A948-0FA4-0356-A396-7051F96B915D}"/>
                  </a:ext>
                </a:extLst>
              </p:cNvPr>
              <p:cNvGrpSpPr/>
              <p:nvPr/>
            </p:nvGrpSpPr>
            <p:grpSpPr>
              <a:xfrm>
                <a:off x="541" y="3047"/>
                <a:ext cx="6918" cy="1729"/>
                <a:chOff x="4612" y="3721"/>
                <a:chExt cx="6918" cy="172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421FA614-C261-9E7F-E38E-D40FC9A84E94}"/>
                    </a:ext>
                  </a:extLst>
                </p:cNvPr>
                <p:cNvGrpSpPr/>
                <p:nvPr/>
              </p:nvGrpSpPr>
              <p:grpSpPr>
                <a:xfrm>
                  <a:off x="5630" y="3721"/>
                  <a:ext cx="4734" cy="1729"/>
                  <a:chOff x="5630" y="3721"/>
                  <a:chExt cx="4734" cy="1729"/>
                </a:xfrm>
              </p:grpSpPr>
              <p:sp>
                <p:nvSpPr>
                  <p:cNvPr id="20" name="Rectangles 8">
                    <a:extLst>
                      <a:ext uri="{FF2B5EF4-FFF2-40B4-BE49-F238E27FC236}">
                        <a16:creationId xmlns:a16="http://schemas.microsoft.com/office/drawing/2014/main" id="{6B0A5A0D-AA75-BAE8-0D31-2E9E91BF85CF}"/>
                      </a:ext>
                    </a:extLst>
                  </p:cNvPr>
                  <p:cNvSpPr/>
                  <p:nvPr/>
                </p:nvSpPr>
                <p:spPr>
                  <a:xfrm>
                    <a:off x="6596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Rectangles 9">
                    <a:extLst>
                      <a:ext uri="{FF2B5EF4-FFF2-40B4-BE49-F238E27FC236}">
                        <a16:creationId xmlns:a16="http://schemas.microsoft.com/office/drawing/2014/main" id="{087A0250-16D2-F706-B6DE-3A31F4A56EF0}"/>
                      </a:ext>
                    </a:extLst>
                  </p:cNvPr>
                  <p:cNvSpPr/>
                  <p:nvPr/>
                </p:nvSpPr>
                <p:spPr>
                  <a:xfrm>
                    <a:off x="7538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s 10">
                    <a:extLst>
                      <a:ext uri="{FF2B5EF4-FFF2-40B4-BE49-F238E27FC236}">
                        <a16:creationId xmlns:a16="http://schemas.microsoft.com/office/drawing/2014/main" id="{34453D20-3C37-CF49-1217-50AB74386B49}"/>
                      </a:ext>
                    </a:extLst>
                  </p:cNvPr>
                  <p:cNvSpPr/>
                  <p:nvPr/>
                </p:nvSpPr>
                <p:spPr>
                  <a:xfrm>
                    <a:off x="8480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s 11">
                    <a:extLst>
                      <a:ext uri="{FF2B5EF4-FFF2-40B4-BE49-F238E27FC236}">
                        <a16:creationId xmlns:a16="http://schemas.microsoft.com/office/drawing/2014/main" id="{42EDEB63-BA4D-C90E-1DEB-2B2E9E272F92}"/>
                      </a:ext>
                    </a:extLst>
                  </p:cNvPr>
                  <p:cNvSpPr/>
                  <p:nvPr/>
                </p:nvSpPr>
                <p:spPr>
                  <a:xfrm>
                    <a:off x="9422" y="3735"/>
                    <a:ext cx="942" cy="1714"/>
                  </a:xfrm>
                  <a:prstGeom prst="rect">
                    <a:avLst/>
                  </a:prstGeom>
                  <a:noFill/>
                  <a:ln w="38100">
                    <a:solidFill>
                      <a:srgbClr val="20202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8BB57108-9113-C67C-F1E9-D157E89478BD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3721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B6B38500-B740-0EC3-98E3-B3BA49C31F39}"/>
                      </a:ext>
                    </a:extLst>
                  </p:cNvPr>
                  <p:cNvCxnSpPr/>
                  <p:nvPr/>
                </p:nvCxnSpPr>
                <p:spPr>
                  <a:xfrm>
                    <a:off x="5630" y="5435"/>
                    <a:ext cx="966" cy="1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Rectangles 16">
                  <a:extLst>
                    <a:ext uri="{FF2B5EF4-FFF2-40B4-BE49-F238E27FC236}">
                      <a16:creationId xmlns:a16="http://schemas.microsoft.com/office/drawing/2014/main" id="{C699D652-7557-7AA6-0BDA-33056F2D6D32}"/>
                    </a:ext>
                  </a:extLst>
                </p:cNvPr>
                <p:cNvSpPr/>
                <p:nvPr/>
              </p:nvSpPr>
              <p:spPr>
                <a:xfrm>
                  <a:off x="7611" y="4738"/>
                  <a:ext cx="797" cy="4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Rectangles 18">
                  <a:extLst>
                    <a:ext uri="{FF2B5EF4-FFF2-40B4-BE49-F238E27FC236}">
                      <a16:creationId xmlns:a16="http://schemas.microsoft.com/office/drawing/2014/main" id="{0440AB1E-C549-02F1-3F72-7FC43C59FE35}"/>
                    </a:ext>
                  </a:extLst>
                </p:cNvPr>
                <p:cNvSpPr/>
                <p:nvPr/>
              </p:nvSpPr>
              <p:spPr>
                <a:xfrm>
                  <a:off x="9495" y="4283"/>
                  <a:ext cx="797" cy="8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s 19">
                  <a:extLst>
                    <a:ext uri="{FF2B5EF4-FFF2-40B4-BE49-F238E27FC236}">
                      <a16:creationId xmlns:a16="http://schemas.microsoft.com/office/drawing/2014/main" id="{2E18A970-ADCB-E500-E6DB-BF0940727BE0}"/>
                    </a:ext>
                  </a:extLst>
                </p:cNvPr>
                <p:cNvSpPr/>
                <p:nvPr/>
              </p:nvSpPr>
              <p:spPr>
                <a:xfrm>
                  <a:off x="6668" y="4160"/>
                  <a:ext cx="797" cy="9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s 20">
                  <a:extLst>
                    <a:ext uri="{FF2B5EF4-FFF2-40B4-BE49-F238E27FC236}">
                      <a16:creationId xmlns:a16="http://schemas.microsoft.com/office/drawing/2014/main" id="{ADDB8BA8-38F7-4DBD-A4AA-5C4D0943ADEE}"/>
                    </a:ext>
                  </a:extLst>
                </p:cNvPr>
                <p:cNvSpPr/>
                <p:nvPr/>
              </p:nvSpPr>
              <p:spPr>
                <a:xfrm>
                  <a:off x="8553" y="4483"/>
                  <a:ext cx="797" cy="65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s 21">
                  <a:extLst>
                    <a:ext uri="{FF2B5EF4-FFF2-40B4-BE49-F238E27FC236}">
                      <a16:creationId xmlns:a16="http://schemas.microsoft.com/office/drawing/2014/main" id="{606E8AD3-1006-1D00-F004-847A7D75998F}"/>
                    </a:ext>
                  </a:extLst>
                </p:cNvPr>
                <p:cNvSpPr/>
                <p:nvPr/>
              </p:nvSpPr>
              <p:spPr>
                <a:xfrm>
                  <a:off x="10936" y="4283"/>
                  <a:ext cx="594" cy="53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F65BDE6D-76C0-71CC-2377-DCA46BD35039}"/>
                    </a:ext>
                  </a:extLst>
                </p:cNvPr>
                <p:cNvCxnSpPr/>
                <p:nvPr/>
              </p:nvCxnSpPr>
              <p:spPr>
                <a:xfrm flipV="1">
                  <a:off x="4612" y="4647"/>
                  <a:ext cx="1018" cy="6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Rectangles 17">
                <a:extLst>
                  <a:ext uri="{FF2B5EF4-FFF2-40B4-BE49-F238E27FC236}">
                    <a16:creationId xmlns:a16="http://schemas.microsoft.com/office/drawing/2014/main" id="{F173D0D3-4061-EDFF-2B8B-604B84122F0B}"/>
                  </a:ext>
                </a:extLst>
              </p:cNvPr>
              <p:cNvSpPr/>
              <p:nvPr/>
            </p:nvSpPr>
            <p:spPr>
              <a:xfrm>
                <a:off x="6865" y="2980"/>
                <a:ext cx="594" cy="1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s 25">
                <a:extLst>
                  <a:ext uri="{FF2B5EF4-FFF2-40B4-BE49-F238E27FC236}">
                    <a16:creationId xmlns:a16="http://schemas.microsoft.com/office/drawing/2014/main" id="{81689C43-CB87-07BF-F191-83A036C87146}"/>
                  </a:ext>
                </a:extLst>
              </p:cNvPr>
              <p:cNvSpPr/>
              <p:nvPr/>
            </p:nvSpPr>
            <p:spPr>
              <a:xfrm>
                <a:off x="6934" y="4761"/>
                <a:ext cx="594" cy="3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3285C7-CF6A-5408-D57A-E69BC8058390}"/>
                </a:ext>
              </a:extLst>
            </p:cNvPr>
            <p:cNvCxnSpPr>
              <a:cxnSpLocks/>
              <a:stCxn id="23" idx="3"/>
              <a:endCxn id="9" idx="2"/>
            </p:cNvCxnSpPr>
            <p:nvPr/>
          </p:nvCxnSpPr>
          <p:spPr>
            <a:xfrm>
              <a:off x="6293" y="3918"/>
              <a:ext cx="360" cy="6"/>
            </a:xfrm>
            <a:prstGeom prst="line">
              <a:avLst/>
            </a:prstGeom>
            <a:ln w="38100">
              <a:solidFill>
                <a:srgbClr val="2020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049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Custom 6">
      <a:dk1>
        <a:srgbClr val="342F2E"/>
      </a:dk1>
      <a:lt1>
        <a:sysClr val="window" lastClr="FFFFFF"/>
      </a:lt1>
      <a:dk2>
        <a:srgbClr val="4E2A84"/>
      </a:dk2>
      <a:lt2>
        <a:srgbClr val="D8D6D6"/>
      </a:lt2>
      <a:accent1>
        <a:srgbClr val="401F68"/>
      </a:accent1>
      <a:accent2>
        <a:srgbClr val="007FA4"/>
      </a:accent2>
      <a:accent3>
        <a:srgbClr val="0D2D6C"/>
      </a:accent3>
      <a:accent4>
        <a:srgbClr val="D9C826"/>
      </a:accent4>
      <a:accent5>
        <a:srgbClr val="CA7C1B"/>
      </a:accent5>
      <a:accent6>
        <a:srgbClr val="D85820"/>
      </a:accent6>
      <a:hlink>
        <a:srgbClr val="5091CD"/>
      </a:hlink>
      <a:folHlink>
        <a:srgbClr val="BBB8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western Engineering Light Widescreen" id="{7F134A34-E531-554A-887A-F9F7F14A8963}" vid="{BED150B7-CB91-0A44-ADDE-CADCF44A2B2A}"/>
    </a:ext>
  </a:extLst>
</a:theme>
</file>

<file path=ppt/theme/theme2.xml><?xml version="1.0" encoding="utf-8"?>
<a:theme xmlns:a="http://schemas.openxmlformats.org/drawingml/2006/main" name="Closing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59301</TotalTime>
  <Words>556</Words>
  <Application>Microsoft Office PowerPoint</Application>
  <PresentationFormat>On-screen Show (16:9)</PresentationFormat>
  <Paragraphs>114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Cambria Math</vt:lpstr>
      <vt:lpstr>Courier New</vt:lpstr>
      <vt:lpstr>Wingdings</vt:lpstr>
      <vt:lpstr>Executive</vt:lpstr>
      <vt:lpstr>Closing Slide</vt:lpstr>
      <vt:lpstr>Prof. Izzy Grosof  Multiserver Stochastic Scheduling</vt:lpstr>
      <vt:lpstr>Stochastic queueing</vt:lpstr>
      <vt:lpstr>Highly flexible models</vt:lpstr>
      <vt:lpstr>Impact of nonpreemptible jobs</vt:lpstr>
      <vt:lpstr>Continuous resource requirements</vt:lpstr>
      <vt:lpstr>Multistage jobs (Tandem Network)</vt:lpstr>
      <vt:lpstr>Kinds of Results</vt:lpstr>
      <vt:lpstr>Teaching &amp; Service</vt:lpstr>
      <vt:lpstr>Stochastic Queueing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Martel</dc:creator>
  <cp:lastModifiedBy>Izzy Grosof</cp:lastModifiedBy>
  <cp:revision>1576</cp:revision>
  <cp:lastPrinted>2019-10-24T19:21:03Z</cp:lastPrinted>
  <dcterms:created xsi:type="dcterms:W3CDTF">2015-07-29T19:46:13Z</dcterms:created>
  <dcterms:modified xsi:type="dcterms:W3CDTF">2025-11-14T22:15:09Z</dcterms:modified>
</cp:coreProperties>
</file>