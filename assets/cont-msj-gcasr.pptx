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1" r:id="rId12"/>
    <p:sldId id="269" r:id="rId13"/>
    <p:sldId id="272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CBD22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25" autoAdjust="0"/>
  </p:normalViewPr>
  <p:slideViewPr>
    <p:cSldViewPr snapToGrid="0">
      <p:cViewPr>
        <p:scale>
          <a:sx n="100" d="100"/>
          <a:sy n="100" d="100"/>
        </p:scale>
        <p:origin x="37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4B34E-CD6E-4FE1-BDCB-392B497F3BC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CA99B-E017-4065-B2FC-DEE0B32E0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2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clumped: few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9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lines: over 1000, indistinguishable from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02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36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F128-1044-0753-443F-7594ABB12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43355-4C35-5D18-DFDE-B57E44E31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9E9A-F042-B276-FF4D-3C4D3D5E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2F58-9A8B-4D8A-9814-915F0EBE5E5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A923-5AD7-C6BC-0727-CFC6E379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5B27-D762-45D4-2D44-C1EC2B1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3E6-B63E-B86B-CCFF-341C8448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F27A-6504-AB72-F29B-35F5ABB4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CF4A-ECDD-0945-9610-32ED91F0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7D52-62AC-435E-9AB1-7C84AA1764C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1E65-5A5B-1831-C4C7-B25713DF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59C1-A9EE-19BB-59BE-85284A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8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16C8-E583-2035-632E-99DDF9A4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3CDB7-28C9-76B1-F726-B5F9AEDFD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47E4-B9A3-55A1-7E29-C1DACA56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E674-0675-427B-A1DF-F83C5FFD93D1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476A-1A3B-1FE2-F5EA-20A4ECEA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4E65-5AA9-1649-5376-FF278D6D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FA3B-386F-5148-EB75-F2CC9CD5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3E2C-8FF2-1810-2FDD-419063CC9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8BE66-3504-7C81-0DEF-75ED4730A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D792F-C2CA-5696-8BF4-15955C42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09D9-B143-4D9D-8257-7ED880A6A79C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817B8-6A45-91E2-2B68-E41C2E27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9F48D-03E9-6572-3212-B2F9273C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66AA-3953-C6CC-1121-A0C9F2EF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00252-FF0E-33E7-2249-D1987B65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9D57D-564D-3196-E924-DB9CC28C1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8B8EA-8F6F-176D-2D60-F4EA93469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CE257-2C23-2153-03CF-20A47FDA5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B9E5E-91B3-7127-8FF0-8934197D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C25F-376B-4AAD-B150-CF5F543DC42A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99202-E407-CAFF-8B94-9A149EB8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D0F58-6381-1BC9-B52B-F3BDF364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9F6E-474C-F77C-7648-C0C98F5A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333B1-1D60-28F8-BB8E-20886239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1763-DE9D-4569-8D5F-126EE9D250A9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9E17-FC58-4FDF-32BD-6BCDBB9B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14D13-8A14-0299-579A-53866F43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895DA-5621-A665-A933-1E4E9124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6862-8293-4746-B469-EA8B76D02F07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ACB99-BAFD-2F52-2889-49E546E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5497-723A-9BF0-4BD4-1AE1F5A6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2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A492-A883-4442-75AE-8DF0D42E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1470-3E45-3976-AAB2-D903F76B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8078C-B4A9-7462-E7FA-7AFB890D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C0479-06CD-27DB-EFC8-4D84AB8A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2DA1-B536-4BCC-A6D6-7356E480651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054D2-8BF5-8D1E-5925-5E8C6403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5E-C77F-F905-8096-185F67B1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1B78-7EFD-EF92-020D-4DC75FA9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16786-E33F-8105-4F86-03A58423A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15C18-EB41-4BE3-E3F2-001DCC64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9E67-E578-6B46-8523-5CCA6310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9C6C-A4BA-43D3-86D1-251E144D58D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4B37-4205-8ACC-583D-8A517540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A2A39-72AC-0C73-7637-7F583DFA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5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7B41-AECE-9FBB-B92B-9C0C7824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1B82F-0FD7-29D7-6C52-E83B43F7D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4F3A-C097-1BF6-62EE-C70788A8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A4EA-E4B8-41E9-B721-DAEE39BCCEF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BD1-068F-B298-D348-72BA9585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C33E0-D5A6-031A-7424-840208F5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1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ACC2C-AE27-E971-DCD7-D6D0E29A2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AED5D-AE26-03B1-D2B6-AFA3B4A8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3CE6-3852-0D70-464C-9BCA3F63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3B1-8CEF-4F7D-B018-F1D246A345E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83ACC-5B79-5C79-1AF9-9D0858E3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FA78-6F9B-0959-3ACF-959AED4B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5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8CB1F-B3EC-273B-B9D6-5F328AE7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1FC97-0D51-6CFE-9F58-67B539AE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4704-BE80-4035-7EAB-DC292241F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7E6A9-677A-429A-AD8C-EE0C3CEEA75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1254-2164-9873-8113-225E48194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GCASR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36C1-350B-17D4-1942-6FE8DFA73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0007A957-A910-43A5-89A4-EA8C5A38DB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1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58B1-A7F4-1E99-C6E3-53F6615FD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Scheduling with Massively Heterogeneous Resource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68CA4-4B0F-ECF6-CD09-5BEBAEC0A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70336"/>
          </a:xfrm>
        </p:spPr>
        <p:txBody>
          <a:bodyPr>
            <a:normAutofit/>
          </a:bodyPr>
          <a:lstStyle/>
          <a:p>
            <a:r>
              <a:rPr lang="en-US" b="1" dirty="0"/>
              <a:t>Izzy Grosof</a:t>
            </a:r>
          </a:p>
          <a:p>
            <a:r>
              <a:rPr lang="en-US" dirty="0" err="1"/>
              <a:t>Heyuan</a:t>
            </a:r>
            <a:r>
              <a:rPr lang="en-US" dirty="0"/>
              <a:t> Yao</a:t>
            </a:r>
          </a:p>
          <a:p>
            <a:r>
              <a:rPr lang="en-US" dirty="0"/>
              <a:t>Willow </a:t>
            </a:r>
            <a:r>
              <a:rPr lang="en-US" dirty="0" err="1"/>
              <a:t>Kowalik</a:t>
            </a:r>
            <a:endParaRPr lang="en-US" dirty="0"/>
          </a:p>
          <a:p>
            <a:r>
              <a:rPr lang="en-US" dirty="0"/>
              <a:t>Northwestern University</a:t>
            </a:r>
          </a:p>
          <a:p>
            <a:r>
              <a:rPr lang="en-US" dirty="0"/>
              <a:t>Industrial Engineering &amp; Management Science</a:t>
            </a:r>
          </a:p>
        </p:txBody>
      </p:sp>
      <p:pic>
        <p:nvPicPr>
          <p:cNvPr id="6" name="Picture 5" descr="A person wearing glasses and a striped shirt&#10;&#10;Description automatically generated">
            <a:extLst>
              <a:ext uri="{FF2B5EF4-FFF2-40B4-BE49-F238E27FC236}">
                <a16:creationId xmlns:a16="http://schemas.microsoft.com/office/drawing/2014/main" id="{31BF9ABA-2C1A-3640-63AC-D503DF2DE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9" y="3719513"/>
            <a:ext cx="3001962" cy="300196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10EDDE-E406-FD1D-6B5F-900E6A4D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E49054-0F1F-B0C7-76E5-0BA8687A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3E3D-E844-FE7F-938D-671DD555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Scheduling: Heterogeneous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57878-78DF-783D-9AA6-E9291EDAC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Datacenters: Huge resource capacities:</a:t>
            </a:r>
            <a:br>
              <a:rPr lang="en-US" dirty="0"/>
            </a:br>
            <a:r>
              <a:rPr lang="en-US" dirty="0"/>
              <a:t>CPUs, GPUs, memory, bandwidth, etc. </a:t>
            </a:r>
          </a:p>
          <a:p>
            <a:pPr marL="0" indent="0">
              <a:buNone/>
            </a:pPr>
            <a:r>
              <a:rPr lang="en-US" dirty="0"/>
              <a:t>Extremely heterogeneous job</a:t>
            </a:r>
            <a:br>
              <a:rPr lang="en-US" dirty="0"/>
            </a:br>
            <a:r>
              <a:rPr lang="en-US" dirty="0"/>
              <a:t>requirements: Scale &amp; resource mix</a:t>
            </a:r>
          </a:p>
          <a:p>
            <a:pPr marL="0" indent="0">
              <a:buNone/>
            </a:pPr>
            <a:r>
              <a:rPr lang="en-US" dirty="0"/>
              <a:t>Scheduling: Which jobs served when?</a:t>
            </a:r>
          </a:p>
          <a:p>
            <a:pPr marL="0" indent="0">
              <a:buNone/>
            </a:pPr>
            <a:r>
              <a:rPr lang="en-US" dirty="0"/>
              <a:t>Goal: More performance from</a:t>
            </a:r>
            <a:br>
              <a:rPr lang="en-US" dirty="0"/>
            </a:br>
            <a:r>
              <a:rPr lang="en-US" dirty="0"/>
              <a:t>existing capacity</a:t>
            </a:r>
          </a:p>
          <a:p>
            <a:pPr marL="0" indent="0">
              <a:buNone/>
            </a:pPr>
            <a:r>
              <a:rPr lang="en-US" dirty="0"/>
              <a:t>Tool: Performance modeling, stochastic queueing theory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3F8D9-5C62-BE7F-2683-E51E20E8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82DD-BC85-F478-FB69-39C64C60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Datacenter">
            <a:extLst>
              <a:ext uri="{FF2B5EF4-FFF2-40B4-BE49-F238E27FC236}">
                <a16:creationId xmlns:a16="http://schemas.microsoft.com/office/drawing/2014/main" id="{9508B3C2-B2C2-3043-0780-04E049E36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944" y="1270501"/>
            <a:ext cx="5214097" cy="347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5F95-AD4C-4A52-2D28-3B50D1C0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theoretical paradigm:</a:t>
            </a:r>
            <a:br>
              <a:rPr lang="en-US" dirty="0"/>
            </a:br>
            <a:r>
              <a:rPr lang="en-US" dirty="0"/>
              <a:t>Limited resource heterogeneity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F0EE-E61F-D5E4-3035-E8A21FC6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Existing performance modeling theory: Heterogeneity via handful of resource requirement classes – like VMs, small, medium, large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Reality: massive heterogeneity. Google Borg scheduling trace: In first 1M jobs, 3.7k unique memory </a:t>
            </a:r>
            <a:r>
              <a:rPr lang="en-US" dirty="0" err="1"/>
              <a:t>reqs</a:t>
            </a:r>
            <a:r>
              <a:rPr lang="en-US" dirty="0"/>
              <a:t>., 540k unique CPU </a:t>
            </a:r>
            <a:r>
              <a:rPr lang="en-US" dirty="0" err="1"/>
              <a:t>reqs</a:t>
            </a:r>
            <a:r>
              <a:rPr lang="en-US" dirty="0"/>
              <a:t>., 950k unique pairs.</a:t>
            </a:r>
          </a:p>
          <a:p>
            <a:pPr marL="0" indent="0">
              <a:buNone/>
            </a:pPr>
            <a:r>
              <a:rPr lang="en-US" dirty="0"/>
              <a:t>Real systems, and corresponding simulators understand this.</a:t>
            </a:r>
            <a:br>
              <a:rPr lang="en-US" dirty="0"/>
            </a:br>
            <a:r>
              <a:rPr lang="en-US" dirty="0"/>
              <a:t>Popular policies: FCFS + Backfilling policies, learning policies.</a:t>
            </a:r>
          </a:p>
          <a:p>
            <a:pPr marL="0" indent="0">
              <a:buNone/>
            </a:pPr>
            <a:r>
              <a:rPr lang="en-US" dirty="0"/>
              <a:t>Need new theory!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DADBF-A830-9E42-CF98-9BB8EDA8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B806-86C8-E87D-A783-E9574F37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C6157C-024B-9969-D24F-BC790239E665}"/>
              </a:ext>
            </a:extLst>
          </p:cNvPr>
          <p:cNvGrpSpPr/>
          <p:nvPr/>
        </p:nvGrpSpPr>
        <p:grpSpPr>
          <a:xfrm>
            <a:off x="3050333" y="2385544"/>
            <a:ext cx="6091333" cy="1615750"/>
            <a:chOff x="2932923" y="2380862"/>
            <a:chExt cx="6091333" cy="1615750"/>
          </a:xfrm>
        </p:grpSpPr>
        <p:pic>
          <p:nvPicPr>
            <p:cNvPr id="7" name="Graphic 6" descr="Laptop outline">
              <a:extLst>
                <a:ext uri="{FF2B5EF4-FFF2-40B4-BE49-F238E27FC236}">
                  <a16:creationId xmlns:a16="http://schemas.microsoft.com/office/drawing/2014/main" id="{2178F9F9-4F9D-C039-51F2-69B50EF2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32923" y="2831841"/>
              <a:ext cx="718457" cy="718457"/>
            </a:xfrm>
            <a:prstGeom prst="rect">
              <a:avLst/>
            </a:prstGeom>
          </p:spPr>
        </p:pic>
        <p:pic>
          <p:nvPicPr>
            <p:cNvPr id="8" name="Graphic 7" descr="Laptop outline">
              <a:extLst>
                <a:ext uri="{FF2B5EF4-FFF2-40B4-BE49-F238E27FC236}">
                  <a16:creationId xmlns:a16="http://schemas.microsoft.com/office/drawing/2014/main" id="{4181C15E-6E53-432F-316D-2D944B857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3886" y="2639008"/>
              <a:ext cx="1132114" cy="1132114"/>
            </a:xfrm>
            <a:prstGeom prst="rect">
              <a:avLst/>
            </a:prstGeom>
          </p:spPr>
        </p:pic>
        <p:pic>
          <p:nvPicPr>
            <p:cNvPr id="9" name="Graphic 8" descr="Laptop outline">
              <a:extLst>
                <a:ext uri="{FF2B5EF4-FFF2-40B4-BE49-F238E27FC236}">
                  <a16:creationId xmlns:a16="http://schemas.microsoft.com/office/drawing/2014/main" id="{8D95BB6B-076C-94D8-F7CF-8310F81A4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08506" y="2380862"/>
              <a:ext cx="1615750" cy="1615750"/>
            </a:xfrm>
            <a:prstGeom prst="rect">
              <a:avLst/>
            </a:prstGeom>
          </p:spPr>
        </p:pic>
      </p:grpSp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0047A1A9-AD58-C69F-0624-B15ECD427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28" y="56791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5249-93D9-AB04-47E0-6EB40DB1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theoretical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F90-D49E-6E3F-C819-2E62EC31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5235" cy="4784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Class-based policies: Count jobs with identical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  <a:p>
            <a:r>
              <a:rPr lang="en-US" dirty="0" err="1"/>
              <a:t>MaxWeight</a:t>
            </a:r>
            <a:r>
              <a:rPr lang="en-US" dirty="0"/>
              <a:t>: Solve knapsack, weight by number with same </a:t>
            </a:r>
            <a:r>
              <a:rPr lang="en-US" dirty="0" err="1"/>
              <a:t>reqs</a:t>
            </a:r>
            <a:r>
              <a:rPr lang="en-US" dirty="0"/>
              <a:t> </a:t>
            </a:r>
            <a:r>
              <a:rPr lang="en-US" sz="1600" dirty="0"/>
              <a:t>[MSY ‘12]</a:t>
            </a:r>
          </a:p>
          <a:p>
            <a:r>
              <a:rPr lang="en-US" dirty="0"/>
              <a:t>Randomized Timers </a:t>
            </a:r>
            <a:r>
              <a:rPr lang="en-US" sz="1600" dirty="0"/>
              <a:t>[PG ’18]</a:t>
            </a:r>
            <a:r>
              <a:rPr lang="en-US" dirty="0"/>
              <a:t>, MSR </a:t>
            </a:r>
            <a:r>
              <a:rPr lang="en-US" sz="1600" dirty="0"/>
              <a:t>[C</a:t>
            </a:r>
            <a:r>
              <a:rPr lang="en-US" sz="1600" b="1" dirty="0"/>
              <a:t>G</a:t>
            </a:r>
            <a:r>
              <a:rPr lang="en-US" sz="1600" dirty="0"/>
              <a:t>B ’25]</a:t>
            </a:r>
            <a:r>
              <a:rPr lang="en-US" dirty="0"/>
              <a:t>: Long sequences of identical </a:t>
            </a:r>
            <a:r>
              <a:rPr lang="en-US" dirty="0" err="1"/>
              <a:t>reqs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Upside: Optimal throughput.</a:t>
            </a:r>
            <a:br>
              <a:rPr lang="en-US" dirty="0"/>
            </a:br>
            <a:r>
              <a:rPr lang="en-US" dirty="0"/>
              <a:t>Downside: Only useful when more jobs present than classes.</a:t>
            </a:r>
          </a:p>
          <a:p>
            <a:pPr marL="0" indent="0">
              <a:buNone/>
            </a:pPr>
            <a:r>
              <a:rPr lang="en-US" dirty="0"/>
              <a:t>Index-based policies: Simple ordering, greedily place into service.</a:t>
            </a:r>
          </a:p>
          <a:p>
            <a:r>
              <a:rPr lang="en-US" dirty="0"/>
              <a:t>FCFS with HOL blocking </a:t>
            </a:r>
            <a:r>
              <a:rPr lang="en-US" sz="1600" dirty="0"/>
              <a:t>[RM ’17,</a:t>
            </a:r>
            <a:r>
              <a:rPr lang="en-US" sz="1600" b="1" dirty="0"/>
              <a:t>G</a:t>
            </a:r>
            <a:r>
              <a:rPr lang="en-US" sz="1600" dirty="0"/>
              <a:t>HHS ‘23]</a:t>
            </a:r>
            <a:r>
              <a:rPr lang="en-US" dirty="0"/>
              <a:t>. Backfilling </a:t>
            </a:r>
            <a:r>
              <a:rPr lang="en-US" sz="1600" dirty="0"/>
              <a:t>[CS ’01]</a:t>
            </a:r>
            <a:r>
              <a:rPr lang="en-US" dirty="0"/>
              <a:t> and variants.</a:t>
            </a:r>
          </a:p>
          <a:p>
            <a:pPr marL="0" indent="0">
              <a:buNone/>
            </a:pPr>
            <a:r>
              <a:rPr lang="en-US" dirty="0"/>
              <a:t>Unfortunately: Not throughput optimal – wasting some capacity.</a:t>
            </a:r>
          </a:p>
          <a:p>
            <a:pPr marL="0" indent="0">
              <a:buNone/>
            </a:pPr>
            <a:r>
              <a:rPr lang="en-US" dirty="0"/>
              <a:t>Goal: Theoretical guarantees of class-based, applicability of index-based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CEB21-1DBC-200D-197A-A1560591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94810-3F9F-2D41-7EA0-809D6BCC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6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3A5-276A-04B3-2095-6110C207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EB8D-32BB-0361-2443-EF8108B8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Theoretical model</a:t>
            </a:r>
          </a:p>
          <a:p>
            <a:pPr marL="0" indent="0">
              <a:buNone/>
            </a:pPr>
            <a:r>
              <a:rPr lang="en-US" dirty="0"/>
              <a:t>New policies: Controlled Discretization</a:t>
            </a:r>
          </a:p>
          <a:p>
            <a:pPr marL="0" indent="0">
              <a:buNone/>
            </a:pPr>
            <a:r>
              <a:rPr lang="en-US" dirty="0"/>
              <a:t>Theoretical results</a:t>
            </a:r>
          </a:p>
          <a:p>
            <a:pPr marL="0" indent="0">
              <a:buNone/>
            </a:pPr>
            <a:r>
              <a:rPr lang="en-US" dirty="0"/>
              <a:t>Empirical results, using trace data</a:t>
            </a:r>
          </a:p>
          <a:p>
            <a:pPr marL="0" indent="0">
              <a:buNone/>
            </a:pPr>
            <a:r>
              <a:rPr lang="en-US" dirty="0"/>
              <a:t>Extension: Changing requirements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FA80-0DB3-970F-148C-AFE235E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CF2C3-EA68-8DC5-3568-58845CC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5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498C4-585A-28B0-41FC-723D921AB004}"/>
              </a:ext>
            </a:extLst>
          </p:cNvPr>
          <p:cNvGrpSpPr/>
          <p:nvPr/>
        </p:nvGrpSpPr>
        <p:grpSpPr>
          <a:xfrm>
            <a:off x="6479177" y="678655"/>
            <a:ext cx="5350873" cy="2695575"/>
            <a:chOff x="6479177" y="678655"/>
            <a:chExt cx="5350873" cy="26955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879C69-234E-9A49-11B8-A20DA26EF1B0}"/>
                </a:ext>
              </a:extLst>
            </p:cNvPr>
            <p:cNvGrpSpPr/>
            <p:nvPr/>
          </p:nvGrpSpPr>
          <p:grpSpPr>
            <a:xfrm>
              <a:off x="7172330" y="678655"/>
              <a:ext cx="4657720" cy="2695575"/>
              <a:chOff x="6867530" y="765174"/>
              <a:chExt cx="4657720" cy="26955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04F9FC-2F38-03FA-F32E-59FAB4B8F611}"/>
                  </a:ext>
                </a:extLst>
              </p:cNvPr>
              <p:cNvSpPr/>
              <p:nvPr/>
            </p:nvSpPr>
            <p:spPr>
              <a:xfrm>
                <a:off x="8972550" y="1825625"/>
                <a:ext cx="1524000" cy="574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2261CE-3EC2-B1B6-0356-45BE3D7D4D51}"/>
                  </a:ext>
                </a:extLst>
              </p:cNvPr>
              <p:cNvSpPr/>
              <p:nvPr/>
            </p:nvSpPr>
            <p:spPr>
              <a:xfrm>
                <a:off x="10591800" y="1448594"/>
                <a:ext cx="447673" cy="9516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11D36-1243-34E4-38EC-C54DA7AE7DBB}"/>
                  </a:ext>
                </a:extLst>
              </p:cNvPr>
              <p:cNvSpPr/>
              <p:nvPr/>
            </p:nvSpPr>
            <p:spPr>
              <a:xfrm>
                <a:off x="11129964" y="1962152"/>
                <a:ext cx="319086" cy="4103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.08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5CBE04-3001-E553-EA44-C9E32042DEB0}"/>
                  </a:ext>
                </a:extLst>
              </p:cNvPr>
              <p:cNvGrpSpPr/>
              <p:nvPr/>
            </p:nvGrpSpPr>
            <p:grpSpPr>
              <a:xfrm>
                <a:off x="7943851" y="765174"/>
                <a:ext cx="3581399" cy="2695575"/>
                <a:chOff x="7943851" y="765174"/>
                <a:chExt cx="3581399" cy="269557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FC855CF-9C1C-1140-996E-C81D51891041}"/>
                    </a:ext>
                  </a:extLst>
                </p:cNvPr>
                <p:cNvGrpSpPr/>
                <p:nvPr/>
              </p:nvGrpSpPr>
              <p:grpSpPr>
                <a:xfrm>
                  <a:off x="8829675" y="1690688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6DAD1CC-5A70-B30A-6046-938E7C4AAB1F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D87E930-54B0-5132-9F30-F71B13C5FDA8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6C0B8D8-7032-6DF2-9647-E2C81856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965EBB3-6180-DFBF-E5B2-9C2EF453A697}"/>
                    </a:ext>
                  </a:extLst>
                </p:cNvPr>
                <p:cNvGrpSpPr/>
                <p:nvPr/>
              </p:nvGrpSpPr>
              <p:grpSpPr>
                <a:xfrm rot="16200000">
                  <a:off x="6981826" y="1727199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DA1212D-59BC-522F-AFF3-CD32E6D66358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59F3D3C2-1DF0-CE87-97A7-62CC1A8BC3CA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F7C5F8E-AB4D-71C4-4D85-48C4B08A79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E4AAE9-8E6E-62C0-6F0A-F2F92E77F3D1}"/>
                  </a:ext>
                </a:extLst>
              </p:cNvPr>
              <p:cNvCxnSpPr/>
              <p:nvPr/>
            </p:nvCxnSpPr>
            <p:spPr>
              <a:xfrm rot="16200000">
                <a:off x="8329614" y="1062831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407E3C-285F-B7D7-CBFB-AC3A1948F586}"/>
                  </a:ext>
                </a:extLst>
              </p:cNvPr>
              <p:cNvCxnSpPr/>
              <p:nvPr/>
            </p:nvCxnSpPr>
            <p:spPr>
              <a:xfrm rot="16200000">
                <a:off x="8348663" y="1781572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79BAA8-517B-F558-E8FF-D9C263F04F0A}"/>
                  </a:ext>
                </a:extLst>
              </p:cNvPr>
              <p:cNvCxnSpPr/>
              <p:nvPr/>
            </p:nvCxnSpPr>
            <p:spPr>
              <a:xfrm rot="16200000">
                <a:off x="8329613" y="2428278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503FAC-21FA-0A72-C5BB-1C3A222150BF}"/>
                  </a:ext>
                </a:extLst>
              </p:cNvPr>
              <p:cNvSpPr/>
              <p:nvPr/>
            </p:nvSpPr>
            <p:spPr>
              <a:xfrm>
                <a:off x="6867530" y="846784"/>
                <a:ext cx="1771647" cy="538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.9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C482B8-18AB-5395-FDCE-B880C9D62329}"/>
                  </a:ext>
                </a:extLst>
              </p:cNvPr>
              <p:cNvSpPr/>
              <p:nvPr/>
            </p:nvSpPr>
            <p:spPr>
              <a:xfrm>
                <a:off x="7515225" y="1735186"/>
                <a:ext cx="1128715" cy="32444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28800B-B538-ABDB-E6F3-39B3007BE887}"/>
                  </a:ext>
                </a:extLst>
              </p:cNvPr>
              <p:cNvSpPr/>
              <p:nvPr/>
            </p:nvSpPr>
            <p:spPr>
              <a:xfrm>
                <a:off x="8048626" y="2191275"/>
                <a:ext cx="595314" cy="602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D0C1C5-4C38-C230-179A-03E8966FEC07}"/>
                  </a:ext>
                </a:extLst>
              </p:cNvPr>
              <p:cNvSpPr/>
              <p:nvPr/>
            </p:nvSpPr>
            <p:spPr>
              <a:xfrm>
                <a:off x="8286750" y="2993428"/>
                <a:ext cx="366713" cy="3151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.13</a:t>
                </a:r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D1ACAD6-3D8E-DEB6-FC13-F036D3C03C57}"/>
                </a:ext>
              </a:extLst>
            </p:cNvPr>
            <p:cNvSpPr/>
            <p:nvPr/>
          </p:nvSpPr>
          <p:spPr>
            <a:xfrm>
              <a:off x="6598106" y="1665154"/>
              <a:ext cx="1047749" cy="831321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F6AB64-0180-99BC-E9AF-7898090AA1CD}"/>
                </a:ext>
              </a:extLst>
            </p:cNvPr>
            <p:cNvSpPr/>
            <p:nvPr/>
          </p:nvSpPr>
          <p:spPr>
            <a:xfrm>
              <a:off x="6479177" y="1739106"/>
              <a:ext cx="321675" cy="63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5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1794-4D64-A521-7E84-3428C357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3391-3BB3-674C-B940-09657A4B2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712128"/>
            <a:ext cx="10515600" cy="492597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Continuous resource distribution: Multi-resource or single resource.</a:t>
            </a:r>
          </a:p>
          <a:p>
            <a:pPr marL="0" indent="0">
              <a:buNone/>
            </a:pPr>
            <a:r>
              <a:rPr lang="en-US" dirty="0"/>
              <a:t>Job needs all resources throughout service.</a:t>
            </a:r>
          </a:p>
          <a:p>
            <a:pPr marL="0" indent="0">
              <a:buNone/>
            </a:pPr>
            <a:r>
              <a:rPr lang="en-US" dirty="0"/>
              <a:t>Policy: Which jobs to serve?</a:t>
            </a:r>
          </a:p>
          <a:p>
            <a:pPr marL="0" indent="0">
              <a:buNone/>
            </a:pPr>
            <a:r>
              <a:rPr lang="en-US" dirty="0"/>
              <a:t>Both preemptive and </a:t>
            </a:r>
            <a:r>
              <a:rPr lang="en-US" dirty="0" err="1"/>
              <a:t>nonpreemptive</a:t>
            </a:r>
            <a:r>
              <a:rPr lang="en-US" dirty="0"/>
              <a:t> models.</a:t>
            </a:r>
          </a:p>
          <a:p>
            <a:pPr marL="0" indent="0">
              <a:buNone/>
            </a:pPr>
            <a:r>
              <a:rPr lang="en-US" dirty="0"/>
              <a:t>Goal: Throughput optimal. If any policy can stabilize, we stabilize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69FBE-E513-3EE5-E9C8-34E208FA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92C17-EF59-CEEE-B887-29714A9B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6</a:t>
            </a:fld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D01A2CF-4CE4-B6C8-9728-9DACBFE23F88}"/>
              </a:ext>
            </a:extLst>
          </p:cNvPr>
          <p:cNvGrpSpPr/>
          <p:nvPr/>
        </p:nvGrpSpPr>
        <p:grpSpPr>
          <a:xfrm>
            <a:off x="2871789" y="946149"/>
            <a:ext cx="6357936" cy="2695575"/>
            <a:chOff x="2871789" y="946149"/>
            <a:chExt cx="6357936" cy="269557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7A2A4D-8839-D908-86DD-3CBAE3F99363}"/>
                </a:ext>
              </a:extLst>
            </p:cNvPr>
            <p:cNvGrpSpPr/>
            <p:nvPr/>
          </p:nvGrpSpPr>
          <p:grpSpPr>
            <a:xfrm>
              <a:off x="2871789" y="946149"/>
              <a:ext cx="5891211" cy="2695575"/>
              <a:chOff x="2871789" y="946149"/>
              <a:chExt cx="5891211" cy="2695575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4450246-2360-4DB7-F9F6-D0A0B1A5AC3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604CE68-4338-1BBB-E31B-0EB644BC5960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4DB9B6A-A559-E906-223F-2C42F6740802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9319364-B05D-C13A-5E7A-C952F0533F48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4C5CE04-2CB2-D47A-9237-1F85C9BAA183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5E4C94D-B8F5-5494-AFBF-765D872E7AF9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8" name="Straight Connector 7">
                      <a:extLst>
                        <a:ext uri="{FF2B5EF4-FFF2-40B4-BE49-F238E27FC236}">
                          <a16:creationId xmlns:a16="http://schemas.microsoft.com/office/drawing/2014/main" id="{00BD48E3-E1FE-6832-FFC6-E491D0EC5C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8D694E2E-E71E-A5CF-0548-C4AAE91946A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92500352-E140-E33A-BF05-1F5AA63F4D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3813034E-E21C-FDE7-F0D0-F9C0C58C89B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9852D730-22D3-C611-C97F-8CF604F3B3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2CDE7FA-BEBF-E731-71B8-3A9AB218C3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BC8CF818-6F21-561D-A247-BB1134F54F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18C39EB-A999-21D9-2BF3-4574A93E44D8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D8EECED-9093-9620-9711-C1681A49832A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29ADBC4-7A51-3635-4D16-501F1D556A0D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BC6FC9D-93B6-76DC-950F-62B5BA2F7513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DEB91FC-F267-5C68-9F43-9B6DCD9BDFD3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B63A11F-B5DE-4AA0-50CD-BEB31843B523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EC6A071-C781-9941-C148-0D78A42322A9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3906E1B-761A-8EE7-4F3D-EC2D7B09AC33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098E1E0E-09BA-0C5F-0608-991AEB0968EE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893ABFD-6290-5D3B-8318-DA11389EE213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90AB2F-D958-6B13-3856-B2E89B35275B}"/>
                </a:ext>
              </a:extLst>
            </p:cNvPr>
            <p:cNvCxnSpPr/>
            <p:nvPr/>
          </p:nvCxnSpPr>
          <p:spPr>
            <a:xfrm>
              <a:off x="8763000" y="2319734"/>
              <a:ext cx="4667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/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Arrivals: Poisson process(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blipFill>
                <a:blip r:embed="rId2"/>
                <a:stretch>
                  <a:fillRect l="-4098" t="-2128" b="-851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58B06EB-7FB4-39EA-C769-073049E994ED}"/>
              </a:ext>
            </a:extLst>
          </p:cNvPr>
          <p:cNvGrpSpPr/>
          <p:nvPr/>
        </p:nvGrpSpPr>
        <p:grpSpPr>
          <a:xfrm>
            <a:off x="6067425" y="2643180"/>
            <a:ext cx="3180289" cy="742839"/>
            <a:chOff x="6067425" y="2643180"/>
            <a:chExt cx="3180289" cy="74283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9C1245-92C2-F9A8-D95B-7F2BD2F857D4}"/>
                </a:ext>
              </a:extLst>
            </p:cNvPr>
            <p:cNvSpPr txBox="1"/>
            <p:nvPr/>
          </p:nvSpPr>
          <p:spPr>
            <a:xfrm>
              <a:off x="6067425" y="2955132"/>
              <a:ext cx="3180289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Capacity (normalized to 1)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52E766-AE72-DF70-BE22-9B35866DEDB1}"/>
                </a:ext>
              </a:extLst>
            </p:cNvPr>
            <p:cNvCxnSpPr>
              <a:cxnSpLocks/>
            </p:cNvCxnSpPr>
            <p:nvPr/>
          </p:nvCxnSpPr>
          <p:spPr>
            <a:xfrm>
              <a:off x="7415212" y="2643180"/>
              <a:ext cx="0" cy="3312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/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Requirement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 b="0" dirty="0"/>
                  <a:t>, </a:t>
                </a:r>
                <a:r>
                  <a:rPr lang="en-US" sz="2200" b="0" dirty="0" err="1"/>
                  <a:t>i.i.d.</a:t>
                </a:r>
                <a:endParaRPr lang="en-US" sz="2200" b="0" dirty="0"/>
              </a:p>
              <a:p>
                <a:r>
                  <a:rPr lang="en-US" sz="2200" dirty="0"/>
                  <a:t>Duration, </a:t>
                </a:r>
                <a:r>
                  <a:rPr lang="en-US" sz="2200" dirty="0" err="1"/>
                  <a:t>i.i.d.</a:t>
                </a:r>
                <a:r>
                  <a:rPr lang="en-US" sz="2200" dirty="0"/>
                  <a:t> (Here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 Exp(1))</a:t>
                </a: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blipFill>
                <a:blip r:embed="rId3"/>
                <a:stretch>
                  <a:fillRect l="-1645" t="-3030" b="-1212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5B545A5-4CE1-8EB2-9636-0515547C3434}"/>
              </a:ext>
            </a:extLst>
          </p:cNvPr>
          <p:cNvGrpSpPr/>
          <p:nvPr/>
        </p:nvGrpSpPr>
        <p:grpSpPr>
          <a:xfrm>
            <a:off x="6188870" y="632949"/>
            <a:ext cx="1545427" cy="1238714"/>
            <a:chOff x="6188870" y="632949"/>
            <a:chExt cx="1545427" cy="1238714"/>
          </a:xfrm>
        </p:grpSpPr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D1265190-3378-88FC-7088-A18052450147}"/>
                </a:ext>
              </a:extLst>
            </p:cNvPr>
            <p:cNvSpPr/>
            <p:nvPr/>
          </p:nvSpPr>
          <p:spPr>
            <a:xfrm rot="16200000">
              <a:off x="6737749" y="875114"/>
              <a:ext cx="447670" cy="154542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E1C94BDB-930D-8092-148D-14BD2FFB58BC}"/>
                </a:ext>
              </a:extLst>
            </p:cNvPr>
            <p:cNvCxnSpPr>
              <a:cxnSpLocks/>
              <a:stCxn id="43" idx="1"/>
              <a:endCxn id="41" idx="1"/>
            </p:cNvCxnSpPr>
            <p:nvPr/>
          </p:nvCxnSpPr>
          <p:spPr>
            <a:xfrm rot="10800000" flipV="1">
              <a:off x="6961585" y="632949"/>
              <a:ext cx="506014" cy="791044"/>
            </a:xfrm>
            <a:prstGeom prst="curvedConnector4">
              <a:avLst>
                <a:gd name="adj1" fmla="val 99413"/>
                <a:gd name="adj2" fmla="val 1087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AE8F49D-2D68-360D-96C2-3684C7736492}"/>
              </a:ext>
            </a:extLst>
          </p:cNvPr>
          <p:cNvGrpSpPr/>
          <p:nvPr/>
        </p:nvGrpSpPr>
        <p:grpSpPr>
          <a:xfrm>
            <a:off x="8115299" y="1017670"/>
            <a:ext cx="1185863" cy="1563597"/>
            <a:chOff x="8115299" y="1017670"/>
            <a:chExt cx="1185863" cy="1563597"/>
          </a:xfrm>
        </p:grpSpPr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8A196A7F-85BD-78F6-8CB0-A1E997434B10}"/>
                </a:ext>
              </a:extLst>
            </p:cNvPr>
            <p:cNvSpPr/>
            <p:nvPr/>
          </p:nvSpPr>
          <p:spPr>
            <a:xfrm>
              <a:off x="8115299" y="1566417"/>
              <a:ext cx="447670" cy="1014850"/>
            </a:xfrm>
            <a:prstGeom prst="rightBrace">
              <a:avLst>
                <a:gd name="adj1" fmla="val 8333"/>
                <a:gd name="adj2" fmla="val 2945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8F5938C7-B197-809C-488E-2C443334A933}"/>
                </a:ext>
              </a:extLst>
            </p:cNvPr>
            <p:cNvCxnSpPr>
              <a:cxnSpLocks/>
              <a:stCxn id="43" idx="2"/>
              <a:endCxn id="50" idx="1"/>
            </p:cNvCxnSpPr>
            <p:nvPr/>
          </p:nvCxnSpPr>
          <p:spPr>
            <a:xfrm rot="5400000">
              <a:off x="8508225" y="1072414"/>
              <a:ext cx="847682" cy="738193"/>
            </a:xfrm>
            <a:prstGeom prst="curvedConnector4">
              <a:avLst>
                <a:gd name="adj1" fmla="val 32368"/>
                <a:gd name="adj2" fmla="val 21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4083F-323B-E86D-9F60-31C37B0630FA}"/>
              </a:ext>
            </a:extLst>
          </p:cNvPr>
          <p:cNvGrpSpPr/>
          <p:nvPr/>
        </p:nvGrpSpPr>
        <p:grpSpPr>
          <a:xfrm>
            <a:off x="9795095" y="1297088"/>
            <a:ext cx="2194000" cy="1734916"/>
            <a:chOff x="9802381" y="1960830"/>
            <a:chExt cx="2194000" cy="1734916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02D4A92-7AE7-0113-2DD1-F1970FE39A44}"/>
                </a:ext>
              </a:extLst>
            </p:cNvPr>
            <p:cNvSpPr/>
            <p:nvPr/>
          </p:nvSpPr>
          <p:spPr>
            <a:xfrm>
              <a:off x="10495128" y="2270576"/>
              <a:ext cx="1255594" cy="1059478"/>
            </a:xfrm>
            <a:custGeom>
              <a:avLst/>
              <a:gdLst>
                <a:gd name="connsiteX0" fmla="*/ 0 w 1255594"/>
                <a:gd name="connsiteY0" fmla="*/ 1052654 h 1059478"/>
                <a:gd name="connsiteX1" fmla="*/ 6824 w 1255594"/>
                <a:gd name="connsiteY1" fmla="*/ 104134 h 1059478"/>
                <a:gd name="connsiteX2" fmla="*/ 6824 w 1255594"/>
                <a:gd name="connsiteY2" fmla="*/ 22248 h 1059478"/>
                <a:gd name="connsiteX3" fmla="*/ 75063 w 1255594"/>
                <a:gd name="connsiteY3" fmla="*/ 83663 h 1059478"/>
                <a:gd name="connsiteX4" fmla="*/ 320723 w 1255594"/>
                <a:gd name="connsiteY4" fmla="*/ 186021 h 1059478"/>
                <a:gd name="connsiteX5" fmla="*/ 716508 w 1255594"/>
                <a:gd name="connsiteY5" fmla="*/ 90487 h 1059478"/>
                <a:gd name="connsiteX6" fmla="*/ 1071350 w 1255594"/>
                <a:gd name="connsiteY6" fmla="*/ 418033 h 1059478"/>
                <a:gd name="connsiteX7" fmla="*/ 1255594 w 1255594"/>
                <a:gd name="connsiteY7" fmla="*/ 1059478 h 105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5594" h="1059478">
                  <a:moveTo>
                    <a:pt x="0" y="1052654"/>
                  </a:moveTo>
                  <a:cubicBezTo>
                    <a:pt x="2843" y="664261"/>
                    <a:pt x="5687" y="275868"/>
                    <a:pt x="6824" y="104134"/>
                  </a:cubicBezTo>
                  <a:cubicBezTo>
                    <a:pt x="7961" y="-67600"/>
                    <a:pt x="-4549" y="25660"/>
                    <a:pt x="6824" y="22248"/>
                  </a:cubicBezTo>
                  <a:cubicBezTo>
                    <a:pt x="18197" y="18836"/>
                    <a:pt x="22747" y="56368"/>
                    <a:pt x="75063" y="83663"/>
                  </a:cubicBezTo>
                  <a:cubicBezTo>
                    <a:pt x="127379" y="110958"/>
                    <a:pt x="213816" y="184884"/>
                    <a:pt x="320723" y="186021"/>
                  </a:cubicBezTo>
                  <a:cubicBezTo>
                    <a:pt x="427630" y="187158"/>
                    <a:pt x="591404" y="51818"/>
                    <a:pt x="716508" y="90487"/>
                  </a:cubicBezTo>
                  <a:cubicBezTo>
                    <a:pt x="841612" y="129156"/>
                    <a:pt x="981502" y="256535"/>
                    <a:pt x="1071350" y="418033"/>
                  </a:cubicBezTo>
                  <a:cubicBezTo>
                    <a:pt x="1161198" y="579531"/>
                    <a:pt x="1208396" y="819504"/>
                    <a:pt x="1255594" y="1059478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6192301-95FE-90DF-C3A2-4ECA2E9AF091}"/>
                </a:ext>
              </a:extLst>
            </p:cNvPr>
            <p:cNvCxnSpPr>
              <a:stCxn id="87" idx="0"/>
            </p:cNvCxnSpPr>
            <p:nvPr/>
          </p:nvCxnSpPr>
          <p:spPr>
            <a:xfrm flipV="1">
              <a:off x="10495128" y="1960830"/>
              <a:ext cx="13648" cy="1362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D9195DC-4172-A07C-3014-8B83CCB4BE2F}"/>
                </a:ext>
              </a:extLst>
            </p:cNvPr>
            <p:cNvCxnSpPr>
              <a:cxnSpLocks/>
            </p:cNvCxnSpPr>
            <p:nvPr/>
          </p:nvCxnSpPr>
          <p:spPr>
            <a:xfrm>
              <a:off x="10508776" y="3323230"/>
              <a:ext cx="14239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/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158" r="-27368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/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53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43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0E9A-40BF-AD1A-2F0C-AB76B4B0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Policy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71841-7C2B-6C0E-838D-C055E4ED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Pack efficiently – use all available 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clumps of jobs of similar requirements</a:t>
            </a:r>
          </a:p>
          <a:p>
            <a:pPr marL="0" indent="0">
              <a:buNone/>
            </a:pPr>
            <a:r>
              <a:rPr lang="en-US" dirty="0"/>
              <a:t>Problem: Very few options!</a:t>
            </a:r>
          </a:p>
          <a:p>
            <a:pPr marL="0" indent="0">
              <a:buNone/>
            </a:pPr>
            <a:r>
              <a:rPr lang="en-US" dirty="0"/>
              <a:t>Multi-resource: Bottleneck on one resource</a:t>
            </a:r>
          </a:p>
          <a:p>
            <a:pPr marL="0" indent="0">
              <a:buNone/>
            </a:pPr>
            <a:r>
              <a:rPr lang="en-US" dirty="0"/>
              <a:t>Single resource: Doesn’t divide cleanly</a:t>
            </a:r>
          </a:p>
          <a:p>
            <a:pPr marL="0" indent="0">
              <a:buNone/>
            </a:pPr>
            <a:r>
              <a:rPr lang="en-US" dirty="0"/>
              <a:t>Class-based policies: prioritize jobs with many identical </a:t>
            </a:r>
            <a:r>
              <a:rPr lang="en-US" dirty="0" err="1"/>
              <a:t>reqs</a:t>
            </a:r>
            <a:r>
              <a:rPr lang="en-US" dirty="0"/>
              <a:t> present. Ex: </a:t>
            </a:r>
            <a:r>
              <a:rPr lang="en-US" dirty="0" err="1"/>
              <a:t>MaxWeight</a:t>
            </a:r>
            <a:r>
              <a:rPr lang="en-US" dirty="0"/>
              <a:t> – weight is number with same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Our policies: Prioritize jobs with many </a:t>
            </a:r>
            <a:r>
              <a:rPr lang="en-US" b="1" dirty="0"/>
              <a:t>similar</a:t>
            </a:r>
            <a:r>
              <a:rPr lang="en-US" dirty="0"/>
              <a:t> requirements present.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4F062-69E2-53B5-2C06-8DB6AB98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EFC42-50CB-C9E2-3904-2CEFBB3B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7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4039C7DE-35E0-6678-0F43-A937339D9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" y="5060015"/>
            <a:ext cx="914400" cy="9144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A85BD41-C4AB-CE97-0568-24BF556AD334}"/>
              </a:ext>
            </a:extLst>
          </p:cNvPr>
          <p:cNvGrpSpPr/>
          <p:nvPr/>
        </p:nvGrpSpPr>
        <p:grpSpPr>
          <a:xfrm>
            <a:off x="7743825" y="247650"/>
            <a:ext cx="4407305" cy="1253369"/>
            <a:chOff x="7743825" y="247650"/>
            <a:chExt cx="4407305" cy="125336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B28C64A-B5FF-A941-4F53-CA02E4377C71}"/>
                </a:ext>
              </a:extLst>
            </p:cNvPr>
            <p:cNvGrpSpPr/>
            <p:nvPr/>
          </p:nvGrpSpPr>
          <p:grpSpPr>
            <a:xfrm>
              <a:off x="7743825" y="613598"/>
              <a:ext cx="4407305" cy="887421"/>
              <a:chOff x="7743825" y="613598"/>
              <a:chExt cx="4407305" cy="88742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/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/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{0.08, 0.11, </a:t>
                    </a:r>
                    <a:r>
                      <a:rPr lang="en-US" sz="2000" dirty="0"/>
                      <a:t>0.23, 0.38, 0.41,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0.52, 0.67, 0.77, 0.85, 0.95}</a:t>
                    </a:r>
                  </a:p>
                </p:txBody>
              </p:sp>
            </mc:Choice>
            <mc:Fallback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5172" r="-174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9" name="Smiley Face 88">
                <a:extLst>
                  <a:ext uri="{FF2B5EF4-FFF2-40B4-BE49-F238E27FC236}">
                    <a16:creationId xmlns:a16="http://schemas.microsoft.com/office/drawing/2014/main" id="{313D2FC5-B539-EF38-6E0C-2E51517BF56E}"/>
                  </a:ext>
                </a:extLst>
              </p:cNvPr>
              <p:cNvSpPr/>
              <p:nvPr/>
            </p:nvSpPr>
            <p:spPr>
              <a:xfrm>
                <a:off x="11255780" y="613598"/>
                <a:ext cx="895350" cy="887421"/>
              </a:xfrm>
              <a:prstGeom prst="smileyFace">
                <a:avLst/>
              </a:prstGeom>
              <a:solidFill>
                <a:srgbClr val="00B050"/>
              </a:solidFill>
              <a:ln w="254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31D0DBD-7FB6-82FF-F7CC-44E8FE67048A}"/>
                </a:ext>
              </a:extLst>
            </p:cNvPr>
            <p:cNvGrpSpPr/>
            <p:nvPr/>
          </p:nvGrpSpPr>
          <p:grpSpPr>
            <a:xfrm>
              <a:off x="7924800" y="247650"/>
              <a:ext cx="3152775" cy="388173"/>
              <a:chOff x="7924800" y="247650"/>
              <a:chExt cx="3152775" cy="388173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ACA0DFF-03E2-500D-8077-211FEA73AE06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7FA4CA1-924E-260B-A654-6141F77330B9}"/>
                  </a:ext>
                </a:extLst>
              </p:cNvPr>
              <p:cNvCxnSpPr/>
              <p:nvPr/>
            </p:nvCxnSpPr>
            <p:spPr>
              <a:xfrm>
                <a:off x="81534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3290E8C-9CAE-9079-11D2-9B3415B19810}"/>
                  </a:ext>
                </a:extLst>
              </p:cNvPr>
              <p:cNvCxnSpPr/>
              <p:nvPr/>
            </p:nvCxnSpPr>
            <p:spPr>
              <a:xfrm>
                <a:off x="84486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3A1430F-B434-752E-4BF4-608755280ED2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5FEF11F-B017-E8FD-5988-27B868CA7F86}"/>
                  </a:ext>
                </a:extLst>
              </p:cNvPr>
              <p:cNvCxnSpPr/>
              <p:nvPr/>
            </p:nvCxnSpPr>
            <p:spPr>
              <a:xfrm>
                <a:off x="91249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CD1F8B3-4043-2BAC-1B08-B8931D528EF2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A432717-A095-235A-C753-11D0D3AD8E5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5C18D14-9FB2-583D-02FA-1952F9F2D8C0}"/>
                  </a:ext>
                </a:extLst>
              </p:cNvPr>
              <p:cNvCxnSpPr/>
              <p:nvPr/>
            </p:nvCxnSpPr>
            <p:spPr>
              <a:xfrm>
                <a:off x="101250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717CC28-2CDD-A726-A1D3-62B85317F571}"/>
                  </a:ext>
                </a:extLst>
              </p:cNvPr>
              <p:cNvCxnSpPr/>
              <p:nvPr/>
            </p:nvCxnSpPr>
            <p:spPr>
              <a:xfrm>
                <a:off x="1053465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F0CF76E-0EF3-511C-993F-8269BFD110C0}"/>
                  </a:ext>
                </a:extLst>
              </p:cNvPr>
              <p:cNvCxnSpPr/>
              <p:nvPr/>
            </p:nvCxnSpPr>
            <p:spPr>
              <a:xfrm>
                <a:off x="1078230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FE898CA-1026-2835-9CB7-FF107B1C02C4}"/>
              </a:ext>
            </a:extLst>
          </p:cNvPr>
          <p:cNvGrpSpPr/>
          <p:nvPr/>
        </p:nvGrpSpPr>
        <p:grpSpPr>
          <a:xfrm>
            <a:off x="7741061" y="1557397"/>
            <a:ext cx="4393789" cy="1245552"/>
            <a:chOff x="7741061" y="1557397"/>
            <a:chExt cx="4393789" cy="1245552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00C7B6A-C714-E285-D252-6BBA2EBF57DC}"/>
                </a:ext>
              </a:extLst>
            </p:cNvPr>
            <p:cNvGrpSpPr/>
            <p:nvPr/>
          </p:nvGrpSpPr>
          <p:grpSpPr>
            <a:xfrm>
              <a:off x="7741061" y="1915528"/>
              <a:ext cx="4393789" cy="887421"/>
              <a:chOff x="7841845" y="2393594"/>
              <a:chExt cx="4393789" cy="887421"/>
            </a:xfrm>
          </p:grpSpPr>
          <p:sp>
            <p:nvSpPr>
              <p:cNvPr id="91" name="Smiley Face 90">
                <a:extLst>
                  <a:ext uri="{FF2B5EF4-FFF2-40B4-BE49-F238E27FC236}">
                    <a16:creationId xmlns:a16="http://schemas.microsoft.com/office/drawing/2014/main" id="{C8B16568-F910-EC28-7C59-DF606781FA0C}"/>
                  </a:ext>
                </a:extLst>
              </p:cNvPr>
              <p:cNvSpPr/>
              <p:nvPr/>
            </p:nvSpPr>
            <p:spPr>
              <a:xfrm>
                <a:off x="11340284" y="2393594"/>
                <a:ext cx="895350" cy="887421"/>
              </a:xfrm>
              <a:prstGeom prst="smileyFace">
                <a:avLst>
                  <a:gd name="adj" fmla="val -4653"/>
                </a:avLst>
              </a:prstGeom>
              <a:solidFill>
                <a:srgbClr val="FF0000"/>
              </a:solidFill>
              <a:ln w="254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/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/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{0.381, 0.383, 0.384, </a:t>
                    </a:r>
                    <a:r>
                      <a:rPr lang="en-US" sz="2000" dirty="0"/>
                      <a:t>0.511,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0.519, 0.522, 0.523, 0.525}</a:t>
                    </a:r>
                  </a:p>
                </p:txBody>
              </p:sp>
            </mc:Choice>
            <mc:Fallback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10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0B330A7-9808-0F4C-D22A-D24276FB5A2B}"/>
                </a:ext>
              </a:extLst>
            </p:cNvPr>
            <p:cNvGrpSpPr/>
            <p:nvPr/>
          </p:nvGrpSpPr>
          <p:grpSpPr>
            <a:xfrm>
              <a:off x="7924800" y="1557397"/>
              <a:ext cx="3152775" cy="375885"/>
              <a:chOff x="7924800" y="259938"/>
              <a:chExt cx="3152775" cy="375885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272E615-5D91-3570-6227-EC820150D943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139E9F7F-821D-F89B-BF05-90B34E012E37}"/>
                  </a:ext>
                </a:extLst>
              </p:cNvPr>
              <p:cNvCxnSpPr/>
              <p:nvPr/>
            </p:nvCxnSpPr>
            <p:spPr>
              <a:xfrm>
                <a:off x="86391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2A4C7C8-7E06-C625-3DD9-8C545A64A86A}"/>
                  </a:ext>
                </a:extLst>
              </p:cNvPr>
              <p:cNvCxnSpPr/>
              <p:nvPr/>
            </p:nvCxnSpPr>
            <p:spPr>
              <a:xfrm>
                <a:off x="8820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B1D0EC49-FEC6-28C2-22ED-038C1F3CFAFE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B82343C-5DEA-A413-3BF2-62206D80A080}"/>
                  </a:ext>
                </a:extLst>
              </p:cNvPr>
              <p:cNvCxnSpPr/>
              <p:nvPr/>
            </p:nvCxnSpPr>
            <p:spPr>
              <a:xfrm>
                <a:off x="93821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B1E7EDF-E0AC-EB33-3B62-174A781EDFE1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DC0F79BE-6C61-B6CB-9D84-5D6FDDFBC54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514D379-9A29-5BC1-892F-97C07010B69B}"/>
                  </a:ext>
                </a:extLst>
              </p:cNvPr>
              <p:cNvCxnSpPr/>
              <p:nvPr/>
            </p:nvCxnSpPr>
            <p:spPr>
              <a:xfrm>
                <a:off x="98012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DE8734F-B066-E7C1-1EA3-A8742F56A5D8}"/>
                  </a:ext>
                </a:extLst>
              </p:cNvPr>
              <p:cNvCxnSpPr/>
              <p:nvPr/>
            </p:nvCxnSpPr>
            <p:spPr>
              <a:xfrm>
                <a:off x="9582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988D4436-7D2B-225D-0F33-B292B49AAFFC}"/>
                  </a:ext>
                </a:extLst>
              </p:cNvPr>
              <p:cNvCxnSpPr/>
              <p:nvPr/>
            </p:nvCxnSpPr>
            <p:spPr>
              <a:xfrm>
                <a:off x="95018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597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F0EF-2E15-C544-42E7-4C712099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Calculated discretization!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Requirement discretization buckets: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Choose K carefully: Too many buckets, only useful if lots of jobs present. Too few, not differentiating enough.</a:t>
                </a:r>
              </a:p>
              <a:p>
                <a:pPr marL="0" indent="0">
                  <a:buNone/>
                </a:pPr>
                <a:r>
                  <a:rPr lang="en-US" dirty="0"/>
                  <a:t>Think of a job only via its discretization bucket.</a:t>
                </a:r>
              </a:p>
              <a:p>
                <a:pPr marL="0" indent="0">
                  <a:buNone/>
                </a:pPr>
                <a:r>
                  <a:rPr lang="en-US" dirty="0"/>
                  <a:t>Consider only discretization-based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: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MaxWeight</a:t>
                </a:r>
                <a:r>
                  <a:rPr lang="en-US" dirty="0"/>
                  <a:t> over discretized options (or </a:t>
                </a:r>
                <a:r>
                  <a:rPr lang="en-US" dirty="0" err="1"/>
                  <a:t>nMSR</a:t>
                </a:r>
                <a:r>
                  <a:rPr lang="en-US" dirty="0"/>
                  <a:t> if </a:t>
                </a:r>
                <a:r>
                  <a:rPr lang="en-US" dirty="0" err="1"/>
                  <a:t>nonpreemptive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  <a:blipFill>
                <a:blip r:embed="rId2"/>
                <a:stretch>
                  <a:fillRect l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79CA3-1F75-D3CC-0548-54EE0C0C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AAF3D-1FBC-44A3-198B-64DD1017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69EF8-4116-EEFF-41F6-5F423D260F0D}"/>
              </a:ext>
            </a:extLst>
          </p:cNvPr>
          <p:cNvGrpSpPr/>
          <p:nvPr/>
        </p:nvGrpSpPr>
        <p:grpSpPr>
          <a:xfrm>
            <a:off x="7789918" y="2895130"/>
            <a:ext cx="3891715" cy="1466619"/>
            <a:chOff x="7850222" y="443622"/>
            <a:chExt cx="3891715" cy="14666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0623B0-FDFF-CDF9-70F5-E5C7A708453F}"/>
                </a:ext>
              </a:extLst>
            </p:cNvPr>
            <p:cNvGrpSpPr/>
            <p:nvPr/>
          </p:nvGrpSpPr>
          <p:grpSpPr>
            <a:xfrm>
              <a:off x="7850222" y="443622"/>
              <a:ext cx="3891715" cy="1466619"/>
              <a:chOff x="9458893" y="2279448"/>
              <a:chExt cx="2818605" cy="1466619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16DCFC5-E0A1-E43C-4E31-D64A86EFE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2279448"/>
                <a:ext cx="6804" cy="104378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D2BF5EF-73F3-92CB-843F-80E277D95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7687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/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Counts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614"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03F4C1-2FE8-D6A3-8AE8-ED67D283871D}"/>
                </a:ext>
              </a:extLst>
            </p:cNvPr>
            <p:cNvSpPr/>
            <p:nvPr/>
          </p:nvSpPr>
          <p:spPr>
            <a:xfrm>
              <a:off x="9299827" y="65314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F03C63-0FBE-BA35-7A18-C474125A7D87}"/>
                </a:ext>
              </a:extLst>
            </p:cNvPr>
            <p:cNvSpPr/>
            <p:nvPr/>
          </p:nvSpPr>
          <p:spPr>
            <a:xfrm>
              <a:off x="9426164" y="829902"/>
              <a:ext cx="126337" cy="65310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65D3-D8A8-A901-351E-873511302DEE}"/>
                </a:ext>
              </a:extLst>
            </p:cNvPr>
            <p:cNvSpPr/>
            <p:nvPr/>
          </p:nvSpPr>
          <p:spPr>
            <a:xfrm>
              <a:off x="9554490" y="748420"/>
              <a:ext cx="126337" cy="7345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2FD071-AD2F-4C7C-7E4B-33956030BC01}"/>
                </a:ext>
              </a:extLst>
            </p:cNvPr>
            <p:cNvSpPr/>
            <p:nvPr/>
          </p:nvSpPr>
          <p:spPr>
            <a:xfrm>
              <a:off x="9678838" y="599658"/>
              <a:ext cx="126337" cy="88334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4F0279-C261-87FE-4F56-185092E894EF}"/>
                </a:ext>
              </a:extLst>
            </p:cNvPr>
            <p:cNvSpPr/>
            <p:nvPr/>
          </p:nvSpPr>
          <p:spPr>
            <a:xfrm>
              <a:off x="9805232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481DA8-C464-1D4D-1F9F-7CFCC34FC89E}"/>
                </a:ext>
              </a:extLst>
            </p:cNvPr>
            <p:cNvSpPr/>
            <p:nvPr/>
          </p:nvSpPr>
          <p:spPr>
            <a:xfrm>
              <a:off x="9933095" y="799724"/>
              <a:ext cx="126337" cy="68403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9698E8-84A7-C9DA-6866-EAD095024B21}"/>
                </a:ext>
              </a:extLst>
            </p:cNvPr>
            <p:cNvSpPr/>
            <p:nvPr/>
          </p:nvSpPr>
          <p:spPr>
            <a:xfrm>
              <a:off x="10055715" y="534157"/>
              <a:ext cx="126337" cy="9502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23AC154-346B-CE4A-B97C-33F3373E5EE5}"/>
                </a:ext>
              </a:extLst>
            </p:cNvPr>
            <p:cNvSpPr/>
            <p:nvPr/>
          </p:nvSpPr>
          <p:spPr>
            <a:xfrm>
              <a:off x="10182590" y="910067"/>
              <a:ext cx="126337" cy="57293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31499E-DB60-F003-3EB6-91EDD3589DF2}"/>
                </a:ext>
              </a:extLst>
            </p:cNvPr>
            <p:cNvSpPr/>
            <p:nvPr/>
          </p:nvSpPr>
          <p:spPr>
            <a:xfrm>
              <a:off x="10304672" y="621675"/>
              <a:ext cx="126337" cy="86254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1DD935-1DDE-62E1-3058-DC7E3FB15364}"/>
                </a:ext>
              </a:extLst>
            </p:cNvPr>
            <p:cNvSpPr/>
            <p:nvPr/>
          </p:nvSpPr>
          <p:spPr>
            <a:xfrm>
              <a:off x="10431009" y="486739"/>
              <a:ext cx="126337" cy="99626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FE900C-4256-8F9E-48BA-8ABA220182EF}"/>
                </a:ext>
              </a:extLst>
            </p:cNvPr>
            <p:cNvSpPr/>
            <p:nvPr/>
          </p:nvSpPr>
          <p:spPr>
            <a:xfrm>
              <a:off x="10559335" y="778599"/>
              <a:ext cx="126337" cy="70440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91C904-4945-06BF-72C3-32B6F98AC01A}"/>
                </a:ext>
              </a:extLst>
            </p:cNvPr>
            <p:cNvSpPr/>
            <p:nvPr/>
          </p:nvSpPr>
          <p:spPr>
            <a:xfrm>
              <a:off x="10683683" y="443622"/>
              <a:ext cx="126337" cy="10393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D4F425-1DE6-0396-A9E5-F215D2ED1634}"/>
                </a:ext>
              </a:extLst>
            </p:cNvPr>
            <p:cNvSpPr/>
            <p:nvPr/>
          </p:nvSpPr>
          <p:spPr>
            <a:xfrm>
              <a:off x="10810077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24534D-176B-8165-3EEE-EC4695A5353E}"/>
                </a:ext>
              </a:extLst>
            </p:cNvPr>
            <p:cNvSpPr/>
            <p:nvPr/>
          </p:nvSpPr>
          <p:spPr>
            <a:xfrm>
              <a:off x="10937940" y="65268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29CA2F-66B3-0A8D-D011-2FC7893589CA}"/>
                </a:ext>
              </a:extLst>
            </p:cNvPr>
            <p:cNvSpPr/>
            <p:nvPr/>
          </p:nvSpPr>
          <p:spPr>
            <a:xfrm>
              <a:off x="11060560" y="599659"/>
              <a:ext cx="126337" cy="88478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B67AE1-D534-7398-AED9-748BDD648600}"/>
                </a:ext>
              </a:extLst>
            </p:cNvPr>
            <p:cNvSpPr/>
            <p:nvPr/>
          </p:nvSpPr>
          <p:spPr>
            <a:xfrm>
              <a:off x="11187435" y="546156"/>
              <a:ext cx="126337" cy="93685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Cross 42">
            <a:extLst>
              <a:ext uri="{FF2B5EF4-FFF2-40B4-BE49-F238E27FC236}">
                <a16:creationId xmlns:a16="http://schemas.microsoft.com/office/drawing/2014/main" id="{1ED7B6A9-7C13-FAD7-8AD2-65A95761F74B}"/>
              </a:ext>
            </a:extLst>
          </p:cNvPr>
          <p:cNvSpPr/>
          <p:nvPr/>
        </p:nvSpPr>
        <p:spPr>
          <a:xfrm rot="18857960">
            <a:off x="5409035" y="4316441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-Shape 43">
            <a:extLst>
              <a:ext uri="{FF2B5EF4-FFF2-40B4-BE49-F238E27FC236}">
                <a16:creationId xmlns:a16="http://schemas.microsoft.com/office/drawing/2014/main" id="{31C108A6-DBA7-03A4-2C4D-FF9DDF02B97D}"/>
              </a:ext>
            </a:extLst>
          </p:cNvPr>
          <p:cNvSpPr/>
          <p:nvPr/>
        </p:nvSpPr>
        <p:spPr>
          <a:xfrm rot="18539291">
            <a:off x="5375447" y="5058478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4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FB8C-E1FF-74CE-9689-9B14940D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K-Discretized </a:t>
            </a:r>
            <a:r>
              <a:rPr lang="en-US" dirty="0" err="1"/>
              <a:t>MaxWeight</a:t>
            </a:r>
            <a:r>
              <a:rPr lang="en-US" dirty="0"/>
              <a:t>: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is a K-discretized service option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The 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 policy family is throughput optimal.</a:t>
                </a:r>
              </a:p>
              <a:p>
                <a:pPr marL="0" indent="0">
                  <a:buNone/>
                </a:pPr>
                <a:r>
                  <a:rPr lang="en-US" dirty="0"/>
                  <a:t>For any arrival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and any Lipschitz-continuous requirement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for which a stabilizing policy exists, there exists a K such that K-</a:t>
                </a:r>
                <a:r>
                  <a:rPr lang="en-US" dirty="0" err="1"/>
                  <a:t>MaxWeight</a:t>
                </a:r>
                <a:r>
                  <a:rPr lang="en-US" dirty="0"/>
                  <a:t> is stable.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Also optimal in any number of requirement dimensions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K-discretized </a:t>
                </a:r>
                <a:r>
                  <a:rPr lang="en-US" dirty="0" err="1"/>
                  <a:t>nMSR</a:t>
                </a:r>
                <a:r>
                  <a:rPr lang="en-US" dirty="0"/>
                  <a:t> (</a:t>
                </a:r>
                <a:r>
                  <a:rPr lang="en-US" dirty="0" err="1"/>
                  <a:t>nonpreemptive</a:t>
                </a:r>
                <a:r>
                  <a:rPr lang="en-US" dirty="0"/>
                  <a:t>) also throughput optimal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  <a:blipFill>
                <a:blip r:embed="rId2"/>
                <a:stretch>
                  <a:fillRect l="-1147" t="-224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C77C-9D6F-4F19-3968-109382A9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FB2B4-E8BE-B835-F1B7-F04BDACA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CAF64-B904-C1B9-8731-B3B431CB573E}"/>
              </a:ext>
            </a:extLst>
          </p:cNvPr>
          <p:cNvSpPr/>
          <p:nvPr/>
        </p:nvSpPr>
        <p:spPr>
          <a:xfrm>
            <a:off x="838199" y="2882107"/>
            <a:ext cx="10801350" cy="175339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EA651C-BC50-9EA1-30B8-84273D3D0ABA}"/>
              </a:ext>
            </a:extLst>
          </p:cNvPr>
          <p:cNvSpPr/>
          <p:nvPr/>
        </p:nvSpPr>
        <p:spPr>
          <a:xfrm>
            <a:off x="838197" y="5010151"/>
            <a:ext cx="90106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9014C-BE92-7E98-3237-5C5BEC1E1ADB}"/>
              </a:ext>
            </a:extLst>
          </p:cNvPr>
          <p:cNvSpPr/>
          <p:nvPr/>
        </p:nvSpPr>
        <p:spPr>
          <a:xfrm>
            <a:off x="838198" y="5545932"/>
            <a:ext cx="98488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6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C0E9-5277-434E-64D1-5E7F002B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Smaller search space: more 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9925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Full </a:t>
                </a:r>
                <a:r>
                  <a:rPr lang="en-US" dirty="0" err="1"/>
                  <a:t>MaxWeight</a:t>
                </a:r>
                <a:r>
                  <a:rPr lang="en-US" dirty="0"/>
                  <a:t> is rather inefficient to compute. NP-hard.</a:t>
                </a:r>
              </a:p>
              <a:p>
                <a:pPr marL="0" indent="0">
                  <a:buNone/>
                </a:pPr>
                <a:r>
                  <a:rPr lang="en-US" dirty="0"/>
                  <a:t>We can get away with considering fewer options!</a:t>
                </a:r>
              </a:p>
              <a:p>
                <a:pPr marL="0" indent="0">
                  <a:buNone/>
                </a:pPr>
                <a:r>
                  <a:rPr lang="en-US" dirty="0"/>
                  <a:t>Extreme vertices </a:t>
                </a:r>
                <a:r>
                  <a:rPr lang="en-US" dirty="0" err="1"/>
                  <a:t>thm</a:t>
                </a:r>
                <a:r>
                  <a:rPr lang="en-US" dirty="0"/>
                  <a:t>: Don’t need to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just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Only extreme vertices of the service-option polytope.</a:t>
                </a:r>
              </a:p>
              <a:p>
                <a:pPr marL="0" indent="0">
                  <a:buNone/>
                </a:pPr>
                <a:r>
                  <a:rPr lang="en-US" dirty="0"/>
                  <a:t>Symmetry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symmetric around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only need to consider 2-job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Decreasing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decreasing, only need to consider 2-bucket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Exponential # of options -&gt; linear # of options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9925" cy="4351338"/>
              </a:xfrm>
              <a:blipFill>
                <a:blip r:embed="rId2"/>
                <a:stretch>
                  <a:fillRect l="-1125" t="-308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447F4-4E98-16FF-E666-A653BE8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31DE-F9F5-49A8-53C2-F46283C8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10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71B312DC-C8FF-F5F2-CC19-FA9C0DEE0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6" y="2116790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B394A3E-5E0C-3D8B-DFBA-B663A196DF70}"/>
              </a:ext>
            </a:extLst>
          </p:cNvPr>
          <p:cNvSpPr/>
          <p:nvPr/>
        </p:nvSpPr>
        <p:spPr>
          <a:xfrm>
            <a:off x="838199" y="2705100"/>
            <a:ext cx="10515600" cy="115252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503E7-9739-FCE1-0264-08488A2D61E1}"/>
              </a:ext>
            </a:extLst>
          </p:cNvPr>
          <p:cNvSpPr/>
          <p:nvPr/>
        </p:nvSpPr>
        <p:spPr>
          <a:xfrm>
            <a:off x="838199" y="3886200"/>
            <a:ext cx="10515601" cy="86966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88731-2A25-8234-FFBF-9E30BF8FEDF4}"/>
              </a:ext>
            </a:extLst>
          </p:cNvPr>
          <p:cNvSpPr/>
          <p:nvPr/>
        </p:nvSpPr>
        <p:spPr>
          <a:xfrm>
            <a:off x="838199" y="4784443"/>
            <a:ext cx="10515601" cy="8588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383C-F24A-BFCB-BC9D-614B728A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Discretized </a:t>
            </a:r>
            <a:r>
              <a:rPr lang="en-US" dirty="0" err="1"/>
              <a:t>MaxWeight</a:t>
            </a:r>
            <a:r>
              <a:rPr lang="en-US" dirty="0"/>
              <a:t> + Backfilling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the best service option using the </a:t>
                </a:r>
                <a:r>
                  <a:rPr lang="en-US" dirty="0" err="1"/>
                  <a:t>MaxWeight</a:t>
                </a:r>
                <a:r>
                  <a:rPr lang="en-US" dirty="0"/>
                  <a:t> optimization</a:t>
                </a:r>
                <a:br>
                  <a:rPr lang="en-US" dirty="0"/>
                </a:br>
                <a:r>
                  <a:rPr lang="en-US" dirty="0"/>
                  <a:t>(or efficient subset):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Backfilling: Walk through jobs in FCFS order, greedily add anything that fits, ignoring discretization.</a:t>
                </a:r>
              </a:p>
              <a:p>
                <a:pPr marL="0" indent="0">
                  <a:buNone/>
                </a:pPr>
                <a:r>
                  <a:rPr lang="en-US" dirty="0"/>
                  <a:t>Optimality still holds, better practical performance.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7DFD2-9272-D677-57FD-2701C15B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7B9-6732-69EC-C522-F2C38284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CPU </a:t>
            </a:r>
            <a:r>
              <a:rPr lang="en-US" dirty="0" err="1"/>
              <a:t>reqs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2369-9BEF-A930-CFFE-626EF2FE1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Google Borg scheduling trace </a:t>
            </a:r>
            <a:r>
              <a:rPr lang="en-US" sz="1600" dirty="0"/>
              <a:t>[</a:t>
            </a:r>
            <a:r>
              <a:rPr lang="en-US" sz="1600" dirty="0" err="1"/>
              <a:t>Tirmazi</a:t>
            </a:r>
            <a:r>
              <a:rPr lang="en-US" sz="1600" dirty="0"/>
              <a:t> ’19]</a:t>
            </a:r>
            <a:r>
              <a:rPr lang="en-US" dirty="0"/>
              <a:t>: CPU </a:t>
            </a:r>
            <a:r>
              <a:rPr lang="en-US" dirty="0" err="1"/>
              <a:t>reqs</a:t>
            </a:r>
            <a:r>
              <a:rPr lang="en-US" dirty="0"/>
              <a:t>, memory </a:t>
            </a:r>
            <a:r>
              <a:rPr lang="en-US" dirty="0" err="1"/>
              <a:t>reqs</a:t>
            </a:r>
            <a:r>
              <a:rPr lang="en-US" dirty="0"/>
              <a:t>. Not </a:t>
            </a:r>
            <a:r>
              <a:rPr lang="en-US" dirty="0" err="1"/>
              <a:t>i.i.d.</a:t>
            </a:r>
            <a:br>
              <a:rPr lang="en-US" dirty="0"/>
            </a:br>
            <a:r>
              <a:rPr lang="en-US" dirty="0"/>
              <a:t>Focus on 90% of jobs with lower requirements, normalize.</a:t>
            </a:r>
          </a:p>
          <a:p>
            <a:pPr marL="0" indent="0">
              <a:buNone/>
            </a:pPr>
            <a:r>
              <a:rPr lang="en-US" dirty="0"/>
              <a:t>							Our policy: K=64 buckets, 							only consider service 								options that use at most 2 							buckets, add backfilling.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75462-119C-221E-DB1B-98D6AF1B3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5" y="2576007"/>
            <a:ext cx="5916130" cy="37803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5772150" y="4599528"/>
            <a:ext cx="4495800" cy="707886"/>
            <a:chOff x="5772150" y="4599528"/>
            <a:chExt cx="4495800" cy="7078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noFill/>
                <a:ln w="38100">
                  <a:solidFill>
                    <a:srgbClr val="FF00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500k unique requirements,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blipFill>
                  <a:blip r:embed="rId4"/>
                  <a:stretch>
                    <a:fillRect l="-1594" t="-2459" r="-1793" b="-11475"/>
                  </a:stretch>
                </a:blipFill>
                <a:ln w="38100"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239000" y="2739624"/>
            <a:ext cx="3981450" cy="1583680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4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Memory </a:t>
            </a:r>
            <a:r>
              <a:rPr lang="en-US" dirty="0" err="1"/>
              <a:t>reqs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2369-9BEF-A930-CFFE-626EF2FE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50" y="135579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Our policy: K=64 buckets, 							only consider service 								options that use at most 2 							buckets, add backfilling.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13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991475" y="1899400"/>
            <a:ext cx="3981450" cy="1583680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E1D52E-818E-E617-9CAA-23F3249DF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19" y="1402074"/>
            <a:ext cx="7500850" cy="477488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6410326" y="4026685"/>
            <a:ext cx="4943474" cy="707886"/>
            <a:chOff x="5772150" y="4599528"/>
            <a:chExt cx="4943474" cy="7078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noFill/>
                <a:ln w="38100">
                  <a:solidFill>
                    <a:srgbClr val="FF00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Only 3.7k unique requirements, still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blipFill>
                  <a:blip r:embed="rId4"/>
                  <a:stretch>
                    <a:fillRect l="-1213" t="-2459" r="-2080" b="-11475"/>
                  </a:stretch>
                </a:blipFill>
                <a:ln w="38100"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D9A1-F5CA-6CB4-DA2F-F722645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Future: Changing requirements over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Motivation: Resource requirement as a fraction of a GPU</a:t>
                </a:r>
              </a:p>
              <a:p>
                <a:pPr marL="0" indent="0">
                  <a:buNone/>
                </a:pPr>
                <a:r>
                  <a:rPr lang="en-US" dirty="0"/>
                  <a:t>Scaling: Large capacity, no individual job needs much. (Big GPU)</a:t>
                </a:r>
              </a:p>
              <a:p>
                <a:pPr marL="0" indent="0">
                  <a:buNone/>
                </a:pPr>
                <a:r>
                  <a:rPr lang="en-US" dirty="0"/>
                  <a:t>Key idea: Overlapping service, spaced-out start times</a:t>
                </a:r>
              </a:p>
              <a:p>
                <a:pPr marL="0" indent="0">
                  <a:buNone/>
                </a:pPr>
                <a:r>
                  <a:rPr lang="en-US" dirty="0"/>
                  <a:t>Poisson process,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</m:oMath>
                </a14:m>
                <a:r>
                  <a:rPr lang="en-US" dirty="0"/>
                  <a:t> spare capacity:</a:t>
                </a:r>
                <a:br>
                  <a:rPr lang="en-US" dirty="0"/>
                </a:br>
                <a:r>
                  <a:rPr lang="en-US" dirty="0"/>
                  <a:t>No capacity breaches (forced preemption) in asymptotic limit,</a:t>
                </a:r>
                <a:br>
                  <a:rPr lang="en-US" dirty="0"/>
                </a:br>
                <a:r>
                  <a:rPr lang="en-US" dirty="0"/>
                  <a:t>throughput optimal.</a:t>
                </a:r>
              </a:p>
              <a:p>
                <a:pPr marL="0" indent="0">
                  <a:buNone/>
                </a:pPr>
                <a:r>
                  <a:rPr lang="en-US" dirty="0"/>
                  <a:t>Many more possibilities!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8B90-05A8-9186-35C7-E48932B4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3C05D-A9E4-40E8-0592-91D1E23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BF96-C8CA-1073-EDCC-4B55D134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8A297-D2E6-847F-3F69-5A5675B3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GCASR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9961-242A-D03E-DC62-5F51F02A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/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blipFill>
                <a:blip r:embed="rId3"/>
                <a:stretch>
                  <a:fillRect l="-520" t="-3333" r="-520" b="-20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/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Thm: The 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 policy family is throughput optimal, for any Lipschitz-continuous req. dist.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blipFill>
                <a:blip r:embed="rId4"/>
                <a:stretch>
                  <a:fillRect t="-2463" r="-108" b="-8867"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DFE3860-5D48-24B9-39B8-0395C73FB235}"/>
              </a:ext>
            </a:extLst>
          </p:cNvPr>
          <p:cNvGrpSpPr/>
          <p:nvPr/>
        </p:nvGrpSpPr>
        <p:grpSpPr>
          <a:xfrm>
            <a:off x="1671639" y="1066142"/>
            <a:ext cx="9117306" cy="3080407"/>
            <a:chOff x="1671639" y="1066142"/>
            <a:chExt cx="9117306" cy="30804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17A0D9-F3CA-97EE-0688-00CBC9F22B1F}"/>
                </a:ext>
              </a:extLst>
            </p:cNvPr>
            <p:cNvGrpSpPr/>
            <p:nvPr/>
          </p:nvGrpSpPr>
          <p:grpSpPr>
            <a:xfrm>
              <a:off x="1671639" y="1450974"/>
              <a:ext cx="5891211" cy="2695575"/>
              <a:chOff x="2871789" y="946149"/>
              <a:chExt cx="5891211" cy="269557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C5C8744-129F-E03F-58D3-1DCD7A88507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6A2984B-AA47-C9D3-8E3E-AB87BEFBDEA5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E4A710F-549E-A068-9C59-9836C5D2918D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477CE50-9A04-6290-D2CC-52CCE61B4D3D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115EC49A-8ACD-00A0-ECA1-3928A7973514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510F867-C381-27AA-1023-86A9780BA37F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BAC1294A-A647-60F8-FED5-BC965370F0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7A662B75-795A-3890-E170-98125744D1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0FB8D930-53AF-3988-FACC-BB48CB7277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92FDA8EF-BF4F-E878-B867-BAC4B71D4C50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F78E493F-B472-AB5B-87A9-E0E7095C66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A3CB6B53-BBA2-0DA7-4AE3-DF69D5203C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E84BC69A-F4FD-0293-A524-C45B39AFD7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D46F6258-3410-D9ED-DBD0-C7A92D0C1ECC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C9EEED6-6CC6-A080-B83B-815686C70A9F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45EC15F-DB52-8DE0-43E9-29DA5D68525F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D5B4C05-FDD6-902C-1FF0-E2942914FD11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EBEF6F-BD99-EC72-DEC4-E45BC79C0377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2AAA1C3-A99A-2DA4-9E1B-B12EC59B02C7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1E401BC-B22F-7AB9-83C9-17AF7132D93E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6ED7F4E-3A2F-DF91-C640-9598983BACA5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9" name="Arrow: Right 8">
                  <a:extLst>
                    <a:ext uri="{FF2B5EF4-FFF2-40B4-BE49-F238E27FC236}">
                      <a16:creationId xmlns:a16="http://schemas.microsoft.com/office/drawing/2014/main" id="{6E886CD2-B5DC-7E20-2C50-7C4DDE433693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21D15FA-21DE-A986-DCEF-D7C501F86B0E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E4E94DF-C58D-89C8-0ABE-531E4F1267B9}"/>
                </a:ext>
              </a:extLst>
            </p:cNvPr>
            <p:cNvGrpSpPr/>
            <p:nvPr/>
          </p:nvGrpSpPr>
          <p:grpSpPr>
            <a:xfrm>
              <a:off x="8594945" y="1801913"/>
              <a:ext cx="2194000" cy="1734916"/>
              <a:chOff x="9802381" y="1960830"/>
              <a:chExt cx="2194000" cy="1734916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E46814F-B7F6-9062-6405-91BC28778517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07704BC-BCCB-AD13-9794-5B03624D87A0}"/>
                  </a:ext>
                </a:extLst>
              </p:cNvPr>
              <p:cNvCxnSpPr>
                <a:stCxn id="31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183D571-6814-BCF9-5F15-02F2A0768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D7BBA2-AE46-7585-2642-281569B3782A}"/>
                </a:ext>
              </a:extLst>
            </p:cNvPr>
            <p:cNvSpPr txBox="1"/>
            <p:nvPr/>
          </p:nvSpPr>
          <p:spPr>
            <a:xfrm>
              <a:off x="4939121" y="1066142"/>
              <a:ext cx="3486150" cy="83099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400" dirty="0"/>
                <a:t>Continuous requirement distributions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81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50251</TotalTime>
  <Words>1187</Words>
  <Application>Microsoft Office PowerPoint</Application>
  <PresentationFormat>Widescreen</PresentationFormat>
  <Paragraphs>164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Scheduling with Massively Heterogeneous Resource Requirements</vt:lpstr>
      <vt:lpstr>Datacenter Scheduling: Heterogeneous resources</vt:lpstr>
      <vt:lpstr>Existing theoretical paradigm: Limited resource heterogeneity</vt:lpstr>
      <vt:lpstr>Prior theoretical work</vt:lpstr>
      <vt:lpstr>Outline</vt:lpstr>
      <vt:lpstr>Model</vt:lpstr>
      <vt:lpstr>Policy Intuition</vt:lpstr>
      <vt:lpstr>Idea: Calculated discretization!</vt:lpstr>
      <vt:lpstr>K-Discretized MaxWeight: Result</vt:lpstr>
      <vt:lpstr>Smaller search space: more efficient</vt:lpstr>
      <vt:lpstr>Practical: Discretized MaxWeight + Backfilling</vt:lpstr>
      <vt:lpstr>Empirical evaluation – CPU reqs</vt:lpstr>
      <vt:lpstr>Empirical evaluation – Memory reqs</vt:lpstr>
      <vt:lpstr>Future: Changing requirements over time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with Massively Heterogeneous Resource Requirements</dc:title>
  <dc:creator>Izzy Grosof</dc:creator>
  <cp:lastModifiedBy>Izzy Grosof</cp:lastModifiedBy>
  <cp:revision>44</cp:revision>
  <dcterms:created xsi:type="dcterms:W3CDTF">2026-05-04T20:55:02Z</dcterms:created>
  <dcterms:modified xsi:type="dcterms:W3CDTF">2026-06-08T18:26:04Z</dcterms:modified>
</cp:coreProperties>
</file>