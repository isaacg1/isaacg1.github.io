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74" r:id="rId4"/>
    <p:sldId id="265" r:id="rId5"/>
    <p:sldId id="259" r:id="rId6"/>
    <p:sldId id="260" r:id="rId7"/>
    <p:sldId id="261" r:id="rId8"/>
    <p:sldId id="276" r:id="rId9"/>
    <p:sldId id="277" r:id="rId10"/>
    <p:sldId id="262" r:id="rId11"/>
    <p:sldId id="278" r:id="rId12"/>
    <p:sldId id="280" r:id="rId13"/>
    <p:sldId id="263" r:id="rId14"/>
    <p:sldId id="264" r:id="rId15"/>
    <p:sldId id="281" r:id="rId16"/>
    <p:sldId id="282" r:id="rId17"/>
    <p:sldId id="285" r:id="rId18"/>
    <p:sldId id="284" r:id="rId19"/>
    <p:sldId id="267" r:id="rId20"/>
    <p:sldId id="268" r:id="rId21"/>
    <p:sldId id="286" r:id="rId22"/>
    <p:sldId id="287" r:id="rId23"/>
    <p:sldId id="269" r:id="rId24"/>
    <p:sldId id="288" r:id="rId25"/>
    <p:sldId id="271" r:id="rId26"/>
    <p:sldId id="272" r:id="rId27"/>
    <p:sldId id="273" r:id="rId28"/>
    <p:sldId id="289" r:id="rId29"/>
    <p:sldId id="450" r:id="rId30"/>
    <p:sldId id="290" r:id="rId31"/>
    <p:sldId id="451" r:id="rId32"/>
    <p:sldId id="452" r:id="rId33"/>
    <p:sldId id="453" r:id="rId34"/>
    <p:sldId id="454" r:id="rId35"/>
    <p:sldId id="455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9755FC1-A0FC-4107-8C1A-8899391AA905}">
          <p14:sldIdLst>
            <p14:sldId id="256"/>
            <p14:sldId id="257"/>
            <p14:sldId id="274"/>
            <p14:sldId id="265"/>
            <p14:sldId id="259"/>
            <p14:sldId id="260"/>
            <p14:sldId id="261"/>
            <p14:sldId id="276"/>
            <p14:sldId id="277"/>
            <p14:sldId id="262"/>
            <p14:sldId id="278"/>
            <p14:sldId id="280"/>
            <p14:sldId id="263"/>
            <p14:sldId id="264"/>
            <p14:sldId id="281"/>
            <p14:sldId id="282"/>
            <p14:sldId id="285"/>
            <p14:sldId id="284"/>
            <p14:sldId id="267"/>
            <p14:sldId id="268"/>
            <p14:sldId id="286"/>
            <p14:sldId id="287"/>
            <p14:sldId id="269"/>
            <p14:sldId id="288"/>
            <p14:sldId id="271"/>
            <p14:sldId id="272"/>
            <p14:sldId id="273"/>
            <p14:sldId id="289"/>
            <p14:sldId id="450"/>
            <p14:sldId id="290"/>
            <p14:sldId id="451"/>
            <p14:sldId id="452"/>
            <p14:sldId id="453"/>
            <p14:sldId id="454"/>
            <p14:sldId id="45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F66FF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9416" autoAdjust="0"/>
  </p:normalViewPr>
  <p:slideViewPr>
    <p:cSldViewPr snapToGrid="0">
      <p:cViewPr varScale="1">
        <p:scale>
          <a:sx n="102" d="100"/>
          <a:sy n="102" d="100"/>
        </p:scale>
        <p:origin x="3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F166A8-6167-46ED-9F99-5EAA5398F4F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2719BB-6CE0-4A00-9442-48D14EDA8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182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 devices serve jobs. Multiple jobs at once – “multiserver” – 2 cores, 4 cores, hyperthreading, etc. Even phones are multiserver.</a:t>
            </a:r>
          </a:p>
          <a:p>
            <a:r>
              <a:rPr lang="en-US" dirty="0"/>
              <a:t>Queueing systems: Jobs arrive/are generated, too many to run all at once, must be scheduled – which jobs to run when?</a:t>
            </a:r>
          </a:p>
          <a:p>
            <a:r>
              <a:rPr lang="en-US" dirty="0"/>
              <a:t>Advanced scheduling is a free source of better performance.</a:t>
            </a:r>
          </a:p>
          <a:p>
            <a:r>
              <a:rPr lang="en-US" dirty="0"/>
              <a:t>Stochastic models: Many sources of jobs. Results generalize.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2719BB-6CE0-4A00-9442-48D14EDA821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559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service durations, known in advance, equally important. Preempt-resume. Poisson, </a:t>
            </a:r>
            <a:r>
              <a:rPr lang="en-US" dirty="0" err="1"/>
              <a:t>i.i.d.</a:t>
            </a:r>
            <a:r>
              <a:rPr lang="en-US" dirty="0"/>
              <a:t> Mean response time E[T]. Mean number E[N] equivalent. Load rho.</a:t>
            </a:r>
          </a:p>
          <a:p>
            <a:r>
              <a:rPr lang="en-US" dirty="0"/>
              <a:t>Goal: Scheduling policy which minimizes E[T].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2719BB-6CE0-4A00-9442-48D14EDA821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889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D909AC-D0B9-4B79-A4EE-522FC565D89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373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Recognize: M/G/1/FCFS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2719BB-6CE0-4A00-9442-48D14EDA821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990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2719BB-6CE0-4A00-9442-48D14EDA821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8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2AF43-E732-45FE-3B81-2A35A760B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3F5695-B107-A0F4-AFB9-2E0E9DFE8D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1D99D-F24D-A4FA-3655-4D2D1A2DE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75C60-602E-49E9-B8EB-D201380E0517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2214F-4F57-31BE-6C40-9E015524F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D9F67-D8F0-C4AB-6691-A0E66AFB1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86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BFBF6-D134-3BFA-3A31-E281476A4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663A4-9A52-AC30-F57F-5D81224E4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FE14E-DCD8-F92A-2BD3-B1016EBF8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4EB89-5E2C-402C-9A9A-0FB9D7DBF617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12FDF-FE35-830E-8898-F95DCE661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30581-C6C8-B837-D9F8-E7600A5E8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40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DEF89-D83D-5139-9E70-7EEE1CA7B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8CF6E-918D-80D3-EC29-93BC26E58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133A0-01DD-CE53-C9E8-B16EE2528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FF1AD-F4BF-4C59-B253-6BB9BDD73412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E3B08-9FE6-439B-240F-F867262BE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C007F-55CB-9D63-030B-6628CA948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279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EA337-5DE0-3A42-B13F-94C7E0990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ECF82-70B5-448A-A0B5-A8C673FC4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7E6887-8CEF-ECB1-9EA9-EA3DA0268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8C18FC-3247-CC6B-4DCA-0EBA26F52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53CBA-2795-4222-BE3E-CE6925F17E21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CD54E-F264-92F6-5BD0-BCEE67E9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BD02C-DC10-7AA6-1A1E-A8C72245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783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ECA7D-55BB-B941-8FD5-0ED2CF1AA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E1CF9-A740-C9F8-CB0C-DCDB6D8AB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0F28BD-210B-E2B9-7785-0E4B7CC15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A979C5-C60F-CBDA-231D-135A85B30E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7537E-3E92-D0E1-F385-D596F21179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826A3B-9E7F-FF5C-F120-26D6D1287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E8DD5-56CE-470B-A107-DBC89FF5FD31}" type="datetime1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34F998-4A7B-2258-32C8-0FD2705B6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5667A8-676A-DD19-C945-DE283C48E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729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1A729-9FB4-8A4A-459E-BB0EA67CB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C79396-0379-6B44-4C04-9AF7F063E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9E3D-2645-4AF3-AAB9-2516F11E7257}" type="datetime1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FF802-0A92-1277-494D-501A2DE1B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2611CC-716B-C40B-5711-AE4559DE1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695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67A7E8-BDBF-1517-6680-8343EBDB9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FD84D-BD89-435C-B721-E5AF9CF69E1B}" type="datetime1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9F01EF-DB07-03B9-873D-3B5DC6B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5436D-F27F-E898-C227-6914D4F03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843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7B882-F63F-FC1A-6C6C-FD126017C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64501-73E7-D9A7-D886-3442588DF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D2A60-EEDF-0F6E-3B2F-3F6B657AF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291A9-3D29-6621-96DA-AA4903B90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5F78-B619-4308-A866-B84AD862DA6E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49F47-D2AC-FE2A-3EC5-2CC3A7881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5E50C-D9E2-5B28-BE8D-B6884B41C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359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13D67-8AD7-9550-E01E-EAB0CA3F7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AF378E-2E96-C185-AF0E-4C8146EA67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673FA-FB89-BB2D-AAD5-41D8CBA905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77FA9-690E-1A29-CFD9-C1946BD9B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02C1D-80FB-459B-9E96-F19130E8085E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38C4E-F5D1-C47D-23B4-E6C167DD9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5DFE53-803A-FB99-EAA1-6BCFE3575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129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80137-16F2-041E-CA9C-6C2D82A50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B1FC74-9425-8A4D-B6A2-16DDBBBB43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1CE89-264C-F137-ED50-5BB76E873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05DF5-5431-4ABD-8C9D-E40038F8D3B8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D5F31-B1EE-E36B-79B3-AB2458BAC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751A1-C80D-3527-841C-92630F372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278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C85DB7-C530-9B4C-08F1-A93B68F93C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94165-2570-DAFC-30A3-A7A4BE3BCF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CB0D7-27C1-793A-1F07-56C6FFE6C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03D2A-D906-4814-877C-2FF88AFD416E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64BE4-FCEB-937B-7703-48073E236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9D1CC-4FE6-B814-81C5-BD7EFEE2E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56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F3C729-36D0-BB8B-FFA5-BD70B641E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47D0B9-8940-7D81-662F-57AAD4570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9A260-FC9D-DA38-B826-97ED2F57FC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19734-A5C4-497F-A87A-9E6E9DCEE79F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6D130-63D8-DB93-1401-135BFF54C1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Amherst CS Seminar, 3-30-26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E7AFB-9627-3083-4C35-CE0EC6539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A150B320-44BD-4158-A6D5-89FA96D79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40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510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17.svg"/><Relationship Id="rId3" Type="http://schemas.openxmlformats.org/officeDocument/2006/relationships/image" Target="../media/image31.png"/><Relationship Id="rId7" Type="http://schemas.openxmlformats.org/officeDocument/2006/relationships/image" Target="../media/image25.png"/><Relationship Id="rId12" Type="http://schemas.openxmlformats.org/officeDocument/2006/relationships/image" Target="../media/image1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33.png"/><Relationship Id="rId5" Type="http://schemas.openxmlformats.org/officeDocument/2006/relationships/image" Target="../media/image23.png"/><Relationship Id="rId10" Type="http://schemas.openxmlformats.org/officeDocument/2006/relationships/image" Target="../media/image32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13" Type="http://schemas.openxmlformats.org/officeDocument/2006/relationships/image" Target="../media/image290.png"/><Relationship Id="rId3" Type="http://schemas.openxmlformats.org/officeDocument/2006/relationships/image" Target="../media/image51.png"/><Relationship Id="rId7" Type="http://schemas.openxmlformats.org/officeDocument/2006/relationships/image" Target="../media/image220.png"/><Relationship Id="rId12" Type="http://schemas.openxmlformats.org/officeDocument/2006/relationships/image" Target="../media/image28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11" Type="http://schemas.openxmlformats.org/officeDocument/2006/relationships/image" Target="../media/image270.png"/><Relationship Id="rId5" Type="http://schemas.openxmlformats.org/officeDocument/2006/relationships/image" Target="../media/image190.png"/><Relationship Id="rId15" Type="http://schemas.openxmlformats.org/officeDocument/2006/relationships/image" Target="../media/image310.png"/><Relationship Id="rId10" Type="http://schemas.openxmlformats.org/officeDocument/2006/relationships/image" Target="../media/image260.png"/><Relationship Id="rId4" Type="http://schemas.openxmlformats.org/officeDocument/2006/relationships/image" Target="../media/image250.png"/><Relationship Id="rId9" Type="http://schemas.openxmlformats.org/officeDocument/2006/relationships/image" Target="../media/image240.png"/><Relationship Id="rId14" Type="http://schemas.openxmlformats.org/officeDocument/2006/relationships/image" Target="../media/image30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281.png"/><Relationship Id="rId3" Type="http://schemas.openxmlformats.org/officeDocument/2006/relationships/image" Target="../media/image60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41.png"/><Relationship Id="rId15" Type="http://schemas.openxmlformats.org/officeDocument/2006/relationships/image" Target="../media/image300.png"/><Relationship Id="rId10" Type="http://schemas.openxmlformats.org/officeDocument/2006/relationships/image" Target="../media/image66.png"/><Relationship Id="rId4" Type="http://schemas.openxmlformats.org/officeDocument/2006/relationships/image" Target="../media/image61.png"/><Relationship Id="rId9" Type="http://schemas.openxmlformats.org/officeDocument/2006/relationships/image" Target="../media/image65.png"/><Relationship Id="rId14" Type="http://schemas.openxmlformats.org/officeDocument/2006/relationships/image" Target="../media/image2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79EE1-867F-765E-BC49-245696CC81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152" y="1122363"/>
            <a:ext cx="9833695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Optimizing Multiserver Scheduling:</a:t>
            </a:r>
            <a:br>
              <a:rPr lang="en-US" dirty="0"/>
            </a:br>
            <a:r>
              <a:rPr lang="en-US" dirty="0"/>
              <a:t>Beyond SRPT-k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E94775-67EE-3AA6-F131-69039BAAC2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026975"/>
          </a:xfrm>
        </p:spPr>
        <p:txBody>
          <a:bodyPr>
            <a:normAutofit/>
          </a:bodyPr>
          <a:lstStyle/>
          <a:p>
            <a:r>
              <a:rPr lang="en-US" b="1" dirty="0"/>
              <a:t>Izzy Grosof</a:t>
            </a:r>
            <a:br>
              <a:rPr lang="en-US" dirty="0"/>
            </a:br>
            <a:r>
              <a:rPr lang="en-US" dirty="0"/>
              <a:t>Northwestern University, IEMS</a:t>
            </a:r>
          </a:p>
          <a:p>
            <a:r>
              <a:rPr lang="en-US" dirty="0"/>
              <a:t>Daniela Hurtado-Lange, Kellogg</a:t>
            </a:r>
          </a:p>
          <a:p>
            <a:r>
              <a:rPr lang="en-US" dirty="0" err="1"/>
              <a:t>Ziyuan</a:t>
            </a:r>
            <a:r>
              <a:rPr lang="en-US" dirty="0"/>
              <a:t> Wang, IEMS</a:t>
            </a:r>
          </a:p>
        </p:txBody>
      </p:sp>
      <p:pic>
        <p:nvPicPr>
          <p:cNvPr id="4" name="Picture 3" descr="A person taking a selfie with a dog&#10;&#10;Description automatically generated">
            <a:extLst>
              <a:ext uri="{FF2B5EF4-FFF2-40B4-BE49-F238E27FC236}">
                <a16:creationId xmlns:a16="http://schemas.microsoft.com/office/drawing/2014/main" id="{29BA8422-462C-C5A8-ED25-0146129EB5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43" t="1534" r="22503"/>
          <a:stretch/>
        </p:blipFill>
        <p:spPr>
          <a:xfrm>
            <a:off x="454258" y="3509963"/>
            <a:ext cx="3249995" cy="2698497"/>
          </a:xfrm>
          <a:prstGeom prst="rect">
            <a:avLst/>
          </a:prstGeom>
        </p:spPr>
      </p:pic>
      <p:pic>
        <p:nvPicPr>
          <p:cNvPr id="5" name="Picture 4" descr="A person wearing glasses and a black jacket&#10;&#10;Description automatically generated">
            <a:extLst>
              <a:ext uri="{FF2B5EF4-FFF2-40B4-BE49-F238E27FC236}">
                <a16:creationId xmlns:a16="http://schemas.microsoft.com/office/drawing/2014/main" id="{31E8B964-C6E0-1C08-7183-A6441A592C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8642" y="3429000"/>
            <a:ext cx="3099100" cy="2928405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F0671E-1946-57BF-C4A1-FA6A331D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1A1C8-F10A-6F2C-AEDA-D6C54F713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080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D1354-2B38-BDB2-EC54-1414517B0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Motivation: Multiserver User-Computing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4DA4C-8FD9-AD07-0800-AAF3CF3C5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5016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User devices serve multiple jobs at once – multicore, “multiserver”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Scheduling: Which jobs to run when? Free performance improvement.</a:t>
            </a:r>
          </a:p>
          <a:p>
            <a:pPr marL="0" indent="0">
              <a:buNone/>
            </a:pPr>
            <a:r>
              <a:rPr lang="en-US" dirty="0"/>
              <a:t>Stochastic models: Many sources of jobs, randomized aggregate model.</a:t>
            </a:r>
          </a:p>
        </p:txBody>
      </p:sp>
      <p:pic>
        <p:nvPicPr>
          <p:cNvPr id="6" name="Content Placeholder 4" descr="Smart Phone with solid fill">
            <a:extLst>
              <a:ext uri="{FF2B5EF4-FFF2-40B4-BE49-F238E27FC236}">
                <a16:creationId xmlns:a16="http://schemas.microsoft.com/office/drawing/2014/main" id="{6E61A7EA-BEC3-AAF8-B102-EEADBF0166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88323" y="2756325"/>
            <a:ext cx="1648691" cy="1648691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0926024A-5838-8DE7-201C-9855326A03EB}"/>
              </a:ext>
            </a:extLst>
          </p:cNvPr>
          <p:cNvGrpSpPr/>
          <p:nvPr/>
        </p:nvGrpSpPr>
        <p:grpSpPr>
          <a:xfrm>
            <a:off x="6573923" y="2757407"/>
            <a:ext cx="914400" cy="1647609"/>
            <a:chOff x="6350187" y="3156242"/>
            <a:chExt cx="914400" cy="1647609"/>
          </a:xfrm>
        </p:grpSpPr>
        <p:pic>
          <p:nvPicPr>
            <p:cNvPr id="8" name="Graphic 7" descr="Processor with solid fill">
              <a:extLst>
                <a:ext uri="{FF2B5EF4-FFF2-40B4-BE49-F238E27FC236}">
                  <a16:creationId xmlns:a16="http://schemas.microsoft.com/office/drawing/2014/main" id="{219A7409-B195-4ED6-996D-B93CDF8D3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50187" y="3156242"/>
              <a:ext cx="914400" cy="914400"/>
            </a:xfrm>
            <a:prstGeom prst="rect">
              <a:avLst/>
            </a:prstGeom>
          </p:spPr>
        </p:pic>
        <p:pic>
          <p:nvPicPr>
            <p:cNvPr id="9" name="Graphic 8" descr="Processor with solid fill">
              <a:extLst>
                <a:ext uri="{FF2B5EF4-FFF2-40B4-BE49-F238E27FC236}">
                  <a16:creationId xmlns:a16="http://schemas.microsoft.com/office/drawing/2014/main" id="{35F451D8-EB4E-86E0-DF19-DB463F3112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50187" y="3889451"/>
              <a:ext cx="914400" cy="9144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927C077-B402-7904-49EB-9653239CBDF2}"/>
              </a:ext>
            </a:extLst>
          </p:cNvPr>
          <p:cNvGrpSpPr/>
          <p:nvPr/>
        </p:nvGrpSpPr>
        <p:grpSpPr>
          <a:xfrm>
            <a:off x="2775993" y="2940496"/>
            <a:ext cx="3866515" cy="1097915"/>
            <a:chOff x="541" y="3061"/>
            <a:chExt cx="6089" cy="172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52CB8F9-2F96-0A0A-D4A2-B1C5A2C01328}"/>
                </a:ext>
              </a:extLst>
            </p:cNvPr>
            <p:cNvGrpSpPr/>
            <p:nvPr/>
          </p:nvGrpSpPr>
          <p:grpSpPr>
            <a:xfrm>
              <a:off x="541" y="3061"/>
              <a:ext cx="5752" cy="1729"/>
              <a:chOff x="4612" y="3735"/>
              <a:chExt cx="5752" cy="1729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49DF095B-3A68-2856-CD33-70C03E0B0A5B}"/>
                  </a:ext>
                </a:extLst>
              </p:cNvPr>
              <p:cNvGrpSpPr/>
              <p:nvPr/>
            </p:nvGrpSpPr>
            <p:grpSpPr>
              <a:xfrm>
                <a:off x="5630" y="3735"/>
                <a:ext cx="4734" cy="1729"/>
                <a:chOff x="5630" y="3735"/>
                <a:chExt cx="4734" cy="1729"/>
              </a:xfrm>
            </p:grpSpPr>
            <p:sp>
              <p:nvSpPr>
                <p:cNvPr id="27" name="Rectangles 8">
                  <a:extLst>
                    <a:ext uri="{FF2B5EF4-FFF2-40B4-BE49-F238E27FC236}">
                      <a16:creationId xmlns:a16="http://schemas.microsoft.com/office/drawing/2014/main" id="{620367FD-C424-2A6C-D6D7-90180B20B28F}"/>
                    </a:ext>
                  </a:extLst>
                </p:cNvPr>
                <p:cNvSpPr/>
                <p:nvPr/>
              </p:nvSpPr>
              <p:spPr>
                <a:xfrm>
                  <a:off x="6596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Rectangles 9">
                  <a:extLst>
                    <a:ext uri="{FF2B5EF4-FFF2-40B4-BE49-F238E27FC236}">
                      <a16:creationId xmlns:a16="http://schemas.microsoft.com/office/drawing/2014/main" id="{220370F8-77D1-7EFE-76E9-D8DCFE6F871E}"/>
                    </a:ext>
                  </a:extLst>
                </p:cNvPr>
                <p:cNvSpPr/>
                <p:nvPr/>
              </p:nvSpPr>
              <p:spPr>
                <a:xfrm>
                  <a:off x="7538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Rectangles 10">
                  <a:extLst>
                    <a:ext uri="{FF2B5EF4-FFF2-40B4-BE49-F238E27FC236}">
                      <a16:creationId xmlns:a16="http://schemas.microsoft.com/office/drawing/2014/main" id="{C6646074-94F5-6E0F-E600-79B348ED11F8}"/>
                    </a:ext>
                  </a:extLst>
                </p:cNvPr>
                <p:cNvSpPr/>
                <p:nvPr/>
              </p:nvSpPr>
              <p:spPr>
                <a:xfrm>
                  <a:off x="8480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Rectangles 11">
                  <a:extLst>
                    <a:ext uri="{FF2B5EF4-FFF2-40B4-BE49-F238E27FC236}">
                      <a16:creationId xmlns:a16="http://schemas.microsoft.com/office/drawing/2014/main" id="{C045A8A1-442E-288E-17B8-9E93F94924D4}"/>
                    </a:ext>
                  </a:extLst>
                </p:cNvPr>
                <p:cNvSpPr/>
                <p:nvPr/>
              </p:nvSpPr>
              <p:spPr>
                <a:xfrm>
                  <a:off x="9422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738C1F62-FEE6-7535-E9E2-BFDF3C6792DF}"/>
                    </a:ext>
                  </a:extLst>
                </p:cNvPr>
                <p:cNvCxnSpPr/>
                <p:nvPr/>
              </p:nvCxnSpPr>
              <p:spPr>
                <a:xfrm>
                  <a:off x="5630" y="3735"/>
                  <a:ext cx="966" cy="1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AD2F73BD-54B7-4F80-9994-605D49E45092}"/>
                    </a:ext>
                  </a:extLst>
                </p:cNvPr>
                <p:cNvCxnSpPr/>
                <p:nvPr/>
              </p:nvCxnSpPr>
              <p:spPr>
                <a:xfrm>
                  <a:off x="5630" y="5449"/>
                  <a:ext cx="966" cy="1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Rectangles 16">
                <a:extLst>
                  <a:ext uri="{FF2B5EF4-FFF2-40B4-BE49-F238E27FC236}">
                    <a16:creationId xmlns:a16="http://schemas.microsoft.com/office/drawing/2014/main" id="{02EBAD21-5EA8-E92A-EC23-CDB2B7ACAD9A}"/>
                  </a:ext>
                </a:extLst>
              </p:cNvPr>
              <p:cNvSpPr/>
              <p:nvPr/>
            </p:nvSpPr>
            <p:spPr>
              <a:xfrm>
                <a:off x="7611" y="4738"/>
                <a:ext cx="797" cy="40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s 18">
                <a:extLst>
                  <a:ext uri="{FF2B5EF4-FFF2-40B4-BE49-F238E27FC236}">
                    <a16:creationId xmlns:a16="http://schemas.microsoft.com/office/drawing/2014/main" id="{2BD9C6BD-E530-6825-A54E-61F227E2C81D}"/>
                  </a:ext>
                </a:extLst>
              </p:cNvPr>
              <p:cNvSpPr/>
              <p:nvPr/>
            </p:nvSpPr>
            <p:spPr>
              <a:xfrm>
                <a:off x="9495" y="4283"/>
                <a:ext cx="797" cy="85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s 19">
                <a:extLst>
                  <a:ext uri="{FF2B5EF4-FFF2-40B4-BE49-F238E27FC236}">
                    <a16:creationId xmlns:a16="http://schemas.microsoft.com/office/drawing/2014/main" id="{F6338408-A04C-5403-6383-C4B60764A160}"/>
                  </a:ext>
                </a:extLst>
              </p:cNvPr>
              <p:cNvSpPr/>
              <p:nvPr/>
            </p:nvSpPr>
            <p:spPr>
              <a:xfrm>
                <a:off x="6668" y="4160"/>
                <a:ext cx="797" cy="98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s 20">
                <a:extLst>
                  <a:ext uri="{FF2B5EF4-FFF2-40B4-BE49-F238E27FC236}">
                    <a16:creationId xmlns:a16="http://schemas.microsoft.com/office/drawing/2014/main" id="{403721AD-8810-38E0-3A4E-4D9D02716A5A}"/>
                  </a:ext>
                </a:extLst>
              </p:cNvPr>
              <p:cNvSpPr/>
              <p:nvPr/>
            </p:nvSpPr>
            <p:spPr>
              <a:xfrm>
                <a:off x="8553" y="4483"/>
                <a:ext cx="797" cy="65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A1BBB527-F519-0F95-11CB-E4ABB5C9CC06}"/>
                  </a:ext>
                </a:extLst>
              </p:cNvPr>
              <p:cNvCxnSpPr/>
              <p:nvPr/>
            </p:nvCxnSpPr>
            <p:spPr>
              <a:xfrm flipV="1">
                <a:off x="4612" y="4647"/>
                <a:ext cx="1018" cy="6"/>
              </a:xfrm>
              <a:prstGeom prst="straightConnector1">
                <a:avLst/>
              </a:prstGeom>
              <a:ln w="63500">
                <a:solidFill>
                  <a:schemeClr val="tx1"/>
                </a:solidFill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E491444-EA3D-6F59-F120-6C2582613D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88" y="3449"/>
              <a:ext cx="342" cy="138"/>
            </a:xfrm>
            <a:prstGeom prst="line">
              <a:avLst/>
            </a:prstGeom>
            <a:ln w="38100">
              <a:solidFill>
                <a:srgbClr val="2020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9F6D0B2-65BF-6F0B-4528-991D09CCE135}"/>
                </a:ext>
              </a:extLst>
            </p:cNvPr>
            <p:cNvCxnSpPr>
              <a:cxnSpLocks/>
            </p:cNvCxnSpPr>
            <p:nvPr/>
          </p:nvCxnSpPr>
          <p:spPr>
            <a:xfrm>
              <a:off x="6300" y="4365"/>
              <a:ext cx="330" cy="196"/>
            </a:xfrm>
            <a:prstGeom prst="line">
              <a:avLst/>
            </a:prstGeom>
            <a:ln w="38100">
              <a:solidFill>
                <a:srgbClr val="2020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Footer Placeholder 52">
            <a:extLst>
              <a:ext uri="{FF2B5EF4-FFF2-40B4-BE49-F238E27FC236}">
                <a16:creationId xmlns:a16="http://schemas.microsoft.com/office/drawing/2014/main" id="{ECE502AC-E2B1-7333-BB4D-38E9DD52E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6BAEDAEE-96FE-0F0A-1B7E-8A426C60F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240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C6493-0FCC-F1AB-D387-BC7B359AA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Model: M/G/k Scheduling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65BF0E8-7F73-4A7C-ABB8-32EB122C5D8C}"/>
              </a:ext>
            </a:extLst>
          </p:cNvPr>
          <p:cNvGrpSpPr/>
          <p:nvPr/>
        </p:nvGrpSpPr>
        <p:grpSpPr>
          <a:xfrm>
            <a:off x="3227925" y="2571989"/>
            <a:ext cx="4605655" cy="1265555"/>
            <a:chOff x="541" y="3008"/>
            <a:chExt cx="7253" cy="199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72DB750-5C7A-5BFB-0421-B0C518FB468E}"/>
                </a:ext>
              </a:extLst>
            </p:cNvPr>
            <p:cNvGrpSpPr/>
            <p:nvPr/>
          </p:nvGrpSpPr>
          <p:grpSpPr>
            <a:xfrm>
              <a:off x="541" y="3008"/>
              <a:ext cx="7253" cy="1993"/>
              <a:chOff x="541" y="3008"/>
              <a:chExt cx="7253" cy="1993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7CBC829-7977-848D-7D48-3189CA61E979}"/>
                  </a:ext>
                </a:extLst>
              </p:cNvPr>
              <p:cNvSpPr/>
              <p:nvPr/>
            </p:nvSpPr>
            <p:spPr>
              <a:xfrm>
                <a:off x="6630" y="3008"/>
                <a:ext cx="827" cy="88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B35D023A-B1AB-9784-D655-4032C9C01279}"/>
                  </a:ext>
                </a:extLst>
              </p:cNvPr>
              <p:cNvGrpSpPr/>
              <p:nvPr/>
            </p:nvGrpSpPr>
            <p:grpSpPr>
              <a:xfrm>
                <a:off x="541" y="3061"/>
                <a:ext cx="6800" cy="1729"/>
                <a:chOff x="4612" y="3735"/>
                <a:chExt cx="6800" cy="1729"/>
              </a:xfrm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638AEDAC-EE23-E2B3-D71C-98A932B0A1F5}"/>
                    </a:ext>
                  </a:extLst>
                </p:cNvPr>
                <p:cNvGrpSpPr/>
                <p:nvPr/>
              </p:nvGrpSpPr>
              <p:grpSpPr>
                <a:xfrm>
                  <a:off x="5630" y="3735"/>
                  <a:ext cx="4734" cy="1729"/>
                  <a:chOff x="5630" y="3735"/>
                  <a:chExt cx="4734" cy="1729"/>
                </a:xfrm>
              </p:grpSpPr>
              <p:sp>
                <p:nvSpPr>
                  <p:cNvPr id="24" name="Rectangles 8">
                    <a:extLst>
                      <a:ext uri="{FF2B5EF4-FFF2-40B4-BE49-F238E27FC236}">
                        <a16:creationId xmlns:a16="http://schemas.microsoft.com/office/drawing/2014/main" id="{B4387B9F-0F0C-F6AF-4694-A50990D411F9}"/>
                      </a:ext>
                    </a:extLst>
                  </p:cNvPr>
                  <p:cNvSpPr/>
                  <p:nvPr/>
                </p:nvSpPr>
                <p:spPr>
                  <a:xfrm>
                    <a:off x="6596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Rectangles 9">
                    <a:extLst>
                      <a:ext uri="{FF2B5EF4-FFF2-40B4-BE49-F238E27FC236}">
                        <a16:creationId xmlns:a16="http://schemas.microsoft.com/office/drawing/2014/main" id="{F2886EC6-A59A-8780-EC2D-4BB779519B39}"/>
                      </a:ext>
                    </a:extLst>
                  </p:cNvPr>
                  <p:cNvSpPr/>
                  <p:nvPr/>
                </p:nvSpPr>
                <p:spPr>
                  <a:xfrm>
                    <a:off x="7538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Rectangles 10">
                    <a:extLst>
                      <a:ext uri="{FF2B5EF4-FFF2-40B4-BE49-F238E27FC236}">
                        <a16:creationId xmlns:a16="http://schemas.microsoft.com/office/drawing/2014/main" id="{56DF1B98-82D0-F04B-1BB4-B15CF81D6CD5}"/>
                      </a:ext>
                    </a:extLst>
                  </p:cNvPr>
                  <p:cNvSpPr/>
                  <p:nvPr/>
                </p:nvSpPr>
                <p:spPr>
                  <a:xfrm>
                    <a:off x="8480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" name="Rectangles 11">
                    <a:extLst>
                      <a:ext uri="{FF2B5EF4-FFF2-40B4-BE49-F238E27FC236}">
                        <a16:creationId xmlns:a16="http://schemas.microsoft.com/office/drawing/2014/main" id="{84C074D4-3895-DC0B-4FE6-526344EC3BA3}"/>
                      </a:ext>
                    </a:extLst>
                  </p:cNvPr>
                  <p:cNvSpPr/>
                  <p:nvPr/>
                </p:nvSpPr>
                <p:spPr>
                  <a:xfrm>
                    <a:off x="9422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AEB7E68F-7CA4-96DC-B547-8DF51B974A3B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3735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Connector 29">
                    <a:extLst>
                      <a:ext uri="{FF2B5EF4-FFF2-40B4-BE49-F238E27FC236}">
                        <a16:creationId xmlns:a16="http://schemas.microsoft.com/office/drawing/2014/main" id="{84A178A2-E21D-BA87-D019-FCCE5CB5659F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5449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7" name="Rectangles 16">
                  <a:extLst>
                    <a:ext uri="{FF2B5EF4-FFF2-40B4-BE49-F238E27FC236}">
                      <a16:creationId xmlns:a16="http://schemas.microsoft.com/office/drawing/2014/main" id="{DE172811-3ECE-EE6D-A0D8-7D4C3DE64ACF}"/>
                    </a:ext>
                  </a:extLst>
                </p:cNvPr>
                <p:cNvSpPr/>
                <p:nvPr/>
              </p:nvSpPr>
              <p:spPr>
                <a:xfrm>
                  <a:off x="7611" y="4738"/>
                  <a:ext cx="797" cy="40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" name="Rectangles 18">
                  <a:extLst>
                    <a:ext uri="{FF2B5EF4-FFF2-40B4-BE49-F238E27FC236}">
                      <a16:creationId xmlns:a16="http://schemas.microsoft.com/office/drawing/2014/main" id="{B38D3F89-693A-8C53-85FB-F12C8FFD86EE}"/>
                    </a:ext>
                  </a:extLst>
                </p:cNvPr>
                <p:cNvSpPr/>
                <p:nvPr/>
              </p:nvSpPr>
              <p:spPr>
                <a:xfrm>
                  <a:off x="9495" y="4283"/>
                  <a:ext cx="797" cy="85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Rectangles 19">
                  <a:extLst>
                    <a:ext uri="{FF2B5EF4-FFF2-40B4-BE49-F238E27FC236}">
                      <a16:creationId xmlns:a16="http://schemas.microsoft.com/office/drawing/2014/main" id="{0F16FDF3-68BF-3B55-ACDC-2D6B00978A75}"/>
                    </a:ext>
                  </a:extLst>
                </p:cNvPr>
                <p:cNvSpPr/>
                <p:nvPr/>
              </p:nvSpPr>
              <p:spPr>
                <a:xfrm>
                  <a:off x="6668" y="4160"/>
                  <a:ext cx="797" cy="98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Rectangles 20">
                  <a:extLst>
                    <a:ext uri="{FF2B5EF4-FFF2-40B4-BE49-F238E27FC236}">
                      <a16:creationId xmlns:a16="http://schemas.microsoft.com/office/drawing/2014/main" id="{9F0A97BE-F8BD-853D-8340-84A0088D5310}"/>
                    </a:ext>
                  </a:extLst>
                </p:cNvPr>
                <p:cNvSpPr/>
                <p:nvPr/>
              </p:nvSpPr>
              <p:spPr>
                <a:xfrm>
                  <a:off x="8553" y="4483"/>
                  <a:ext cx="797" cy="65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Rectangles 21">
                  <a:extLst>
                    <a:ext uri="{FF2B5EF4-FFF2-40B4-BE49-F238E27FC236}">
                      <a16:creationId xmlns:a16="http://schemas.microsoft.com/office/drawing/2014/main" id="{747066A8-F291-192A-C81F-4D1D0487E0E2}"/>
                    </a:ext>
                  </a:extLst>
                </p:cNvPr>
                <p:cNvSpPr/>
                <p:nvPr/>
              </p:nvSpPr>
              <p:spPr>
                <a:xfrm>
                  <a:off x="10818" y="3874"/>
                  <a:ext cx="594" cy="531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2B5C8F3D-B552-5B3E-3749-5D14114057D4}"/>
                    </a:ext>
                  </a:extLst>
                </p:cNvPr>
                <p:cNvCxnSpPr/>
                <p:nvPr/>
              </p:nvCxnSpPr>
              <p:spPr>
                <a:xfrm flipV="1">
                  <a:off x="4612" y="4647"/>
                  <a:ext cx="1018" cy="6"/>
                </a:xfrm>
                <a:prstGeom prst="straightConnector1">
                  <a:avLst/>
                </a:prstGeom>
                <a:ln w="63500">
                  <a:solidFill>
                    <a:schemeClr val="tx1"/>
                  </a:solidFill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C45F5D5E-7E9D-2623-084F-BE4C8FD65AA1}"/>
                  </a:ext>
                </a:extLst>
              </p:cNvPr>
              <p:cNvCxnSpPr/>
              <p:nvPr/>
            </p:nvCxnSpPr>
            <p:spPr>
              <a:xfrm flipV="1">
                <a:off x="7457" y="3374"/>
                <a:ext cx="337" cy="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6C1F123-29C1-5CD3-674E-84F2D7E3F7FB}"/>
                  </a:ext>
                </a:extLst>
              </p:cNvPr>
              <p:cNvSpPr/>
              <p:nvPr/>
            </p:nvSpPr>
            <p:spPr>
              <a:xfrm>
                <a:off x="6630" y="4120"/>
                <a:ext cx="827" cy="88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84DD5CA7-2583-4821-8802-C42D193ED309}"/>
                  </a:ext>
                </a:extLst>
              </p:cNvPr>
              <p:cNvCxnSpPr/>
              <p:nvPr/>
            </p:nvCxnSpPr>
            <p:spPr>
              <a:xfrm flipV="1">
                <a:off x="7457" y="4544"/>
                <a:ext cx="337" cy="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s 25">
                <a:extLst>
                  <a:ext uri="{FF2B5EF4-FFF2-40B4-BE49-F238E27FC236}">
                    <a16:creationId xmlns:a16="http://schemas.microsoft.com/office/drawing/2014/main" id="{1B398D81-273C-DAB2-A7D0-4B0EC4BA7A8D}"/>
                  </a:ext>
                </a:extLst>
              </p:cNvPr>
              <p:cNvSpPr/>
              <p:nvPr/>
            </p:nvSpPr>
            <p:spPr>
              <a:xfrm>
                <a:off x="6747" y="4454"/>
                <a:ext cx="594" cy="38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2DCA190-B356-5BF8-D468-63CD00742BE3}"/>
                </a:ext>
              </a:extLst>
            </p:cNvPr>
            <p:cNvCxnSpPr>
              <a:cxnSpLocks/>
              <a:endCxn id="9" idx="2"/>
            </p:cNvCxnSpPr>
            <p:nvPr/>
          </p:nvCxnSpPr>
          <p:spPr>
            <a:xfrm flipV="1">
              <a:off x="6288" y="3449"/>
              <a:ext cx="342" cy="138"/>
            </a:xfrm>
            <a:prstGeom prst="line">
              <a:avLst/>
            </a:prstGeom>
            <a:ln w="38100">
              <a:solidFill>
                <a:srgbClr val="2020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5C00521-3FD1-785C-E155-CC1AC7832590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>
              <a:off x="6300" y="4365"/>
              <a:ext cx="330" cy="196"/>
            </a:xfrm>
            <a:prstGeom prst="line">
              <a:avLst/>
            </a:prstGeom>
            <a:ln w="38100">
              <a:solidFill>
                <a:srgbClr val="2020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B9CE2D9-2D8C-3FEA-46DF-742103255157}"/>
              </a:ext>
            </a:extLst>
          </p:cNvPr>
          <p:cNvGrpSpPr/>
          <p:nvPr/>
        </p:nvGrpSpPr>
        <p:grpSpPr>
          <a:xfrm>
            <a:off x="8232342" y="2252292"/>
            <a:ext cx="1395748" cy="1802130"/>
            <a:chOff x="7930469" y="3625215"/>
            <a:chExt cx="1395748" cy="1802130"/>
          </a:xfrm>
        </p:grpSpPr>
        <p:sp>
          <p:nvSpPr>
            <p:cNvPr id="32" name="Right Brace 31">
              <a:extLst>
                <a:ext uri="{FF2B5EF4-FFF2-40B4-BE49-F238E27FC236}">
                  <a16:creationId xmlns:a16="http://schemas.microsoft.com/office/drawing/2014/main" id="{6AE78BB8-17AF-A781-3F9D-745EDEE2AA62}"/>
                </a:ext>
              </a:extLst>
            </p:cNvPr>
            <p:cNvSpPr/>
            <p:nvPr/>
          </p:nvSpPr>
          <p:spPr>
            <a:xfrm>
              <a:off x="7930469" y="3625215"/>
              <a:ext cx="461010" cy="1802130"/>
            </a:xfrm>
            <a:prstGeom prst="righ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7CC8715-1C63-8147-A0A0-9D142221F92F}"/>
                    </a:ext>
                  </a:extLst>
                </p:cNvPr>
                <p:cNvSpPr txBox="1"/>
                <p:nvPr/>
              </p:nvSpPr>
              <p:spPr>
                <a:xfrm>
                  <a:off x="8328977" y="4309734"/>
                  <a:ext cx="997240" cy="461665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solidFill>
                              <a:srgbClr val="C40F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≥2</m:t>
                        </m:r>
                      </m:oMath>
                    </m:oMathPara>
                  </a14:m>
                  <a:endParaRPr lang="en-US" sz="2400" dirty="0">
                    <a:solidFill>
                      <a:srgbClr val="C40F0F"/>
                    </a:solidFill>
                  </a:endParaRPr>
                </a:p>
              </p:txBody>
            </p:sp>
          </mc:Choice>
          <mc:Fallback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7CC8715-1C63-8147-A0A0-9D142221F9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8977" y="4309734"/>
                  <a:ext cx="997240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291A3B6-3411-0FED-CE33-8DF8EA7FC01F}"/>
              </a:ext>
            </a:extLst>
          </p:cNvPr>
          <p:cNvGrpSpPr/>
          <p:nvPr/>
        </p:nvGrpSpPr>
        <p:grpSpPr>
          <a:xfrm>
            <a:off x="3487958" y="1496540"/>
            <a:ext cx="3394710" cy="1483360"/>
            <a:chOff x="5265" y="1644"/>
            <a:chExt cx="5346" cy="233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 Box 26">
                  <a:extLst>
                    <a:ext uri="{FF2B5EF4-FFF2-40B4-BE49-F238E27FC236}">
                      <a16:creationId xmlns:a16="http://schemas.microsoft.com/office/drawing/2014/main" id="{51A6B2D9-6396-2357-3C26-423509F935DD}"/>
                    </a:ext>
                  </a:extLst>
                </p:cNvPr>
                <p:cNvSpPr txBox="1"/>
                <p:nvPr/>
              </p:nvSpPr>
              <p:spPr>
                <a:xfrm>
                  <a:off x="5265" y="1644"/>
                  <a:ext cx="5346" cy="1745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200" dirty="0"/>
                    <a:t>Job size (duration)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sz="2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𝑆</m:t>
                      </m:r>
                    </m:oMath>
                  </a14:m>
                  <a:r>
                    <a:rPr lang="en-US" sz="2200" dirty="0"/>
                    <a:t>, </a:t>
                  </a:r>
                  <a:r>
                    <a:rPr lang="en-US" sz="2200" dirty="0" err="1"/>
                    <a:t>i.i.d.</a:t>
                  </a:r>
                  <a:endParaRPr lang="en-US" sz="2200" dirty="0"/>
                </a:p>
                <a:p>
                  <a:pPr algn="ctr"/>
                  <a:r>
                    <a:rPr lang="en-US" sz="2200" dirty="0"/>
                    <a:t>Scheduling w/ known sizes, preempt-resume</a:t>
                  </a:r>
                </a:p>
              </p:txBody>
            </p:sp>
          </mc:Choice>
          <mc:Fallback>
            <p:sp>
              <p:nvSpPr>
                <p:cNvPr id="35" name="Text Box 26">
                  <a:extLst>
                    <a:ext uri="{FF2B5EF4-FFF2-40B4-BE49-F238E27FC236}">
                      <a16:creationId xmlns:a16="http://schemas.microsoft.com/office/drawing/2014/main" id="{51A6B2D9-6396-2357-3C26-423509F935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5" y="1644"/>
                  <a:ext cx="5346" cy="1745"/>
                </a:xfrm>
                <a:prstGeom prst="rect">
                  <a:avLst/>
                </a:prstGeom>
                <a:blipFill>
                  <a:blip r:embed="rId4"/>
                  <a:stretch>
                    <a:fillRect l="-1243" t="-1596" r="-1776" b="-8511"/>
                  </a:stretch>
                </a:blipFill>
                <a:ln w="381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CD676D2-5F8B-EB42-D31B-C5277037A391}"/>
                </a:ext>
              </a:extLst>
            </p:cNvPr>
            <p:cNvCxnSpPr>
              <a:cxnSpLocks/>
              <a:stCxn id="35" idx="2"/>
            </p:cNvCxnSpPr>
            <p:nvPr/>
          </p:nvCxnSpPr>
          <p:spPr>
            <a:xfrm>
              <a:off x="7938" y="3389"/>
              <a:ext cx="1215" cy="5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DFC0BF0-53D6-9A62-04AD-D118DB74CA77}"/>
              </a:ext>
            </a:extLst>
          </p:cNvPr>
          <p:cNvGrpSpPr/>
          <p:nvPr/>
        </p:nvGrpSpPr>
        <p:grpSpPr>
          <a:xfrm>
            <a:off x="3667664" y="3936278"/>
            <a:ext cx="4560570" cy="626110"/>
            <a:chOff x="5521" y="4476"/>
            <a:chExt cx="7182" cy="986"/>
          </a:xfrm>
        </p:grpSpPr>
        <p:sp>
          <p:nvSpPr>
            <p:cNvPr id="38" name="Left Brace 37">
              <a:extLst>
                <a:ext uri="{FF2B5EF4-FFF2-40B4-BE49-F238E27FC236}">
                  <a16:creationId xmlns:a16="http://schemas.microsoft.com/office/drawing/2014/main" id="{FA858525-8CF3-706F-C302-9B6DE2325865}"/>
                </a:ext>
              </a:extLst>
            </p:cNvPr>
            <p:cNvSpPr/>
            <p:nvPr/>
          </p:nvSpPr>
          <p:spPr>
            <a:xfrm rot="16200000">
              <a:off x="8721" y="1276"/>
              <a:ext cx="781" cy="7182"/>
            </a:xfrm>
            <a:prstGeom prst="lef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 Box 29">
                  <a:extLst>
                    <a:ext uri="{FF2B5EF4-FFF2-40B4-BE49-F238E27FC236}">
                      <a16:creationId xmlns:a16="http://schemas.microsoft.com/office/drawing/2014/main" id="{211A312A-2E3B-4A05-44A5-66B9F8287A6F}"/>
                    </a:ext>
                  </a:extLst>
                </p:cNvPr>
                <p:cNvSpPr txBox="1"/>
                <p:nvPr/>
              </p:nvSpPr>
              <p:spPr>
                <a:xfrm>
                  <a:off x="7208" y="4785"/>
                  <a:ext cx="3469" cy="677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/>
                    <a:t>Response time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𝑇</m:t>
                      </m:r>
                    </m:oMath>
                  </a14:m>
                  <a:endParaRPr lang="en-US" sz="2200" dirty="0">
                    <a:solidFill>
                      <a:srgbClr val="C00000"/>
                    </a:solidFill>
                    <a:latin typeface="DejaVu Math TeX Gyre" panose="02000503000000000000" charset="0"/>
                    <a:cs typeface="DejaVu Math TeX Gyre" panose="02000503000000000000" charset="0"/>
                  </a:endParaRPr>
                </a:p>
              </p:txBody>
            </p:sp>
          </mc:Choice>
          <mc:Fallback xmlns="">
            <p:sp>
              <p:nvSpPr>
                <p:cNvPr id="39" name="Text Box 29">
                  <a:extLst>
                    <a:ext uri="{FF2B5EF4-FFF2-40B4-BE49-F238E27FC236}">
                      <a16:creationId xmlns:a16="http://schemas.microsoft.com/office/drawing/2014/main" id="{211A312A-2E3B-4A05-44A5-66B9F8287A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8" y="4785"/>
                  <a:ext cx="3469" cy="677"/>
                </a:xfrm>
                <a:prstGeom prst="rect">
                  <a:avLst/>
                </a:prstGeom>
                <a:blipFill>
                  <a:blip r:embed="rId5"/>
                  <a:stretch>
                    <a:fillRect l="-2717" t="-5263" b="-22368"/>
                  </a:stretch>
                </a:blipFill>
                <a:ln w="381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A94F095-F8B8-3DE7-B3CC-D7E366324E61}"/>
              </a:ext>
            </a:extLst>
          </p:cNvPr>
          <p:cNvGrpSpPr/>
          <p:nvPr/>
        </p:nvGrpSpPr>
        <p:grpSpPr>
          <a:xfrm>
            <a:off x="1472150" y="2958387"/>
            <a:ext cx="1755775" cy="431165"/>
            <a:chOff x="1847" y="3258"/>
            <a:chExt cx="2765" cy="67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Text Box 2">
                  <a:extLst>
                    <a:ext uri="{FF2B5EF4-FFF2-40B4-BE49-F238E27FC236}">
                      <a16:creationId xmlns:a16="http://schemas.microsoft.com/office/drawing/2014/main" id="{66A22920-F5EC-889A-3131-999494648126}"/>
                    </a:ext>
                  </a:extLst>
                </p:cNvPr>
                <p:cNvSpPr txBox="1"/>
                <p:nvPr/>
              </p:nvSpPr>
              <p:spPr>
                <a:xfrm>
                  <a:off x="2231" y="3258"/>
                  <a:ext cx="2381" cy="679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 err="1"/>
                    <a:t>PoissonP</a:t>
                  </a:r>
                  <a:r>
                    <a:rPr lang="en-US" sz="2200" dirty="0"/>
                    <a:t>(</a:t>
                  </a:r>
                  <a14:m>
                    <m:oMath xmlns:m="http://schemas.openxmlformats.org/officeDocument/2006/math">
                      <m:r>
                        <a:rPr lang="en-US" sz="2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𝜆</m:t>
                      </m:r>
                    </m:oMath>
                  </a14:m>
                  <a:r>
                    <a:rPr lang="en-US" sz="2200" dirty="0"/>
                    <a:t>)</a:t>
                  </a:r>
                </a:p>
              </p:txBody>
            </p:sp>
          </mc:Choice>
          <mc:Fallback>
            <p:sp>
              <p:nvSpPr>
                <p:cNvPr id="41" name="Text Box 2">
                  <a:extLst>
                    <a:ext uri="{FF2B5EF4-FFF2-40B4-BE49-F238E27FC236}">
                      <a16:creationId xmlns:a16="http://schemas.microsoft.com/office/drawing/2014/main" id="{66A22920-F5EC-889A-3131-9994946481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1" y="3258"/>
                  <a:ext cx="2381" cy="679"/>
                </a:xfrm>
                <a:prstGeom prst="rect">
                  <a:avLst/>
                </a:prstGeom>
                <a:blipFill>
                  <a:blip r:embed="rId6"/>
                  <a:stretch>
                    <a:fillRect l="-4348" t="-5333" r="-3953" b="-24000"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8BB23B6-68EA-EEA3-F0B9-02776076ED39}"/>
                </a:ext>
              </a:extLst>
            </p:cNvPr>
            <p:cNvCxnSpPr>
              <a:cxnSpLocks/>
              <a:stCxn id="41" idx="1"/>
            </p:cNvCxnSpPr>
            <p:nvPr/>
          </p:nvCxnSpPr>
          <p:spPr>
            <a:xfrm flipH="1">
              <a:off x="1847" y="3598"/>
              <a:ext cx="384" cy="97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9822291-4C2F-06C9-A6CF-16F5DEA5BC20}"/>
              </a:ext>
            </a:extLst>
          </p:cNvPr>
          <p:cNvGrpSpPr/>
          <p:nvPr/>
        </p:nvGrpSpPr>
        <p:grpSpPr>
          <a:xfrm>
            <a:off x="7629110" y="1586152"/>
            <a:ext cx="2524587" cy="461353"/>
            <a:chOff x="12060" y="1551"/>
            <a:chExt cx="3682" cy="12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 Box 32">
                  <a:extLst>
                    <a:ext uri="{FF2B5EF4-FFF2-40B4-BE49-F238E27FC236}">
                      <a16:creationId xmlns:a16="http://schemas.microsoft.com/office/drawing/2014/main" id="{9193E7FE-87A6-89AA-79CF-69A28AE00FCA}"/>
                    </a:ext>
                  </a:extLst>
                </p:cNvPr>
                <p:cNvSpPr txBox="1"/>
                <p:nvPr/>
              </p:nvSpPr>
              <p:spPr>
                <a:xfrm>
                  <a:off x="12060" y="1551"/>
                  <a:ext cx="3682" cy="121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/>
                    <a:t>Load </a:t>
                  </a:r>
                  <a14:m>
                    <m:oMath xmlns:m="http://schemas.openxmlformats.org/officeDocument/2006/math">
                      <m:r>
                        <a:rPr lang="en-US" sz="2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𝜌</m:t>
                      </m:r>
                      <m:r>
                        <a:rPr lang="en-US" sz="2200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sz="2200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𝜆</m:t>
                      </m:r>
                      <m:r>
                        <a:rPr lang="en-US" sz="2200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𝐸</m:t>
                      </m:r>
                      <m:r>
                        <a:rPr lang="en-US" sz="2200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[</m:t>
                      </m:r>
                      <m:r>
                        <a:rPr lang="en-US" sz="2200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𝑆</m:t>
                      </m:r>
                      <m:r>
                        <a:rPr lang="en-US" sz="2200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]&lt;1</m:t>
                      </m:r>
                    </m:oMath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33" name="Text 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60" y="1551"/>
                  <a:ext cx="3682" cy="1210"/>
                </a:xfrm>
                <a:prstGeom prst="rect">
                  <a:avLst/>
                </a:prstGeom>
                <a:blipFill>
                  <a:blip r:embed="rId7"/>
                  <a:stretch>
                    <a:fillRect l="-2632" t="-6250" b="-16250"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4CD8D9F-0E2D-0E2D-4783-8B6075DFFE1B}"/>
                </a:ext>
              </a:extLst>
            </p:cNvPr>
            <p:cNvCxnSpPr/>
            <p:nvPr/>
          </p:nvCxnSpPr>
          <p:spPr>
            <a:xfrm flipH="1">
              <a:off x="15123" y="2000"/>
              <a:ext cx="226" cy="98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5A551228-8066-F624-8348-05E5195A718F}"/>
                  </a:ext>
                </a:extLst>
              </p:cNvPr>
              <p:cNvSpPr/>
              <p:nvPr/>
            </p:nvSpPr>
            <p:spPr>
              <a:xfrm>
                <a:off x="814280" y="5029844"/>
                <a:ext cx="5581035" cy="980634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>
                    <a:solidFill>
                      <a:schemeClr val="tx1"/>
                    </a:solidFill>
                  </a:rPr>
                  <a:t>Q: What scheduling policy minimizes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?</a:t>
                </a:r>
                <a:br>
                  <a:rPr lang="en-US" sz="2200" dirty="0">
                    <a:solidFill>
                      <a:schemeClr val="tx1"/>
                    </a:solidFill>
                  </a:rPr>
                </a:br>
                <a:r>
                  <a:rPr lang="en-US" sz="2200" dirty="0">
                    <a:solidFill>
                      <a:schemeClr val="tx1"/>
                    </a:solidFill>
                  </a:rPr>
                  <a:t>(All jobs equally important)</a:t>
                </a:r>
              </a:p>
            </p:txBody>
          </p:sp>
        </mc:Choice>
        <mc:Fallback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5A551228-8066-F624-8348-05E5195A71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280" y="5029844"/>
                <a:ext cx="5581035" cy="980634"/>
              </a:xfrm>
              <a:prstGeom prst="roundRect">
                <a:avLst/>
              </a:prstGeom>
              <a:blipFill>
                <a:blip r:embed="rId8"/>
                <a:stretch>
                  <a:fillRect b="-606"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Footer Placeholder 54">
            <a:extLst>
              <a:ext uri="{FF2B5EF4-FFF2-40B4-BE49-F238E27FC236}">
                <a16:creationId xmlns:a16="http://schemas.microsoft.com/office/drawing/2014/main" id="{61606001-72EA-D3EF-336B-7F6B8E761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56" name="Slide Number Placeholder 55">
            <a:extLst>
              <a:ext uri="{FF2B5EF4-FFF2-40B4-BE49-F238E27FC236}">
                <a16:creationId xmlns:a16="http://schemas.microsoft.com/office/drawing/2014/main" id="{58EB555B-83E0-9767-111C-F50A4BE80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3FC4-A741-40E0-A7E6-A0B0F42F419F}" type="slidenum">
              <a:rPr lang="en-US" smtClean="0"/>
              <a:t>3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8EA39CB-0003-628A-87CD-2E17275C44C7}"/>
              </a:ext>
            </a:extLst>
          </p:cNvPr>
          <p:cNvSpPr/>
          <p:nvPr/>
        </p:nvSpPr>
        <p:spPr>
          <a:xfrm>
            <a:off x="6793420" y="5034556"/>
            <a:ext cx="4672099" cy="943685"/>
          </a:xfrm>
          <a:prstGeom prst="roundRect">
            <a:avLst/>
          </a:prstGeom>
          <a:solidFill>
            <a:srgbClr val="FFCCFF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Shortest Remaining Processing Time?</a:t>
            </a:r>
            <a:br>
              <a:rPr lang="en-US" sz="2200" dirty="0">
                <a:solidFill>
                  <a:schemeClr val="tx1"/>
                </a:solidFill>
              </a:rPr>
            </a:br>
            <a:r>
              <a:rPr lang="en-US" sz="2200" dirty="0">
                <a:solidFill>
                  <a:schemeClr val="tx1"/>
                </a:solidFill>
              </a:rPr>
              <a:t>(Least remaining service duration)</a:t>
            </a:r>
          </a:p>
        </p:txBody>
      </p:sp>
    </p:spTree>
    <p:extLst>
      <p:ext uri="{BB962C8B-B14F-4D97-AF65-F5344CB8AC3E}">
        <p14:creationId xmlns:p14="http://schemas.microsoft.com/office/powerpoint/2010/main" val="2625461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C999B-AFD0-0C70-3CC0-A749AC214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313181-2AEE-FFFB-53C3-CC10741400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Prior work &amp; SRPT-k</a:t>
                </a:r>
              </a:p>
              <a:p>
                <a:r>
                  <a:rPr lang="en-US" dirty="0"/>
                  <a:t>New policy: SRPT-Except-k+1 (SEK)</a:t>
                </a:r>
              </a:p>
              <a:p>
                <a:r>
                  <a:rPr lang="en-US" dirty="0"/>
                  <a:t>First improvement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over SRPT-k,</a:t>
                </a:r>
                <a:br>
                  <a:rPr lang="en-US" dirty="0"/>
                </a:br>
                <a:r>
                  <a:rPr lang="en-US" dirty="0"/>
                  <a:t>via minor tweaks.</a:t>
                </a:r>
              </a:p>
              <a:p>
                <a:r>
                  <a:rPr lang="en-US" dirty="0"/>
                  <a:t>New, stronger lower bounds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313181-2AEE-FFFB-53C3-CC10741400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98549E19-BA6C-8CF2-76D0-523211B56FE4}"/>
              </a:ext>
            </a:extLst>
          </p:cNvPr>
          <p:cNvGrpSpPr/>
          <p:nvPr/>
        </p:nvGrpSpPr>
        <p:grpSpPr>
          <a:xfrm>
            <a:off x="7177229" y="896206"/>
            <a:ext cx="4594860" cy="1723902"/>
            <a:chOff x="3630866" y="1755263"/>
            <a:chExt cx="4594860" cy="172390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53E4BEB-F446-834C-5FF6-93A397F76832}"/>
                </a:ext>
              </a:extLst>
            </p:cNvPr>
            <p:cNvGrpSpPr/>
            <p:nvPr/>
          </p:nvGrpSpPr>
          <p:grpSpPr>
            <a:xfrm>
              <a:off x="3630866" y="2154555"/>
              <a:ext cx="4594860" cy="1324610"/>
              <a:chOff x="3630866" y="2154555"/>
              <a:chExt cx="4594860" cy="132461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607CC74A-B381-EA7A-5FB4-73FA5DC63536}"/>
                  </a:ext>
                </a:extLst>
              </p:cNvPr>
              <p:cNvGrpSpPr/>
              <p:nvPr/>
            </p:nvGrpSpPr>
            <p:grpSpPr>
              <a:xfrm>
                <a:off x="3630866" y="2154555"/>
                <a:ext cx="4594860" cy="1324610"/>
                <a:chOff x="541" y="3013"/>
                <a:chExt cx="7236" cy="2086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0E09BBDD-B274-2B84-AA7A-77013E09C724}"/>
                    </a:ext>
                  </a:extLst>
                </p:cNvPr>
                <p:cNvGrpSpPr/>
                <p:nvPr/>
              </p:nvGrpSpPr>
              <p:grpSpPr>
                <a:xfrm>
                  <a:off x="541" y="3013"/>
                  <a:ext cx="7236" cy="2086"/>
                  <a:chOff x="541" y="3013"/>
                  <a:chExt cx="7236" cy="2086"/>
                </a:xfrm>
              </p:grpSpPr>
              <p:grpSp>
                <p:nvGrpSpPr>
                  <p:cNvPr id="12" name="Group 11">
                    <a:extLst>
                      <a:ext uri="{FF2B5EF4-FFF2-40B4-BE49-F238E27FC236}">
                        <a16:creationId xmlns:a16="http://schemas.microsoft.com/office/drawing/2014/main" id="{BFDECB0E-A1A2-1D26-69D5-BD14E065AFA2}"/>
                      </a:ext>
                    </a:extLst>
                  </p:cNvPr>
                  <p:cNvGrpSpPr/>
                  <p:nvPr/>
                </p:nvGrpSpPr>
                <p:grpSpPr>
                  <a:xfrm>
                    <a:off x="541" y="3013"/>
                    <a:ext cx="7236" cy="1763"/>
                    <a:chOff x="4612" y="3687"/>
                    <a:chExt cx="7236" cy="1763"/>
                  </a:xfrm>
                </p:grpSpPr>
                <p:grpSp>
                  <p:nvGrpSpPr>
                    <p:cNvPr id="16" name="Group 15">
                      <a:extLst>
                        <a:ext uri="{FF2B5EF4-FFF2-40B4-BE49-F238E27FC236}">
                          <a16:creationId xmlns:a16="http://schemas.microsoft.com/office/drawing/2014/main" id="{B65CEC7F-0265-D34C-0258-BCF984DAF4E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30" y="3687"/>
                      <a:ext cx="5881" cy="1763"/>
                      <a:chOff x="5630" y="3687"/>
                      <a:chExt cx="5881" cy="1763"/>
                    </a:xfrm>
                  </p:grpSpPr>
                  <p:sp>
                    <p:nvSpPr>
                      <p:cNvPr id="23" name="Rectangles 8">
                        <a:extLst>
                          <a:ext uri="{FF2B5EF4-FFF2-40B4-BE49-F238E27FC236}">
                            <a16:creationId xmlns:a16="http://schemas.microsoft.com/office/drawing/2014/main" id="{641BA885-FC87-AB81-0E71-D8BFBE2DD6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96" y="3735"/>
                        <a:ext cx="942" cy="171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rgbClr val="20202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4" name="Rectangles 9">
                        <a:extLst>
                          <a:ext uri="{FF2B5EF4-FFF2-40B4-BE49-F238E27FC236}">
                            <a16:creationId xmlns:a16="http://schemas.microsoft.com/office/drawing/2014/main" id="{12460804-6E7A-9293-D89C-5E7855CB85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38" y="3735"/>
                        <a:ext cx="942" cy="171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rgbClr val="20202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5" name="Rectangles 10">
                        <a:extLst>
                          <a:ext uri="{FF2B5EF4-FFF2-40B4-BE49-F238E27FC236}">
                            <a16:creationId xmlns:a16="http://schemas.microsoft.com/office/drawing/2014/main" id="{51B68C52-8E9D-581D-DBA6-F319D36CE7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80" y="3735"/>
                        <a:ext cx="942" cy="171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rgbClr val="20202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6" name="Rectangles 11">
                        <a:extLst>
                          <a:ext uri="{FF2B5EF4-FFF2-40B4-BE49-F238E27FC236}">
                            <a16:creationId xmlns:a16="http://schemas.microsoft.com/office/drawing/2014/main" id="{2F9EB3C3-91BA-DB0B-13D3-70E3DEC8F0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22" y="3735"/>
                        <a:ext cx="942" cy="171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rgbClr val="20202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7" name="Oval 26">
                        <a:extLst>
                          <a:ext uri="{FF2B5EF4-FFF2-40B4-BE49-F238E27FC236}">
                            <a16:creationId xmlns:a16="http://schemas.microsoft.com/office/drawing/2014/main" id="{4649C8AD-68B3-F48D-B213-07E9481075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84" y="3687"/>
                        <a:ext cx="827" cy="881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28" name="Straight Connector 27">
                        <a:extLst>
                          <a:ext uri="{FF2B5EF4-FFF2-40B4-BE49-F238E27FC236}">
                            <a16:creationId xmlns:a16="http://schemas.microsoft.com/office/drawing/2014/main" id="{CD2F286E-5794-1129-D400-DE006C79E71C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5630" y="3721"/>
                        <a:ext cx="966" cy="15"/>
                      </a:xfrm>
                      <a:prstGeom prst="line">
                        <a:avLst/>
                      </a:prstGeom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9" name="Straight Connector 28">
                        <a:extLst>
                          <a:ext uri="{FF2B5EF4-FFF2-40B4-BE49-F238E27FC236}">
                            <a16:creationId xmlns:a16="http://schemas.microsoft.com/office/drawing/2014/main" id="{10737AE1-2CFF-CD01-94C9-939576AD0EE2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5630" y="5435"/>
                        <a:ext cx="966" cy="15"/>
                      </a:xfrm>
                      <a:prstGeom prst="line">
                        <a:avLst/>
                      </a:prstGeom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8" name="Rectangles 19">
                      <a:extLst>
                        <a:ext uri="{FF2B5EF4-FFF2-40B4-BE49-F238E27FC236}">
                          <a16:creationId xmlns:a16="http://schemas.microsoft.com/office/drawing/2014/main" id="{54CA55EC-D216-785C-04F9-179390E008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94" y="4157"/>
                      <a:ext cx="797" cy="980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21" name="Straight Arrow Connector 20">
                      <a:extLst>
                        <a:ext uri="{FF2B5EF4-FFF2-40B4-BE49-F238E27FC236}">
                          <a16:creationId xmlns:a16="http://schemas.microsoft.com/office/drawing/2014/main" id="{330A663F-B0D8-5817-E667-A6D38BD35679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11511" y="4124"/>
                      <a:ext cx="337" cy="7"/>
                    </a:xfrm>
                    <a:prstGeom prst="straightConnector1">
                      <a:avLst/>
                    </a:prstGeom>
                    <a:ln w="25400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" name="Straight Arrow Connector 21">
                      <a:extLst>
                        <a:ext uri="{FF2B5EF4-FFF2-40B4-BE49-F238E27FC236}">
                          <a16:creationId xmlns:a16="http://schemas.microsoft.com/office/drawing/2014/main" id="{F6115287-393E-FAE3-B6CD-2BEA2DCD9605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612" y="4647"/>
                      <a:ext cx="1018" cy="6"/>
                    </a:xfrm>
                    <a:prstGeom prst="straightConnector1">
                      <a:avLst/>
                    </a:prstGeom>
                    <a:ln w="63500">
                      <a:solidFill>
                        <a:schemeClr val="tx1"/>
                      </a:solidFill>
                      <a:tailEnd type="arrow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3" name="Oval 12">
                    <a:extLst>
                      <a:ext uri="{FF2B5EF4-FFF2-40B4-BE49-F238E27FC236}">
                        <a16:creationId xmlns:a16="http://schemas.microsoft.com/office/drawing/2014/main" id="{EC239F13-6295-88A1-F2C1-83499C628DDE}"/>
                      </a:ext>
                    </a:extLst>
                  </p:cNvPr>
                  <p:cNvSpPr/>
                  <p:nvPr/>
                </p:nvSpPr>
                <p:spPr>
                  <a:xfrm>
                    <a:off x="6613" y="4218"/>
                    <a:ext cx="827" cy="881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4" name="Straight Arrow Connector 13">
                    <a:extLst>
                      <a:ext uri="{FF2B5EF4-FFF2-40B4-BE49-F238E27FC236}">
                        <a16:creationId xmlns:a16="http://schemas.microsoft.com/office/drawing/2014/main" id="{DF308A3E-2FFE-6A05-24A3-7668F8AB362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440" y="4655"/>
                    <a:ext cx="337" cy="7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" name="Rectangles 17">
                    <a:extLst>
                      <a:ext uri="{FF2B5EF4-FFF2-40B4-BE49-F238E27FC236}">
                        <a16:creationId xmlns:a16="http://schemas.microsoft.com/office/drawing/2014/main" id="{56BBAA83-337E-C604-9998-08E999D0B5FE}"/>
                      </a:ext>
                    </a:extLst>
                  </p:cNvPr>
                  <p:cNvSpPr/>
                  <p:nvPr/>
                </p:nvSpPr>
                <p:spPr>
                  <a:xfrm>
                    <a:off x="6729" y="3403"/>
                    <a:ext cx="594" cy="191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05D1D75C-655E-7664-42C1-9C3D8EF937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08" y="3443"/>
                  <a:ext cx="259" cy="151"/>
                </a:xfrm>
                <a:prstGeom prst="line">
                  <a:avLst/>
                </a:prstGeom>
                <a:ln w="38100">
                  <a:solidFill>
                    <a:srgbClr val="20202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4BE76E63-BABA-9A63-4817-B10A024B1FF2}"/>
                    </a:ext>
                  </a:extLst>
                </p:cNvPr>
                <p:cNvCxnSpPr>
                  <a:cxnSpLocks/>
                  <a:endCxn id="13" idx="2"/>
                </p:cNvCxnSpPr>
                <p:nvPr/>
              </p:nvCxnSpPr>
              <p:spPr>
                <a:xfrm>
                  <a:off x="6308" y="4452"/>
                  <a:ext cx="305" cy="207"/>
                </a:xfrm>
                <a:prstGeom prst="line">
                  <a:avLst/>
                </a:prstGeom>
                <a:ln w="38100">
                  <a:solidFill>
                    <a:srgbClr val="20202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Rectangles 16">
                <a:extLst>
                  <a:ext uri="{FF2B5EF4-FFF2-40B4-BE49-F238E27FC236}">
                    <a16:creationId xmlns:a16="http://schemas.microsoft.com/office/drawing/2014/main" id="{A006E2F1-57D3-F83F-6A55-655D96B270C2}"/>
                  </a:ext>
                </a:extLst>
              </p:cNvPr>
              <p:cNvSpPr/>
              <p:nvPr/>
            </p:nvSpPr>
            <p:spPr>
              <a:xfrm>
                <a:off x="7562786" y="3106273"/>
                <a:ext cx="372110" cy="18732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C406AE3-5CF6-7E0A-1B34-28107F1FD115}"/>
                </a:ext>
              </a:extLst>
            </p:cNvPr>
            <p:cNvSpPr txBox="1"/>
            <p:nvPr/>
          </p:nvSpPr>
          <p:spPr>
            <a:xfrm>
              <a:off x="6165469" y="1755263"/>
              <a:ext cx="980122" cy="43088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SRPT-k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E757A35-8E66-6B07-A262-5B3695C5C9C0}"/>
              </a:ext>
            </a:extLst>
          </p:cNvPr>
          <p:cNvGrpSpPr/>
          <p:nvPr/>
        </p:nvGrpSpPr>
        <p:grpSpPr>
          <a:xfrm>
            <a:off x="7177229" y="2790534"/>
            <a:ext cx="4594860" cy="1724854"/>
            <a:chOff x="7335979" y="2791486"/>
            <a:chExt cx="4594860" cy="1724854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3E71807-E8EB-7A96-95EE-089DD15BA066}"/>
                </a:ext>
              </a:extLst>
            </p:cNvPr>
            <p:cNvGrpSpPr/>
            <p:nvPr/>
          </p:nvGrpSpPr>
          <p:grpSpPr>
            <a:xfrm>
              <a:off x="7335979" y="2791486"/>
              <a:ext cx="4594860" cy="1723902"/>
              <a:chOff x="3630866" y="1755263"/>
              <a:chExt cx="4594860" cy="1723902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D078D715-A6FC-B366-868C-E1F9744C1DDB}"/>
                  </a:ext>
                </a:extLst>
              </p:cNvPr>
              <p:cNvGrpSpPr/>
              <p:nvPr/>
            </p:nvGrpSpPr>
            <p:grpSpPr>
              <a:xfrm>
                <a:off x="3630866" y="2154555"/>
                <a:ext cx="4594860" cy="1324610"/>
                <a:chOff x="3630866" y="2154555"/>
                <a:chExt cx="4594860" cy="1324610"/>
              </a:xfrm>
            </p:grpSpPr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76C4FC51-31E9-D427-B9D9-2A61445BBFCC}"/>
                    </a:ext>
                  </a:extLst>
                </p:cNvPr>
                <p:cNvGrpSpPr/>
                <p:nvPr/>
              </p:nvGrpSpPr>
              <p:grpSpPr>
                <a:xfrm>
                  <a:off x="3630866" y="2154555"/>
                  <a:ext cx="4594860" cy="1324610"/>
                  <a:chOff x="541" y="3013"/>
                  <a:chExt cx="7236" cy="2086"/>
                </a:xfrm>
              </p:grpSpPr>
              <p:grpSp>
                <p:nvGrpSpPr>
                  <p:cNvPr id="35" name="Group 34">
                    <a:extLst>
                      <a:ext uri="{FF2B5EF4-FFF2-40B4-BE49-F238E27FC236}">
                        <a16:creationId xmlns:a16="http://schemas.microsoft.com/office/drawing/2014/main" id="{7C82D36E-02DB-C5F0-34B6-61F73843B000}"/>
                      </a:ext>
                    </a:extLst>
                  </p:cNvPr>
                  <p:cNvGrpSpPr/>
                  <p:nvPr/>
                </p:nvGrpSpPr>
                <p:grpSpPr>
                  <a:xfrm>
                    <a:off x="541" y="3013"/>
                    <a:ext cx="7236" cy="2086"/>
                    <a:chOff x="541" y="3013"/>
                    <a:chExt cx="7236" cy="2086"/>
                  </a:xfrm>
                </p:grpSpPr>
                <p:grpSp>
                  <p:nvGrpSpPr>
                    <p:cNvPr id="38" name="Group 37">
                      <a:extLst>
                        <a:ext uri="{FF2B5EF4-FFF2-40B4-BE49-F238E27FC236}">
                          <a16:creationId xmlns:a16="http://schemas.microsoft.com/office/drawing/2014/main" id="{94A94778-B732-C038-9737-DE0B0631D26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1" y="3013"/>
                      <a:ext cx="7236" cy="1763"/>
                      <a:chOff x="4612" y="3687"/>
                      <a:chExt cx="7236" cy="1763"/>
                    </a:xfrm>
                  </p:grpSpPr>
                  <p:grpSp>
                    <p:nvGrpSpPr>
                      <p:cNvPr id="42" name="Group 41">
                        <a:extLst>
                          <a:ext uri="{FF2B5EF4-FFF2-40B4-BE49-F238E27FC236}">
                            <a16:creationId xmlns:a16="http://schemas.microsoft.com/office/drawing/2014/main" id="{0FE5BFF3-95A3-28E0-5198-756A9A5167B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30" y="3687"/>
                        <a:ext cx="5881" cy="1763"/>
                        <a:chOff x="5630" y="3687"/>
                        <a:chExt cx="5881" cy="1763"/>
                      </a:xfrm>
                    </p:grpSpPr>
                    <p:sp>
                      <p:nvSpPr>
                        <p:cNvPr id="46" name="Rectangles 8">
                          <a:extLst>
                            <a:ext uri="{FF2B5EF4-FFF2-40B4-BE49-F238E27FC236}">
                              <a16:creationId xmlns:a16="http://schemas.microsoft.com/office/drawing/2014/main" id="{6937D28D-D5C2-B8C9-BD5E-47BFCFED8C8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596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47" name="Rectangles 9">
                          <a:extLst>
                            <a:ext uri="{FF2B5EF4-FFF2-40B4-BE49-F238E27FC236}">
                              <a16:creationId xmlns:a16="http://schemas.microsoft.com/office/drawing/2014/main" id="{CC399E60-50F7-BD06-020A-8C64982207B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538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48" name="Rectangles 10">
                          <a:extLst>
                            <a:ext uri="{FF2B5EF4-FFF2-40B4-BE49-F238E27FC236}">
                              <a16:creationId xmlns:a16="http://schemas.microsoft.com/office/drawing/2014/main" id="{CB359784-E31B-5110-1433-806504DD2BE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80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49" name="Rectangles 11">
                          <a:extLst>
                            <a:ext uri="{FF2B5EF4-FFF2-40B4-BE49-F238E27FC236}">
                              <a16:creationId xmlns:a16="http://schemas.microsoft.com/office/drawing/2014/main" id="{EC3B839A-B9D1-F395-8F36-A4961B8E2A5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22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0" name="Oval 49">
                          <a:extLst>
                            <a:ext uri="{FF2B5EF4-FFF2-40B4-BE49-F238E27FC236}">
                              <a16:creationId xmlns:a16="http://schemas.microsoft.com/office/drawing/2014/main" id="{1458A91D-A6C8-387B-726E-2BFBE26540A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684" y="3687"/>
                          <a:ext cx="827" cy="881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cxnSp>
                      <p:nvCxnSpPr>
                        <p:cNvPr id="51" name="Straight Connector 50">
                          <a:extLst>
                            <a:ext uri="{FF2B5EF4-FFF2-40B4-BE49-F238E27FC236}">
                              <a16:creationId xmlns:a16="http://schemas.microsoft.com/office/drawing/2014/main" id="{7D098E2E-C93F-BB73-CC38-8B13A6DED4D5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5630" y="3721"/>
                          <a:ext cx="966" cy="15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2" name="Straight Connector 51">
                          <a:extLst>
                            <a:ext uri="{FF2B5EF4-FFF2-40B4-BE49-F238E27FC236}">
                              <a16:creationId xmlns:a16="http://schemas.microsoft.com/office/drawing/2014/main" id="{B364C0F1-705B-B761-FD3C-5CF9948C9C66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5630" y="5435"/>
                          <a:ext cx="966" cy="15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44" name="Straight Arrow Connector 43">
                        <a:extLst>
                          <a:ext uri="{FF2B5EF4-FFF2-40B4-BE49-F238E27FC236}">
                            <a16:creationId xmlns:a16="http://schemas.microsoft.com/office/drawing/2014/main" id="{05511C32-C430-FDC3-8BFA-DD254414E987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11511" y="4124"/>
                        <a:ext cx="337" cy="7"/>
                      </a:xfrm>
                      <a:prstGeom prst="straightConnector1">
                        <a:avLst/>
                      </a:prstGeom>
                      <a:ln w="25400">
                        <a:solidFill>
                          <a:schemeClr val="tx1"/>
                        </a:solidFill>
                        <a:tailEnd type="arrow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5" name="Straight Arrow Connector 44">
                        <a:extLst>
                          <a:ext uri="{FF2B5EF4-FFF2-40B4-BE49-F238E27FC236}">
                            <a16:creationId xmlns:a16="http://schemas.microsoft.com/office/drawing/2014/main" id="{A5EA651B-95C9-DEF8-7D91-B5F4DA295BED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4612" y="4647"/>
                        <a:ext cx="1018" cy="6"/>
                      </a:xfrm>
                      <a:prstGeom prst="straightConnector1">
                        <a:avLst/>
                      </a:prstGeom>
                      <a:ln w="63500">
                        <a:solidFill>
                          <a:schemeClr val="tx1"/>
                        </a:solidFill>
                        <a:tailEnd type="arrow" w="lg" len="lg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40" name="Straight Arrow Connector 39">
                      <a:extLst>
                        <a:ext uri="{FF2B5EF4-FFF2-40B4-BE49-F238E27FC236}">
                          <a16:creationId xmlns:a16="http://schemas.microsoft.com/office/drawing/2014/main" id="{EEB92D08-24FA-5D0C-917C-ED09BEA17304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440" y="4655"/>
                      <a:ext cx="337" cy="7"/>
                    </a:xfrm>
                    <a:prstGeom prst="straightConnector1">
                      <a:avLst/>
                    </a:prstGeom>
                    <a:ln w="25400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1" name="Rectangles 17">
                      <a:extLst>
                        <a:ext uri="{FF2B5EF4-FFF2-40B4-BE49-F238E27FC236}">
                          <a16:creationId xmlns:a16="http://schemas.microsoft.com/office/drawing/2014/main" id="{A77BBC3C-D9E2-0EC5-41C5-D4FB53EBD8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9" y="3403"/>
                      <a:ext cx="594" cy="191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9" name="Oval 38">
                      <a:extLst>
                        <a:ext uri="{FF2B5EF4-FFF2-40B4-BE49-F238E27FC236}">
                          <a16:creationId xmlns:a16="http://schemas.microsoft.com/office/drawing/2014/main" id="{AB16D547-DC3D-17A7-3B5B-61457E1A8E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13" y="4218"/>
                      <a:ext cx="827" cy="88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19FF5D91-7D73-84EB-9303-355F577258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308" y="3443"/>
                    <a:ext cx="259" cy="151"/>
                  </a:xfrm>
                  <a:prstGeom prst="line">
                    <a:avLst/>
                  </a:prstGeom>
                  <a:ln w="38100">
                    <a:solidFill>
                      <a:srgbClr val="20202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A6004A7C-9239-19AA-2878-9487B499892A}"/>
                      </a:ext>
                    </a:extLst>
                  </p:cNvPr>
                  <p:cNvCxnSpPr>
                    <a:cxnSpLocks/>
                    <a:endCxn id="39" idx="2"/>
                  </p:cNvCxnSpPr>
                  <p:nvPr/>
                </p:nvCxnSpPr>
                <p:spPr>
                  <a:xfrm>
                    <a:off x="6308" y="4452"/>
                    <a:ext cx="305" cy="207"/>
                  </a:xfrm>
                  <a:prstGeom prst="line">
                    <a:avLst/>
                  </a:prstGeom>
                  <a:ln w="38100">
                    <a:solidFill>
                      <a:srgbClr val="20202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4" name="Rectangles 16">
                  <a:extLst>
                    <a:ext uri="{FF2B5EF4-FFF2-40B4-BE49-F238E27FC236}">
                      <a16:creationId xmlns:a16="http://schemas.microsoft.com/office/drawing/2014/main" id="{69E491BA-BECA-2C1A-F751-74CE96C3E536}"/>
                    </a:ext>
                  </a:extLst>
                </p:cNvPr>
                <p:cNvSpPr/>
                <p:nvPr/>
              </p:nvSpPr>
              <p:spPr>
                <a:xfrm>
                  <a:off x="6800609" y="2670492"/>
                  <a:ext cx="372110" cy="187325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8847064-F1B9-9AED-75B6-F6B050857A7A}"/>
                  </a:ext>
                </a:extLst>
              </p:cNvPr>
              <p:cNvSpPr txBox="1"/>
              <p:nvPr/>
            </p:nvSpPr>
            <p:spPr>
              <a:xfrm>
                <a:off x="6526465" y="1755263"/>
                <a:ext cx="619125" cy="43088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SEK</a:t>
                </a:r>
              </a:p>
            </p:txBody>
          </p:sp>
        </p:grpSp>
        <p:sp>
          <p:nvSpPr>
            <p:cNvPr id="54" name="Rectangles 19">
              <a:extLst>
                <a:ext uri="{FF2B5EF4-FFF2-40B4-BE49-F238E27FC236}">
                  <a16:creationId xmlns:a16="http://schemas.microsoft.com/office/drawing/2014/main" id="{05CAD0DA-F01C-831F-91A3-582D1234E65E}"/>
                </a:ext>
              </a:extLst>
            </p:cNvPr>
            <p:cNvSpPr/>
            <p:nvPr/>
          </p:nvSpPr>
          <p:spPr>
            <a:xfrm>
              <a:off x="11200906" y="3894040"/>
              <a:ext cx="506095" cy="6223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6" name="Footer Placeholder 55">
            <a:extLst>
              <a:ext uri="{FF2B5EF4-FFF2-40B4-BE49-F238E27FC236}">
                <a16:creationId xmlns:a16="http://schemas.microsoft.com/office/drawing/2014/main" id="{6F6D8894-9C84-96D3-675D-C42239483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57" name="Slide Number Placeholder 56">
            <a:extLst>
              <a:ext uri="{FF2B5EF4-FFF2-40B4-BE49-F238E27FC236}">
                <a16:creationId xmlns:a16="http://schemas.microsoft.com/office/drawing/2014/main" id="{88D5FBE2-C170-66DE-8C70-DB8BD65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87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12868-B61C-586A-1403-F66461B78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work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9F6E9C-FF8D-A946-A990-24718446E6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435499" cy="485201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Single-server (M/G/1): SRPT optimal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dirty="0"/>
                  <a:t>. Worst-case optimal. </a:t>
                </a:r>
                <a:r>
                  <a:rPr lang="en-US" sz="2000" dirty="0"/>
                  <a:t>[Schrage ’68]</a:t>
                </a:r>
                <a:br>
                  <a:rPr lang="en-US" dirty="0"/>
                </a:br>
                <a:r>
                  <a:rPr lang="en-US" dirty="0"/>
                  <a:t>Stochastic exact formula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 </a:t>
                </a:r>
                <a:r>
                  <a:rPr lang="en-US" sz="2000" dirty="0"/>
                  <a:t>[SM ’66]</a:t>
                </a:r>
              </a:p>
              <a:p>
                <a:pPr marL="0" indent="0">
                  <a:buNone/>
                </a:pPr>
                <a:r>
                  <a:rPr lang="en-US" dirty="0"/>
                  <a:t>70s-00s: Limited progress on stochastic multiserver. Formulas for simpler policies in simpler multiserver models, no optimality. </a:t>
                </a:r>
                <a:r>
                  <a:rPr lang="en-US" sz="2000" dirty="0"/>
                  <a:t>[</a:t>
                </a:r>
                <a:r>
                  <a:rPr lang="en-US" sz="2000" dirty="0" err="1"/>
                  <a:t>Sleptchenko</a:t>
                </a:r>
                <a:r>
                  <a:rPr lang="en-US" sz="2000" dirty="0"/>
                  <a:t> ’05]</a:t>
                </a:r>
              </a:p>
              <a:p>
                <a:pPr marL="0" indent="0">
                  <a:buNone/>
                </a:pPr>
                <a:r>
                  <a:rPr lang="en-US" dirty="0"/>
                  <a:t>Worst-case multiserver: Without arrivals (batch setting), SRPT-k is optimal </a:t>
                </a:r>
                <a:r>
                  <a:rPr lang="en-US" sz="2000" dirty="0"/>
                  <a:t>[McNaughton ’59], [CMM ’67]</a:t>
                </a:r>
              </a:p>
              <a:p>
                <a:pPr marL="0" indent="0">
                  <a:buNone/>
                </a:pPr>
                <a:r>
                  <a:rPr lang="en-US" dirty="0"/>
                  <a:t>With arrivals, no online policy matches offline optimum. Not even constant competitive ratio. SRPT-k achieves best competitive ratio scaling. </a:t>
                </a:r>
                <a:r>
                  <a:rPr lang="en-US" sz="2000" dirty="0"/>
                  <a:t>[LR ’97]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9F6E9C-FF8D-A946-A990-24718446E6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435499" cy="4852012"/>
              </a:xfrm>
              <a:blipFill>
                <a:blip r:embed="rId2"/>
                <a:stretch>
                  <a:fillRect l="-1066" t="-2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558BC96D-95A1-5368-0600-7343B83DB570}"/>
              </a:ext>
            </a:extLst>
          </p:cNvPr>
          <p:cNvGrpSpPr/>
          <p:nvPr/>
        </p:nvGrpSpPr>
        <p:grpSpPr>
          <a:xfrm>
            <a:off x="7520505" y="478948"/>
            <a:ext cx="4561205" cy="1097915"/>
            <a:chOff x="962" y="3061"/>
            <a:chExt cx="7183" cy="1729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E088325-1BB3-AE24-E9B2-AFF2B15527B7}"/>
                </a:ext>
              </a:extLst>
            </p:cNvPr>
            <p:cNvSpPr/>
            <p:nvPr/>
          </p:nvSpPr>
          <p:spPr>
            <a:xfrm>
              <a:off x="6297" y="3220"/>
              <a:ext cx="1569" cy="152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1C0898C-E794-AD00-1576-F02A6A693601}"/>
                </a:ext>
              </a:extLst>
            </p:cNvPr>
            <p:cNvGrpSpPr/>
            <p:nvPr/>
          </p:nvGrpSpPr>
          <p:grpSpPr>
            <a:xfrm>
              <a:off x="962" y="3061"/>
              <a:ext cx="6384" cy="1729"/>
              <a:chOff x="5033" y="3735"/>
              <a:chExt cx="6384" cy="1729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005AD2E7-3405-1D9B-9F52-EFB6170DFC68}"/>
                  </a:ext>
                </a:extLst>
              </p:cNvPr>
              <p:cNvGrpSpPr/>
              <p:nvPr/>
            </p:nvGrpSpPr>
            <p:grpSpPr>
              <a:xfrm>
                <a:off x="5630" y="3735"/>
                <a:ext cx="4734" cy="1729"/>
                <a:chOff x="5630" y="3735"/>
                <a:chExt cx="4734" cy="1729"/>
              </a:xfrm>
            </p:grpSpPr>
            <p:sp>
              <p:nvSpPr>
                <p:cNvPr id="21" name="Rectangles 8">
                  <a:extLst>
                    <a:ext uri="{FF2B5EF4-FFF2-40B4-BE49-F238E27FC236}">
                      <a16:creationId xmlns:a16="http://schemas.microsoft.com/office/drawing/2014/main" id="{EF7AE534-A76B-E14D-BEEA-D704EF3BD401}"/>
                    </a:ext>
                  </a:extLst>
                </p:cNvPr>
                <p:cNvSpPr/>
                <p:nvPr/>
              </p:nvSpPr>
              <p:spPr>
                <a:xfrm>
                  <a:off x="6596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Rectangles 9">
                  <a:extLst>
                    <a:ext uri="{FF2B5EF4-FFF2-40B4-BE49-F238E27FC236}">
                      <a16:creationId xmlns:a16="http://schemas.microsoft.com/office/drawing/2014/main" id="{D1767491-55C7-A71C-13A6-B0CCBB300460}"/>
                    </a:ext>
                  </a:extLst>
                </p:cNvPr>
                <p:cNvSpPr/>
                <p:nvPr/>
              </p:nvSpPr>
              <p:spPr>
                <a:xfrm>
                  <a:off x="7538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Rectangles 10">
                  <a:extLst>
                    <a:ext uri="{FF2B5EF4-FFF2-40B4-BE49-F238E27FC236}">
                      <a16:creationId xmlns:a16="http://schemas.microsoft.com/office/drawing/2014/main" id="{42F22CEB-8191-0FDC-FD52-73C364166910}"/>
                    </a:ext>
                  </a:extLst>
                </p:cNvPr>
                <p:cNvSpPr/>
                <p:nvPr/>
              </p:nvSpPr>
              <p:spPr>
                <a:xfrm>
                  <a:off x="8480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Rectangles 11">
                  <a:extLst>
                    <a:ext uri="{FF2B5EF4-FFF2-40B4-BE49-F238E27FC236}">
                      <a16:creationId xmlns:a16="http://schemas.microsoft.com/office/drawing/2014/main" id="{3FC0E3AA-B782-943A-B808-E61B3D7884A0}"/>
                    </a:ext>
                  </a:extLst>
                </p:cNvPr>
                <p:cNvSpPr/>
                <p:nvPr/>
              </p:nvSpPr>
              <p:spPr>
                <a:xfrm>
                  <a:off x="9422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CCFF9D38-19FB-F948-1F11-9104634FA663}"/>
                    </a:ext>
                  </a:extLst>
                </p:cNvPr>
                <p:cNvCxnSpPr/>
                <p:nvPr/>
              </p:nvCxnSpPr>
              <p:spPr>
                <a:xfrm>
                  <a:off x="5630" y="3735"/>
                  <a:ext cx="966" cy="1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143AC016-8BA7-F52A-13D2-FE12846D455C}"/>
                    </a:ext>
                  </a:extLst>
                </p:cNvPr>
                <p:cNvCxnSpPr/>
                <p:nvPr/>
              </p:nvCxnSpPr>
              <p:spPr>
                <a:xfrm>
                  <a:off x="5630" y="5449"/>
                  <a:ext cx="966" cy="1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Rectangles 16">
                <a:extLst>
                  <a:ext uri="{FF2B5EF4-FFF2-40B4-BE49-F238E27FC236}">
                    <a16:creationId xmlns:a16="http://schemas.microsoft.com/office/drawing/2014/main" id="{7F61AFFB-2A9A-F2C3-2511-83D13E2FE479}"/>
                  </a:ext>
                </a:extLst>
              </p:cNvPr>
              <p:cNvSpPr/>
              <p:nvPr/>
            </p:nvSpPr>
            <p:spPr>
              <a:xfrm>
                <a:off x="7611" y="4738"/>
                <a:ext cx="797" cy="40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Rectangles 18">
                <a:extLst>
                  <a:ext uri="{FF2B5EF4-FFF2-40B4-BE49-F238E27FC236}">
                    <a16:creationId xmlns:a16="http://schemas.microsoft.com/office/drawing/2014/main" id="{924D9A8B-4FF6-5DDB-BD9F-9E266D33E575}"/>
                  </a:ext>
                </a:extLst>
              </p:cNvPr>
              <p:cNvSpPr/>
              <p:nvPr/>
            </p:nvSpPr>
            <p:spPr>
              <a:xfrm>
                <a:off x="9495" y="4283"/>
                <a:ext cx="797" cy="85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s 19">
                <a:extLst>
                  <a:ext uri="{FF2B5EF4-FFF2-40B4-BE49-F238E27FC236}">
                    <a16:creationId xmlns:a16="http://schemas.microsoft.com/office/drawing/2014/main" id="{425981E4-4E31-D668-ED55-AEBFEF66FCBF}"/>
                  </a:ext>
                </a:extLst>
              </p:cNvPr>
              <p:cNvSpPr/>
              <p:nvPr/>
            </p:nvSpPr>
            <p:spPr>
              <a:xfrm>
                <a:off x="6668" y="4160"/>
                <a:ext cx="797" cy="98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s 20">
                <a:extLst>
                  <a:ext uri="{FF2B5EF4-FFF2-40B4-BE49-F238E27FC236}">
                    <a16:creationId xmlns:a16="http://schemas.microsoft.com/office/drawing/2014/main" id="{D8C736EA-3CB2-F83A-5CB7-0907D6EBCC34}"/>
                  </a:ext>
                </a:extLst>
              </p:cNvPr>
              <p:cNvSpPr/>
              <p:nvPr/>
            </p:nvSpPr>
            <p:spPr>
              <a:xfrm>
                <a:off x="8553" y="4483"/>
                <a:ext cx="797" cy="65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s 21">
                <a:extLst>
                  <a:ext uri="{FF2B5EF4-FFF2-40B4-BE49-F238E27FC236}">
                    <a16:creationId xmlns:a16="http://schemas.microsoft.com/office/drawing/2014/main" id="{7EE2508A-0C66-8A43-4349-A8D808B60492}"/>
                  </a:ext>
                </a:extLst>
              </p:cNvPr>
              <p:cNvSpPr/>
              <p:nvPr/>
            </p:nvSpPr>
            <p:spPr>
              <a:xfrm>
                <a:off x="10823" y="4446"/>
                <a:ext cx="594" cy="53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0C716777-94F6-35FF-DFBC-07BC7951EC9D}"/>
                  </a:ext>
                </a:extLst>
              </p:cNvPr>
              <p:cNvCxnSpPr/>
              <p:nvPr/>
            </p:nvCxnSpPr>
            <p:spPr>
              <a:xfrm flipV="1">
                <a:off x="5033" y="4655"/>
                <a:ext cx="1018" cy="6"/>
              </a:xfrm>
              <a:prstGeom prst="straightConnector1">
                <a:avLst/>
              </a:prstGeom>
              <a:ln w="63500">
                <a:solidFill>
                  <a:schemeClr val="tx1"/>
                </a:solidFill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451E161-BBBF-3642-BC9C-ED6A19798F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08" y="3957"/>
              <a:ext cx="337" cy="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DB8A0A80-C7E7-8894-552D-44FDC77E3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665B200A-A6D5-A8DD-A7D3-AC60FD81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50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86A96-2C15-A156-4638-A6DC55F2F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Work: SRPT-k Heavy Traffic Optimality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0735B1-BB8B-E76A-BFBD-8DE0C46752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M/G/k: Multiserver SRPT (SRPT-k) is heavy-traffic optimal: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r>
                  <a:rPr lang="en-US" dirty="0"/>
                  <a:t> limit, fixed size distribution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fixed servers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 </a:t>
                </a:r>
                <a:r>
                  <a:rPr lang="en-US" sz="2000" dirty="0"/>
                  <a:t>[</a:t>
                </a:r>
                <a:r>
                  <a:rPr lang="en-US" sz="2000" b="1" dirty="0"/>
                  <a:t>G</a:t>
                </a:r>
                <a:r>
                  <a:rPr lang="en-US" sz="2000" dirty="0"/>
                  <a:t>SH ’18]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→1</m:t>
                          </m:r>
                        </m:lim>
                      </m:limLow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𝑆𝑅𝑃𝑇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dirty="0"/>
                                    <m:t>-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𝑂𝑃𝑇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dirty="0"/>
                                    <m:t>-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Lower bound: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𝑂𝑃𝑇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-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𝑆𝑅𝑃𝑇</m:t>
                        </m:r>
                        <m:r>
                          <m:rPr>
                            <m:nor/>
                          </m:rPr>
                          <a:rPr lang="en-US" dirty="0"/>
                          <m:t>-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(super-server)</a:t>
                </a:r>
              </a:p>
              <a:p>
                <a:pPr marL="0" indent="0">
                  <a:buNone/>
                </a:pPr>
                <a:r>
                  <a:rPr lang="en-US" dirty="0"/>
                  <a:t>Not unique: PSJF-k (smallest original service duration) also HT optimal, range of policies between SRPT-k and PSJF-k, such as RS-k.</a:t>
                </a:r>
              </a:p>
              <a:p>
                <a:pPr marL="0" indent="0">
                  <a:buNone/>
                </a:pPr>
                <a:r>
                  <a:rPr lang="en-US" dirty="0"/>
                  <a:t>Empirically: SRPT-k better than all others known. Global optimum?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0735B1-BB8B-E76A-BFBD-8DE0C46752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2C8BAC7-2318-31F9-AE08-5EDF54A4FDF3}"/>
              </a:ext>
            </a:extLst>
          </p:cNvPr>
          <p:cNvGrpSpPr/>
          <p:nvPr/>
        </p:nvGrpSpPr>
        <p:grpSpPr>
          <a:xfrm>
            <a:off x="9469238" y="1366527"/>
            <a:ext cx="2722762" cy="783259"/>
            <a:chOff x="1559" y="3008"/>
            <a:chExt cx="6235" cy="199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AD352CC-FE26-E61B-4F89-6117E8AD0721}"/>
                </a:ext>
              </a:extLst>
            </p:cNvPr>
            <p:cNvGrpSpPr/>
            <p:nvPr/>
          </p:nvGrpSpPr>
          <p:grpSpPr>
            <a:xfrm>
              <a:off x="1559" y="3008"/>
              <a:ext cx="6235" cy="1993"/>
              <a:chOff x="1559" y="3008"/>
              <a:chExt cx="6235" cy="1993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F4EF3E87-7C9E-9072-FDFC-F6F8E764738F}"/>
                  </a:ext>
                </a:extLst>
              </p:cNvPr>
              <p:cNvSpPr/>
              <p:nvPr/>
            </p:nvSpPr>
            <p:spPr>
              <a:xfrm>
                <a:off x="6630" y="3008"/>
                <a:ext cx="827" cy="88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890F128B-01C4-5EC3-C02B-C0787097E6AF}"/>
                  </a:ext>
                </a:extLst>
              </p:cNvPr>
              <p:cNvGrpSpPr/>
              <p:nvPr/>
            </p:nvGrpSpPr>
            <p:grpSpPr>
              <a:xfrm>
                <a:off x="1559" y="3061"/>
                <a:ext cx="5782" cy="1729"/>
                <a:chOff x="5630" y="3735"/>
                <a:chExt cx="5782" cy="1729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8EE83C92-2F65-845E-6B48-60DE54D277BF}"/>
                    </a:ext>
                  </a:extLst>
                </p:cNvPr>
                <p:cNvGrpSpPr/>
                <p:nvPr/>
              </p:nvGrpSpPr>
              <p:grpSpPr>
                <a:xfrm>
                  <a:off x="5630" y="3735"/>
                  <a:ext cx="4734" cy="1729"/>
                  <a:chOff x="5630" y="3735"/>
                  <a:chExt cx="4734" cy="1729"/>
                </a:xfrm>
              </p:grpSpPr>
              <p:sp>
                <p:nvSpPr>
                  <p:cNvPr id="21" name="Rectangles 8">
                    <a:extLst>
                      <a:ext uri="{FF2B5EF4-FFF2-40B4-BE49-F238E27FC236}">
                        <a16:creationId xmlns:a16="http://schemas.microsoft.com/office/drawing/2014/main" id="{938219FC-EC1D-8927-B001-BB73616070BC}"/>
                      </a:ext>
                    </a:extLst>
                  </p:cNvPr>
                  <p:cNvSpPr/>
                  <p:nvPr/>
                </p:nvSpPr>
                <p:spPr>
                  <a:xfrm>
                    <a:off x="6596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Rectangles 9">
                    <a:extLst>
                      <a:ext uri="{FF2B5EF4-FFF2-40B4-BE49-F238E27FC236}">
                        <a16:creationId xmlns:a16="http://schemas.microsoft.com/office/drawing/2014/main" id="{4921F016-06FC-5480-46BD-5CEFCAC7A694}"/>
                      </a:ext>
                    </a:extLst>
                  </p:cNvPr>
                  <p:cNvSpPr/>
                  <p:nvPr/>
                </p:nvSpPr>
                <p:spPr>
                  <a:xfrm>
                    <a:off x="7538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Rectangles 10">
                    <a:extLst>
                      <a:ext uri="{FF2B5EF4-FFF2-40B4-BE49-F238E27FC236}">
                        <a16:creationId xmlns:a16="http://schemas.microsoft.com/office/drawing/2014/main" id="{52133EF0-646E-B46D-9470-C704EFDA9A37}"/>
                      </a:ext>
                    </a:extLst>
                  </p:cNvPr>
                  <p:cNvSpPr/>
                  <p:nvPr/>
                </p:nvSpPr>
                <p:spPr>
                  <a:xfrm>
                    <a:off x="8480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" name="Rectangles 11">
                    <a:extLst>
                      <a:ext uri="{FF2B5EF4-FFF2-40B4-BE49-F238E27FC236}">
                        <a16:creationId xmlns:a16="http://schemas.microsoft.com/office/drawing/2014/main" id="{810B21EC-1636-5F82-2D3E-1998B9F0F7A0}"/>
                      </a:ext>
                    </a:extLst>
                  </p:cNvPr>
                  <p:cNvSpPr/>
                  <p:nvPr/>
                </p:nvSpPr>
                <p:spPr>
                  <a:xfrm>
                    <a:off x="9422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15913907-EFA5-990C-7D26-307AB58E82FD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3735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828C5BD4-8CE1-E50E-6BA8-FDFC8E5EBAC3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5449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" name="Rectangles 16">
                  <a:extLst>
                    <a:ext uri="{FF2B5EF4-FFF2-40B4-BE49-F238E27FC236}">
                      <a16:creationId xmlns:a16="http://schemas.microsoft.com/office/drawing/2014/main" id="{05BCCC79-AF73-EDB2-2EC6-EE8D3CA6EB99}"/>
                    </a:ext>
                  </a:extLst>
                </p:cNvPr>
                <p:cNvSpPr/>
                <p:nvPr/>
              </p:nvSpPr>
              <p:spPr>
                <a:xfrm>
                  <a:off x="7611" y="4738"/>
                  <a:ext cx="797" cy="40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" name="Rectangles 18">
                  <a:extLst>
                    <a:ext uri="{FF2B5EF4-FFF2-40B4-BE49-F238E27FC236}">
                      <a16:creationId xmlns:a16="http://schemas.microsoft.com/office/drawing/2014/main" id="{7B52D0F0-7B26-FDF8-F7F6-F27452E91693}"/>
                    </a:ext>
                  </a:extLst>
                </p:cNvPr>
                <p:cNvSpPr/>
                <p:nvPr/>
              </p:nvSpPr>
              <p:spPr>
                <a:xfrm>
                  <a:off x="9495" y="4283"/>
                  <a:ext cx="797" cy="85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Rectangles 19">
                  <a:extLst>
                    <a:ext uri="{FF2B5EF4-FFF2-40B4-BE49-F238E27FC236}">
                      <a16:creationId xmlns:a16="http://schemas.microsoft.com/office/drawing/2014/main" id="{5028BA83-8579-0410-0D93-15D7A84541F7}"/>
                    </a:ext>
                  </a:extLst>
                </p:cNvPr>
                <p:cNvSpPr/>
                <p:nvPr/>
              </p:nvSpPr>
              <p:spPr>
                <a:xfrm>
                  <a:off x="6668" y="4160"/>
                  <a:ext cx="797" cy="98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Rectangles 20">
                  <a:extLst>
                    <a:ext uri="{FF2B5EF4-FFF2-40B4-BE49-F238E27FC236}">
                      <a16:creationId xmlns:a16="http://schemas.microsoft.com/office/drawing/2014/main" id="{BA61F0C6-2A14-FCD2-8B46-3E7F6EA480DD}"/>
                    </a:ext>
                  </a:extLst>
                </p:cNvPr>
                <p:cNvSpPr/>
                <p:nvPr/>
              </p:nvSpPr>
              <p:spPr>
                <a:xfrm>
                  <a:off x="8553" y="4483"/>
                  <a:ext cx="797" cy="65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Rectangles 21">
                  <a:extLst>
                    <a:ext uri="{FF2B5EF4-FFF2-40B4-BE49-F238E27FC236}">
                      <a16:creationId xmlns:a16="http://schemas.microsoft.com/office/drawing/2014/main" id="{3B8D0C1E-1EA7-4AA0-1446-C63387DF4F7B}"/>
                    </a:ext>
                  </a:extLst>
                </p:cNvPr>
                <p:cNvSpPr/>
                <p:nvPr/>
              </p:nvSpPr>
              <p:spPr>
                <a:xfrm>
                  <a:off x="10818" y="3874"/>
                  <a:ext cx="594" cy="531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DA6D1B2D-A23C-D736-E813-33B4BFCEB1FE}"/>
                  </a:ext>
                </a:extLst>
              </p:cNvPr>
              <p:cNvCxnSpPr/>
              <p:nvPr/>
            </p:nvCxnSpPr>
            <p:spPr>
              <a:xfrm flipV="1">
                <a:off x="7457" y="3374"/>
                <a:ext cx="337" cy="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85CCA94-D569-C045-A147-A7FFC42833D4}"/>
                  </a:ext>
                </a:extLst>
              </p:cNvPr>
              <p:cNvSpPr/>
              <p:nvPr/>
            </p:nvSpPr>
            <p:spPr>
              <a:xfrm>
                <a:off x="6630" y="4120"/>
                <a:ext cx="827" cy="88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CA9931FF-4B32-E69D-6490-F2EA23CE2BDC}"/>
                  </a:ext>
                </a:extLst>
              </p:cNvPr>
              <p:cNvCxnSpPr/>
              <p:nvPr/>
            </p:nvCxnSpPr>
            <p:spPr>
              <a:xfrm flipV="1">
                <a:off x="7457" y="4544"/>
                <a:ext cx="337" cy="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Rectangles 25">
                <a:extLst>
                  <a:ext uri="{FF2B5EF4-FFF2-40B4-BE49-F238E27FC236}">
                    <a16:creationId xmlns:a16="http://schemas.microsoft.com/office/drawing/2014/main" id="{640EEF66-93D7-78DC-5A2F-0E8D492F1212}"/>
                  </a:ext>
                </a:extLst>
              </p:cNvPr>
              <p:cNvSpPr/>
              <p:nvPr/>
            </p:nvSpPr>
            <p:spPr>
              <a:xfrm>
                <a:off x="6747" y="4454"/>
                <a:ext cx="594" cy="38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717FA25-D995-F40D-F552-5F8AEC2163F0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 flipV="1">
              <a:off x="6288" y="3449"/>
              <a:ext cx="342" cy="138"/>
            </a:xfrm>
            <a:prstGeom prst="line">
              <a:avLst/>
            </a:prstGeom>
            <a:ln w="38100">
              <a:solidFill>
                <a:srgbClr val="2020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2A8CEBD-0BAE-6079-99B1-F21D99E8BBDA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>
              <a:off x="6300" y="4365"/>
              <a:ext cx="330" cy="196"/>
            </a:xfrm>
            <a:prstGeom prst="line">
              <a:avLst/>
            </a:prstGeom>
            <a:ln w="38100">
              <a:solidFill>
                <a:srgbClr val="2020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F6C02AD-F5D2-144F-8B7B-92C8A83EC2A5}"/>
              </a:ext>
            </a:extLst>
          </p:cNvPr>
          <p:cNvGrpSpPr/>
          <p:nvPr/>
        </p:nvGrpSpPr>
        <p:grpSpPr>
          <a:xfrm>
            <a:off x="9412019" y="3050544"/>
            <a:ext cx="2779981" cy="895826"/>
            <a:chOff x="1559" y="3061"/>
            <a:chExt cx="6586" cy="172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E6DE05A-4596-10C0-41FF-A41A5DC4267F}"/>
                </a:ext>
              </a:extLst>
            </p:cNvPr>
            <p:cNvSpPr/>
            <p:nvPr/>
          </p:nvSpPr>
          <p:spPr>
            <a:xfrm>
              <a:off x="6297" y="3220"/>
              <a:ext cx="1569" cy="152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D6C1DC3-4098-E55B-8898-0AB57128A0BC}"/>
                </a:ext>
              </a:extLst>
            </p:cNvPr>
            <p:cNvGrpSpPr/>
            <p:nvPr/>
          </p:nvGrpSpPr>
          <p:grpSpPr>
            <a:xfrm>
              <a:off x="1559" y="3061"/>
              <a:ext cx="5787" cy="1729"/>
              <a:chOff x="5630" y="3735"/>
              <a:chExt cx="5787" cy="1729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AFF5AA26-277E-B648-E585-9475F1F63300}"/>
                  </a:ext>
                </a:extLst>
              </p:cNvPr>
              <p:cNvGrpSpPr/>
              <p:nvPr/>
            </p:nvGrpSpPr>
            <p:grpSpPr>
              <a:xfrm>
                <a:off x="5630" y="3735"/>
                <a:ext cx="4734" cy="1729"/>
                <a:chOff x="5630" y="3735"/>
                <a:chExt cx="4734" cy="1729"/>
              </a:xfrm>
            </p:grpSpPr>
            <p:sp>
              <p:nvSpPr>
                <p:cNvPr id="38" name="Rectangles 8">
                  <a:extLst>
                    <a:ext uri="{FF2B5EF4-FFF2-40B4-BE49-F238E27FC236}">
                      <a16:creationId xmlns:a16="http://schemas.microsoft.com/office/drawing/2014/main" id="{C19293B1-9DF0-340F-B999-1EE5E4F72BB3}"/>
                    </a:ext>
                  </a:extLst>
                </p:cNvPr>
                <p:cNvSpPr/>
                <p:nvPr/>
              </p:nvSpPr>
              <p:spPr>
                <a:xfrm>
                  <a:off x="6596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Rectangles 9">
                  <a:extLst>
                    <a:ext uri="{FF2B5EF4-FFF2-40B4-BE49-F238E27FC236}">
                      <a16:creationId xmlns:a16="http://schemas.microsoft.com/office/drawing/2014/main" id="{509B94C4-03CD-B8C6-17C6-A58DB94B4EE8}"/>
                    </a:ext>
                  </a:extLst>
                </p:cNvPr>
                <p:cNvSpPr/>
                <p:nvPr/>
              </p:nvSpPr>
              <p:spPr>
                <a:xfrm>
                  <a:off x="7538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Rectangles 10">
                  <a:extLst>
                    <a:ext uri="{FF2B5EF4-FFF2-40B4-BE49-F238E27FC236}">
                      <a16:creationId xmlns:a16="http://schemas.microsoft.com/office/drawing/2014/main" id="{D34EFCED-32C7-BD26-F6E8-ECFCB854E69A}"/>
                    </a:ext>
                  </a:extLst>
                </p:cNvPr>
                <p:cNvSpPr/>
                <p:nvPr/>
              </p:nvSpPr>
              <p:spPr>
                <a:xfrm>
                  <a:off x="8480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Rectangles 11">
                  <a:extLst>
                    <a:ext uri="{FF2B5EF4-FFF2-40B4-BE49-F238E27FC236}">
                      <a16:creationId xmlns:a16="http://schemas.microsoft.com/office/drawing/2014/main" id="{94D22F7B-F066-1329-471B-02D87015E21E}"/>
                    </a:ext>
                  </a:extLst>
                </p:cNvPr>
                <p:cNvSpPr/>
                <p:nvPr/>
              </p:nvSpPr>
              <p:spPr>
                <a:xfrm>
                  <a:off x="9422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08DC0779-CEF7-9FBF-3473-84E99274524E}"/>
                    </a:ext>
                  </a:extLst>
                </p:cNvPr>
                <p:cNvCxnSpPr/>
                <p:nvPr/>
              </p:nvCxnSpPr>
              <p:spPr>
                <a:xfrm>
                  <a:off x="5630" y="3735"/>
                  <a:ext cx="966" cy="1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1F32063C-E606-6490-D24D-D155398D236A}"/>
                    </a:ext>
                  </a:extLst>
                </p:cNvPr>
                <p:cNvCxnSpPr/>
                <p:nvPr/>
              </p:nvCxnSpPr>
              <p:spPr>
                <a:xfrm>
                  <a:off x="5630" y="5449"/>
                  <a:ext cx="966" cy="1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2" name="Rectangles 16">
                <a:extLst>
                  <a:ext uri="{FF2B5EF4-FFF2-40B4-BE49-F238E27FC236}">
                    <a16:creationId xmlns:a16="http://schemas.microsoft.com/office/drawing/2014/main" id="{89BCBBBA-9388-2AB7-A56B-A6B14DD9CD2B}"/>
                  </a:ext>
                </a:extLst>
              </p:cNvPr>
              <p:cNvSpPr/>
              <p:nvPr/>
            </p:nvSpPr>
            <p:spPr>
              <a:xfrm>
                <a:off x="7611" y="4738"/>
                <a:ext cx="797" cy="40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Rectangles 18">
                <a:extLst>
                  <a:ext uri="{FF2B5EF4-FFF2-40B4-BE49-F238E27FC236}">
                    <a16:creationId xmlns:a16="http://schemas.microsoft.com/office/drawing/2014/main" id="{C71DC8BC-24A1-CA96-350F-1D485751D7D6}"/>
                  </a:ext>
                </a:extLst>
              </p:cNvPr>
              <p:cNvSpPr/>
              <p:nvPr/>
            </p:nvSpPr>
            <p:spPr>
              <a:xfrm>
                <a:off x="9495" y="4283"/>
                <a:ext cx="797" cy="85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s 19">
                <a:extLst>
                  <a:ext uri="{FF2B5EF4-FFF2-40B4-BE49-F238E27FC236}">
                    <a16:creationId xmlns:a16="http://schemas.microsoft.com/office/drawing/2014/main" id="{7C8C0CA2-0BFC-16AD-DFFA-B892FF4D5EFA}"/>
                  </a:ext>
                </a:extLst>
              </p:cNvPr>
              <p:cNvSpPr/>
              <p:nvPr/>
            </p:nvSpPr>
            <p:spPr>
              <a:xfrm>
                <a:off x="6668" y="4160"/>
                <a:ext cx="797" cy="98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s 20">
                <a:extLst>
                  <a:ext uri="{FF2B5EF4-FFF2-40B4-BE49-F238E27FC236}">
                    <a16:creationId xmlns:a16="http://schemas.microsoft.com/office/drawing/2014/main" id="{FB3FA97C-D00C-2E0D-250C-A69669069C95}"/>
                  </a:ext>
                </a:extLst>
              </p:cNvPr>
              <p:cNvSpPr/>
              <p:nvPr/>
            </p:nvSpPr>
            <p:spPr>
              <a:xfrm>
                <a:off x="8553" y="4483"/>
                <a:ext cx="797" cy="65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s 21">
                <a:extLst>
                  <a:ext uri="{FF2B5EF4-FFF2-40B4-BE49-F238E27FC236}">
                    <a16:creationId xmlns:a16="http://schemas.microsoft.com/office/drawing/2014/main" id="{DEE1AA0C-F57D-ACAF-3477-AE777AA55C33}"/>
                  </a:ext>
                </a:extLst>
              </p:cNvPr>
              <p:cNvSpPr/>
              <p:nvPr/>
            </p:nvSpPr>
            <p:spPr>
              <a:xfrm>
                <a:off x="10823" y="4446"/>
                <a:ext cx="594" cy="53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0DD3C526-8825-5609-B87A-39D0AFC2C8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08" y="3957"/>
              <a:ext cx="337" cy="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9D1B432-6299-F48E-2B0B-614C8730E764}"/>
              </a:ext>
            </a:extLst>
          </p:cNvPr>
          <p:cNvSpPr/>
          <p:nvPr/>
        </p:nvSpPr>
        <p:spPr>
          <a:xfrm>
            <a:off x="2917196" y="5512241"/>
            <a:ext cx="6357608" cy="98063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Can we stochastically outperform SRPT-k?</a:t>
            </a:r>
          </a:p>
        </p:txBody>
      </p:sp>
      <p:sp>
        <p:nvSpPr>
          <p:cNvPr id="45" name="Footer Placeholder 44">
            <a:extLst>
              <a:ext uri="{FF2B5EF4-FFF2-40B4-BE49-F238E27FC236}">
                <a16:creationId xmlns:a16="http://schemas.microsoft.com/office/drawing/2014/main" id="{9873A11F-627C-AF66-A155-11BF9575C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DD1DF5FE-3E10-C89F-26E7-B91414091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406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ED5CB-65E6-6AC4-A655-6E5DD9290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SRPT-k’s weak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BB23E-2D9E-F5CC-392E-293A07121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SRPT-k’s problem: last job is inefficient – server(s) idle.</a:t>
            </a:r>
          </a:p>
          <a:p>
            <a:pPr marL="0" indent="0">
              <a:buNone/>
            </a:pPr>
            <a:r>
              <a:rPr lang="en-US" dirty="0"/>
              <a:t>Idea of SRPT-Except-k+1 (SEK): If we see this coming, diverge.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6A3D5DB-9E66-54FA-E373-8840D54961F3}"/>
              </a:ext>
            </a:extLst>
          </p:cNvPr>
          <p:cNvGrpSpPr/>
          <p:nvPr/>
        </p:nvGrpSpPr>
        <p:grpSpPr>
          <a:xfrm>
            <a:off x="838200" y="2855091"/>
            <a:ext cx="4594860" cy="1723902"/>
            <a:chOff x="3630866" y="1755263"/>
            <a:chExt cx="4594860" cy="172390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F41CFB2-52F6-73F7-46A3-9A8414450CBC}"/>
                </a:ext>
              </a:extLst>
            </p:cNvPr>
            <p:cNvGrpSpPr/>
            <p:nvPr/>
          </p:nvGrpSpPr>
          <p:grpSpPr>
            <a:xfrm>
              <a:off x="3630866" y="2154555"/>
              <a:ext cx="4594860" cy="1324610"/>
              <a:chOff x="3630866" y="2154555"/>
              <a:chExt cx="4594860" cy="132461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16359CE-448A-2743-F114-622E1C49955D}"/>
                  </a:ext>
                </a:extLst>
              </p:cNvPr>
              <p:cNvGrpSpPr/>
              <p:nvPr/>
            </p:nvGrpSpPr>
            <p:grpSpPr>
              <a:xfrm>
                <a:off x="3630866" y="2154555"/>
                <a:ext cx="4594860" cy="1324610"/>
                <a:chOff x="541" y="3013"/>
                <a:chExt cx="7236" cy="2086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F517C8B8-C192-5A1C-4641-8BCB50E9F0BB}"/>
                    </a:ext>
                  </a:extLst>
                </p:cNvPr>
                <p:cNvGrpSpPr/>
                <p:nvPr/>
              </p:nvGrpSpPr>
              <p:grpSpPr>
                <a:xfrm>
                  <a:off x="541" y="3013"/>
                  <a:ext cx="7236" cy="2086"/>
                  <a:chOff x="541" y="3013"/>
                  <a:chExt cx="7236" cy="2086"/>
                </a:xfrm>
              </p:grpSpPr>
              <p:grpSp>
                <p:nvGrpSpPr>
                  <p:cNvPr id="12" name="Group 11">
                    <a:extLst>
                      <a:ext uri="{FF2B5EF4-FFF2-40B4-BE49-F238E27FC236}">
                        <a16:creationId xmlns:a16="http://schemas.microsoft.com/office/drawing/2014/main" id="{37E973CF-DBDB-61CC-6193-57E3BFE92014}"/>
                      </a:ext>
                    </a:extLst>
                  </p:cNvPr>
                  <p:cNvGrpSpPr/>
                  <p:nvPr/>
                </p:nvGrpSpPr>
                <p:grpSpPr>
                  <a:xfrm>
                    <a:off x="541" y="3013"/>
                    <a:ext cx="7236" cy="1763"/>
                    <a:chOff x="4612" y="3687"/>
                    <a:chExt cx="7236" cy="1763"/>
                  </a:xfrm>
                </p:grpSpPr>
                <p:grpSp>
                  <p:nvGrpSpPr>
                    <p:cNvPr id="16" name="Group 15">
                      <a:extLst>
                        <a:ext uri="{FF2B5EF4-FFF2-40B4-BE49-F238E27FC236}">
                          <a16:creationId xmlns:a16="http://schemas.microsoft.com/office/drawing/2014/main" id="{22ABAC7D-EC47-D066-712D-2F6FE67644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30" y="3687"/>
                      <a:ext cx="5881" cy="1763"/>
                      <a:chOff x="5630" y="3687"/>
                      <a:chExt cx="5881" cy="1763"/>
                    </a:xfrm>
                  </p:grpSpPr>
                  <p:sp>
                    <p:nvSpPr>
                      <p:cNvPr id="20" name="Rectangles 8">
                        <a:extLst>
                          <a:ext uri="{FF2B5EF4-FFF2-40B4-BE49-F238E27FC236}">
                            <a16:creationId xmlns:a16="http://schemas.microsoft.com/office/drawing/2014/main" id="{C1D9F9DF-2B06-7D1D-5136-2C8411246A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96" y="3735"/>
                        <a:ext cx="942" cy="171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rgbClr val="20202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1" name="Rectangles 9">
                        <a:extLst>
                          <a:ext uri="{FF2B5EF4-FFF2-40B4-BE49-F238E27FC236}">
                            <a16:creationId xmlns:a16="http://schemas.microsoft.com/office/drawing/2014/main" id="{2DF38E5A-67C2-818B-0173-E0173C623A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38" y="3735"/>
                        <a:ext cx="942" cy="171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rgbClr val="20202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2" name="Rectangles 10">
                        <a:extLst>
                          <a:ext uri="{FF2B5EF4-FFF2-40B4-BE49-F238E27FC236}">
                            <a16:creationId xmlns:a16="http://schemas.microsoft.com/office/drawing/2014/main" id="{CBE8144C-A789-BEE3-7E58-9E18351068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80" y="3735"/>
                        <a:ext cx="942" cy="171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rgbClr val="20202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3" name="Rectangles 11">
                        <a:extLst>
                          <a:ext uri="{FF2B5EF4-FFF2-40B4-BE49-F238E27FC236}">
                            <a16:creationId xmlns:a16="http://schemas.microsoft.com/office/drawing/2014/main" id="{019A38E1-0D5D-FA0E-56BD-F459E1EDFC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22" y="3735"/>
                        <a:ext cx="942" cy="171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rgbClr val="20202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4" name="Oval 23">
                        <a:extLst>
                          <a:ext uri="{FF2B5EF4-FFF2-40B4-BE49-F238E27FC236}">
                            <a16:creationId xmlns:a16="http://schemas.microsoft.com/office/drawing/2014/main" id="{FAEC38F9-3D9B-C5A5-4585-8F13FADA9F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84" y="3687"/>
                        <a:ext cx="827" cy="881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25" name="Straight Connector 24">
                        <a:extLst>
                          <a:ext uri="{FF2B5EF4-FFF2-40B4-BE49-F238E27FC236}">
                            <a16:creationId xmlns:a16="http://schemas.microsoft.com/office/drawing/2014/main" id="{2607A20A-4BE2-1374-0561-FA7DB5B81E15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5630" y="3721"/>
                        <a:ext cx="966" cy="15"/>
                      </a:xfrm>
                      <a:prstGeom prst="line">
                        <a:avLst/>
                      </a:prstGeom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6" name="Straight Connector 25">
                        <a:extLst>
                          <a:ext uri="{FF2B5EF4-FFF2-40B4-BE49-F238E27FC236}">
                            <a16:creationId xmlns:a16="http://schemas.microsoft.com/office/drawing/2014/main" id="{8D876FB5-1B33-5547-637E-8C27C2B1C1C6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5630" y="5435"/>
                        <a:ext cx="966" cy="15"/>
                      </a:xfrm>
                      <a:prstGeom prst="line">
                        <a:avLst/>
                      </a:prstGeom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7" name="Rectangles 21">
                      <a:extLst>
                        <a:ext uri="{FF2B5EF4-FFF2-40B4-BE49-F238E27FC236}">
                          <a16:creationId xmlns:a16="http://schemas.microsoft.com/office/drawing/2014/main" id="{3689CA89-DC3A-57E5-E21E-330899A89C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94" y="4160"/>
                      <a:ext cx="793" cy="976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p:txBody>
                </p:sp>
                <p:cxnSp>
                  <p:nvCxnSpPr>
                    <p:cNvPr id="18" name="Straight Arrow Connector 17">
                      <a:extLst>
                        <a:ext uri="{FF2B5EF4-FFF2-40B4-BE49-F238E27FC236}">
                          <a16:creationId xmlns:a16="http://schemas.microsoft.com/office/drawing/2014/main" id="{DA655353-3E89-A2C4-F283-BCA5BE8CFA0E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11511" y="4124"/>
                      <a:ext cx="337" cy="7"/>
                    </a:xfrm>
                    <a:prstGeom prst="straightConnector1">
                      <a:avLst/>
                    </a:prstGeom>
                    <a:ln w="25400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" name="Straight Arrow Connector 18">
                      <a:extLst>
                        <a:ext uri="{FF2B5EF4-FFF2-40B4-BE49-F238E27FC236}">
                          <a16:creationId xmlns:a16="http://schemas.microsoft.com/office/drawing/2014/main" id="{997609E5-AF8E-F740-1DCC-1E2E2CC1EA48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612" y="4647"/>
                      <a:ext cx="1018" cy="6"/>
                    </a:xfrm>
                    <a:prstGeom prst="straightConnector1">
                      <a:avLst/>
                    </a:prstGeom>
                    <a:ln w="63500">
                      <a:solidFill>
                        <a:schemeClr val="tx1"/>
                      </a:solidFill>
                      <a:tailEnd type="arrow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3" name="Oval 12">
                    <a:extLst>
                      <a:ext uri="{FF2B5EF4-FFF2-40B4-BE49-F238E27FC236}">
                        <a16:creationId xmlns:a16="http://schemas.microsoft.com/office/drawing/2014/main" id="{A5EB37BD-6CEE-8B70-6BF0-6F4383996425}"/>
                      </a:ext>
                    </a:extLst>
                  </p:cNvPr>
                  <p:cNvSpPr/>
                  <p:nvPr/>
                </p:nvSpPr>
                <p:spPr>
                  <a:xfrm>
                    <a:off x="6613" y="4218"/>
                    <a:ext cx="827" cy="881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4" name="Straight Arrow Connector 13">
                    <a:extLst>
                      <a:ext uri="{FF2B5EF4-FFF2-40B4-BE49-F238E27FC236}">
                        <a16:creationId xmlns:a16="http://schemas.microsoft.com/office/drawing/2014/main" id="{FE392270-866F-5316-4442-033AE79CE95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440" y="4655"/>
                    <a:ext cx="337" cy="7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" name="Rectangles 17">
                    <a:extLst>
                      <a:ext uri="{FF2B5EF4-FFF2-40B4-BE49-F238E27FC236}">
                        <a16:creationId xmlns:a16="http://schemas.microsoft.com/office/drawing/2014/main" id="{B40394D0-D557-8D6D-AD3A-7CB13CB9E2B3}"/>
                      </a:ext>
                    </a:extLst>
                  </p:cNvPr>
                  <p:cNvSpPr/>
                  <p:nvPr/>
                </p:nvSpPr>
                <p:spPr>
                  <a:xfrm>
                    <a:off x="6716" y="3312"/>
                    <a:ext cx="665" cy="314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3</a:t>
                    </a:r>
                  </a:p>
                </p:txBody>
              </p:sp>
            </p:grp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89784433-8A2B-C761-B906-C57EB3A556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08" y="3443"/>
                  <a:ext cx="259" cy="151"/>
                </a:xfrm>
                <a:prstGeom prst="line">
                  <a:avLst/>
                </a:prstGeom>
                <a:ln w="38100">
                  <a:solidFill>
                    <a:srgbClr val="20202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9E2CC275-AF01-4E49-C8FF-DB308777FA59}"/>
                    </a:ext>
                  </a:extLst>
                </p:cNvPr>
                <p:cNvCxnSpPr>
                  <a:cxnSpLocks/>
                  <a:endCxn id="13" idx="2"/>
                </p:cNvCxnSpPr>
                <p:nvPr/>
              </p:nvCxnSpPr>
              <p:spPr>
                <a:xfrm>
                  <a:off x="6308" y="4452"/>
                  <a:ext cx="305" cy="207"/>
                </a:xfrm>
                <a:prstGeom prst="line">
                  <a:avLst/>
                </a:prstGeom>
                <a:ln w="38100">
                  <a:solidFill>
                    <a:srgbClr val="20202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Rectangles 16">
                <a:extLst>
                  <a:ext uri="{FF2B5EF4-FFF2-40B4-BE49-F238E27FC236}">
                    <a16:creationId xmlns:a16="http://schemas.microsoft.com/office/drawing/2014/main" id="{F67E0E85-8C52-B80A-712E-483C2D170476}"/>
                  </a:ext>
                </a:extLst>
              </p:cNvPr>
              <p:cNvSpPr/>
              <p:nvPr/>
            </p:nvSpPr>
            <p:spPr>
              <a:xfrm>
                <a:off x="7543418" y="3074670"/>
                <a:ext cx="411480" cy="25364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2D8F10E-986C-B008-3959-62B742925AEA}"/>
                </a:ext>
              </a:extLst>
            </p:cNvPr>
            <p:cNvSpPr txBox="1"/>
            <p:nvPr/>
          </p:nvSpPr>
          <p:spPr>
            <a:xfrm>
              <a:off x="6165469" y="1755263"/>
              <a:ext cx="980122" cy="43088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SRPT-k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D3ED5EB-DA5B-154B-7E21-96433DA3CCF7}"/>
              </a:ext>
            </a:extLst>
          </p:cNvPr>
          <p:cNvGrpSpPr/>
          <p:nvPr/>
        </p:nvGrpSpPr>
        <p:grpSpPr>
          <a:xfrm>
            <a:off x="6340140" y="3022322"/>
            <a:ext cx="3892584" cy="1688450"/>
            <a:chOff x="3708367" y="4632821"/>
            <a:chExt cx="3892584" cy="168845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4B0B3F5-0669-F2AB-3F71-04D43001D6B3}"/>
                </a:ext>
              </a:extLst>
            </p:cNvPr>
            <p:cNvGrpSpPr/>
            <p:nvPr/>
          </p:nvGrpSpPr>
          <p:grpSpPr>
            <a:xfrm>
              <a:off x="3708367" y="4632821"/>
              <a:ext cx="3892584" cy="1688450"/>
              <a:chOff x="1668859" y="3965823"/>
              <a:chExt cx="1996153" cy="1688450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6DCCB7F5-9994-BB1D-FDD5-37D28C6C46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34952" y="3965823"/>
                <a:ext cx="10129" cy="11709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s 17">
                <a:extLst>
                  <a:ext uri="{FF2B5EF4-FFF2-40B4-BE49-F238E27FC236}">
                    <a16:creationId xmlns:a16="http://schemas.microsoft.com/office/drawing/2014/main" id="{EEFBFC80-CAED-E4FB-5BA3-1A236B8201E7}"/>
                  </a:ext>
                </a:extLst>
              </p:cNvPr>
              <p:cNvSpPr/>
              <p:nvPr/>
            </p:nvSpPr>
            <p:spPr>
              <a:xfrm>
                <a:off x="1763310" y="4272500"/>
                <a:ext cx="271531" cy="35976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31" name="Rectangles 16">
                <a:extLst>
                  <a:ext uri="{FF2B5EF4-FFF2-40B4-BE49-F238E27FC236}">
                    <a16:creationId xmlns:a16="http://schemas.microsoft.com/office/drawing/2014/main" id="{B7A83F5E-0D03-4A57-72DD-FAC28A7B7A0A}"/>
                  </a:ext>
                </a:extLst>
              </p:cNvPr>
              <p:cNvSpPr/>
              <p:nvPr/>
            </p:nvSpPr>
            <p:spPr>
              <a:xfrm>
                <a:off x="1754914" y="4733970"/>
                <a:ext cx="448490" cy="33378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32" name="Rectangles 21">
                <a:extLst>
                  <a:ext uri="{FF2B5EF4-FFF2-40B4-BE49-F238E27FC236}">
                    <a16:creationId xmlns:a16="http://schemas.microsoft.com/office/drawing/2014/main" id="{4BAE9967-A53E-FC9D-E96D-1C604D67F8BD}"/>
                  </a:ext>
                </a:extLst>
              </p:cNvPr>
              <p:cNvSpPr/>
              <p:nvPr/>
            </p:nvSpPr>
            <p:spPr>
              <a:xfrm>
                <a:off x="2067126" y="4264978"/>
                <a:ext cx="1014730" cy="35976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10</a:t>
                </a:r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F1F93BA-921B-439C-409D-C8E3EBD1DFD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34951" y="5136776"/>
                <a:ext cx="1930061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20CE70D-D798-3583-6205-316607C3D9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24583" y="5067756"/>
                <a:ext cx="0" cy="19169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8A77A2E-5784-54EA-358D-619BAC4E4EBF}"/>
                  </a:ext>
                </a:extLst>
              </p:cNvPr>
              <p:cNvSpPr txBox="1"/>
              <p:nvPr/>
            </p:nvSpPr>
            <p:spPr>
              <a:xfrm>
                <a:off x="1668859" y="5284941"/>
                <a:ext cx="1840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0        3     4                             13</a:t>
                </a:r>
              </a:p>
            </p:txBody>
          </p:sp>
        </p:grp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6369783-869A-A274-51D2-4F8E3869DD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50752" y="5728278"/>
              <a:ext cx="0" cy="1916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9C249D2-FBEF-DC71-DC66-18765226E0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1548" y="5707927"/>
              <a:ext cx="0" cy="1916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76EE105-886B-07DF-25D0-D50D383D4585}"/>
                  </a:ext>
                </a:extLst>
              </p:cNvPr>
              <p:cNvSpPr txBox="1"/>
              <p:nvPr/>
            </p:nvSpPr>
            <p:spPr>
              <a:xfrm>
                <a:off x="10113714" y="3404882"/>
                <a:ext cx="20414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Total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: 20</a:t>
                </a:r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76EE105-886B-07DF-25D0-D50D383D4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3714" y="3404882"/>
                <a:ext cx="2041456" cy="461665"/>
              </a:xfrm>
              <a:prstGeom prst="rect">
                <a:avLst/>
              </a:prstGeom>
              <a:blipFill>
                <a:blip r:embed="rId2"/>
                <a:stretch>
                  <a:fillRect l="-4478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EE4EE0B0-813E-2BEE-5E5D-47D815B21752}"/>
              </a:ext>
            </a:extLst>
          </p:cNvPr>
          <p:cNvGrpSpPr/>
          <p:nvPr/>
        </p:nvGrpSpPr>
        <p:grpSpPr>
          <a:xfrm>
            <a:off x="838200" y="4587349"/>
            <a:ext cx="4594860" cy="1723902"/>
            <a:chOff x="6156865" y="3167097"/>
            <a:chExt cx="4594860" cy="1723902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C3F938E0-4EAB-3160-795D-9CC61B1CC510}"/>
                </a:ext>
              </a:extLst>
            </p:cNvPr>
            <p:cNvGrpSpPr/>
            <p:nvPr/>
          </p:nvGrpSpPr>
          <p:grpSpPr>
            <a:xfrm>
              <a:off x="6156865" y="3167097"/>
              <a:ext cx="4594860" cy="1723902"/>
              <a:chOff x="3630866" y="1755263"/>
              <a:chExt cx="4594860" cy="1723902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7F5FBD55-2509-FABF-5122-387B1F209A4A}"/>
                  </a:ext>
                </a:extLst>
              </p:cNvPr>
              <p:cNvGrpSpPr/>
              <p:nvPr/>
            </p:nvGrpSpPr>
            <p:grpSpPr>
              <a:xfrm>
                <a:off x="3630866" y="2154555"/>
                <a:ext cx="4594860" cy="1324610"/>
                <a:chOff x="3630866" y="2154555"/>
                <a:chExt cx="4594860" cy="1324610"/>
              </a:xfrm>
            </p:grpSpPr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35F1F739-D5A8-30F7-5CD6-82A2975B021F}"/>
                    </a:ext>
                  </a:extLst>
                </p:cNvPr>
                <p:cNvGrpSpPr/>
                <p:nvPr/>
              </p:nvGrpSpPr>
              <p:grpSpPr>
                <a:xfrm>
                  <a:off x="3630866" y="2154555"/>
                  <a:ext cx="4594860" cy="1324610"/>
                  <a:chOff x="541" y="3013"/>
                  <a:chExt cx="7236" cy="2086"/>
                </a:xfrm>
              </p:grpSpPr>
              <p:grpSp>
                <p:nvGrpSpPr>
                  <p:cNvPr id="62" name="Group 61">
                    <a:extLst>
                      <a:ext uri="{FF2B5EF4-FFF2-40B4-BE49-F238E27FC236}">
                        <a16:creationId xmlns:a16="http://schemas.microsoft.com/office/drawing/2014/main" id="{E032270A-CE2A-3796-A26B-7313A68D36AD}"/>
                      </a:ext>
                    </a:extLst>
                  </p:cNvPr>
                  <p:cNvGrpSpPr/>
                  <p:nvPr/>
                </p:nvGrpSpPr>
                <p:grpSpPr>
                  <a:xfrm>
                    <a:off x="541" y="3013"/>
                    <a:ext cx="7236" cy="2086"/>
                    <a:chOff x="541" y="3013"/>
                    <a:chExt cx="7236" cy="2086"/>
                  </a:xfrm>
                </p:grpSpPr>
                <p:grpSp>
                  <p:nvGrpSpPr>
                    <p:cNvPr id="65" name="Group 64">
                      <a:extLst>
                        <a:ext uri="{FF2B5EF4-FFF2-40B4-BE49-F238E27FC236}">
                          <a16:creationId xmlns:a16="http://schemas.microsoft.com/office/drawing/2014/main" id="{9DFABD01-048E-F18B-5C32-6235BCCE70B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1" y="3013"/>
                      <a:ext cx="7236" cy="1763"/>
                      <a:chOff x="4612" y="3687"/>
                      <a:chExt cx="7236" cy="1763"/>
                    </a:xfrm>
                  </p:grpSpPr>
                  <p:grpSp>
                    <p:nvGrpSpPr>
                      <p:cNvPr id="69" name="Group 68">
                        <a:extLst>
                          <a:ext uri="{FF2B5EF4-FFF2-40B4-BE49-F238E27FC236}">
                            <a16:creationId xmlns:a16="http://schemas.microsoft.com/office/drawing/2014/main" id="{1DE47B32-A049-16C2-6336-FF28DB0198C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30" y="3687"/>
                        <a:ext cx="5881" cy="1763"/>
                        <a:chOff x="5630" y="3687"/>
                        <a:chExt cx="5881" cy="1763"/>
                      </a:xfrm>
                    </p:grpSpPr>
                    <p:sp>
                      <p:nvSpPr>
                        <p:cNvPr id="72" name="Rectangles 8">
                          <a:extLst>
                            <a:ext uri="{FF2B5EF4-FFF2-40B4-BE49-F238E27FC236}">
                              <a16:creationId xmlns:a16="http://schemas.microsoft.com/office/drawing/2014/main" id="{2F6C7115-45F0-D86F-6134-207C1EE404D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596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3" name="Rectangles 9">
                          <a:extLst>
                            <a:ext uri="{FF2B5EF4-FFF2-40B4-BE49-F238E27FC236}">
                              <a16:creationId xmlns:a16="http://schemas.microsoft.com/office/drawing/2014/main" id="{51D44BDD-8627-4110-540D-57E82414AB3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538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4" name="Rectangles 10">
                          <a:extLst>
                            <a:ext uri="{FF2B5EF4-FFF2-40B4-BE49-F238E27FC236}">
                              <a16:creationId xmlns:a16="http://schemas.microsoft.com/office/drawing/2014/main" id="{3898C4AE-C30D-A5C0-81E0-8A9B35D1E06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80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5" name="Rectangles 11">
                          <a:extLst>
                            <a:ext uri="{FF2B5EF4-FFF2-40B4-BE49-F238E27FC236}">
                              <a16:creationId xmlns:a16="http://schemas.microsoft.com/office/drawing/2014/main" id="{1C16E14C-D060-F00A-E47F-86DA218670D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22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>
                          <a:extLst>
                            <a:ext uri="{FF2B5EF4-FFF2-40B4-BE49-F238E27FC236}">
                              <a16:creationId xmlns:a16="http://schemas.microsoft.com/office/drawing/2014/main" id="{9FDC1122-BA28-5A04-9C5A-922354905BD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684" y="3687"/>
                          <a:ext cx="827" cy="881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cxnSp>
                      <p:nvCxnSpPr>
                        <p:cNvPr id="77" name="Straight Connector 76">
                          <a:extLst>
                            <a:ext uri="{FF2B5EF4-FFF2-40B4-BE49-F238E27FC236}">
                              <a16:creationId xmlns:a16="http://schemas.microsoft.com/office/drawing/2014/main" id="{699ED120-9EBB-309D-58AC-5874982353AF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5630" y="3721"/>
                          <a:ext cx="966" cy="15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78" name="Straight Connector 77">
                          <a:extLst>
                            <a:ext uri="{FF2B5EF4-FFF2-40B4-BE49-F238E27FC236}">
                              <a16:creationId xmlns:a16="http://schemas.microsoft.com/office/drawing/2014/main" id="{46BBC26C-786A-3DAF-828F-1F73A1DA55A3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5630" y="5435"/>
                          <a:ext cx="966" cy="15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70" name="Straight Arrow Connector 69">
                        <a:extLst>
                          <a:ext uri="{FF2B5EF4-FFF2-40B4-BE49-F238E27FC236}">
                            <a16:creationId xmlns:a16="http://schemas.microsoft.com/office/drawing/2014/main" id="{85F3C148-0F41-B507-9403-9AC20F2BDA80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11511" y="4124"/>
                        <a:ext cx="337" cy="7"/>
                      </a:xfrm>
                      <a:prstGeom prst="straightConnector1">
                        <a:avLst/>
                      </a:prstGeom>
                      <a:ln w="25400">
                        <a:solidFill>
                          <a:schemeClr val="tx1"/>
                        </a:solidFill>
                        <a:tailEnd type="arrow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" name="Straight Arrow Connector 70">
                        <a:extLst>
                          <a:ext uri="{FF2B5EF4-FFF2-40B4-BE49-F238E27FC236}">
                            <a16:creationId xmlns:a16="http://schemas.microsoft.com/office/drawing/2014/main" id="{579AEEC2-45D3-7B8A-7A01-8EEA31A15A9B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4612" y="4647"/>
                        <a:ext cx="1018" cy="6"/>
                      </a:xfrm>
                      <a:prstGeom prst="straightConnector1">
                        <a:avLst/>
                      </a:prstGeom>
                      <a:ln w="63500">
                        <a:solidFill>
                          <a:schemeClr val="tx1"/>
                        </a:solidFill>
                        <a:tailEnd type="arrow" w="lg" len="lg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66" name="Oval 65">
                      <a:extLst>
                        <a:ext uri="{FF2B5EF4-FFF2-40B4-BE49-F238E27FC236}">
                          <a16:creationId xmlns:a16="http://schemas.microsoft.com/office/drawing/2014/main" id="{85C8BD7D-C3DF-DB70-D4AA-68131F5D4F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13" y="4218"/>
                      <a:ext cx="827" cy="88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67" name="Straight Arrow Connector 66">
                      <a:extLst>
                        <a:ext uri="{FF2B5EF4-FFF2-40B4-BE49-F238E27FC236}">
                          <a16:creationId xmlns:a16="http://schemas.microsoft.com/office/drawing/2014/main" id="{B8494743-24F2-FBDD-5519-47EF9227D8D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440" y="4655"/>
                      <a:ext cx="337" cy="7"/>
                    </a:xfrm>
                    <a:prstGeom prst="straightConnector1">
                      <a:avLst/>
                    </a:prstGeom>
                    <a:ln w="25400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8" name="Rectangles 17">
                      <a:extLst>
                        <a:ext uri="{FF2B5EF4-FFF2-40B4-BE49-F238E27FC236}">
                          <a16:creationId xmlns:a16="http://schemas.microsoft.com/office/drawing/2014/main" id="{BDF9B306-ADB1-DDBF-67FA-2CC6E9BD4D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16" y="3312"/>
                      <a:ext cx="665" cy="314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p:txBody>
                </p:sp>
              </p:grp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94F03D47-0BC1-C1D5-7DEE-DDA206DC85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308" y="3443"/>
                    <a:ext cx="259" cy="151"/>
                  </a:xfrm>
                  <a:prstGeom prst="line">
                    <a:avLst/>
                  </a:prstGeom>
                  <a:ln w="38100">
                    <a:solidFill>
                      <a:srgbClr val="20202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Straight Connector 63">
                    <a:extLst>
                      <a:ext uri="{FF2B5EF4-FFF2-40B4-BE49-F238E27FC236}">
                        <a16:creationId xmlns:a16="http://schemas.microsoft.com/office/drawing/2014/main" id="{D1113D2F-4A07-BC68-F937-802836EA25BF}"/>
                      </a:ext>
                    </a:extLst>
                  </p:cNvPr>
                  <p:cNvCxnSpPr>
                    <a:cxnSpLocks/>
                    <a:endCxn id="66" idx="2"/>
                  </p:cNvCxnSpPr>
                  <p:nvPr/>
                </p:nvCxnSpPr>
                <p:spPr>
                  <a:xfrm>
                    <a:off x="6308" y="4452"/>
                    <a:ext cx="305" cy="207"/>
                  </a:xfrm>
                  <a:prstGeom prst="line">
                    <a:avLst/>
                  </a:prstGeom>
                  <a:ln w="38100">
                    <a:solidFill>
                      <a:srgbClr val="20202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1" name="Rectangles 16">
                  <a:extLst>
                    <a:ext uri="{FF2B5EF4-FFF2-40B4-BE49-F238E27FC236}">
                      <a16:creationId xmlns:a16="http://schemas.microsoft.com/office/drawing/2014/main" id="{221E100F-0A78-E01E-A63D-768613A8587A}"/>
                    </a:ext>
                  </a:extLst>
                </p:cNvPr>
                <p:cNvSpPr/>
                <p:nvPr/>
              </p:nvSpPr>
              <p:spPr>
                <a:xfrm>
                  <a:off x="6778561" y="2783649"/>
                  <a:ext cx="411480" cy="24911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4</a:t>
                  </a:r>
                </a:p>
              </p:txBody>
            </p:sp>
          </p:grp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244EA6C-2A26-53A0-4E45-D109A22496E2}"/>
                  </a:ext>
                </a:extLst>
              </p:cNvPr>
              <p:cNvSpPr txBox="1"/>
              <p:nvPr/>
            </p:nvSpPr>
            <p:spPr>
              <a:xfrm>
                <a:off x="6165468" y="1755263"/>
                <a:ext cx="913447" cy="43088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SEK</a:t>
                </a:r>
              </a:p>
            </p:txBody>
          </p:sp>
        </p:grpSp>
        <p:sp>
          <p:nvSpPr>
            <p:cNvPr id="57" name="Rectangles 21">
              <a:extLst>
                <a:ext uri="{FF2B5EF4-FFF2-40B4-BE49-F238E27FC236}">
                  <a16:creationId xmlns:a16="http://schemas.microsoft.com/office/drawing/2014/main" id="{C7674AE9-C50F-6997-DDA3-AD0F6FA99135}"/>
                </a:ext>
              </a:extLst>
            </p:cNvPr>
            <p:cNvSpPr/>
            <p:nvPr/>
          </p:nvSpPr>
          <p:spPr>
            <a:xfrm>
              <a:off x="10019570" y="4134714"/>
              <a:ext cx="503555" cy="6197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92567C4-3778-F659-9F91-805375B15535}"/>
              </a:ext>
            </a:extLst>
          </p:cNvPr>
          <p:cNvGrpSpPr/>
          <p:nvPr/>
        </p:nvGrpSpPr>
        <p:grpSpPr>
          <a:xfrm>
            <a:off x="6332838" y="4896066"/>
            <a:ext cx="3892584" cy="1688450"/>
            <a:chOff x="3708367" y="4632821"/>
            <a:chExt cx="3892584" cy="1688450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6BB6A98B-D905-11B4-753A-865E0746E22F}"/>
                </a:ext>
              </a:extLst>
            </p:cNvPr>
            <p:cNvGrpSpPr/>
            <p:nvPr/>
          </p:nvGrpSpPr>
          <p:grpSpPr>
            <a:xfrm>
              <a:off x="3708367" y="4632821"/>
              <a:ext cx="3892584" cy="1688450"/>
              <a:chOff x="1668859" y="3965823"/>
              <a:chExt cx="1996153" cy="1688450"/>
            </a:xfrm>
          </p:grpSpPr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41362A82-5A3A-1672-5408-2679175A93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34952" y="3965823"/>
                <a:ext cx="10129" cy="11709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Rectangles 17">
                <a:extLst>
                  <a:ext uri="{FF2B5EF4-FFF2-40B4-BE49-F238E27FC236}">
                    <a16:creationId xmlns:a16="http://schemas.microsoft.com/office/drawing/2014/main" id="{1055685F-A705-5DB5-E95F-08EAA06783C7}"/>
                  </a:ext>
                </a:extLst>
              </p:cNvPr>
              <p:cNvSpPr/>
              <p:nvPr/>
            </p:nvSpPr>
            <p:spPr>
              <a:xfrm>
                <a:off x="1763310" y="4272500"/>
                <a:ext cx="271531" cy="35976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85" name="Rectangles 16">
                <a:extLst>
                  <a:ext uri="{FF2B5EF4-FFF2-40B4-BE49-F238E27FC236}">
                    <a16:creationId xmlns:a16="http://schemas.microsoft.com/office/drawing/2014/main" id="{960C9D5A-F574-5245-0033-ED23FBD515E7}"/>
                  </a:ext>
                </a:extLst>
              </p:cNvPr>
              <p:cNvSpPr/>
              <p:nvPr/>
            </p:nvSpPr>
            <p:spPr>
              <a:xfrm>
                <a:off x="2087606" y="4272500"/>
                <a:ext cx="448490" cy="35033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86" name="Rectangles 21">
                <a:extLst>
                  <a:ext uri="{FF2B5EF4-FFF2-40B4-BE49-F238E27FC236}">
                    <a16:creationId xmlns:a16="http://schemas.microsoft.com/office/drawing/2014/main" id="{C55D9B54-A984-85B2-8E26-2E1877F676E8}"/>
                  </a:ext>
                </a:extLst>
              </p:cNvPr>
              <p:cNvSpPr/>
              <p:nvPr/>
            </p:nvSpPr>
            <p:spPr>
              <a:xfrm>
                <a:off x="1764096" y="4701741"/>
                <a:ext cx="1014730" cy="35976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10</a:t>
                </a:r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5AC5CABB-F7D0-8D4F-C26E-A26B757597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34951" y="5136776"/>
                <a:ext cx="1930061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B2DBF2-735F-2DB0-5161-BC9F5B62BB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24583" y="5067756"/>
                <a:ext cx="0" cy="19169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3592085-780E-9804-99FA-C987E9E69987}"/>
                  </a:ext>
                </a:extLst>
              </p:cNvPr>
              <p:cNvSpPr txBox="1"/>
              <p:nvPr/>
            </p:nvSpPr>
            <p:spPr>
              <a:xfrm>
                <a:off x="1668859" y="5284941"/>
                <a:ext cx="1840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0        3                 7      10</a:t>
                </a:r>
              </a:p>
            </p:txBody>
          </p:sp>
        </p:grp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028658A0-B118-1BE4-E651-108417F8D5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9517" y="5746419"/>
              <a:ext cx="0" cy="1916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55E2CE6A-9234-778C-F50F-31A15A19AE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2850" y="5737529"/>
              <a:ext cx="0" cy="1916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01323E7-5DE4-7D8C-CA3F-CD65FC2B61FE}"/>
                  </a:ext>
                </a:extLst>
              </p:cNvPr>
              <p:cNvSpPr txBox="1"/>
              <p:nvPr/>
            </p:nvSpPr>
            <p:spPr>
              <a:xfrm>
                <a:off x="10113714" y="5393633"/>
                <a:ext cx="20414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Total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: 20</a:t>
                </a:r>
              </a:p>
            </p:txBody>
          </p:sp>
        </mc:Choice>
        <mc:Fallback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01323E7-5DE4-7D8C-CA3F-CD65FC2B6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3714" y="5393633"/>
                <a:ext cx="2041456" cy="461665"/>
              </a:xfrm>
              <a:prstGeom prst="rect">
                <a:avLst/>
              </a:prstGeom>
              <a:blipFill>
                <a:blip r:embed="rId3"/>
                <a:stretch>
                  <a:fillRect l="-4478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Footer Placeholder 90">
            <a:extLst>
              <a:ext uri="{FF2B5EF4-FFF2-40B4-BE49-F238E27FC236}">
                <a16:creationId xmlns:a16="http://schemas.microsoft.com/office/drawing/2014/main" id="{3221F47C-9186-95C7-080A-9FCE0BA18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92" name="Slide Number Placeholder 91">
            <a:extLst>
              <a:ext uri="{FF2B5EF4-FFF2-40B4-BE49-F238E27FC236}">
                <a16:creationId xmlns:a16="http://schemas.microsoft.com/office/drawing/2014/main" id="{60C8CD25-669C-855B-5DDE-40AE0D03A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180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4" grpId="0"/>
      <p:bldP spid="9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ED5CB-65E6-6AC4-A655-6E5DD9290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SRPT-k’s weak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BB23E-2D9E-F5CC-392E-293A07121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SRPT-k’s problem: last job is inefficient – server idle.</a:t>
            </a:r>
          </a:p>
          <a:p>
            <a:pPr marL="0" indent="0">
              <a:buNone/>
            </a:pPr>
            <a:r>
              <a:rPr lang="en-US" dirty="0"/>
              <a:t>Idea of SRPT-Except-k+1 (SEK): If we see this coming, diverge.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Early arrival: Benefits SRPT-k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D3ED5EB-DA5B-154B-7E21-96433DA3CCF7}"/>
              </a:ext>
            </a:extLst>
          </p:cNvPr>
          <p:cNvGrpSpPr/>
          <p:nvPr/>
        </p:nvGrpSpPr>
        <p:grpSpPr>
          <a:xfrm>
            <a:off x="6340140" y="3022322"/>
            <a:ext cx="3892584" cy="1688450"/>
            <a:chOff x="3708367" y="4632821"/>
            <a:chExt cx="3892584" cy="168845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4B0B3F5-0669-F2AB-3F71-04D43001D6B3}"/>
                </a:ext>
              </a:extLst>
            </p:cNvPr>
            <p:cNvGrpSpPr/>
            <p:nvPr/>
          </p:nvGrpSpPr>
          <p:grpSpPr>
            <a:xfrm>
              <a:off x="3708367" y="4632821"/>
              <a:ext cx="3892584" cy="1688450"/>
              <a:chOff x="1668859" y="3965823"/>
              <a:chExt cx="1996153" cy="1688450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6DCCB7F5-9994-BB1D-FDD5-37D28C6C46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34952" y="3965823"/>
                <a:ext cx="10129" cy="11709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s 17">
                <a:extLst>
                  <a:ext uri="{FF2B5EF4-FFF2-40B4-BE49-F238E27FC236}">
                    <a16:creationId xmlns:a16="http://schemas.microsoft.com/office/drawing/2014/main" id="{EEFBFC80-CAED-E4FB-5BA3-1A236B8201E7}"/>
                  </a:ext>
                </a:extLst>
              </p:cNvPr>
              <p:cNvSpPr/>
              <p:nvPr/>
            </p:nvSpPr>
            <p:spPr>
              <a:xfrm>
                <a:off x="1763310" y="4272500"/>
                <a:ext cx="271531" cy="35976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31" name="Rectangles 16">
                <a:extLst>
                  <a:ext uri="{FF2B5EF4-FFF2-40B4-BE49-F238E27FC236}">
                    <a16:creationId xmlns:a16="http://schemas.microsoft.com/office/drawing/2014/main" id="{B7A83F5E-0D03-4A57-72DD-FAC28A7B7A0A}"/>
                  </a:ext>
                </a:extLst>
              </p:cNvPr>
              <p:cNvSpPr/>
              <p:nvPr/>
            </p:nvSpPr>
            <p:spPr>
              <a:xfrm>
                <a:off x="1754914" y="4733970"/>
                <a:ext cx="448490" cy="33378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32" name="Rectangles 21">
                <a:extLst>
                  <a:ext uri="{FF2B5EF4-FFF2-40B4-BE49-F238E27FC236}">
                    <a16:creationId xmlns:a16="http://schemas.microsoft.com/office/drawing/2014/main" id="{4BAE9967-A53E-FC9D-E96D-1C604D67F8BD}"/>
                  </a:ext>
                </a:extLst>
              </p:cNvPr>
              <p:cNvSpPr/>
              <p:nvPr/>
            </p:nvSpPr>
            <p:spPr>
              <a:xfrm>
                <a:off x="2067126" y="4264978"/>
                <a:ext cx="1014730" cy="35976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10</a:t>
                </a:r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F1F93BA-921B-439C-409D-C8E3EBD1DFD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34951" y="5136776"/>
                <a:ext cx="1930061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20CE70D-D798-3583-6205-316607C3D9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24583" y="5067756"/>
                <a:ext cx="0" cy="19169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8A77A2E-5784-54EA-358D-619BAC4E4EBF}"/>
                  </a:ext>
                </a:extLst>
              </p:cNvPr>
              <p:cNvSpPr txBox="1"/>
              <p:nvPr/>
            </p:nvSpPr>
            <p:spPr>
              <a:xfrm>
                <a:off x="1668859" y="5284941"/>
                <a:ext cx="1840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0        3     4                             13</a:t>
                </a:r>
              </a:p>
            </p:txBody>
          </p:sp>
        </p:grp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6369783-869A-A274-51D2-4F8E3869DD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50752" y="5728278"/>
              <a:ext cx="0" cy="1916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9C249D2-FBEF-DC71-DC66-18765226E0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1548" y="5707927"/>
              <a:ext cx="0" cy="1916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92567C4-3778-F659-9F91-805375B15535}"/>
              </a:ext>
            </a:extLst>
          </p:cNvPr>
          <p:cNvGrpSpPr/>
          <p:nvPr/>
        </p:nvGrpSpPr>
        <p:grpSpPr>
          <a:xfrm>
            <a:off x="6332838" y="4896066"/>
            <a:ext cx="3892584" cy="1688450"/>
            <a:chOff x="3708367" y="4632821"/>
            <a:chExt cx="3892584" cy="1688450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6BB6A98B-D905-11B4-753A-865E0746E22F}"/>
                </a:ext>
              </a:extLst>
            </p:cNvPr>
            <p:cNvGrpSpPr/>
            <p:nvPr/>
          </p:nvGrpSpPr>
          <p:grpSpPr>
            <a:xfrm>
              <a:off x="3708367" y="4632821"/>
              <a:ext cx="3892584" cy="1688450"/>
              <a:chOff x="1668859" y="3965823"/>
              <a:chExt cx="1996153" cy="1688450"/>
            </a:xfrm>
          </p:grpSpPr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41362A82-5A3A-1672-5408-2679175A93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34952" y="3965823"/>
                <a:ext cx="10129" cy="11709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Rectangles 17">
                <a:extLst>
                  <a:ext uri="{FF2B5EF4-FFF2-40B4-BE49-F238E27FC236}">
                    <a16:creationId xmlns:a16="http://schemas.microsoft.com/office/drawing/2014/main" id="{1055685F-A705-5DB5-E95F-08EAA06783C7}"/>
                  </a:ext>
                </a:extLst>
              </p:cNvPr>
              <p:cNvSpPr/>
              <p:nvPr/>
            </p:nvSpPr>
            <p:spPr>
              <a:xfrm>
                <a:off x="1763310" y="4272500"/>
                <a:ext cx="271531" cy="35976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85" name="Rectangles 16">
                <a:extLst>
                  <a:ext uri="{FF2B5EF4-FFF2-40B4-BE49-F238E27FC236}">
                    <a16:creationId xmlns:a16="http://schemas.microsoft.com/office/drawing/2014/main" id="{960C9D5A-F574-5245-0033-ED23FBD515E7}"/>
                  </a:ext>
                </a:extLst>
              </p:cNvPr>
              <p:cNvSpPr/>
              <p:nvPr/>
            </p:nvSpPr>
            <p:spPr>
              <a:xfrm>
                <a:off x="2087606" y="4272500"/>
                <a:ext cx="448490" cy="35033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86" name="Rectangles 21">
                <a:extLst>
                  <a:ext uri="{FF2B5EF4-FFF2-40B4-BE49-F238E27FC236}">
                    <a16:creationId xmlns:a16="http://schemas.microsoft.com/office/drawing/2014/main" id="{C55D9B54-A984-85B2-8E26-2E1877F676E8}"/>
                  </a:ext>
                </a:extLst>
              </p:cNvPr>
              <p:cNvSpPr/>
              <p:nvPr/>
            </p:nvSpPr>
            <p:spPr>
              <a:xfrm>
                <a:off x="1764096" y="4701741"/>
                <a:ext cx="1014730" cy="35976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10</a:t>
                </a:r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5AC5CABB-F7D0-8D4F-C26E-A26B757597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34951" y="5136776"/>
                <a:ext cx="1930061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B2DBF2-735F-2DB0-5161-BC9F5B62BB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24583" y="5067756"/>
                <a:ext cx="0" cy="19169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3592085-780E-9804-99FA-C987E9E69987}"/>
                  </a:ext>
                </a:extLst>
              </p:cNvPr>
              <p:cNvSpPr txBox="1"/>
              <p:nvPr/>
            </p:nvSpPr>
            <p:spPr>
              <a:xfrm>
                <a:off x="1668859" y="5284941"/>
                <a:ext cx="1840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0        3                 7      10</a:t>
                </a:r>
              </a:p>
            </p:txBody>
          </p:sp>
        </p:grp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028658A0-B118-1BE4-E651-108417F8D5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9517" y="5746419"/>
              <a:ext cx="0" cy="1916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55E2CE6A-9234-778C-F50F-31A15A19AE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2850" y="5737529"/>
              <a:ext cx="0" cy="1916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206A31A-8808-1614-0304-878D49B8D2DD}"/>
              </a:ext>
            </a:extLst>
          </p:cNvPr>
          <p:cNvSpPr txBox="1"/>
          <p:nvPr/>
        </p:nvSpPr>
        <p:spPr>
          <a:xfrm>
            <a:off x="7248674" y="2794007"/>
            <a:ext cx="980122" cy="43088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SRPT-k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FAAF47-81DD-6962-4FCD-54431B848998}"/>
              </a:ext>
            </a:extLst>
          </p:cNvPr>
          <p:cNvSpPr txBox="1"/>
          <p:nvPr/>
        </p:nvSpPr>
        <p:spPr>
          <a:xfrm>
            <a:off x="7282011" y="4671495"/>
            <a:ext cx="913447" cy="43088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SEK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7D08C95-AD20-68DE-7967-227B1FF7A29C}"/>
              </a:ext>
            </a:extLst>
          </p:cNvPr>
          <p:cNvCxnSpPr/>
          <p:nvPr/>
        </p:nvCxnSpPr>
        <p:spPr>
          <a:xfrm>
            <a:off x="6781770" y="3070124"/>
            <a:ext cx="0" cy="3279397"/>
          </a:xfrm>
          <a:prstGeom prst="line">
            <a:avLst/>
          </a:prstGeom>
          <a:ln w="38100">
            <a:solidFill>
              <a:srgbClr val="FF66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D62379A-E973-E76F-D800-78287AC437D6}"/>
              </a:ext>
            </a:extLst>
          </p:cNvPr>
          <p:cNvGrpSpPr/>
          <p:nvPr/>
        </p:nvGrpSpPr>
        <p:grpSpPr>
          <a:xfrm>
            <a:off x="7506945" y="3780955"/>
            <a:ext cx="1721924" cy="1742064"/>
            <a:chOff x="7506945" y="3780955"/>
            <a:chExt cx="1721924" cy="1742064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4FEB3716-F3DA-7246-E1B3-8A29AC1A7B45}"/>
                </a:ext>
              </a:extLst>
            </p:cNvPr>
            <p:cNvSpPr/>
            <p:nvPr/>
          </p:nvSpPr>
          <p:spPr>
            <a:xfrm>
              <a:off x="7506945" y="3780955"/>
              <a:ext cx="1094130" cy="343300"/>
            </a:xfrm>
            <a:prstGeom prst="roundRect">
              <a:avLst/>
            </a:prstGeom>
            <a:solidFill>
              <a:srgbClr val="FF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47EFC4B6-D7D1-C94D-FAA6-42B028BDD482}"/>
                </a:ext>
              </a:extLst>
            </p:cNvPr>
            <p:cNvSpPr/>
            <p:nvPr/>
          </p:nvSpPr>
          <p:spPr>
            <a:xfrm>
              <a:off x="8134739" y="5179719"/>
              <a:ext cx="1094130" cy="343300"/>
            </a:xfrm>
            <a:prstGeom prst="roundRect">
              <a:avLst/>
            </a:prstGeom>
            <a:solidFill>
              <a:srgbClr val="FF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A697D6E4-8C8C-4662-1F13-C8E90412488E}"/>
              </a:ext>
            </a:extLst>
          </p:cNvPr>
          <p:cNvSpPr/>
          <p:nvPr/>
        </p:nvSpPr>
        <p:spPr>
          <a:xfrm>
            <a:off x="771525" y="3275834"/>
            <a:ext cx="4455282" cy="535986"/>
          </a:xfrm>
          <a:prstGeom prst="rect">
            <a:avLst/>
          </a:prstGeom>
          <a:noFill/>
          <a:ln w="38100"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ooter Placeholder 45">
            <a:extLst>
              <a:ext uri="{FF2B5EF4-FFF2-40B4-BE49-F238E27FC236}">
                <a16:creationId xmlns:a16="http://schemas.microsoft.com/office/drawing/2014/main" id="{800F2664-64C9-C39C-3086-9EA93B4EE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47CC07F3-C453-241A-A195-CA8D0F6A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076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ED5CB-65E6-6AC4-A655-6E5DD9290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SRPT-k’s weak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BB23E-2D9E-F5CC-392E-293A07121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SRPT-k’s problem: last job is inefficient – server idle.</a:t>
            </a:r>
          </a:p>
          <a:p>
            <a:pPr marL="0" indent="0">
              <a:buNone/>
            </a:pPr>
            <a:r>
              <a:rPr lang="en-US" dirty="0"/>
              <a:t>Idea of SRPT-Except-k+1 (SEK): If we see this coming, diverge.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Early arrival: Benefits SRPT-k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Late arrivals: Benefit SEK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SEK diverges when 2 jobs</a:t>
            </a:r>
            <a:br>
              <a:rPr lang="en-US" dirty="0"/>
            </a:br>
            <a:r>
              <a:rPr lang="en-US" dirty="0"/>
              <a:t>are very small, almost all upside.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D3ED5EB-DA5B-154B-7E21-96433DA3CCF7}"/>
              </a:ext>
            </a:extLst>
          </p:cNvPr>
          <p:cNvGrpSpPr/>
          <p:nvPr/>
        </p:nvGrpSpPr>
        <p:grpSpPr>
          <a:xfrm>
            <a:off x="6340140" y="3022322"/>
            <a:ext cx="3892584" cy="1688450"/>
            <a:chOff x="3708367" y="4632821"/>
            <a:chExt cx="3892584" cy="168845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4B0B3F5-0669-F2AB-3F71-04D43001D6B3}"/>
                </a:ext>
              </a:extLst>
            </p:cNvPr>
            <p:cNvGrpSpPr/>
            <p:nvPr/>
          </p:nvGrpSpPr>
          <p:grpSpPr>
            <a:xfrm>
              <a:off x="3708367" y="4632821"/>
              <a:ext cx="3892584" cy="1688450"/>
              <a:chOff x="1668859" y="3965823"/>
              <a:chExt cx="1996153" cy="1688450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6DCCB7F5-9994-BB1D-FDD5-37D28C6C46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34952" y="3965823"/>
                <a:ext cx="10129" cy="11709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s 17">
                <a:extLst>
                  <a:ext uri="{FF2B5EF4-FFF2-40B4-BE49-F238E27FC236}">
                    <a16:creationId xmlns:a16="http://schemas.microsoft.com/office/drawing/2014/main" id="{EEFBFC80-CAED-E4FB-5BA3-1A236B8201E7}"/>
                  </a:ext>
                </a:extLst>
              </p:cNvPr>
              <p:cNvSpPr/>
              <p:nvPr/>
            </p:nvSpPr>
            <p:spPr>
              <a:xfrm>
                <a:off x="1763310" y="4272500"/>
                <a:ext cx="271531" cy="35976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31" name="Rectangles 16">
                <a:extLst>
                  <a:ext uri="{FF2B5EF4-FFF2-40B4-BE49-F238E27FC236}">
                    <a16:creationId xmlns:a16="http://schemas.microsoft.com/office/drawing/2014/main" id="{B7A83F5E-0D03-4A57-72DD-FAC28A7B7A0A}"/>
                  </a:ext>
                </a:extLst>
              </p:cNvPr>
              <p:cNvSpPr/>
              <p:nvPr/>
            </p:nvSpPr>
            <p:spPr>
              <a:xfrm>
                <a:off x="1754914" y="4733970"/>
                <a:ext cx="448490" cy="33378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32" name="Rectangles 21">
                <a:extLst>
                  <a:ext uri="{FF2B5EF4-FFF2-40B4-BE49-F238E27FC236}">
                    <a16:creationId xmlns:a16="http://schemas.microsoft.com/office/drawing/2014/main" id="{4BAE9967-A53E-FC9D-E96D-1C604D67F8BD}"/>
                  </a:ext>
                </a:extLst>
              </p:cNvPr>
              <p:cNvSpPr/>
              <p:nvPr/>
            </p:nvSpPr>
            <p:spPr>
              <a:xfrm>
                <a:off x="2067126" y="4264978"/>
                <a:ext cx="1014730" cy="35976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10</a:t>
                </a:r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F1F93BA-921B-439C-409D-C8E3EBD1DFD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34951" y="5136776"/>
                <a:ext cx="1930061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20CE70D-D798-3583-6205-316607C3D9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24583" y="5067756"/>
                <a:ext cx="0" cy="19169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8A77A2E-5784-54EA-358D-619BAC4E4EBF}"/>
                  </a:ext>
                </a:extLst>
              </p:cNvPr>
              <p:cNvSpPr txBox="1"/>
              <p:nvPr/>
            </p:nvSpPr>
            <p:spPr>
              <a:xfrm>
                <a:off x="1668859" y="5284941"/>
                <a:ext cx="1840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0        3     4                             13</a:t>
                </a:r>
              </a:p>
            </p:txBody>
          </p:sp>
        </p:grp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6369783-869A-A274-51D2-4F8E3869DD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50752" y="5728278"/>
              <a:ext cx="0" cy="1916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9C249D2-FBEF-DC71-DC66-18765226E0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1548" y="5707927"/>
              <a:ext cx="0" cy="1916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92567C4-3778-F659-9F91-805375B15535}"/>
              </a:ext>
            </a:extLst>
          </p:cNvPr>
          <p:cNvGrpSpPr/>
          <p:nvPr/>
        </p:nvGrpSpPr>
        <p:grpSpPr>
          <a:xfrm>
            <a:off x="6332838" y="4896066"/>
            <a:ext cx="3892584" cy="1688450"/>
            <a:chOff x="3708367" y="4632821"/>
            <a:chExt cx="3892584" cy="1688450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6BB6A98B-D905-11B4-753A-865E0746E22F}"/>
                </a:ext>
              </a:extLst>
            </p:cNvPr>
            <p:cNvGrpSpPr/>
            <p:nvPr/>
          </p:nvGrpSpPr>
          <p:grpSpPr>
            <a:xfrm>
              <a:off x="3708367" y="4632821"/>
              <a:ext cx="3892584" cy="1688450"/>
              <a:chOff x="1668859" y="3965823"/>
              <a:chExt cx="1996153" cy="1688450"/>
            </a:xfrm>
          </p:grpSpPr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41362A82-5A3A-1672-5408-2679175A93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34952" y="3965823"/>
                <a:ext cx="10129" cy="11709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Rectangles 17">
                <a:extLst>
                  <a:ext uri="{FF2B5EF4-FFF2-40B4-BE49-F238E27FC236}">
                    <a16:creationId xmlns:a16="http://schemas.microsoft.com/office/drawing/2014/main" id="{1055685F-A705-5DB5-E95F-08EAA06783C7}"/>
                  </a:ext>
                </a:extLst>
              </p:cNvPr>
              <p:cNvSpPr/>
              <p:nvPr/>
            </p:nvSpPr>
            <p:spPr>
              <a:xfrm>
                <a:off x="1763310" y="4272500"/>
                <a:ext cx="271531" cy="35976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85" name="Rectangles 16">
                <a:extLst>
                  <a:ext uri="{FF2B5EF4-FFF2-40B4-BE49-F238E27FC236}">
                    <a16:creationId xmlns:a16="http://schemas.microsoft.com/office/drawing/2014/main" id="{960C9D5A-F574-5245-0033-ED23FBD515E7}"/>
                  </a:ext>
                </a:extLst>
              </p:cNvPr>
              <p:cNvSpPr/>
              <p:nvPr/>
            </p:nvSpPr>
            <p:spPr>
              <a:xfrm>
                <a:off x="2087606" y="4272500"/>
                <a:ext cx="448490" cy="35033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86" name="Rectangles 21">
                <a:extLst>
                  <a:ext uri="{FF2B5EF4-FFF2-40B4-BE49-F238E27FC236}">
                    <a16:creationId xmlns:a16="http://schemas.microsoft.com/office/drawing/2014/main" id="{C55D9B54-A984-85B2-8E26-2E1877F676E8}"/>
                  </a:ext>
                </a:extLst>
              </p:cNvPr>
              <p:cNvSpPr/>
              <p:nvPr/>
            </p:nvSpPr>
            <p:spPr>
              <a:xfrm>
                <a:off x="1764096" y="4701741"/>
                <a:ext cx="1014730" cy="35976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10</a:t>
                </a:r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5AC5CABB-F7D0-8D4F-C26E-A26B757597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34951" y="5136776"/>
                <a:ext cx="1930061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B2DBF2-735F-2DB0-5161-BC9F5B62BB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24583" y="5067756"/>
                <a:ext cx="0" cy="19169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3592085-780E-9804-99FA-C987E9E69987}"/>
                  </a:ext>
                </a:extLst>
              </p:cNvPr>
              <p:cNvSpPr txBox="1"/>
              <p:nvPr/>
            </p:nvSpPr>
            <p:spPr>
              <a:xfrm>
                <a:off x="1668859" y="5284941"/>
                <a:ext cx="1840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0        3                 7      10</a:t>
                </a:r>
              </a:p>
            </p:txBody>
          </p:sp>
        </p:grp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028658A0-B118-1BE4-E651-108417F8D5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9517" y="5746419"/>
              <a:ext cx="0" cy="1916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55E2CE6A-9234-778C-F50F-31A15A19AE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2850" y="5737529"/>
              <a:ext cx="0" cy="1916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206A31A-8808-1614-0304-878D49B8D2DD}"/>
              </a:ext>
            </a:extLst>
          </p:cNvPr>
          <p:cNvSpPr txBox="1"/>
          <p:nvPr/>
        </p:nvSpPr>
        <p:spPr>
          <a:xfrm>
            <a:off x="7248674" y="2794007"/>
            <a:ext cx="980122" cy="43088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SRPT-k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FAAF47-81DD-6962-4FCD-54431B848998}"/>
              </a:ext>
            </a:extLst>
          </p:cNvPr>
          <p:cNvSpPr txBox="1"/>
          <p:nvPr/>
        </p:nvSpPr>
        <p:spPr>
          <a:xfrm>
            <a:off x="7283126" y="4680622"/>
            <a:ext cx="913447" cy="43088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SEK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697D6E4-8C8C-4662-1F13-C8E90412488E}"/>
              </a:ext>
            </a:extLst>
          </p:cNvPr>
          <p:cNvSpPr/>
          <p:nvPr/>
        </p:nvSpPr>
        <p:spPr>
          <a:xfrm>
            <a:off x="771525" y="3275834"/>
            <a:ext cx="4455282" cy="535986"/>
          </a:xfrm>
          <a:prstGeom prst="rect">
            <a:avLst/>
          </a:prstGeom>
          <a:noFill/>
          <a:ln w="38100"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E387F7-910B-ADA2-8FEC-3C57D3BC510C}"/>
              </a:ext>
            </a:extLst>
          </p:cNvPr>
          <p:cNvSpPr/>
          <p:nvPr/>
        </p:nvSpPr>
        <p:spPr>
          <a:xfrm>
            <a:off x="771525" y="4289041"/>
            <a:ext cx="4455282" cy="535986"/>
          </a:xfrm>
          <a:prstGeom prst="rect">
            <a:avLst/>
          </a:prstGeom>
          <a:noFill/>
          <a:ln w="38100">
            <a:solidFill>
              <a:srgbClr val="99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1F7B3D7-981E-627C-60DF-6F689B8EE51E}"/>
              </a:ext>
            </a:extLst>
          </p:cNvPr>
          <p:cNvCxnSpPr/>
          <p:nvPr/>
        </p:nvCxnSpPr>
        <p:spPr>
          <a:xfrm>
            <a:off x="8362920" y="3022322"/>
            <a:ext cx="0" cy="3279397"/>
          </a:xfrm>
          <a:prstGeom prst="line">
            <a:avLst/>
          </a:prstGeom>
          <a:ln w="38100">
            <a:solidFill>
              <a:srgbClr val="9966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E0FB558-5518-20C6-D6B4-0473CAA12D3D}"/>
              </a:ext>
            </a:extLst>
          </p:cNvPr>
          <p:cNvGrpSpPr/>
          <p:nvPr/>
        </p:nvGrpSpPr>
        <p:grpSpPr>
          <a:xfrm>
            <a:off x="8457317" y="3320017"/>
            <a:ext cx="1813295" cy="2660831"/>
            <a:chOff x="8457317" y="3320017"/>
            <a:chExt cx="1813295" cy="2660831"/>
          </a:xfrm>
          <a:solidFill>
            <a:srgbClr val="9966FF"/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5269D36-4E78-392D-18A8-128163B02069}"/>
                </a:ext>
              </a:extLst>
            </p:cNvPr>
            <p:cNvGrpSpPr/>
            <p:nvPr/>
          </p:nvGrpSpPr>
          <p:grpSpPr>
            <a:xfrm>
              <a:off x="8457317" y="3320017"/>
              <a:ext cx="1813295" cy="2231360"/>
              <a:chOff x="8457317" y="3320017"/>
              <a:chExt cx="1813295" cy="2231360"/>
            </a:xfrm>
            <a:grpFill/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B9FFB03-B293-E618-3CCF-A850B72764DE}"/>
                  </a:ext>
                </a:extLst>
              </p:cNvPr>
              <p:cNvSpPr/>
              <p:nvPr/>
            </p:nvSpPr>
            <p:spPr>
              <a:xfrm>
                <a:off x="9176482" y="3320017"/>
                <a:ext cx="1094130" cy="3433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5F677CA4-0CD6-55AB-8A25-FEE5D7D90FE3}"/>
                  </a:ext>
                </a:extLst>
              </p:cNvPr>
              <p:cNvSpPr/>
              <p:nvPr/>
            </p:nvSpPr>
            <p:spPr>
              <a:xfrm>
                <a:off x="8457317" y="5208077"/>
                <a:ext cx="1094130" cy="3433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9A26570-FE09-5AF1-E213-0EB0E2301586}"/>
                </a:ext>
              </a:extLst>
            </p:cNvPr>
            <p:cNvSpPr/>
            <p:nvPr/>
          </p:nvSpPr>
          <p:spPr>
            <a:xfrm>
              <a:off x="8580527" y="5637548"/>
              <a:ext cx="1094130" cy="3433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E213DE2-13CE-1877-795F-559C0F632A6A}"/>
                </a:ext>
              </a:extLst>
            </p:cNvPr>
            <p:cNvSpPr/>
            <p:nvPr/>
          </p:nvSpPr>
          <p:spPr>
            <a:xfrm>
              <a:off x="8577890" y="3759681"/>
              <a:ext cx="1094130" cy="3433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Graphic 12" descr="Lights On with solid fill">
            <a:extLst>
              <a:ext uri="{FF2B5EF4-FFF2-40B4-BE49-F238E27FC236}">
                <a16:creationId xmlns:a16="http://schemas.microsoft.com/office/drawing/2014/main" id="{9E2C6C32-173B-9835-6283-1C8E9B840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191110"/>
            <a:ext cx="914400" cy="914400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A99152F-F8AF-C450-CFE3-C457B4199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AA1C704-76BB-E80C-6E2B-3A30FA30F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85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14144-4BE5-1632-EA15-1A1F739FB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SEK Improvement Intuition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1E64D7-CFBA-22C9-A609-10B5B7E500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82300" cy="492351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 the asymptotic limit as 2 small jobs are really small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),</a:t>
                </a:r>
                <a:br>
                  <a:rPr lang="en-US" dirty="0"/>
                </a:br>
                <a:r>
                  <a:rPr lang="en-US" dirty="0"/>
                  <a:t>scaling of improvement favors SEK.</a:t>
                </a:r>
              </a:p>
              <a:p>
                <a:pPr marL="0" indent="0">
                  <a:buNone/>
                </a:pPr>
                <a:r>
                  <a:rPr lang="en-US" dirty="0"/>
                  <a:t>Sum of response times per divergence: In expectation, SEK smaller.</a:t>
                </a:r>
              </a:p>
              <a:p>
                <a:pPr marL="0" indent="0">
                  <a:buNone/>
                </a:pPr>
                <a:r>
                  <a:rPr lang="en-US" dirty="0"/>
                  <a:t>Early arrival: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probability per divergence,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advantage for SRPT-k</a:t>
                </a:r>
              </a:p>
              <a:p>
                <a:pPr marL="0" indent="0">
                  <a:buNone/>
                </a:pPr>
                <a:r>
                  <a:rPr lang="en-US" dirty="0"/>
                  <a:t>Late arrival: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probability per divergence,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advantage for SEK</a:t>
                </a:r>
              </a:p>
              <a:p>
                <a:pPr marL="0" indent="0">
                  <a:buNone/>
                </a:pPr>
                <a:r>
                  <a:rPr lang="en-US" dirty="0"/>
                  <a:t>All other arrival patterns: SEK no worse.</a:t>
                </a:r>
              </a:p>
              <a:p>
                <a:pPr marL="0" indent="0">
                  <a:buNone/>
                </a:pPr>
                <a:r>
                  <a:rPr lang="en-US" dirty="0"/>
                  <a:t>Some easy to prove, some challenging.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1E64D7-CFBA-22C9-A609-10B5B7E500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82300" cy="4923518"/>
              </a:xfrm>
              <a:blipFill>
                <a:blip r:embed="rId2"/>
                <a:stretch>
                  <a:fillRect l="-1188" t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DB2B1EF-A456-2CD8-8DFF-2CBB2C42DFCC}"/>
              </a:ext>
            </a:extLst>
          </p:cNvPr>
          <p:cNvGrpSpPr/>
          <p:nvPr/>
        </p:nvGrpSpPr>
        <p:grpSpPr>
          <a:xfrm>
            <a:off x="9381498" y="230188"/>
            <a:ext cx="2556057" cy="1189038"/>
            <a:chOff x="6803295" y="3077831"/>
            <a:chExt cx="3948430" cy="181316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84D15BE-AD89-455F-1C39-B053F8439DA7}"/>
                </a:ext>
              </a:extLst>
            </p:cNvPr>
            <p:cNvGrpSpPr/>
            <p:nvPr/>
          </p:nvGrpSpPr>
          <p:grpSpPr>
            <a:xfrm>
              <a:off x="6803295" y="3077831"/>
              <a:ext cx="3948430" cy="1813168"/>
              <a:chOff x="4277296" y="1665997"/>
              <a:chExt cx="3948430" cy="1813168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24E4D57F-97E9-E29E-DEEA-94B887C0FC0C}"/>
                  </a:ext>
                </a:extLst>
              </p:cNvPr>
              <p:cNvGrpSpPr/>
              <p:nvPr/>
            </p:nvGrpSpPr>
            <p:grpSpPr>
              <a:xfrm>
                <a:off x="4277296" y="2154555"/>
                <a:ext cx="3948430" cy="1324610"/>
                <a:chOff x="4277296" y="2154555"/>
                <a:chExt cx="3948430" cy="1324610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D0B579CB-9EBD-3272-7C87-1894BA713976}"/>
                    </a:ext>
                  </a:extLst>
                </p:cNvPr>
                <p:cNvGrpSpPr/>
                <p:nvPr/>
              </p:nvGrpSpPr>
              <p:grpSpPr>
                <a:xfrm>
                  <a:off x="4277296" y="2154555"/>
                  <a:ext cx="3948430" cy="1324610"/>
                  <a:chOff x="1559" y="3013"/>
                  <a:chExt cx="6218" cy="2086"/>
                </a:xfrm>
              </p:grpSpPr>
              <p:grpSp>
                <p:nvGrpSpPr>
                  <p:cNvPr id="11" name="Group 10">
                    <a:extLst>
                      <a:ext uri="{FF2B5EF4-FFF2-40B4-BE49-F238E27FC236}">
                        <a16:creationId xmlns:a16="http://schemas.microsoft.com/office/drawing/2014/main" id="{0CD944C7-B68D-BDC3-C016-CCE293617B36}"/>
                      </a:ext>
                    </a:extLst>
                  </p:cNvPr>
                  <p:cNvGrpSpPr/>
                  <p:nvPr/>
                </p:nvGrpSpPr>
                <p:grpSpPr>
                  <a:xfrm>
                    <a:off x="1559" y="3013"/>
                    <a:ext cx="6218" cy="2086"/>
                    <a:chOff x="1559" y="3013"/>
                    <a:chExt cx="6218" cy="2086"/>
                  </a:xfrm>
                </p:grpSpPr>
                <p:grpSp>
                  <p:nvGrpSpPr>
                    <p:cNvPr id="14" name="Group 13">
                      <a:extLst>
                        <a:ext uri="{FF2B5EF4-FFF2-40B4-BE49-F238E27FC236}">
                          <a16:creationId xmlns:a16="http://schemas.microsoft.com/office/drawing/2014/main" id="{16A8BC47-1429-C0B4-C5BA-215A50EAF2C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59" y="3013"/>
                      <a:ext cx="6218" cy="1763"/>
                      <a:chOff x="5630" y="3687"/>
                      <a:chExt cx="6218" cy="1763"/>
                    </a:xfrm>
                  </p:grpSpPr>
                  <p:grpSp>
                    <p:nvGrpSpPr>
                      <p:cNvPr id="18" name="Group 17">
                        <a:extLst>
                          <a:ext uri="{FF2B5EF4-FFF2-40B4-BE49-F238E27FC236}">
                            <a16:creationId xmlns:a16="http://schemas.microsoft.com/office/drawing/2014/main" id="{475E1DE0-94BE-5EF9-0E19-4E4BBA6F968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30" y="3687"/>
                        <a:ext cx="5881" cy="1763"/>
                        <a:chOff x="5630" y="3687"/>
                        <a:chExt cx="5881" cy="1763"/>
                      </a:xfrm>
                    </p:grpSpPr>
                    <p:sp>
                      <p:nvSpPr>
                        <p:cNvPr id="21" name="Rectangles 8">
                          <a:extLst>
                            <a:ext uri="{FF2B5EF4-FFF2-40B4-BE49-F238E27FC236}">
                              <a16:creationId xmlns:a16="http://schemas.microsoft.com/office/drawing/2014/main" id="{6A7D703C-DE9E-40C9-C33C-D43821B0AF2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596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" name="Rectangles 9">
                          <a:extLst>
                            <a:ext uri="{FF2B5EF4-FFF2-40B4-BE49-F238E27FC236}">
                              <a16:creationId xmlns:a16="http://schemas.microsoft.com/office/drawing/2014/main" id="{8911A3FD-BF8B-87B4-7BF0-87AB5035307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538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" name="Rectangles 10">
                          <a:extLst>
                            <a:ext uri="{FF2B5EF4-FFF2-40B4-BE49-F238E27FC236}">
                              <a16:creationId xmlns:a16="http://schemas.microsoft.com/office/drawing/2014/main" id="{ECD3A48B-756D-B255-4522-8EA835F01E7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80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" name="Rectangles 11">
                          <a:extLst>
                            <a:ext uri="{FF2B5EF4-FFF2-40B4-BE49-F238E27FC236}">
                              <a16:creationId xmlns:a16="http://schemas.microsoft.com/office/drawing/2014/main" id="{A2B30CCD-ED54-4A48-2355-A7E39D731C8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22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" name="Oval 24">
                          <a:extLst>
                            <a:ext uri="{FF2B5EF4-FFF2-40B4-BE49-F238E27FC236}">
                              <a16:creationId xmlns:a16="http://schemas.microsoft.com/office/drawing/2014/main" id="{AC1BDDCF-838D-0FA3-B924-1E9DFB8590B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684" y="3687"/>
                          <a:ext cx="827" cy="881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cxnSp>
                      <p:nvCxnSpPr>
                        <p:cNvPr id="26" name="Straight Connector 25">
                          <a:extLst>
                            <a:ext uri="{FF2B5EF4-FFF2-40B4-BE49-F238E27FC236}">
                              <a16:creationId xmlns:a16="http://schemas.microsoft.com/office/drawing/2014/main" id="{C3D62208-AF9D-2FD8-5254-1FA40FCB4A9B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5630" y="3721"/>
                          <a:ext cx="966" cy="15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7" name="Straight Connector 26">
                          <a:extLst>
                            <a:ext uri="{FF2B5EF4-FFF2-40B4-BE49-F238E27FC236}">
                              <a16:creationId xmlns:a16="http://schemas.microsoft.com/office/drawing/2014/main" id="{94939348-8EA9-79F9-5E80-218F0DF0826D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5630" y="5435"/>
                          <a:ext cx="966" cy="15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19" name="Straight Arrow Connector 18">
                        <a:extLst>
                          <a:ext uri="{FF2B5EF4-FFF2-40B4-BE49-F238E27FC236}">
                            <a16:creationId xmlns:a16="http://schemas.microsoft.com/office/drawing/2014/main" id="{6FB999D0-10A8-2BB3-0732-E07FD5A631D3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11511" y="4124"/>
                        <a:ext cx="337" cy="7"/>
                      </a:xfrm>
                      <a:prstGeom prst="straightConnector1">
                        <a:avLst/>
                      </a:prstGeom>
                      <a:ln w="25400">
                        <a:solidFill>
                          <a:schemeClr val="tx1"/>
                        </a:solidFill>
                        <a:tailEnd type="arrow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5" name="Oval 14">
                      <a:extLst>
                        <a:ext uri="{FF2B5EF4-FFF2-40B4-BE49-F238E27FC236}">
                          <a16:creationId xmlns:a16="http://schemas.microsoft.com/office/drawing/2014/main" id="{C4956ED9-3D2B-9113-442B-40FE227A0B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13" y="4218"/>
                      <a:ext cx="827" cy="88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16" name="Straight Arrow Connector 15">
                      <a:extLst>
                        <a:ext uri="{FF2B5EF4-FFF2-40B4-BE49-F238E27FC236}">
                          <a16:creationId xmlns:a16="http://schemas.microsoft.com/office/drawing/2014/main" id="{99FC0085-BACF-0424-9205-48E9B0CDF73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440" y="4655"/>
                      <a:ext cx="337" cy="7"/>
                    </a:xfrm>
                    <a:prstGeom prst="straightConnector1">
                      <a:avLst/>
                    </a:prstGeom>
                    <a:ln w="25400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7" name="Rectangles 17">
                      <a:extLst>
                        <a:ext uri="{FF2B5EF4-FFF2-40B4-BE49-F238E27FC236}">
                          <a16:creationId xmlns:a16="http://schemas.microsoft.com/office/drawing/2014/main" id="{ACBEF490-1515-3D6F-0CD5-5CD66B898A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47" y="3128"/>
                      <a:ext cx="770" cy="565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/>
                      <a:r>
                        <a:rPr lang="en-US" dirty="0"/>
                        <a:t>0.3</a:t>
                      </a:r>
                    </a:p>
                  </p:txBody>
                </p:sp>
              </p:grpSp>
              <p:cxnSp>
                <p:nvCxnSpPr>
                  <p:cNvPr id="12" name="Straight Connector 11">
                    <a:extLst>
                      <a:ext uri="{FF2B5EF4-FFF2-40B4-BE49-F238E27FC236}">
                        <a16:creationId xmlns:a16="http://schemas.microsoft.com/office/drawing/2014/main" id="{869A40A2-DF1E-59EF-204C-E532137744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308" y="3443"/>
                    <a:ext cx="259" cy="151"/>
                  </a:xfrm>
                  <a:prstGeom prst="line">
                    <a:avLst/>
                  </a:prstGeom>
                  <a:ln w="38100">
                    <a:solidFill>
                      <a:srgbClr val="20202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Straight Connector 12">
                    <a:extLst>
                      <a:ext uri="{FF2B5EF4-FFF2-40B4-BE49-F238E27FC236}">
                        <a16:creationId xmlns:a16="http://schemas.microsoft.com/office/drawing/2014/main" id="{1B7ED48E-CB07-62D2-5CC8-A436E2758270}"/>
                      </a:ext>
                    </a:extLst>
                  </p:cNvPr>
                  <p:cNvCxnSpPr>
                    <a:cxnSpLocks/>
                    <a:endCxn id="15" idx="2"/>
                  </p:cNvCxnSpPr>
                  <p:nvPr/>
                </p:nvCxnSpPr>
                <p:spPr>
                  <a:xfrm>
                    <a:off x="6308" y="4452"/>
                    <a:ext cx="305" cy="207"/>
                  </a:xfrm>
                  <a:prstGeom prst="line">
                    <a:avLst/>
                  </a:prstGeom>
                  <a:ln w="38100">
                    <a:solidFill>
                      <a:srgbClr val="20202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" name="Rectangles 16">
                  <a:extLst>
                    <a:ext uri="{FF2B5EF4-FFF2-40B4-BE49-F238E27FC236}">
                      <a16:creationId xmlns:a16="http://schemas.microsoft.com/office/drawing/2014/main" id="{A1D678DD-AC08-1D98-160D-9CBB7C0C2B82}"/>
                    </a:ext>
                  </a:extLst>
                </p:cNvPr>
                <p:cNvSpPr/>
                <p:nvPr/>
              </p:nvSpPr>
              <p:spPr>
                <a:xfrm>
                  <a:off x="6744883" y="2713990"/>
                  <a:ext cx="475616" cy="31877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dirty="0"/>
                    <a:t>0.4</a:t>
                  </a:r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334D36-8059-0899-787B-83A824579128}"/>
                  </a:ext>
                </a:extLst>
              </p:cNvPr>
              <p:cNvSpPr txBox="1"/>
              <p:nvPr/>
            </p:nvSpPr>
            <p:spPr>
              <a:xfrm>
                <a:off x="6165468" y="1665997"/>
                <a:ext cx="924124" cy="50062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tIns="0" rtlCol="0">
                <a:noAutofit/>
              </a:bodyPr>
              <a:lstStyle/>
              <a:p>
                <a:r>
                  <a:rPr lang="en-US" sz="2200" dirty="0"/>
                  <a:t>SEK</a:t>
                </a:r>
              </a:p>
            </p:txBody>
          </p:sp>
        </p:grpSp>
        <p:sp>
          <p:nvSpPr>
            <p:cNvPr id="6" name="Rectangles 21">
              <a:extLst>
                <a:ext uri="{FF2B5EF4-FFF2-40B4-BE49-F238E27FC236}">
                  <a16:creationId xmlns:a16="http://schemas.microsoft.com/office/drawing/2014/main" id="{90D05DA0-58B2-8644-A6C6-52909CA3144F}"/>
                </a:ext>
              </a:extLst>
            </p:cNvPr>
            <p:cNvSpPr/>
            <p:nvPr/>
          </p:nvSpPr>
          <p:spPr>
            <a:xfrm>
              <a:off x="10019570" y="4170273"/>
              <a:ext cx="503556" cy="6197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FB32BA81-DB5D-64AA-EAA8-488E53298B2E}"/>
              </a:ext>
            </a:extLst>
          </p:cNvPr>
          <p:cNvSpPr/>
          <p:nvPr/>
        </p:nvSpPr>
        <p:spPr>
          <a:xfrm>
            <a:off x="838200" y="3234773"/>
            <a:ext cx="1905000" cy="448074"/>
          </a:xfrm>
          <a:prstGeom prst="rect">
            <a:avLst/>
          </a:prstGeom>
          <a:noFill/>
          <a:ln w="38100"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F32352-F289-3558-03A6-A8D7A5E4E74C}"/>
              </a:ext>
            </a:extLst>
          </p:cNvPr>
          <p:cNvSpPr/>
          <p:nvPr/>
        </p:nvSpPr>
        <p:spPr>
          <a:xfrm>
            <a:off x="838200" y="3760941"/>
            <a:ext cx="1838325" cy="448073"/>
          </a:xfrm>
          <a:prstGeom prst="rect">
            <a:avLst/>
          </a:prstGeom>
          <a:noFill/>
          <a:ln w="38100">
            <a:solidFill>
              <a:srgbClr val="99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C275E677-C255-2709-BA0E-12E170FCE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F68FACDA-3AB2-E4A9-8C0F-668DDBAB0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478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14144-4BE5-1632-EA15-1A1F739FB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SEK Improvement Intuition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1E64D7-CFBA-22C9-A609-10B5B7E500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82300" cy="492351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 the asymptotic limit as 2 small jobs are really small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),</a:t>
                </a:r>
                <a:br>
                  <a:rPr lang="en-US" dirty="0"/>
                </a:br>
                <a:r>
                  <a:rPr lang="en-US" dirty="0"/>
                  <a:t>scaling of improvement favors SEK.</a:t>
                </a:r>
              </a:p>
              <a:p>
                <a:pPr marL="0" indent="0">
                  <a:buNone/>
                </a:pPr>
                <a:r>
                  <a:rPr lang="en-US" dirty="0"/>
                  <a:t>Sum of response times per divergence: In expectation, SEK smaller.</a:t>
                </a:r>
              </a:p>
              <a:p>
                <a:pPr marL="0" indent="0">
                  <a:buNone/>
                </a:pPr>
                <a:r>
                  <a:rPr lang="en-US" dirty="0"/>
                  <a:t>Early arrival: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probability </a:t>
                </a:r>
                <a:r>
                  <a:rPr lang="en-US" dirty="0"/>
                  <a:t>per divergence,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advantage for SRPT-k</a:t>
                </a:r>
              </a:p>
              <a:p>
                <a:pPr marL="0" indent="0">
                  <a:buNone/>
                </a:pPr>
                <a:r>
                  <a:rPr lang="en-US" dirty="0"/>
                  <a:t>Late arrival: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probability </a:t>
                </a:r>
                <a:r>
                  <a:rPr lang="en-US" dirty="0"/>
                  <a:t>per divergence,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advantage </a:t>
                </a:r>
                <a:r>
                  <a:rPr lang="en-US" dirty="0"/>
                  <a:t>for SEK</a:t>
                </a:r>
              </a:p>
              <a:p>
                <a:pPr marL="0" indent="0">
                  <a:buNone/>
                </a:pPr>
                <a:r>
                  <a:rPr lang="en-US" dirty="0"/>
                  <a:t>All other arrival patterns: SEK no worse.</a:t>
                </a:r>
              </a:p>
              <a:p>
                <a:pPr marL="0" indent="0">
                  <a:buNone/>
                </a:pPr>
                <a:r>
                  <a:rPr lang="en-US" dirty="0"/>
                  <a:t>Some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easy</a:t>
                </a:r>
                <a:r>
                  <a:rPr lang="en-US" dirty="0"/>
                  <a:t> to prove, some challenging.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1E64D7-CFBA-22C9-A609-10B5B7E500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82300" cy="4923518"/>
              </a:xfrm>
              <a:blipFill>
                <a:blip r:embed="rId2"/>
                <a:stretch>
                  <a:fillRect l="-1188" t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DB2B1EF-A456-2CD8-8DFF-2CBB2C42DFCC}"/>
              </a:ext>
            </a:extLst>
          </p:cNvPr>
          <p:cNvGrpSpPr/>
          <p:nvPr/>
        </p:nvGrpSpPr>
        <p:grpSpPr>
          <a:xfrm>
            <a:off x="9381498" y="230188"/>
            <a:ext cx="2556057" cy="1189038"/>
            <a:chOff x="6803295" y="3077831"/>
            <a:chExt cx="3948430" cy="181316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84D15BE-AD89-455F-1C39-B053F8439DA7}"/>
                </a:ext>
              </a:extLst>
            </p:cNvPr>
            <p:cNvGrpSpPr/>
            <p:nvPr/>
          </p:nvGrpSpPr>
          <p:grpSpPr>
            <a:xfrm>
              <a:off x="6803295" y="3077831"/>
              <a:ext cx="3948430" cy="1813168"/>
              <a:chOff x="4277296" y="1665997"/>
              <a:chExt cx="3948430" cy="1813168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24E4D57F-97E9-E29E-DEEA-94B887C0FC0C}"/>
                  </a:ext>
                </a:extLst>
              </p:cNvPr>
              <p:cNvGrpSpPr/>
              <p:nvPr/>
            </p:nvGrpSpPr>
            <p:grpSpPr>
              <a:xfrm>
                <a:off x="4277296" y="2154555"/>
                <a:ext cx="3948430" cy="1324610"/>
                <a:chOff x="4277296" y="2154555"/>
                <a:chExt cx="3948430" cy="1324610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D0B579CB-9EBD-3272-7C87-1894BA713976}"/>
                    </a:ext>
                  </a:extLst>
                </p:cNvPr>
                <p:cNvGrpSpPr/>
                <p:nvPr/>
              </p:nvGrpSpPr>
              <p:grpSpPr>
                <a:xfrm>
                  <a:off x="4277296" y="2154555"/>
                  <a:ext cx="3948430" cy="1324610"/>
                  <a:chOff x="1559" y="3013"/>
                  <a:chExt cx="6218" cy="2086"/>
                </a:xfrm>
              </p:grpSpPr>
              <p:grpSp>
                <p:nvGrpSpPr>
                  <p:cNvPr id="11" name="Group 10">
                    <a:extLst>
                      <a:ext uri="{FF2B5EF4-FFF2-40B4-BE49-F238E27FC236}">
                        <a16:creationId xmlns:a16="http://schemas.microsoft.com/office/drawing/2014/main" id="{0CD944C7-B68D-BDC3-C016-CCE293617B36}"/>
                      </a:ext>
                    </a:extLst>
                  </p:cNvPr>
                  <p:cNvGrpSpPr/>
                  <p:nvPr/>
                </p:nvGrpSpPr>
                <p:grpSpPr>
                  <a:xfrm>
                    <a:off x="1559" y="3013"/>
                    <a:ext cx="6218" cy="2086"/>
                    <a:chOff x="1559" y="3013"/>
                    <a:chExt cx="6218" cy="2086"/>
                  </a:xfrm>
                </p:grpSpPr>
                <p:grpSp>
                  <p:nvGrpSpPr>
                    <p:cNvPr id="14" name="Group 13">
                      <a:extLst>
                        <a:ext uri="{FF2B5EF4-FFF2-40B4-BE49-F238E27FC236}">
                          <a16:creationId xmlns:a16="http://schemas.microsoft.com/office/drawing/2014/main" id="{16A8BC47-1429-C0B4-C5BA-215A50EAF2C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59" y="3013"/>
                      <a:ext cx="6218" cy="1763"/>
                      <a:chOff x="5630" y="3687"/>
                      <a:chExt cx="6218" cy="1763"/>
                    </a:xfrm>
                  </p:grpSpPr>
                  <p:grpSp>
                    <p:nvGrpSpPr>
                      <p:cNvPr id="18" name="Group 17">
                        <a:extLst>
                          <a:ext uri="{FF2B5EF4-FFF2-40B4-BE49-F238E27FC236}">
                            <a16:creationId xmlns:a16="http://schemas.microsoft.com/office/drawing/2014/main" id="{475E1DE0-94BE-5EF9-0E19-4E4BBA6F968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30" y="3687"/>
                        <a:ext cx="5881" cy="1763"/>
                        <a:chOff x="5630" y="3687"/>
                        <a:chExt cx="5881" cy="1763"/>
                      </a:xfrm>
                    </p:grpSpPr>
                    <p:sp>
                      <p:nvSpPr>
                        <p:cNvPr id="21" name="Rectangles 8">
                          <a:extLst>
                            <a:ext uri="{FF2B5EF4-FFF2-40B4-BE49-F238E27FC236}">
                              <a16:creationId xmlns:a16="http://schemas.microsoft.com/office/drawing/2014/main" id="{6A7D703C-DE9E-40C9-C33C-D43821B0AF2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596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" name="Rectangles 9">
                          <a:extLst>
                            <a:ext uri="{FF2B5EF4-FFF2-40B4-BE49-F238E27FC236}">
                              <a16:creationId xmlns:a16="http://schemas.microsoft.com/office/drawing/2014/main" id="{8911A3FD-BF8B-87B4-7BF0-87AB5035307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538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" name="Rectangles 10">
                          <a:extLst>
                            <a:ext uri="{FF2B5EF4-FFF2-40B4-BE49-F238E27FC236}">
                              <a16:creationId xmlns:a16="http://schemas.microsoft.com/office/drawing/2014/main" id="{ECD3A48B-756D-B255-4522-8EA835F01E7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80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" name="Rectangles 11">
                          <a:extLst>
                            <a:ext uri="{FF2B5EF4-FFF2-40B4-BE49-F238E27FC236}">
                              <a16:creationId xmlns:a16="http://schemas.microsoft.com/office/drawing/2014/main" id="{A2B30CCD-ED54-4A48-2355-A7E39D731C8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22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" name="Oval 24">
                          <a:extLst>
                            <a:ext uri="{FF2B5EF4-FFF2-40B4-BE49-F238E27FC236}">
                              <a16:creationId xmlns:a16="http://schemas.microsoft.com/office/drawing/2014/main" id="{AC1BDDCF-838D-0FA3-B924-1E9DFB8590B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684" y="3687"/>
                          <a:ext cx="827" cy="881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cxnSp>
                      <p:nvCxnSpPr>
                        <p:cNvPr id="26" name="Straight Connector 25">
                          <a:extLst>
                            <a:ext uri="{FF2B5EF4-FFF2-40B4-BE49-F238E27FC236}">
                              <a16:creationId xmlns:a16="http://schemas.microsoft.com/office/drawing/2014/main" id="{C3D62208-AF9D-2FD8-5254-1FA40FCB4A9B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5630" y="3721"/>
                          <a:ext cx="966" cy="15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7" name="Straight Connector 26">
                          <a:extLst>
                            <a:ext uri="{FF2B5EF4-FFF2-40B4-BE49-F238E27FC236}">
                              <a16:creationId xmlns:a16="http://schemas.microsoft.com/office/drawing/2014/main" id="{94939348-8EA9-79F9-5E80-218F0DF0826D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5630" y="5435"/>
                          <a:ext cx="966" cy="15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19" name="Straight Arrow Connector 18">
                        <a:extLst>
                          <a:ext uri="{FF2B5EF4-FFF2-40B4-BE49-F238E27FC236}">
                            <a16:creationId xmlns:a16="http://schemas.microsoft.com/office/drawing/2014/main" id="{6FB999D0-10A8-2BB3-0732-E07FD5A631D3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11511" y="4124"/>
                        <a:ext cx="337" cy="7"/>
                      </a:xfrm>
                      <a:prstGeom prst="straightConnector1">
                        <a:avLst/>
                      </a:prstGeom>
                      <a:ln w="25400">
                        <a:solidFill>
                          <a:schemeClr val="tx1"/>
                        </a:solidFill>
                        <a:tailEnd type="arrow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5" name="Oval 14">
                      <a:extLst>
                        <a:ext uri="{FF2B5EF4-FFF2-40B4-BE49-F238E27FC236}">
                          <a16:creationId xmlns:a16="http://schemas.microsoft.com/office/drawing/2014/main" id="{C4956ED9-3D2B-9113-442B-40FE227A0B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13" y="4218"/>
                      <a:ext cx="827" cy="88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16" name="Straight Arrow Connector 15">
                      <a:extLst>
                        <a:ext uri="{FF2B5EF4-FFF2-40B4-BE49-F238E27FC236}">
                          <a16:creationId xmlns:a16="http://schemas.microsoft.com/office/drawing/2014/main" id="{99FC0085-BACF-0424-9205-48E9B0CDF73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440" y="4655"/>
                      <a:ext cx="337" cy="7"/>
                    </a:xfrm>
                    <a:prstGeom prst="straightConnector1">
                      <a:avLst/>
                    </a:prstGeom>
                    <a:ln w="25400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7" name="Rectangles 17">
                      <a:extLst>
                        <a:ext uri="{FF2B5EF4-FFF2-40B4-BE49-F238E27FC236}">
                          <a16:creationId xmlns:a16="http://schemas.microsoft.com/office/drawing/2014/main" id="{ACBEF490-1515-3D6F-0CD5-5CD66B898A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47" y="3128"/>
                      <a:ext cx="770" cy="565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/>
                      <a:r>
                        <a:rPr lang="en-US" dirty="0"/>
                        <a:t>0.3</a:t>
                      </a:r>
                    </a:p>
                  </p:txBody>
                </p:sp>
              </p:grpSp>
              <p:cxnSp>
                <p:nvCxnSpPr>
                  <p:cNvPr id="12" name="Straight Connector 11">
                    <a:extLst>
                      <a:ext uri="{FF2B5EF4-FFF2-40B4-BE49-F238E27FC236}">
                        <a16:creationId xmlns:a16="http://schemas.microsoft.com/office/drawing/2014/main" id="{869A40A2-DF1E-59EF-204C-E532137744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308" y="3443"/>
                    <a:ext cx="259" cy="151"/>
                  </a:xfrm>
                  <a:prstGeom prst="line">
                    <a:avLst/>
                  </a:prstGeom>
                  <a:ln w="38100">
                    <a:solidFill>
                      <a:srgbClr val="20202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Straight Connector 12">
                    <a:extLst>
                      <a:ext uri="{FF2B5EF4-FFF2-40B4-BE49-F238E27FC236}">
                        <a16:creationId xmlns:a16="http://schemas.microsoft.com/office/drawing/2014/main" id="{1B7ED48E-CB07-62D2-5CC8-A436E2758270}"/>
                      </a:ext>
                    </a:extLst>
                  </p:cNvPr>
                  <p:cNvCxnSpPr>
                    <a:cxnSpLocks/>
                    <a:endCxn id="15" idx="2"/>
                  </p:cNvCxnSpPr>
                  <p:nvPr/>
                </p:nvCxnSpPr>
                <p:spPr>
                  <a:xfrm>
                    <a:off x="6308" y="4452"/>
                    <a:ext cx="305" cy="207"/>
                  </a:xfrm>
                  <a:prstGeom prst="line">
                    <a:avLst/>
                  </a:prstGeom>
                  <a:ln w="38100">
                    <a:solidFill>
                      <a:srgbClr val="20202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" name="Rectangles 16">
                  <a:extLst>
                    <a:ext uri="{FF2B5EF4-FFF2-40B4-BE49-F238E27FC236}">
                      <a16:creationId xmlns:a16="http://schemas.microsoft.com/office/drawing/2014/main" id="{A1D678DD-AC08-1D98-160D-9CBB7C0C2B82}"/>
                    </a:ext>
                  </a:extLst>
                </p:cNvPr>
                <p:cNvSpPr/>
                <p:nvPr/>
              </p:nvSpPr>
              <p:spPr>
                <a:xfrm>
                  <a:off x="6744883" y="2713990"/>
                  <a:ext cx="475616" cy="31877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dirty="0"/>
                    <a:t>0.4</a:t>
                  </a:r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334D36-8059-0899-787B-83A824579128}"/>
                  </a:ext>
                </a:extLst>
              </p:cNvPr>
              <p:cNvSpPr txBox="1"/>
              <p:nvPr/>
            </p:nvSpPr>
            <p:spPr>
              <a:xfrm>
                <a:off x="6165468" y="1665997"/>
                <a:ext cx="924124" cy="50062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tIns="0" rtlCol="0">
                <a:noAutofit/>
              </a:bodyPr>
              <a:lstStyle/>
              <a:p>
                <a:r>
                  <a:rPr lang="en-US" sz="2200" dirty="0"/>
                  <a:t>SEK</a:t>
                </a:r>
              </a:p>
            </p:txBody>
          </p:sp>
        </p:grpSp>
        <p:sp>
          <p:nvSpPr>
            <p:cNvPr id="6" name="Rectangles 21">
              <a:extLst>
                <a:ext uri="{FF2B5EF4-FFF2-40B4-BE49-F238E27FC236}">
                  <a16:creationId xmlns:a16="http://schemas.microsoft.com/office/drawing/2014/main" id="{90D05DA0-58B2-8644-A6C6-52909CA3144F}"/>
                </a:ext>
              </a:extLst>
            </p:cNvPr>
            <p:cNvSpPr/>
            <p:nvPr/>
          </p:nvSpPr>
          <p:spPr>
            <a:xfrm>
              <a:off x="10019570" y="4170273"/>
              <a:ext cx="503556" cy="6197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FB32BA81-DB5D-64AA-EAA8-488E53298B2E}"/>
              </a:ext>
            </a:extLst>
          </p:cNvPr>
          <p:cNvSpPr/>
          <p:nvPr/>
        </p:nvSpPr>
        <p:spPr>
          <a:xfrm>
            <a:off x="838200" y="3234773"/>
            <a:ext cx="1905000" cy="448074"/>
          </a:xfrm>
          <a:prstGeom prst="rect">
            <a:avLst/>
          </a:prstGeom>
          <a:noFill/>
          <a:ln w="38100"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F32352-F289-3558-03A6-A8D7A5E4E74C}"/>
              </a:ext>
            </a:extLst>
          </p:cNvPr>
          <p:cNvSpPr/>
          <p:nvPr/>
        </p:nvSpPr>
        <p:spPr>
          <a:xfrm>
            <a:off x="838200" y="3760941"/>
            <a:ext cx="1838325" cy="448073"/>
          </a:xfrm>
          <a:prstGeom prst="rect">
            <a:avLst/>
          </a:prstGeom>
          <a:noFill/>
          <a:ln w="38100">
            <a:solidFill>
              <a:srgbClr val="99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12B5EDBC-2FC4-6B8D-5034-DC29D4DAA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6303CA0F-FE71-068A-5E05-6C1F39729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13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14144-4BE5-1632-EA15-1A1F739FB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SEK Improvement Intuition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1E64D7-CFBA-22C9-A609-10B5B7E500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82300" cy="492351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 the asymptotic limit as 2 small jobs are really small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),</a:t>
                </a:r>
                <a:br>
                  <a:rPr lang="en-US" dirty="0"/>
                </a:br>
                <a:r>
                  <a:rPr lang="en-US" dirty="0"/>
                  <a:t>scaling of improvement favors SEK.</a:t>
                </a:r>
              </a:p>
              <a:p>
                <a:pPr marL="0" indent="0">
                  <a:buNone/>
                </a:pPr>
                <a:r>
                  <a:rPr lang="en-US" dirty="0"/>
                  <a:t>Sum of response times per divergence: In expectation, SEK smaller.</a:t>
                </a:r>
              </a:p>
              <a:p>
                <a:pPr marL="0" indent="0">
                  <a:buNone/>
                </a:pPr>
                <a:r>
                  <a:rPr lang="en-US" dirty="0"/>
                  <a:t>Early arrival: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probability </a:t>
                </a:r>
                <a:r>
                  <a:rPr lang="en-US" dirty="0"/>
                  <a:t>per divergence,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advantage </a:t>
                </a:r>
                <a:r>
                  <a:rPr lang="en-US" dirty="0"/>
                  <a:t>for SRPT-k</a:t>
                </a:r>
              </a:p>
              <a:p>
                <a:pPr marL="0" indent="0">
                  <a:buNone/>
                </a:pPr>
                <a:r>
                  <a:rPr lang="en-US" dirty="0"/>
                  <a:t>Late arrival: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probability </a:t>
                </a:r>
                <a:r>
                  <a:rPr lang="en-US" dirty="0"/>
                  <a:t>per divergence,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advantage </a:t>
                </a:r>
                <a:r>
                  <a:rPr lang="en-US" dirty="0"/>
                  <a:t>for SEK</a:t>
                </a:r>
              </a:p>
              <a:p>
                <a:pPr marL="0" indent="0">
                  <a:buNone/>
                </a:pPr>
                <a:r>
                  <a:rPr lang="en-US" dirty="0"/>
                  <a:t>All other arrival patterns: SEK </a:t>
                </a:r>
                <a:r>
                  <a:rPr lang="en-US" dirty="0">
                    <a:solidFill>
                      <a:srgbClr val="C00000"/>
                    </a:solidFill>
                  </a:rPr>
                  <a:t>no worse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Some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easy</a:t>
                </a:r>
                <a:r>
                  <a:rPr lang="en-US" dirty="0"/>
                  <a:t> to prove, some </a:t>
                </a:r>
                <a:r>
                  <a:rPr lang="en-US" dirty="0">
                    <a:solidFill>
                      <a:srgbClr val="C00000"/>
                    </a:solidFill>
                  </a:rPr>
                  <a:t>challenging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Solution: Policy tweaks.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1E64D7-CFBA-22C9-A609-10B5B7E500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82300" cy="4923518"/>
              </a:xfrm>
              <a:blipFill>
                <a:blip r:embed="rId2"/>
                <a:stretch>
                  <a:fillRect l="-1188" t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DB2B1EF-A456-2CD8-8DFF-2CBB2C42DFCC}"/>
              </a:ext>
            </a:extLst>
          </p:cNvPr>
          <p:cNvGrpSpPr/>
          <p:nvPr/>
        </p:nvGrpSpPr>
        <p:grpSpPr>
          <a:xfrm>
            <a:off x="9381498" y="230188"/>
            <a:ext cx="2556057" cy="1189038"/>
            <a:chOff x="6803295" y="3077831"/>
            <a:chExt cx="3948430" cy="181316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84D15BE-AD89-455F-1C39-B053F8439DA7}"/>
                </a:ext>
              </a:extLst>
            </p:cNvPr>
            <p:cNvGrpSpPr/>
            <p:nvPr/>
          </p:nvGrpSpPr>
          <p:grpSpPr>
            <a:xfrm>
              <a:off x="6803295" y="3077831"/>
              <a:ext cx="3948430" cy="1813168"/>
              <a:chOff x="4277296" y="1665997"/>
              <a:chExt cx="3948430" cy="1813168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24E4D57F-97E9-E29E-DEEA-94B887C0FC0C}"/>
                  </a:ext>
                </a:extLst>
              </p:cNvPr>
              <p:cNvGrpSpPr/>
              <p:nvPr/>
            </p:nvGrpSpPr>
            <p:grpSpPr>
              <a:xfrm>
                <a:off x="4277296" y="2154555"/>
                <a:ext cx="3948430" cy="1324610"/>
                <a:chOff x="4277296" y="2154555"/>
                <a:chExt cx="3948430" cy="1324610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D0B579CB-9EBD-3272-7C87-1894BA713976}"/>
                    </a:ext>
                  </a:extLst>
                </p:cNvPr>
                <p:cNvGrpSpPr/>
                <p:nvPr/>
              </p:nvGrpSpPr>
              <p:grpSpPr>
                <a:xfrm>
                  <a:off x="4277296" y="2154555"/>
                  <a:ext cx="3948430" cy="1324610"/>
                  <a:chOff x="1559" y="3013"/>
                  <a:chExt cx="6218" cy="2086"/>
                </a:xfrm>
              </p:grpSpPr>
              <p:grpSp>
                <p:nvGrpSpPr>
                  <p:cNvPr id="11" name="Group 10">
                    <a:extLst>
                      <a:ext uri="{FF2B5EF4-FFF2-40B4-BE49-F238E27FC236}">
                        <a16:creationId xmlns:a16="http://schemas.microsoft.com/office/drawing/2014/main" id="{0CD944C7-B68D-BDC3-C016-CCE293617B36}"/>
                      </a:ext>
                    </a:extLst>
                  </p:cNvPr>
                  <p:cNvGrpSpPr/>
                  <p:nvPr/>
                </p:nvGrpSpPr>
                <p:grpSpPr>
                  <a:xfrm>
                    <a:off x="1559" y="3013"/>
                    <a:ext cx="6218" cy="2086"/>
                    <a:chOff x="1559" y="3013"/>
                    <a:chExt cx="6218" cy="2086"/>
                  </a:xfrm>
                </p:grpSpPr>
                <p:grpSp>
                  <p:nvGrpSpPr>
                    <p:cNvPr id="14" name="Group 13">
                      <a:extLst>
                        <a:ext uri="{FF2B5EF4-FFF2-40B4-BE49-F238E27FC236}">
                          <a16:creationId xmlns:a16="http://schemas.microsoft.com/office/drawing/2014/main" id="{16A8BC47-1429-C0B4-C5BA-215A50EAF2C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59" y="3013"/>
                      <a:ext cx="6218" cy="1763"/>
                      <a:chOff x="5630" y="3687"/>
                      <a:chExt cx="6218" cy="1763"/>
                    </a:xfrm>
                  </p:grpSpPr>
                  <p:grpSp>
                    <p:nvGrpSpPr>
                      <p:cNvPr id="18" name="Group 17">
                        <a:extLst>
                          <a:ext uri="{FF2B5EF4-FFF2-40B4-BE49-F238E27FC236}">
                            <a16:creationId xmlns:a16="http://schemas.microsoft.com/office/drawing/2014/main" id="{475E1DE0-94BE-5EF9-0E19-4E4BBA6F968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30" y="3687"/>
                        <a:ext cx="5881" cy="1763"/>
                        <a:chOff x="5630" y="3687"/>
                        <a:chExt cx="5881" cy="1763"/>
                      </a:xfrm>
                    </p:grpSpPr>
                    <p:sp>
                      <p:nvSpPr>
                        <p:cNvPr id="21" name="Rectangles 8">
                          <a:extLst>
                            <a:ext uri="{FF2B5EF4-FFF2-40B4-BE49-F238E27FC236}">
                              <a16:creationId xmlns:a16="http://schemas.microsoft.com/office/drawing/2014/main" id="{6A7D703C-DE9E-40C9-C33C-D43821B0AF2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596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" name="Rectangles 9">
                          <a:extLst>
                            <a:ext uri="{FF2B5EF4-FFF2-40B4-BE49-F238E27FC236}">
                              <a16:creationId xmlns:a16="http://schemas.microsoft.com/office/drawing/2014/main" id="{8911A3FD-BF8B-87B4-7BF0-87AB5035307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538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" name="Rectangles 10">
                          <a:extLst>
                            <a:ext uri="{FF2B5EF4-FFF2-40B4-BE49-F238E27FC236}">
                              <a16:creationId xmlns:a16="http://schemas.microsoft.com/office/drawing/2014/main" id="{ECD3A48B-756D-B255-4522-8EA835F01E7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80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" name="Rectangles 11">
                          <a:extLst>
                            <a:ext uri="{FF2B5EF4-FFF2-40B4-BE49-F238E27FC236}">
                              <a16:creationId xmlns:a16="http://schemas.microsoft.com/office/drawing/2014/main" id="{A2B30CCD-ED54-4A48-2355-A7E39D731C8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22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" name="Oval 24">
                          <a:extLst>
                            <a:ext uri="{FF2B5EF4-FFF2-40B4-BE49-F238E27FC236}">
                              <a16:creationId xmlns:a16="http://schemas.microsoft.com/office/drawing/2014/main" id="{AC1BDDCF-838D-0FA3-B924-1E9DFB8590B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684" y="3687"/>
                          <a:ext cx="827" cy="881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cxnSp>
                      <p:nvCxnSpPr>
                        <p:cNvPr id="26" name="Straight Connector 25">
                          <a:extLst>
                            <a:ext uri="{FF2B5EF4-FFF2-40B4-BE49-F238E27FC236}">
                              <a16:creationId xmlns:a16="http://schemas.microsoft.com/office/drawing/2014/main" id="{C3D62208-AF9D-2FD8-5254-1FA40FCB4A9B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5630" y="3721"/>
                          <a:ext cx="966" cy="15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7" name="Straight Connector 26">
                          <a:extLst>
                            <a:ext uri="{FF2B5EF4-FFF2-40B4-BE49-F238E27FC236}">
                              <a16:creationId xmlns:a16="http://schemas.microsoft.com/office/drawing/2014/main" id="{94939348-8EA9-79F9-5E80-218F0DF0826D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5630" y="5435"/>
                          <a:ext cx="966" cy="15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19" name="Straight Arrow Connector 18">
                        <a:extLst>
                          <a:ext uri="{FF2B5EF4-FFF2-40B4-BE49-F238E27FC236}">
                            <a16:creationId xmlns:a16="http://schemas.microsoft.com/office/drawing/2014/main" id="{6FB999D0-10A8-2BB3-0732-E07FD5A631D3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11511" y="4124"/>
                        <a:ext cx="337" cy="7"/>
                      </a:xfrm>
                      <a:prstGeom prst="straightConnector1">
                        <a:avLst/>
                      </a:prstGeom>
                      <a:ln w="25400">
                        <a:solidFill>
                          <a:schemeClr val="tx1"/>
                        </a:solidFill>
                        <a:tailEnd type="arrow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5" name="Oval 14">
                      <a:extLst>
                        <a:ext uri="{FF2B5EF4-FFF2-40B4-BE49-F238E27FC236}">
                          <a16:creationId xmlns:a16="http://schemas.microsoft.com/office/drawing/2014/main" id="{C4956ED9-3D2B-9113-442B-40FE227A0B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13" y="4218"/>
                      <a:ext cx="827" cy="88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16" name="Straight Arrow Connector 15">
                      <a:extLst>
                        <a:ext uri="{FF2B5EF4-FFF2-40B4-BE49-F238E27FC236}">
                          <a16:creationId xmlns:a16="http://schemas.microsoft.com/office/drawing/2014/main" id="{99FC0085-BACF-0424-9205-48E9B0CDF73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440" y="4655"/>
                      <a:ext cx="337" cy="7"/>
                    </a:xfrm>
                    <a:prstGeom prst="straightConnector1">
                      <a:avLst/>
                    </a:prstGeom>
                    <a:ln w="25400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7" name="Rectangles 17">
                      <a:extLst>
                        <a:ext uri="{FF2B5EF4-FFF2-40B4-BE49-F238E27FC236}">
                          <a16:creationId xmlns:a16="http://schemas.microsoft.com/office/drawing/2014/main" id="{ACBEF490-1515-3D6F-0CD5-5CD66B898A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47" y="3128"/>
                      <a:ext cx="770" cy="565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/>
                      <a:r>
                        <a:rPr lang="en-US" dirty="0"/>
                        <a:t>0.3</a:t>
                      </a:r>
                    </a:p>
                  </p:txBody>
                </p:sp>
              </p:grpSp>
              <p:cxnSp>
                <p:nvCxnSpPr>
                  <p:cNvPr id="12" name="Straight Connector 11">
                    <a:extLst>
                      <a:ext uri="{FF2B5EF4-FFF2-40B4-BE49-F238E27FC236}">
                        <a16:creationId xmlns:a16="http://schemas.microsoft.com/office/drawing/2014/main" id="{869A40A2-DF1E-59EF-204C-E532137744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308" y="3443"/>
                    <a:ext cx="259" cy="151"/>
                  </a:xfrm>
                  <a:prstGeom prst="line">
                    <a:avLst/>
                  </a:prstGeom>
                  <a:ln w="38100">
                    <a:solidFill>
                      <a:srgbClr val="20202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Straight Connector 12">
                    <a:extLst>
                      <a:ext uri="{FF2B5EF4-FFF2-40B4-BE49-F238E27FC236}">
                        <a16:creationId xmlns:a16="http://schemas.microsoft.com/office/drawing/2014/main" id="{1B7ED48E-CB07-62D2-5CC8-A436E2758270}"/>
                      </a:ext>
                    </a:extLst>
                  </p:cNvPr>
                  <p:cNvCxnSpPr>
                    <a:cxnSpLocks/>
                    <a:endCxn id="15" idx="2"/>
                  </p:cNvCxnSpPr>
                  <p:nvPr/>
                </p:nvCxnSpPr>
                <p:spPr>
                  <a:xfrm>
                    <a:off x="6308" y="4452"/>
                    <a:ext cx="305" cy="207"/>
                  </a:xfrm>
                  <a:prstGeom prst="line">
                    <a:avLst/>
                  </a:prstGeom>
                  <a:ln w="38100">
                    <a:solidFill>
                      <a:srgbClr val="20202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" name="Rectangles 16">
                  <a:extLst>
                    <a:ext uri="{FF2B5EF4-FFF2-40B4-BE49-F238E27FC236}">
                      <a16:creationId xmlns:a16="http://schemas.microsoft.com/office/drawing/2014/main" id="{A1D678DD-AC08-1D98-160D-9CBB7C0C2B82}"/>
                    </a:ext>
                  </a:extLst>
                </p:cNvPr>
                <p:cNvSpPr/>
                <p:nvPr/>
              </p:nvSpPr>
              <p:spPr>
                <a:xfrm>
                  <a:off x="6744883" y="2713990"/>
                  <a:ext cx="475616" cy="31877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dirty="0"/>
                    <a:t>0.4</a:t>
                  </a:r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334D36-8059-0899-787B-83A824579128}"/>
                  </a:ext>
                </a:extLst>
              </p:cNvPr>
              <p:cNvSpPr txBox="1"/>
              <p:nvPr/>
            </p:nvSpPr>
            <p:spPr>
              <a:xfrm>
                <a:off x="6165468" y="1665997"/>
                <a:ext cx="924124" cy="50062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tIns="0" rtlCol="0">
                <a:noAutofit/>
              </a:bodyPr>
              <a:lstStyle/>
              <a:p>
                <a:r>
                  <a:rPr lang="en-US" sz="2200" dirty="0"/>
                  <a:t>SEK</a:t>
                </a:r>
              </a:p>
            </p:txBody>
          </p:sp>
        </p:grpSp>
        <p:sp>
          <p:nvSpPr>
            <p:cNvPr id="6" name="Rectangles 21">
              <a:extLst>
                <a:ext uri="{FF2B5EF4-FFF2-40B4-BE49-F238E27FC236}">
                  <a16:creationId xmlns:a16="http://schemas.microsoft.com/office/drawing/2014/main" id="{90D05DA0-58B2-8644-A6C6-52909CA3144F}"/>
                </a:ext>
              </a:extLst>
            </p:cNvPr>
            <p:cNvSpPr/>
            <p:nvPr/>
          </p:nvSpPr>
          <p:spPr>
            <a:xfrm>
              <a:off x="10019570" y="4170273"/>
              <a:ext cx="503556" cy="6197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FB32BA81-DB5D-64AA-EAA8-488E53298B2E}"/>
              </a:ext>
            </a:extLst>
          </p:cNvPr>
          <p:cNvSpPr/>
          <p:nvPr/>
        </p:nvSpPr>
        <p:spPr>
          <a:xfrm>
            <a:off x="838200" y="3234773"/>
            <a:ext cx="1905000" cy="448074"/>
          </a:xfrm>
          <a:prstGeom prst="rect">
            <a:avLst/>
          </a:prstGeom>
          <a:noFill/>
          <a:ln w="38100"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F32352-F289-3558-03A6-A8D7A5E4E74C}"/>
              </a:ext>
            </a:extLst>
          </p:cNvPr>
          <p:cNvSpPr/>
          <p:nvPr/>
        </p:nvSpPr>
        <p:spPr>
          <a:xfrm>
            <a:off x="838200" y="3760941"/>
            <a:ext cx="1838325" cy="448073"/>
          </a:xfrm>
          <a:prstGeom prst="rect">
            <a:avLst/>
          </a:prstGeom>
          <a:noFill/>
          <a:ln w="38100">
            <a:solidFill>
              <a:srgbClr val="99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 descr="Lights On with solid fill">
            <a:extLst>
              <a:ext uri="{FF2B5EF4-FFF2-40B4-BE49-F238E27FC236}">
                <a16:creationId xmlns:a16="http://schemas.microsoft.com/office/drawing/2014/main" id="{AC042D7D-FFFF-8E9C-9C8C-67342817A8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5091995"/>
            <a:ext cx="914400" cy="914400"/>
          </a:xfrm>
          <a:prstGeom prst="rect">
            <a:avLst/>
          </a:prstGeom>
        </p:spPr>
      </p:pic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CB197D72-ACB5-4FEE-E590-D3216BC1E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76CD692E-F0BE-77F6-710A-65076DAA1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588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C3F45-9B06-32EE-D732-D29DEB70D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1: If not early arrival, SEK better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38EFAA-BB2B-51D8-0B01-E6D6D00920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282874"/>
                <a:ext cx="10515600" cy="306611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Intuition: SEK in a better state.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remaining vs.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.</a:t>
                </a:r>
                <a:br>
                  <a:rPr lang="en-US" dirty="0"/>
                </a:br>
                <a:r>
                  <a:rPr lang="en-US" dirty="0"/>
                  <a:t>Worse response time just after divergence will be gained back later.</a:t>
                </a:r>
              </a:p>
              <a:p>
                <a:pPr marL="0" indent="0">
                  <a:buNone/>
                </a:pPr>
                <a:r>
                  <a:rPr lang="en-US" dirty="0"/>
                  <a:t>Problem: Hard to handle multiple divergences in a row.</a:t>
                </a:r>
              </a:p>
              <a:p>
                <a:pPr marL="0" indent="0">
                  <a:buNone/>
                </a:pPr>
                <a:r>
                  <a:rPr lang="en-US" dirty="0"/>
                  <a:t>Solution: One SEK divergence, then SRPT-k until systems identical.</a:t>
                </a:r>
              </a:p>
              <a:p>
                <a:pPr lvl="1"/>
                <a:r>
                  <a:rPr lang="en-US" dirty="0"/>
                  <a:t>For theory only – in practice, fine to do all divergences.</a:t>
                </a:r>
              </a:p>
              <a:p>
                <a:pPr marL="0" indent="0">
                  <a:buNone/>
                </a:pPr>
                <a:r>
                  <a:rPr lang="en-US" dirty="0"/>
                  <a:t>Challenge solved: Lemma: If no early arrival,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𝑆𝐸𝐾</m:t>
                        </m:r>
                        <m:r>
                          <m:rPr>
                            <m:nor/>
                          </m:rPr>
                          <a:rPr lang="en-US" dirty="0"/>
                          <m:t>-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𝑜𝑛𝑐𝑒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≤∑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𝑆𝑅𝑃𝑇</m:t>
                        </m:r>
                        <m:r>
                          <m:rPr>
                            <m:nor/>
                          </m:rPr>
                          <a:rPr lang="en-US" dirty="0"/>
                          <m:t>-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38EFAA-BB2B-51D8-0B01-E6D6D00920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282874"/>
                <a:ext cx="10515600" cy="3066118"/>
              </a:xfrm>
              <a:blipFill>
                <a:blip r:embed="rId2"/>
                <a:stretch>
                  <a:fillRect l="-1217" t="-3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4E859D74-6F2E-EBB2-71D3-38F485CB1C3A}"/>
              </a:ext>
            </a:extLst>
          </p:cNvPr>
          <p:cNvGrpSpPr/>
          <p:nvPr/>
        </p:nvGrpSpPr>
        <p:grpSpPr>
          <a:xfrm>
            <a:off x="1136544" y="1323426"/>
            <a:ext cx="3892584" cy="1916765"/>
            <a:chOff x="1136544" y="1323426"/>
            <a:chExt cx="3892584" cy="191676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987CFC5-E75A-2058-716C-677CB9320127}"/>
                </a:ext>
              </a:extLst>
            </p:cNvPr>
            <p:cNvGrpSpPr/>
            <p:nvPr/>
          </p:nvGrpSpPr>
          <p:grpSpPr>
            <a:xfrm>
              <a:off x="1136544" y="1551741"/>
              <a:ext cx="3892584" cy="1688450"/>
              <a:chOff x="3708367" y="4632821"/>
              <a:chExt cx="3892584" cy="168845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1CC77D58-4583-AD05-DD00-BACB2F244E2A}"/>
                  </a:ext>
                </a:extLst>
              </p:cNvPr>
              <p:cNvGrpSpPr/>
              <p:nvPr/>
            </p:nvGrpSpPr>
            <p:grpSpPr>
              <a:xfrm>
                <a:off x="3708367" y="4632821"/>
                <a:ext cx="3892584" cy="1688450"/>
                <a:chOff x="1668859" y="3965823"/>
                <a:chExt cx="1996153" cy="1688450"/>
              </a:xfrm>
            </p:grpSpPr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E23BACD7-D5A3-48F7-CA3B-992B925B79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4952" y="3965823"/>
                  <a:ext cx="10129" cy="1170953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9" name="Rectangles 17">
                      <a:extLst>
                        <a:ext uri="{FF2B5EF4-FFF2-40B4-BE49-F238E27FC236}">
                          <a16:creationId xmlns:a16="http://schemas.microsoft.com/office/drawing/2014/main" id="{6A43D4E0-9ED8-941B-1995-CC20342052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63310" y="4272500"/>
                      <a:ext cx="159983" cy="359762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9" name="Rectangles 17">
                      <a:extLst>
                        <a:ext uri="{FF2B5EF4-FFF2-40B4-BE49-F238E27FC236}">
                          <a16:creationId xmlns:a16="http://schemas.microsoft.com/office/drawing/2014/main" id="{6A43D4E0-9ED8-941B-1995-CC20342052E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63310" y="4272500"/>
                      <a:ext cx="159983" cy="35976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0" name="Rectangles 16">
                      <a:extLst>
                        <a:ext uri="{FF2B5EF4-FFF2-40B4-BE49-F238E27FC236}">
                          <a16:creationId xmlns:a16="http://schemas.microsoft.com/office/drawing/2014/main" id="{3A1D19AF-4426-8E89-9C52-62D004AD0F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54914" y="4733970"/>
                      <a:ext cx="168379" cy="333786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10" name="Rectangles 16">
                      <a:extLst>
                        <a:ext uri="{FF2B5EF4-FFF2-40B4-BE49-F238E27FC236}">
                          <a16:creationId xmlns:a16="http://schemas.microsoft.com/office/drawing/2014/main" id="{3A1D19AF-4426-8E89-9C52-62D004AD0F5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54914" y="4733970"/>
                      <a:ext cx="168379" cy="333786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1" name="Rectangles 21">
                  <a:extLst>
                    <a:ext uri="{FF2B5EF4-FFF2-40B4-BE49-F238E27FC236}">
                      <a16:creationId xmlns:a16="http://schemas.microsoft.com/office/drawing/2014/main" id="{440CCA10-BABC-D90D-AE08-87550D6422EC}"/>
                    </a:ext>
                  </a:extLst>
                </p:cNvPr>
                <p:cNvSpPr/>
                <p:nvPr/>
              </p:nvSpPr>
              <p:spPr>
                <a:xfrm>
                  <a:off x="1964167" y="4285168"/>
                  <a:ext cx="1014730" cy="35976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10</a:t>
                  </a:r>
                </a:p>
              </p:txBody>
            </p: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B2B2C644-CFD0-25B0-2224-419AA2BE12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734951" y="5136776"/>
                  <a:ext cx="1930061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9B055BD0-5437-6D90-70F7-37BF9EA6BC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23293" y="5093248"/>
                  <a:ext cx="0" cy="191693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81A11F0A-799E-310F-9ADE-5A13D96288D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68859" y="5284941"/>
                      <a:ext cx="18405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0    </a:t>
                      </a:r>
                      <a14:m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a14:m>
                      <a:r>
                        <a:rPr lang="en-US" dirty="0"/>
                        <a:t>                                </a:t>
                      </a:r>
                      <a14:m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10+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81A11F0A-799E-310F-9ADE-5A13D96288D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68859" y="5284941"/>
                      <a:ext cx="1840574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1358" t="-9836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3883EA56-4965-9A27-6CF6-F9515DC0B89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62997" y="5734754"/>
                <a:ext cx="0" cy="19078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B0AC2E5-CFBD-9402-F60F-8F618B91E191}"/>
                </a:ext>
              </a:extLst>
            </p:cNvPr>
            <p:cNvSpPr txBox="1"/>
            <p:nvPr/>
          </p:nvSpPr>
          <p:spPr>
            <a:xfrm>
              <a:off x="2045078" y="1323426"/>
              <a:ext cx="980122" cy="43088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SRPT-k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0483BF7-CF2C-32C7-AA26-01F59C36E07E}"/>
              </a:ext>
            </a:extLst>
          </p:cNvPr>
          <p:cNvGrpSpPr/>
          <p:nvPr/>
        </p:nvGrpSpPr>
        <p:grpSpPr>
          <a:xfrm>
            <a:off x="5789434" y="1366109"/>
            <a:ext cx="3892584" cy="1916765"/>
            <a:chOff x="5789434" y="1366109"/>
            <a:chExt cx="3892584" cy="191676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86592BB-2286-AC43-DB4D-B8C0F5716AD9}"/>
                </a:ext>
              </a:extLst>
            </p:cNvPr>
            <p:cNvGrpSpPr/>
            <p:nvPr/>
          </p:nvGrpSpPr>
          <p:grpSpPr>
            <a:xfrm>
              <a:off x="5789434" y="1366109"/>
              <a:ext cx="3892584" cy="1916765"/>
              <a:chOff x="1136544" y="1323426"/>
              <a:chExt cx="3892584" cy="1916765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A867A885-420D-E1C4-553A-B8507B5C0391}"/>
                  </a:ext>
                </a:extLst>
              </p:cNvPr>
              <p:cNvGrpSpPr/>
              <p:nvPr/>
            </p:nvGrpSpPr>
            <p:grpSpPr>
              <a:xfrm>
                <a:off x="1136544" y="1551741"/>
                <a:ext cx="3892584" cy="1688450"/>
                <a:chOff x="3708367" y="4632821"/>
                <a:chExt cx="3892584" cy="168845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3B60661E-674B-4EDE-D07C-1A556E9A56DC}"/>
                    </a:ext>
                  </a:extLst>
                </p:cNvPr>
                <p:cNvGrpSpPr/>
                <p:nvPr/>
              </p:nvGrpSpPr>
              <p:grpSpPr>
                <a:xfrm>
                  <a:off x="3708367" y="4632821"/>
                  <a:ext cx="3892584" cy="1688450"/>
                  <a:chOff x="1668859" y="3965823"/>
                  <a:chExt cx="1996153" cy="1688450"/>
                </a:xfrm>
              </p:grpSpPr>
              <p:cxnSp>
                <p:nvCxnSpPr>
                  <p:cNvPr id="24" name="Straight Arrow Connector 23">
                    <a:extLst>
                      <a:ext uri="{FF2B5EF4-FFF2-40B4-BE49-F238E27FC236}">
                        <a16:creationId xmlns:a16="http://schemas.microsoft.com/office/drawing/2014/main" id="{1FD80A33-1E9B-E1F5-029A-E208C7FAAA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734952" y="3965823"/>
                    <a:ext cx="10129" cy="1170953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5" name="Rectangles 17">
                        <a:extLst>
                          <a:ext uri="{FF2B5EF4-FFF2-40B4-BE49-F238E27FC236}">
                            <a16:creationId xmlns:a16="http://schemas.microsoft.com/office/drawing/2014/main" id="{ECED4F14-3CF4-9EA1-91A4-C05B7FBCEB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74780" y="4728573"/>
                        <a:ext cx="159983" cy="334497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>
                  <p:sp>
                    <p:nvSpPr>
                      <p:cNvPr id="25" name="Rectangles 17">
                        <a:extLst>
                          <a:ext uri="{FF2B5EF4-FFF2-40B4-BE49-F238E27FC236}">
                            <a16:creationId xmlns:a16="http://schemas.microsoft.com/office/drawing/2014/main" id="{ECED4F14-3CF4-9EA1-91A4-C05B7FBCEB2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74780" y="4728573"/>
                        <a:ext cx="159983" cy="334497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6" name="Rectangles 16">
                        <a:extLst>
                          <a:ext uri="{FF2B5EF4-FFF2-40B4-BE49-F238E27FC236}">
                            <a16:creationId xmlns:a16="http://schemas.microsoft.com/office/drawing/2014/main" id="{2146D4A2-BAD9-DF7A-AA67-31052BE479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54914" y="4733970"/>
                        <a:ext cx="168379" cy="333786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>
                  <p:sp>
                    <p:nvSpPr>
                      <p:cNvPr id="26" name="Rectangles 16">
                        <a:extLst>
                          <a:ext uri="{FF2B5EF4-FFF2-40B4-BE49-F238E27FC236}">
                            <a16:creationId xmlns:a16="http://schemas.microsoft.com/office/drawing/2014/main" id="{2146D4A2-BAD9-DF7A-AA67-31052BE47997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54914" y="4733970"/>
                        <a:ext cx="168379" cy="333786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27" name="Rectangles 21">
                    <a:extLst>
                      <a:ext uri="{FF2B5EF4-FFF2-40B4-BE49-F238E27FC236}">
                        <a16:creationId xmlns:a16="http://schemas.microsoft.com/office/drawing/2014/main" id="{EABF140D-9606-132A-D7A5-69FB425D2C4D}"/>
                      </a:ext>
                    </a:extLst>
                  </p:cNvPr>
                  <p:cNvSpPr/>
                  <p:nvPr/>
                </p:nvSpPr>
                <p:spPr>
                  <a:xfrm>
                    <a:off x="1755821" y="4294857"/>
                    <a:ext cx="1014730" cy="359762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10</a:t>
                    </a:r>
                  </a:p>
                </p:txBody>
              </p: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DEA23256-490C-C98C-91ED-077611FB99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734951" y="5136776"/>
                    <a:ext cx="1930061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head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0D313944-A9BD-C52E-DC81-7EE48FC2B0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923293" y="5093248"/>
                    <a:ext cx="0" cy="191693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30" name="TextBox 29">
                        <a:extLst>
                          <a:ext uri="{FF2B5EF4-FFF2-40B4-BE49-F238E27FC236}">
                            <a16:creationId xmlns:a16="http://schemas.microsoft.com/office/drawing/2014/main" id="{852619C4-5E2E-7F56-BC42-D3F9F775011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68859" y="5284941"/>
                        <a:ext cx="1840574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dirty="0"/>
                          <a:t>0    </a:t>
                        </a:r>
                        <a14:m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oMath>
                        </a14:m>
                        <a:r>
                          <a:rPr lang="en-US" dirty="0"/>
                          <a:t>      </a:t>
                        </a:r>
                        <a14:m>
                          <m:oMath xmlns:m="http://schemas.openxmlformats.org/officeDocument/2006/math"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oMath>
                        </a14:m>
                        <a:r>
                          <a:rPr lang="en-US" dirty="0"/>
                          <a:t>                    </a:t>
                        </a:r>
                        <a14:m>
                          <m:oMath xmlns:m="http://schemas.openxmlformats.org/officeDocument/2006/math"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a14:m>
                        <a:endParaRPr lang="en-US" dirty="0"/>
                      </a:p>
                    </p:txBody>
                  </p:sp>
                </mc:Choice>
                <mc:Fallback>
                  <p:sp>
                    <p:nvSpPr>
                      <p:cNvPr id="30" name="TextBox 29">
                        <a:extLst>
                          <a:ext uri="{FF2B5EF4-FFF2-40B4-BE49-F238E27FC236}">
                            <a16:creationId xmlns:a16="http://schemas.microsoft.com/office/drawing/2014/main" id="{852619C4-5E2E-7F56-BC42-D3F9F775011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668859" y="5284941"/>
                        <a:ext cx="1840574" cy="369332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l="-1531" t="-9836" b="-2459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475BBB1D-6716-4CCA-5458-FAB9C743F9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895722" y="5762115"/>
                  <a:ext cx="0" cy="19078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9C33AD6-3A86-37F2-84D1-78514012EE89}"/>
                  </a:ext>
                </a:extLst>
              </p:cNvPr>
              <p:cNvSpPr txBox="1"/>
              <p:nvPr/>
            </p:nvSpPr>
            <p:spPr>
              <a:xfrm>
                <a:off x="2045078" y="1323426"/>
                <a:ext cx="980122" cy="43088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SEK</a:t>
                </a:r>
              </a:p>
            </p:txBody>
          </p: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859E599-CDFD-5B43-7A85-13D125CF39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7967" y="2689036"/>
              <a:ext cx="0" cy="1916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F69692B-3DE1-B944-54AB-FF78004D9FCB}"/>
              </a:ext>
            </a:extLst>
          </p:cNvPr>
          <p:cNvGrpSpPr/>
          <p:nvPr/>
        </p:nvGrpSpPr>
        <p:grpSpPr>
          <a:xfrm>
            <a:off x="2855859" y="1647439"/>
            <a:ext cx="4922835" cy="1576308"/>
            <a:chOff x="2855859" y="1647439"/>
            <a:chExt cx="4922835" cy="1576308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CC27935-F6A6-1BCA-73FD-5E00CA00A71E}"/>
                </a:ext>
              </a:extLst>
            </p:cNvPr>
            <p:cNvGrpSpPr/>
            <p:nvPr/>
          </p:nvGrpSpPr>
          <p:grpSpPr>
            <a:xfrm>
              <a:off x="2855859" y="1647439"/>
              <a:ext cx="312892" cy="1539586"/>
              <a:chOff x="2855859" y="1647439"/>
              <a:chExt cx="312892" cy="1539586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6FE7B59E-F2A5-44AF-ECB2-9DB45C0DE7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8751" y="1647439"/>
                <a:ext cx="0" cy="1340858"/>
              </a:xfrm>
              <a:prstGeom prst="line">
                <a:avLst/>
              </a:prstGeom>
              <a:ln w="38100">
                <a:solidFill>
                  <a:srgbClr val="9966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2ABAFAEA-0442-8184-26A0-19C028D291FE}"/>
                      </a:ext>
                    </a:extLst>
                  </p:cNvPr>
                  <p:cNvSpPr txBox="1"/>
                  <p:nvPr/>
                </p:nvSpPr>
                <p:spPr>
                  <a:xfrm>
                    <a:off x="2855859" y="2817695"/>
                    <a:ext cx="291418" cy="369330"/>
                  </a:xfrm>
                  <a:prstGeom prst="rect">
                    <a:avLst/>
                  </a:prstGeom>
                  <a:noFill/>
                  <a:ln w="25400">
                    <a:solidFill>
                      <a:srgbClr val="9966FF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2ABAFAEA-0442-8184-26A0-19C028D291F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55859" y="2817695"/>
                    <a:ext cx="291418" cy="36933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25400">
                    <a:solidFill>
                      <a:srgbClr val="9966FF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A514459C-E0FE-04FC-4E65-5AC7B392090B}"/>
                </a:ext>
              </a:extLst>
            </p:cNvPr>
            <p:cNvGrpSpPr/>
            <p:nvPr/>
          </p:nvGrpSpPr>
          <p:grpSpPr>
            <a:xfrm>
              <a:off x="7465802" y="1684161"/>
              <a:ext cx="312892" cy="1539586"/>
              <a:chOff x="2855859" y="1647439"/>
              <a:chExt cx="312892" cy="1539586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E38B73A-972D-4D31-6EF3-7C9C77D83F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8751" y="1647439"/>
                <a:ext cx="0" cy="1340858"/>
              </a:xfrm>
              <a:prstGeom prst="line">
                <a:avLst/>
              </a:prstGeom>
              <a:ln w="38100">
                <a:solidFill>
                  <a:srgbClr val="9966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41539E7E-14A6-B5B0-7C88-E2CA3D590B4C}"/>
                      </a:ext>
                    </a:extLst>
                  </p:cNvPr>
                  <p:cNvSpPr txBox="1"/>
                  <p:nvPr/>
                </p:nvSpPr>
                <p:spPr>
                  <a:xfrm>
                    <a:off x="2855859" y="2817695"/>
                    <a:ext cx="291418" cy="369330"/>
                  </a:xfrm>
                  <a:prstGeom prst="rect">
                    <a:avLst/>
                  </a:prstGeom>
                  <a:noFill/>
                  <a:ln w="25400">
                    <a:solidFill>
                      <a:srgbClr val="9966FF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41539E7E-14A6-B5B0-7C88-E2CA3D590B4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55859" y="2817695"/>
                    <a:ext cx="291418" cy="36933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25400">
                    <a:solidFill>
                      <a:srgbClr val="9966FF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42" name="Footer Placeholder 41">
            <a:extLst>
              <a:ext uri="{FF2B5EF4-FFF2-40B4-BE49-F238E27FC236}">
                <a16:creationId xmlns:a16="http://schemas.microsoft.com/office/drawing/2014/main" id="{8A774FD5-5CB0-8C4C-EB52-3B667F7B7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084B3D0D-E89B-DE6C-C220-27D66CE48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44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FE23462-EAEA-58AE-ED8F-C384D176A24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Challenge 2: If early arrival, only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worse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FE23462-EAEA-58AE-ED8F-C384D176A2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176F3B-3954-F20C-C3B5-539A3D6BE5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315225"/>
                <a:ext cx="10915643" cy="3333221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Worse until systems next identical.</a:t>
                </a:r>
                <a:br>
                  <a:rPr lang="en-US" dirty="0"/>
                </a:br>
                <a:r>
                  <a:rPr lang="en-US" dirty="0"/>
                  <a:t>Intuition: At most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r>
                  <a:rPr lang="en-US" dirty="0"/>
                  <a:t> worse per arrival,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arrivals.</a:t>
                </a:r>
              </a:p>
              <a:p>
                <a:pPr marL="0" indent="0">
                  <a:buNone/>
                </a:pPr>
                <a:r>
                  <a:rPr lang="en-US" dirty="0"/>
                  <a:t>Lemma: SRPT-k worst-case property: Positive part monotonically decreasing,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𝑆𝐸𝐾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-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𝑜𝑛𝑐𝑒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𝑆𝑅𝑃𝑇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-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1. How to convert to a per-arrival result?</a:t>
                </a:r>
              </a:p>
              <a:p>
                <a:pPr marL="0" indent="0">
                  <a:buNone/>
                </a:pPr>
                <a:r>
                  <a:rPr lang="en-US" dirty="0"/>
                  <a:t>2. How to prove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arrivals, not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or more? Hard for general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Solution: Need even better worst-case properties. Policy Tweak: SMOD!</a:t>
                </a:r>
              </a:p>
              <a:p>
                <a:pPr lvl="1"/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176F3B-3954-F20C-C3B5-539A3D6BE5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315225"/>
                <a:ext cx="10915643" cy="3333221"/>
              </a:xfrm>
              <a:blipFill>
                <a:blip r:embed="rId3"/>
                <a:stretch>
                  <a:fillRect l="-894" t="-3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3F6E6C5B-0DBD-A06A-B80F-D0E6EB0CEE29}"/>
              </a:ext>
            </a:extLst>
          </p:cNvPr>
          <p:cNvGrpSpPr/>
          <p:nvPr/>
        </p:nvGrpSpPr>
        <p:grpSpPr>
          <a:xfrm>
            <a:off x="1136544" y="1323426"/>
            <a:ext cx="3892584" cy="1916765"/>
            <a:chOff x="1136544" y="1323426"/>
            <a:chExt cx="3892584" cy="191676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AAF580B-F0B9-2709-769E-8398646D1B0D}"/>
                </a:ext>
              </a:extLst>
            </p:cNvPr>
            <p:cNvGrpSpPr/>
            <p:nvPr/>
          </p:nvGrpSpPr>
          <p:grpSpPr>
            <a:xfrm>
              <a:off x="1136544" y="1551741"/>
              <a:ext cx="3892584" cy="1688450"/>
              <a:chOff x="3708367" y="4632821"/>
              <a:chExt cx="3892584" cy="168845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0B7AF861-2680-50C9-2DCA-67004955FEC2}"/>
                  </a:ext>
                </a:extLst>
              </p:cNvPr>
              <p:cNvGrpSpPr/>
              <p:nvPr/>
            </p:nvGrpSpPr>
            <p:grpSpPr>
              <a:xfrm>
                <a:off x="3708367" y="4632821"/>
                <a:ext cx="3892584" cy="1688450"/>
                <a:chOff x="1668859" y="3965823"/>
                <a:chExt cx="1996153" cy="1688450"/>
              </a:xfrm>
            </p:grpSpPr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519009D0-2BFD-DCD9-CBA7-70B100E466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4952" y="3965823"/>
                  <a:ext cx="10129" cy="1170953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0" name="Rectangles 17">
                      <a:extLst>
                        <a:ext uri="{FF2B5EF4-FFF2-40B4-BE49-F238E27FC236}">
                          <a16:creationId xmlns:a16="http://schemas.microsoft.com/office/drawing/2014/main" id="{F1A189C0-11C5-4501-0090-556CDC81CC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63310" y="4272500"/>
                      <a:ext cx="159983" cy="359762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10" name="Rectangles 17">
                      <a:extLst>
                        <a:ext uri="{FF2B5EF4-FFF2-40B4-BE49-F238E27FC236}">
                          <a16:creationId xmlns:a16="http://schemas.microsoft.com/office/drawing/2014/main" id="{F1A189C0-11C5-4501-0090-556CDC81CC0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63310" y="4272500"/>
                      <a:ext cx="159983" cy="359762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1" name="Rectangles 16">
                      <a:extLst>
                        <a:ext uri="{FF2B5EF4-FFF2-40B4-BE49-F238E27FC236}">
                          <a16:creationId xmlns:a16="http://schemas.microsoft.com/office/drawing/2014/main" id="{7524ACFC-8114-C8C7-6762-1C102250F6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54914" y="4733970"/>
                      <a:ext cx="168379" cy="333786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11" name="Rectangles 16">
                      <a:extLst>
                        <a:ext uri="{FF2B5EF4-FFF2-40B4-BE49-F238E27FC236}">
                          <a16:creationId xmlns:a16="http://schemas.microsoft.com/office/drawing/2014/main" id="{7524ACFC-8114-C8C7-6762-1C102250F6F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54914" y="4733970"/>
                      <a:ext cx="168379" cy="333786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2" name="Rectangles 21">
                  <a:extLst>
                    <a:ext uri="{FF2B5EF4-FFF2-40B4-BE49-F238E27FC236}">
                      <a16:creationId xmlns:a16="http://schemas.microsoft.com/office/drawing/2014/main" id="{591FABB9-FEAB-6DE7-0A38-A64C9225FB75}"/>
                    </a:ext>
                  </a:extLst>
                </p:cNvPr>
                <p:cNvSpPr/>
                <p:nvPr/>
              </p:nvSpPr>
              <p:spPr>
                <a:xfrm>
                  <a:off x="1964167" y="4285168"/>
                  <a:ext cx="1014730" cy="35976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10</a:t>
                  </a:r>
                </a:p>
              </p:txBody>
            </p: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72BF3742-F052-CA12-6B00-391E3535B3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734951" y="5136776"/>
                  <a:ext cx="1930061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8D57BCCE-3576-EFC2-2970-4D9FBC12A0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23293" y="5093248"/>
                  <a:ext cx="0" cy="191693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C2384C8C-F3DA-E633-2284-C0AABB01CA1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68859" y="5284941"/>
                      <a:ext cx="18405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0    </a:t>
                      </a:r>
                      <a14:m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a14:m>
                      <a:r>
                        <a:rPr lang="en-US" dirty="0"/>
                        <a:t>                                </a:t>
                      </a:r>
                      <a14:m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10+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C2384C8C-F3DA-E633-2284-C0AABB01CA1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68859" y="5284941"/>
                      <a:ext cx="1840574" cy="3693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1358" t="-9836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66978372-1409-3284-11D8-263AD5C99A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62997" y="5734754"/>
                <a:ext cx="0" cy="19078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A3EC764-2405-F784-BD25-240D6FFD6FA9}"/>
                </a:ext>
              </a:extLst>
            </p:cNvPr>
            <p:cNvSpPr txBox="1"/>
            <p:nvPr/>
          </p:nvSpPr>
          <p:spPr>
            <a:xfrm>
              <a:off x="2045078" y="1323426"/>
              <a:ext cx="980122" cy="43088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SRPT-k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C8DF03B-B7A7-1B00-3B98-D8771E39FE29}"/>
              </a:ext>
            </a:extLst>
          </p:cNvPr>
          <p:cNvGrpSpPr/>
          <p:nvPr/>
        </p:nvGrpSpPr>
        <p:grpSpPr>
          <a:xfrm>
            <a:off x="5789434" y="1366109"/>
            <a:ext cx="3892584" cy="1916765"/>
            <a:chOff x="1136544" y="1323426"/>
            <a:chExt cx="3892584" cy="191676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A1342AF-5AE4-5D0B-4C58-18636915E424}"/>
                </a:ext>
              </a:extLst>
            </p:cNvPr>
            <p:cNvGrpSpPr/>
            <p:nvPr/>
          </p:nvGrpSpPr>
          <p:grpSpPr>
            <a:xfrm>
              <a:off x="1136544" y="1551741"/>
              <a:ext cx="3892584" cy="1688450"/>
              <a:chOff x="3708367" y="4632821"/>
              <a:chExt cx="3892584" cy="168845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738229BF-BFEC-F395-BA33-863AC8C47CF9}"/>
                  </a:ext>
                </a:extLst>
              </p:cNvPr>
              <p:cNvGrpSpPr/>
              <p:nvPr/>
            </p:nvGrpSpPr>
            <p:grpSpPr>
              <a:xfrm>
                <a:off x="3708367" y="4632821"/>
                <a:ext cx="3892584" cy="1688450"/>
                <a:chOff x="1668859" y="3965823"/>
                <a:chExt cx="1996153" cy="1688450"/>
              </a:xfrm>
            </p:grpSpPr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086D2D1B-283A-B857-4B44-C4301F822A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4952" y="3965823"/>
                  <a:ext cx="10129" cy="1170953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2" name="Rectangles 17">
                      <a:extLst>
                        <a:ext uri="{FF2B5EF4-FFF2-40B4-BE49-F238E27FC236}">
                          <a16:creationId xmlns:a16="http://schemas.microsoft.com/office/drawing/2014/main" id="{3CA62F7D-C434-7C8E-2A67-C2FF634CEB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74780" y="4728573"/>
                      <a:ext cx="159983" cy="334497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22" name="Rectangles 17">
                      <a:extLst>
                        <a:ext uri="{FF2B5EF4-FFF2-40B4-BE49-F238E27FC236}">
                          <a16:creationId xmlns:a16="http://schemas.microsoft.com/office/drawing/2014/main" id="{3CA62F7D-C434-7C8E-2A67-C2FF634CEB4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74780" y="4728573"/>
                      <a:ext cx="159983" cy="33449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3" name="Rectangles 16">
                      <a:extLst>
                        <a:ext uri="{FF2B5EF4-FFF2-40B4-BE49-F238E27FC236}">
                          <a16:creationId xmlns:a16="http://schemas.microsoft.com/office/drawing/2014/main" id="{8AE154C8-A8E6-D622-D44A-33A30936B2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54914" y="4733970"/>
                      <a:ext cx="168379" cy="333786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23" name="Rectangles 16">
                      <a:extLst>
                        <a:ext uri="{FF2B5EF4-FFF2-40B4-BE49-F238E27FC236}">
                          <a16:creationId xmlns:a16="http://schemas.microsoft.com/office/drawing/2014/main" id="{8AE154C8-A8E6-D622-D44A-33A30936B22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54914" y="4733970"/>
                      <a:ext cx="168379" cy="333786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4" name="Rectangles 21">
                  <a:extLst>
                    <a:ext uri="{FF2B5EF4-FFF2-40B4-BE49-F238E27FC236}">
                      <a16:creationId xmlns:a16="http://schemas.microsoft.com/office/drawing/2014/main" id="{87E0A4C2-D204-04A5-7C07-109B5E2394D7}"/>
                    </a:ext>
                  </a:extLst>
                </p:cNvPr>
                <p:cNvSpPr/>
                <p:nvPr/>
              </p:nvSpPr>
              <p:spPr>
                <a:xfrm>
                  <a:off x="1755821" y="4294857"/>
                  <a:ext cx="1014730" cy="35976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10</a:t>
                  </a:r>
                </a:p>
              </p:txBody>
            </p: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021D1ACC-7601-84E1-6DA5-C779AB64F0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734951" y="5136776"/>
                  <a:ext cx="1930061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AE75B57-4534-29B4-7C8F-A1CA82D0E2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23293" y="5093248"/>
                  <a:ext cx="0" cy="191693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E83B9338-1C73-3385-1F27-7EBA53386AA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68859" y="5284941"/>
                      <a:ext cx="18405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0    </a:t>
                      </a:r>
                      <a14:m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a14:m>
                      <a:r>
                        <a:rPr lang="en-US" dirty="0"/>
                        <a:t>      </a:t>
                      </a:r>
                      <a14:m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a14:m>
                      <a:r>
                        <a:rPr lang="en-US" dirty="0"/>
                        <a:t>                    </a:t>
                      </a:r>
                      <a14:m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E83B9338-1C73-3385-1F27-7EBA53386AA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68859" y="5284941"/>
                      <a:ext cx="1840574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1531" t="-9836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A1510D3-F986-BE23-FC7E-C9888D65179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95722" y="5762115"/>
                <a:ext cx="0" cy="19078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BC66AA-8F9C-6316-BB82-D374489C4120}"/>
                </a:ext>
              </a:extLst>
            </p:cNvPr>
            <p:cNvSpPr txBox="1"/>
            <p:nvPr/>
          </p:nvSpPr>
          <p:spPr>
            <a:xfrm>
              <a:off x="2045078" y="1323426"/>
              <a:ext cx="980122" cy="43088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SEK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AD017C8-EBBD-4DD7-113A-76E5A8094E11}"/>
              </a:ext>
            </a:extLst>
          </p:cNvPr>
          <p:cNvGrpSpPr/>
          <p:nvPr/>
        </p:nvGrpSpPr>
        <p:grpSpPr>
          <a:xfrm>
            <a:off x="1933480" y="1657411"/>
            <a:ext cx="4911886" cy="1586629"/>
            <a:chOff x="3078265" y="1647439"/>
            <a:chExt cx="4911886" cy="1586629"/>
          </a:xfrm>
          <a:solidFill>
            <a:schemeClr val="bg1"/>
          </a:solidFill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BFB9E64-D399-02E2-508B-82ECC9C7D477}"/>
                </a:ext>
              </a:extLst>
            </p:cNvPr>
            <p:cNvGrpSpPr/>
            <p:nvPr/>
          </p:nvGrpSpPr>
          <p:grpSpPr>
            <a:xfrm>
              <a:off x="3078265" y="1647439"/>
              <a:ext cx="291418" cy="1541119"/>
              <a:chOff x="3078265" y="1647439"/>
              <a:chExt cx="291418" cy="1541119"/>
            </a:xfrm>
            <a:grpFill/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5E05202C-CA20-83EA-DE00-A11699A679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8751" y="1647439"/>
                <a:ext cx="0" cy="1340858"/>
              </a:xfrm>
              <a:prstGeom prst="line">
                <a:avLst/>
              </a:prstGeom>
              <a:grpFill/>
              <a:ln w="38100">
                <a:solidFill>
                  <a:srgbClr val="FF66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6827E501-8FBE-96E6-5949-8908CCA8DD67}"/>
                      </a:ext>
                    </a:extLst>
                  </p:cNvPr>
                  <p:cNvSpPr txBox="1"/>
                  <p:nvPr/>
                </p:nvSpPr>
                <p:spPr>
                  <a:xfrm>
                    <a:off x="3078265" y="2819228"/>
                    <a:ext cx="291418" cy="369330"/>
                  </a:xfrm>
                  <a:prstGeom prst="rect">
                    <a:avLst/>
                  </a:prstGeom>
                  <a:grpFill/>
                  <a:ln w="25400">
                    <a:solidFill>
                      <a:srgbClr val="FF66FF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6827E501-8FBE-96E6-5949-8908CCA8DD6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78265" y="2819228"/>
                    <a:ext cx="291418" cy="36933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25400">
                    <a:solidFill>
                      <a:srgbClr val="FF66FF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FE4D8A3-DE90-5516-5315-A43E905AF299}"/>
                </a:ext>
              </a:extLst>
            </p:cNvPr>
            <p:cNvGrpSpPr/>
            <p:nvPr/>
          </p:nvGrpSpPr>
          <p:grpSpPr>
            <a:xfrm>
              <a:off x="7698733" y="1684161"/>
              <a:ext cx="291418" cy="1549907"/>
              <a:chOff x="3088790" y="1647439"/>
              <a:chExt cx="291418" cy="1549907"/>
            </a:xfrm>
            <a:grpFill/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F0E7E32-F5FF-4C34-48C2-048B7061E2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8751" y="1647439"/>
                <a:ext cx="0" cy="1340858"/>
              </a:xfrm>
              <a:prstGeom prst="line">
                <a:avLst/>
              </a:prstGeom>
              <a:grpFill/>
              <a:ln w="38100">
                <a:solidFill>
                  <a:srgbClr val="FF66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D80333B9-D969-B563-9466-6D7D32175ACC}"/>
                      </a:ext>
                    </a:extLst>
                  </p:cNvPr>
                  <p:cNvSpPr txBox="1"/>
                  <p:nvPr/>
                </p:nvSpPr>
                <p:spPr>
                  <a:xfrm>
                    <a:off x="3088790" y="2828016"/>
                    <a:ext cx="291418" cy="369330"/>
                  </a:xfrm>
                  <a:prstGeom prst="rect">
                    <a:avLst/>
                  </a:prstGeom>
                  <a:grpFill/>
                  <a:ln w="25400">
                    <a:solidFill>
                      <a:srgbClr val="FF66FF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D80333B9-D969-B563-9466-6D7D32175AC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88790" y="2828016"/>
                    <a:ext cx="291418" cy="36933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 w="25400">
                    <a:solidFill>
                      <a:srgbClr val="FF66FF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35" name="Graphic 34" descr="Lights On with solid fill">
            <a:extLst>
              <a:ext uri="{FF2B5EF4-FFF2-40B4-BE49-F238E27FC236}">
                <a16:creationId xmlns:a16="http://schemas.microsoft.com/office/drawing/2014/main" id="{DC6A0802-01EC-C446-D595-08C949DEA35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0" y="5766397"/>
            <a:ext cx="914400" cy="914400"/>
          </a:xfrm>
          <a:prstGeom prst="rect">
            <a:avLst/>
          </a:prstGeom>
        </p:spPr>
      </p:pic>
      <p:sp>
        <p:nvSpPr>
          <p:cNvPr id="36" name="Footer Placeholder 35">
            <a:extLst>
              <a:ext uri="{FF2B5EF4-FFF2-40B4-BE49-F238E27FC236}">
                <a16:creationId xmlns:a16="http://schemas.microsoft.com/office/drawing/2014/main" id="{165F29DE-5927-A3D3-51EC-4DA25E0A2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3FCEB7A7-AB44-6D5B-AC57-ED80D8724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38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867EADEE-C715-39DE-A7D3-15F58BF83F45}"/>
              </a:ext>
            </a:extLst>
          </p:cNvPr>
          <p:cNvGrpSpPr/>
          <p:nvPr/>
        </p:nvGrpSpPr>
        <p:grpSpPr>
          <a:xfrm>
            <a:off x="488792" y="4088923"/>
            <a:ext cx="3690142" cy="2303949"/>
            <a:chOff x="3517742" y="4022248"/>
            <a:chExt cx="3690142" cy="230394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2A3712F-0AB7-A1FC-1D2B-68D404295A7E}"/>
                </a:ext>
              </a:extLst>
            </p:cNvPr>
            <p:cNvGrpSpPr/>
            <p:nvPr/>
          </p:nvGrpSpPr>
          <p:grpSpPr>
            <a:xfrm>
              <a:off x="4194492" y="4022248"/>
              <a:ext cx="3006090" cy="1097915"/>
              <a:chOff x="5630" y="3735"/>
              <a:chExt cx="4734" cy="1729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992D764-27C2-015C-08EC-7AA9D849834D}"/>
                  </a:ext>
                </a:extLst>
              </p:cNvPr>
              <p:cNvGrpSpPr/>
              <p:nvPr/>
            </p:nvGrpSpPr>
            <p:grpSpPr>
              <a:xfrm>
                <a:off x="5630" y="3735"/>
                <a:ext cx="4734" cy="1729"/>
                <a:chOff x="5630" y="3735"/>
                <a:chExt cx="4734" cy="1729"/>
              </a:xfrm>
            </p:grpSpPr>
            <p:sp>
              <p:nvSpPr>
                <p:cNvPr id="15" name="Rectangles 8">
                  <a:extLst>
                    <a:ext uri="{FF2B5EF4-FFF2-40B4-BE49-F238E27FC236}">
                      <a16:creationId xmlns:a16="http://schemas.microsoft.com/office/drawing/2014/main" id="{78F50EE7-8927-229F-F735-5A5DA9CBC2EC}"/>
                    </a:ext>
                  </a:extLst>
                </p:cNvPr>
                <p:cNvSpPr/>
                <p:nvPr/>
              </p:nvSpPr>
              <p:spPr>
                <a:xfrm>
                  <a:off x="6596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Rectangles 9">
                  <a:extLst>
                    <a:ext uri="{FF2B5EF4-FFF2-40B4-BE49-F238E27FC236}">
                      <a16:creationId xmlns:a16="http://schemas.microsoft.com/office/drawing/2014/main" id="{F5B8BF6E-EC74-5E24-ADF1-E936A61AD662}"/>
                    </a:ext>
                  </a:extLst>
                </p:cNvPr>
                <p:cNvSpPr/>
                <p:nvPr/>
              </p:nvSpPr>
              <p:spPr>
                <a:xfrm>
                  <a:off x="7538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Rectangles 10">
                  <a:extLst>
                    <a:ext uri="{FF2B5EF4-FFF2-40B4-BE49-F238E27FC236}">
                      <a16:creationId xmlns:a16="http://schemas.microsoft.com/office/drawing/2014/main" id="{5327A16B-8219-B47C-C498-2E6AB4601695}"/>
                    </a:ext>
                  </a:extLst>
                </p:cNvPr>
                <p:cNvSpPr/>
                <p:nvPr/>
              </p:nvSpPr>
              <p:spPr>
                <a:xfrm>
                  <a:off x="8480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Rectangles 11">
                  <a:extLst>
                    <a:ext uri="{FF2B5EF4-FFF2-40B4-BE49-F238E27FC236}">
                      <a16:creationId xmlns:a16="http://schemas.microsoft.com/office/drawing/2014/main" id="{718F18B9-288E-677C-1781-4CB3EC002879}"/>
                    </a:ext>
                  </a:extLst>
                </p:cNvPr>
                <p:cNvSpPr/>
                <p:nvPr/>
              </p:nvSpPr>
              <p:spPr>
                <a:xfrm>
                  <a:off x="9422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EC4956D5-0566-4D4B-B5B3-66302FCCCBCA}"/>
                    </a:ext>
                  </a:extLst>
                </p:cNvPr>
                <p:cNvCxnSpPr/>
                <p:nvPr/>
              </p:nvCxnSpPr>
              <p:spPr>
                <a:xfrm>
                  <a:off x="5630" y="3735"/>
                  <a:ext cx="966" cy="1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A9E635DD-3BF5-B4E9-A3F8-E71A8973C723}"/>
                    </a:ext>
                  </a:extLst>
                </p:cNvPr>
                <p:cNvCxnSpPr/>
                <p:nvPr/>
              </p:nvCxnSpPr>
              <p:spPr>
                <a:xfrm>
                  <a:off x="5630" y="5449"/>
                  <a:ext cx="966" cy="1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Rectangles 16">
                <a:extLst>
                  <a:ext uri="{FF2B5EF4-FFF2-40B4-BE49-F238E27FC236}">
                    <a16:creationId xmlns:a16="http://schemas.microsoft.com/office/drawing/2014/main" id="{755DD3E3-CFCF-0F13-EC7E-11206E55BDDF}"/>
                  </a:ext>
                </a:extLst>
              </p:cNvPr>
              <p:cNvSpPr/>
              <p:nvPr/>
            </p:nvSpPr>
            <p:spPr>
              <a:xfrm>
                <a:off x="9494" y="4738"/>
                <a:ext cx="797" cy="40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10" name="Rectangles 18">
                <a:extLst>
                  <a:ext uri="{FF2B5EF4-FFF2-40B4-BE49-F238E27FC236}">
                    <a16:creationId xmlns:a16="http://schemas.microsoft.com/office/drawing/2014/main" id="{898CD802-9740-1281-9FC8-939F7FDFC5E5}"/>
                  </a:ext>
                </a:extLst>
              </p:cNvPr>
              <p:cNvSpPr/>
              <p:nvPr/>
            </p:nvSpPr>
            <p:spPr>
              <a:xfrm>
                <a:off x="7610" y="4283"/>
                <a:ext cx="797" cy="85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11" name="Rectangles 19">
                <a:extLst>
                  <a:ext uri="{FF2B5EF4-FFF2-40B4-BE49-F238E27FC236}">
                    <a16:creationId xmlns:a16="http://schemas.microsoft.com/office/drawing/2014/main" id="{423BF86C-874A-8599-684F-83EFA9A6EB4C}"/>
                  </a:ext>
                </a:extLst>
              </p:cNvPr>
              <p:cNvSpPr/>
              <p:nvPr/>
            </p:nvSpPr>
            <p:spPr>
              <a:xfrm>
                <a:off x="6668" y="4160"/>
                <a:ext cx="797" cy="98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12" name="Rectangles 20">
                <a:extLst>
                  <a:ext uri="{FF2B5EF4-FFF2-40B4-BE49-F238E27FC236}">
                    <a16:creationId xmlns:a16="http://schemas.microsoft.com/office/drawing/2014/main" id="{6B92ADD3-5954-EB31-35A0-B9DC5153E7BB}"/>
                  </a:ext>
                </a:extLst>
              </p:cNvPr>
              <p:cNvSpPr/>
              <p:nvPr/>
            </p:nvSpPr>
            <p:spPr>
              <a:xfrm>
                <a:off x="8553" y="4586"/>
                <a:ext cx="797" cy="55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3451463-8A86-3013-156D-5C8B5C558EFE}"/>
                </a:ext>
              </a:extLst>
            </p:cNvPr>
            <p:cNvGrpSpPr/>
            <p:nvPr/>
          </p:nvGrpSpPr>
          <p:grpSpPr>
            <a:xfrm>
              <a:off x="4201794" y="5228282"/>
              <a:ext cx="3006090" cy="1097915"/>
              <a:chOff x="5630" y="3735"/>
              <a:chExt cx="4734" cy="1729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20B7C4C-1701-CF53-4CE3-2F74B0B75267}"/>
                  </a:ext>
                </a:extLst>
              </p:cNvPr>
              <p:cNvGrpSpPr/>
              <p:nvPr/>
            </p:nvGrpSpPr>
            <p:grpSpPr>
              <a:xfrm>
                <a:off x="5630" y="3735"/>
                <a:ext cx="4734" cy="1729"/>
                <a:chOff x="5630" y="3735"/>
                <a:chExt cx="4734" cy="1729"/>
              </a:xfrm>
            </p:grpSpPr>
            <p:sp>
              <p:nvSpPr>
                <p:cNvPr id="27" name="Rectangles 8">
                  <a:extLst>
                    <a:ext uri="{FF2B5EF4-FFF2-40B4-BE49-F238E27FC236}">
                      <a16:creationId xmlns:a16="http://schemas.microsoft.com/office/drawing/2014/main" id="{BD500C78-C8EB-0254-4BE3-722A81E79D89}"/>
                    </a:ext>
                  </a:extLst>
                </p:cNvPr>
                <p:cNvSpPr/>
                <p:nvPr/>
              </p:nvSpPr>
              <p:spPr>
                <a:xfrm>
                  <a:off x="6596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Rectangles 9">
                  <a:extLst>
                    <a:ext uri="{FF2B5EF4-FFF2-40B4-BE49-F238E27FC236}">
                      <a16:creationId xmlns:a16="http://schemas.microsoft.com/office/drawing/2014/main" id="{BAAE5A02-09B3-D7C9-17BF-D7679D502C52}"/>
                    </a:ext>
                  </a:extLst>
                </p:cNvPr>
                <p:cNvSpPr/>
                <p:nvPr/>
              </p:nvSpPr>
              <p:spPr>
                <a:xfrm>
                  <a:off x="7538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Rectangles 10">
                  <a:extLst>
                    <a:ext uri="{FF2B5EF4-FFF2-40B4-BE49-F238E27FC236}">
                      <a16:creationId xmlns:a16="http://schemas.microsoft.com/office/drawing/2014/main" id="{DDF7EF80-3811-05F2-AE7A-070985E548C3}"/>
                    </a:ext>
                  </a:extLst>
                </p:cNvPr>
                <p:cNvSpPr/>
                <p:nvPr/>
              </p:nvSpPr>
              <p:spPr>
                <a:xfrm>
                  <a:off x="8480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Rectangles 11">
                  <a:extLst>
                    <a:ext uri="{FF2B5EF4-FFF2-40B4-BE49-F238E27FC236}">
                      <a16:creationId xmlns:a16="http://schemas.microsoft.com/office/drawing/2014/main" id="{5AA4DF65-E87E-C2C3-3302-3FB3402020B8}"/>
                    </a:ext>
                  </a:extLst>
                </p:cNvPr>
                <p:cNvSpPr/>
                <p:nvPr/>
              </p:nvSpPr>
              <p:spPr>
                <a:xfrm>
                  <a:off x="9422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3C979509-230F-C4CE-9DD5-24B6DA196D20}"/>
                    </a:ext>
                  </a:extLst>
                </p:cNvPr>
                <p:cNvCxnSpPr/>
                <p:nvPr/>
              </p:nvCxnSpPr>
              <p:spPr>
                <a:xfrm>
                  <a:off x="5630" y="3735"/>
                  <a:ext cx="966" cy="1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A2526928-78D0-DAE4-CB3D-EBC2606603F4}"/>
                    </a:ext>
                  </a:extLst>
                </p:cNvPr>
                <p:cNvCxnSpPr/>
                <p:nvPr/>
              </p:nvCxnSpPr>
              <p:spPr>
                <a:xfrm>
                  <a:off x="5630" y="5449"/>
                  <a:ext cx="966" cy="1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" name="Rectangles 18">
                <a:extLst>
                  <a:ext uri="{FF2B5EF4-FFF2-40B4-BE49-F238E27FC236}">
                    <a16:creationId xmlns:a16="http://schemas.microsoft.com/office/drawing/2014/main" id="{E2E81DAA-6A4C-94FD-2750-9165B00CA61F}"/>
                  </a:ext>
                </a:extLst>
              </p:cNvPr>
              <p:cNvSpPr/>
              <p:nvPr/>
            </p:nvSpPr>
            <p:spPr>
              <a:xfrm>
                <a:off x="7610" y="4291"/>
                <a:ext cx="797" cy="84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3.5</a:t>
                </a:r>
              </a:p>
            </p:txBody>
          </p:sp>
          <p:sp>
            <p:nvSpPr>
              <p:cNvPr id="25" name="Rectangles 19">
                <a:extLst>
                  <a:ext uri="{FF2B5EF4-FFF2-40B4-BE49-F238E27FC236}">
                    <a16:creationId xmlns:a16="http://schemas.microsoft.com/office/drawing/2014/main" id="{37E8E993-B257-2410-E177-0644786C40D7}"/>
                  </a:ext>
                </a:extLst>
              </p:cNvPr>
              <p:cNvSpPr/>
              <p:nvPr/>
            </p:nvSpPr>
            <p:spPr>
              <a:xfrm>
                <a:off x="6668" y="3975"/>
                <a:ext cx="797" cy="116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26" name="Rectangles 20">
                <a:extLst>
                  <a:ext uri="{FF2B5EF4-FFF2-40B4-BE49-F238E27FC236}">
                    <a16:creationId xmlns:a16="http://schemas.microsoft.com/office/drawing/2014/main" id="{2FAB8318-DC1F-726A-FA1D-69F23F939337}"/>
                  </a:ext>
                </a:extLst>
              </p:cNvPr>
              <p:cNvSpPr/>
              <p:nvPr/>
            </p:nvSpPr>
            <p:spPr>
              <a:xfrm>
                <a:off x="8553" y="4401"/>
                <a:ext cx="797" cy="7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85BC668-5063-5EE5-0317-47BFB98D6576}"/>
                </a:ext>
              </a:extLst>
            </p:cNvPr>
            <p:cNvSpPr txBox="1"/>
            <p:nvPr/>
          </p:nvSpPr>
          <p:spPr>
            <a:xfrm>
              <a:off x="3521075" y="5581342"/>
              <a:ext cx="980122" cy="43088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SRPT-k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47F6AFF-A5D0-805E-5293-77E05C469E40}"/>
                </a:ext>
              </a:extLst>
            </p:cNvPr>
            <p:cNvSpPr txBox="1"/>
            <p:nvPr/>
          </p:nvSpPr>
          <p:spPr>
            <a:xfrm>
              <a:off x="3517742" y="4443709"/>
              <a:ext cx="980122" cy="43088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SMOD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A2545B-FF9F-E732-03F4-9CB0DAB5F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tweak: SEK-SMOD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41D5F-FC04-6235-231A-70549241D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3251" cy="22971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Final policy: SEK-SMOD. 1 SEK divergence, then SMOD until identical.</a:t>
            </a:r>
          </a:p>
          <a:p>
            <a:pPr marL="0" indent="0">
              <a:buNone/>
            </a:pPr>
            <a:r>
              <a:rPr lang="en-US" dirty="0"/>
              <a:t>SMOD: Explicit reference to SRPT-k system with same arrivals. Completely predictable.</a:t>
            </a:r>
          </a:p>
          <a:p>
            <a:pPr marL="0" indent="0">
              <a:buNone/>
            </a:pPr>
            <a:r>
              <a:rPr lang="en-US" dirty="0"/>
              <a:t>SMOD: Prioritize jobs at indexes with equal or larger remaining size than SRPT-k counterpart, then prioritize smallest remaining size secondarily.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E870328-4B11-F0E1-7383-01C7AD25D66A}"/>
              </a:ext>
            </a:extLst>
          </p:cNvPr>
          <p:cNvGrpSpPr/>
          <p:nvPr/>
        </p:nvGrpSpPr>
        <p:grpSpPr>
          <a:xfrm>
            <a:off x="2377122" y="4302768"/>
            <a:ext cx="1801812" cy="1936107"/>
            <a:chOff x="5406072" y="4236093"/>
            <a:chExt cx="1801812" cy="1936107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C7AC85B9-62B5-75A9-B205-3D70FD1AACF2}"/>
                </a:ext>
              </a:extLst>
            </p:cNvPr>
            <p:cNvSpPr/>
            <p:nvPr/>
          </p:nvSpPr>
          <p:spPr>
            <a:xfrm>
              <a:off x="6617016" y="4476750"/>
              <a:ext cx="590868" cy="1643707"/>
            </a:xfrm>
            <a:prstGeom prst="round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08526CB7-F777-1446-7B81-553FFCA6F648}"/>
                </a:ext>
              </a:extLst>
            </p:cNvPr>
            <p:cNvSpPr/>
            <p:nvPr/>
          </p:nvSpPr>
          <p:spPr>
            <a:xfrm>
              <a:off x="5406072" y="4236093"/>
              <a:ext cx="590868" cy="1936107"/>
            </a:xfrm>
            <a:prstGeom prst="round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36B4AE4-C94E-7F0C-1CF2-3F7B9787C7D9}"/>
                  </a:ext>
                </a:extLst>
              </p:cNvPr>
              <p:cNvSpPr txBox="1"/>
              <p:nvPr/>
            </p:nvSpPr>
            <p:spPr>
              <a:xfrm>
                <a:off x="4318220" y="4086809"/>
                <a:ext cx="7610573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Great worst-case properties! Lemmas: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Positive part monotonically decreasing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sz="2800" dirty="0"/>
                  <a:t> extra job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Each job is “extra job” for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800" dirty="0"/>
                  <a:t> time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Once all divergence jobs complete, never worse</a:t>
                </a:r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36B4AE4-C94E-7F0C-1CF2-3F7B9787C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220" y="4086809"/>
                <a:ext cx="7610573" cy="2246769"/>
              </a:xfrm>
              <a:prstGeom prst="rect">
                <a:avLst/>
              </a:prstGeom>
              <a:blipFill>
                <a:blip r:embed="rId2"/>
                <a:stretch>
                  <a:fillRect l="-1601" t="-2439" r="-240" b="-6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Footer Placeholder 62">
            <a:extLst>
              <a:ext uri="{FF2B5EF4-FFF2-40B4-BE49-F238E27FC236}">
                <a16:creationId xmlns:a16="http://schemas.microsoft.com/office/drawing/2014/main" id="{8A802079-F409-885F-2D2F-F812720A2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64" name="Slide Number Placeholder 63">
            <a:extLst>
              <a:ext uri="{FF2B5EF4-FFF2-40B4-BE49-F238E27FC236}">
                <a16:creationId xmlns:a16="http://schemas.microsoft.com/office/drawing/2014/main" id="{C8CA7BEF-3485-D894-A9F5-C3A4239A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19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2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2545B-FF9F-E732-03F4-9CB0DAB5F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tweak: SEK-SMOD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041D5F-FC04-6235-231A-70549241DA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63251" cy="309506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Great worst-case properties! Lemmas:</a:t>
                </a:r>
              </a:p>
              <a:p>
                <a:pPr marL="457200" indent="-457200"/>
                <a:r>
                  <a:rPr lang="en-US" dirty="0"/>
                  <a:t>Positive part monotonically decreasing</a:t>
                </a:r>
              </a:p>
              <a:p>
                <a:pPr marL="457200" indent="-457200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 extra job</a:t>
                </a:r>
              </a:p>
              <a:p>
                <a:pPr marL="457200" indent="-457200"/>
                <a:r>
                  <a:rPr lang="en-US" dirty="0"/>
                  <a:t>Each job is “extra job”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time</a:t>
                </a:r>
              </a:p>
              <a:p>
                <a:pPr marL="457200" indent="-457200"/>
                <a:r>
                  <a:rPr lang="en-US" dirty="0"/>
                  <a:t>Once all divergence jobs complete, never worse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041D5F-FC04-6235-231A-70549241DA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63251" cy="3095069"/>
              </a:xfrm>
              <a:blipFill>
                <a:blip r:embed="rId2"/>
                <a:stretch>
                  <a:fillRect l="-1133" t="-31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533A157E-02E9-C034-6CB1-E3E062F84B7C}"/>
              </a:ext>
            </a:extLst>
          </p:cNvPr>
          <p:cNvGrpSpPr/>
          <p:nvPr/>
        </p:nvGrpSpPr>
        <p:grpSpPr>
          <a:xfrm>
            <a:off x="8388453" y="276667"/>
            <a:ext cx="3690142" cy="2303949"/>
            <a:chOff x="488792" y="4088923"/>
            <a:chExt cx="3690142" cy="2303949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867EADEE-C715-39DE-A7D3-15F58BF83F45}"/>
                </a:ext>
              </a:extLst>
            </p:cNvPr>
            <p:cNvGrpSpPr/>
            <p:nvPr/>
          </p:nvGrpSpPr>
          <p:grpSpPr>
            <a:xfrm>
              <a:off x="488792" y="4088923"/>
              <a:ext cx="3690142" cy="2303949"/>
              <a:chOff x="3517742" y="4022248"/>
              <a:chExt cx="3690142" cy="2303949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22A3712F-0AB7-A1FC-1D2B-68D404295A7E}"/>
                  </a:ext>
                </a:extLst>
              </p:cNvPr>
              <p:cNvGrpSpPr/>
              <p:nvPr/>
            </p:nvGrpSpPr>
            <p:grpSpPr>
              <a:xfrm>
                <a:off x="4194492" y="4022248"/>
                <a:ext cx="3006090" cy="1097915"/>
                <a:chOff x="5630" y="3735"/>
                <a:chExt cx="4734" cy="1729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6992D764-27C2-015C-08EC-7AA9D849834D}"/>
                    </a:ext>
                  </a:extLst>
                </p:cNvPr>
                <p:cNvGrpSpPr/>
                <p:nvPr/>
              </p:nvGrpSpPr>
              <p:grpSpPr>
                <a:xfrm>
                  <a:off x="5630" y="3735"/>
                  <a:ext cx="4734" cy="1729"/>
                  <a:chOff x="5630" y="3735"/>
                  <a:chExt cx="4734" cy="1729"/>
                </a:xfrm>
              </p:grpSpPr>
              <p:sp>
                <p:nvSpPr>
                  <p:cNvPr id="15" name="Rectangles 8">
                    <a:extLst>
                      <a:ext uri="{FF2B5EF4-FFF2-40B4-BE49-F238E27FC236}">
                        <a16:creationId xmlns:a16="http://schemas.microsoft.com/office/drawing/2014/main" id="{78F50EE7-8927-229F-F735-5A5DA9CBC2EC}"/>
                      </a:ext>
                    </a:extLst>
                  </p:cNvPr>
                  <p:cNvSpPr/>
                  <p:nvPr/>
                </p:nvSpPr>
                <p:spPr>
                  <a:xfrm>
                    <a:off x="6596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" name="Rectangles 9">
                    <a:extLst>
                      <a:ext uri="{FF2B5EF4-FFF2-40B4-BE49-F238E27FC236}">
                        <a16:creationId xmlns:a16="http://schemas.microsoft.com/office/drawing/2014/main" id="{F5B8BF6E-EC74-5E24-ADF1-E936A61AD662}"/>
                      </a:ext>
                    </a:extLst>
                  </p:cNvPr>
                  <p:cNvSpPr/>
                  <p:nvPr/>
                </p:nvSpPr>
                <p:spPr>
                  <a:xfrm>
                    <a:off x="7538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" name="Rectangles 10">
                    <a:extLst>
                      <a:ext uri="{FF2B5EF4-FFF2-40B4-BE49-F238E27FC236}">
                        <a16:creationId xmlns:a16="http://schemas.microsoft.com/office/drawing/2014/main" id="{5327A16B-8219-B47C-C498-2E6AB4601695}"/>
                      </a:ext>
                    </a:extLst>
                  </p:cNvPr>
                  <p:cNvSpPr/>
                  <p:nvPr/>
                </p:nvSpPr>
                <p:spPr>
                  <a:xfrm>
                    <a:off x="8480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" name="Rectangles 11">
                    <a:extLst>
                      <a:ext uri="{FF2B5EF4-FFF2-40B4-BE49-F238E27FC236}">
                        <a16:creationId xmlns:a16="http://schemas.microsoft.com/office/drawing/2014/main" id="{718F18B9-288E-677C-1781-4CB3EC002879}"/>
                      </a:ext>
                    </a:extLst>
                  </p:cNvPr>
                  <p:cNvSpPr/>
                  <p:nvPr/>
                </p:nvSpPr>
                <p:spPr>
                  <a:xfrm>
                    <a:off x="9422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EC4956D5-0566-4D4B-B5B3-66302FCCCBCA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3735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A9E635DD-3BF5-B4E9-A3F8-E71A8973C723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5449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" name="Rectangles 16">
                  <a:extLst>
                    <a:ext uri="{FF2B5EF4-FFF2-40B4-BE49-F238E27FC236}">
                      <a16:creationId xmlns:a16="http://schemas.microsoft.com/office/drawing/2014/main" id="{755DD3E3-CFCF-0F13-EC7E-11206E55BDDF}"/>
                    </a:ext>
                  </a:extLst>
                </p:cNvPr>
                <p:cNvSpPr/>
                <p:nvPr/>
              </p:nvSpPr>
              <p:spPr>
                <a:xfrm>
                  <a:off x="9494" y="4738"/>
                  <a:ext cx="797" cy="40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  <p:sp>
              <p:nvSpPr>
                <p:cNvPr id="10" name="Rectangles 18">
                  <a:extLst>
                    <a:ext uri="{FF2B5EF4-FFF2-40B4-BE49-F238E27FC236}">
                      <a16:creationId xmlns:a16="http://schemas.microsoft.com/office/drawing/2014/main" id="{898CD802-9740-1281-9FC8-939F7FDFC5E5}"/>
                    </a:ext>
                  </a:extLst>
                </p:cNvPr>
                <p:cNvSpPr/>
                <p:nvPr/>
              </p:nvSpPr>
              <p:spPr>
                <a:xfrm>
                  <a:off x="7610" y="4283"/>
                  <a:ext cx="797" cy="85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4</a:t>
                  </a:r>
                </a:p>
              </p:txBody>
            </p:sp>
            <p:sp>
              <p:nvSpPr>
                <p:cNvPr id="11" name="Rectangles 19">
                  <a:extLst>
                    <a:ext uri="{FF2B5EF4-FFF2-40B4-BE49-F238E27FC236}">
                      <a16:creationId xmlns:a16="http://schemas.microsoft.com/office/drawing/2014/main" id="{423BF86C-874A-8599-684F-83EFA9A6EB4C}"/>
                    </a:ext>
                  </a:extLst>
                </p:cNvPr>
                <p:cNvSpPr/>
                <p:nvPr/>
              </p:nvSpPr>
              <p:spPr>
                <a:xfrm>
                  <a:off x="6668" y="4160"/>
                  <a:ext cx="797" cy="98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5</a:t>
                  </a:r>
                </a:p>
              </p:txBody>
            </p:sp>
            <p:sp>
              <p:nvSpPr>
                <p:cNvPr id="12" name="Rectangles 20">
                  <a:extLst>
                    <a:ext uri="{FF2B5EF4-FFF2-40B4-BE49-F238E27FC236}">
                      <a16:creationId xmlns:a16="http://schemas.microsoft.com/office/drawing/2014/main" id="{6B92ADD3-5954-EB31-35A0-B9DC5153E7BB}"/>
                    </a:ext>
                  </a:extLst>
                </p:cNvPr>
                <p:cNvSpPr/>
                <p:nvPr/>
              </p:nvSpPr>
              <p:spPr>
                <a:xfrm>
                  <a:off x="8553" y="4586"/>
                  <a:ext cx="797" cy="55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2</a:t>
                  </a: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F3451463-8A86-3013-156D-5C8B5C558EFE}"/>
                  </a:ext>
                </a:extLst>
              </p:cNvPr>
              <p:cNvGrpSpPr/>
              <p:nvPr/>
            </p:nvGrpSpPr>
            <p:grpSpPr>
              <a:xfrm>
                <a:off x="4201794" y="5228282"/>
                <a:ext cx="3006090" cy="1097915"/>
                <a:chOff x="5630" y="3735"/>
                <a:chExt cx="4734" cy="1729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520B7C4C-1701-CF53-4CE3-2F74B0B75267}"/>
                    </a:ext>
                  </a:extLst>
                </p:cNvPr>
                <p:cNvGrpSpPr/>
                <p:nvPr/>
              </p:nvGrpSpPr>
              <p:grpSpPr>
                <a:xfrm>
                  <a:off x="5630" y="3735"/>
                  <a:ext cx="4734" cy="1729"/>
                  <a:chOff x="5630" y="3735"/>
                  <a:chExt cx="4734" cy="1729"/>
                </a:xfrm>
              </p:grpSpPr>
              <p:sp>
                <p:nvSpPr>
                  <p:cNvPr id="27" name="Rectangles 8">
                    <a:extLst>
                      <a:ext uri="{FF2B5EF4-FFF2-40B4-BE49-F238E27FC236}">
                        <a16:creationId xmlns:a16="http://schemas.microsoft.com/office/drawing/2014/main" id="{BD500C78-C8EB-0254-4BE3-722A81E79D89}"/>
                      </a:ext>
                    </a:extLst>
                  </p:cNvPr>
                  <p:cNvSpPr/>
                  <p:nvPr/>
                </p:nvSpPr>
                <p:spPr>
                  <a:xfrm>
                    <a:off x="6596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" name="Rectangles 9">
                    <a:extLst>
                      <a:ext uri="{FF2B5EF4-FFF2-40B4-BE49-F238E27FC236}">
                        <a16:creationId xmlns:a16="http://schemas.microsoft.com/office/drawing/2014/main" id="{BAAE5A02-09B3-D7C9-17BF-D7679D502C52}"/>
                      </a:ext>
                    </a:extLst>
                  </p:cNvPr>
                  <p:cNvSpPr/>
                  <p:nvPr/>
                </p:nvSpPr>
                <p:spPr>
                  <a:xfrm>
                    <a:off x="7538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Rectangles 10">
                    <a:extLst>
                      <a:ext uri="{FF2B5EF4-FFF2-40B4-BE49-F238E27FC236}">
                        <a16:creationId xmlns:a16="http://schemas.microsoft.com/office/drawing/2014/main" id="{DDF7EF80-3811-05F2-AE7A-070985E548C3}"/>
                      </a:ext>
                    </a:extLst>
                  </p:cNvPr>
                  <p:cNvSpPr/>
                  <p:nvPr/>
                </p:nvSpPr>
                <p:spPr>
                  <a:xfrm>
                    <a:off x="8480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Rectangles 11">
                    <a:extLst>
                      <a:ext uri="{FF2B5EF4-FFF2-40B4-BE49-F238E27FC236}">
                        <a16:creationId xmlns:a16="http://schemas.microsoft.com/office/drawing/2014/main" id="{5AA4DF65-E87E-C2C3-3302-3FB3402020B8}"/>
                      </a:ext>
                    </a:extLst>
                  </p:cNvPr>
                  <p:cNvSpPr/>
                  <p:nvPr/>
                </p:nvSpPr>
                <p:spPr>
                  <a:xfrm>
                    <a:off x="9422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3C979509-230F-C4CE-9DD5-24B6DA196D20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3735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A2526928-78D0-DAE4-CB3D-EBC2606603F4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5449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4" name="Rectangles 18">
                  <a:extLst>
                    <a:ext uri="{FF2B5EF4-FFF2-40B4-BE49-F238E27FC236}">
                      <a16:creationId xmlns:a16="http://schemas.microsoft.com/office/drawing/2014/main" id="{E2E81DAA-6A4C-94FD-2750-9165B00CA61F}"/>
                    </a:ext>
                  </a:extLst>
                </p:cNvPr>
                <p:cNvSpPr/>
                <p:nvPr/>
              </p:nvSpPr>
              <p:spPr>
                <a:xfrm>
                  <a:off x="7610" y="4291"/>
                  <a:ext cx="797" cy="849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3.5</a:t>
                  </a:r>
                </a:p>
              </p:txBody>
            </p:sp>
            <p:sp>
              <p:nvSpPr>
                <p:cNvPr id="25" name="Rectangles 19">
                  <a:extLst>
                    <a:ext uri="{FF2B5EF4-FFF2-40B4-BE49-F238E27FC236}">
                      <a16:creationId xmlns:a16="http://schemas.microsoft.com/office/drawing/2014/main" id="{37E8E993-B257-2410-E177-0644786C40D7}"/>
                    </a:ext>
                  </a:extLst>
                </p:cNvPr>
                <p:cNvSpPr/>
                <p:nvPr/>
              </p:nvSpPr>
              <p:spPr>
                <a:xfrm>
                  <a:off x="6668" y="3975"/>
                  <a:ext cx="797" cy="1165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6</a:t>
                  </a:r>
                </a:p>
              </p:txBody>
            </p:sp>
            <p:sp>
              <p:nvSpPr>
                <p:cNvPr id="26" name="Rectangles 20">
                  <a:extLst>
                    <a:ext uri="{FF2B5EF4-FFF2-40B4-BE49-F238E27FC236}">
                      <a16:creationId xmlns:a16="http://schemas.microsoft.com/office/drawing/2014/main" id="{2FAB8318-DC1F-726A-FA1D-69F23F939337}"/>
                    </a:ext>
                  </a:extLst>
                </p:cNvPr>
                <p:cNvSpPr/>
                <p:nvPr/>
              </p:nvSpPr>
              <p:spPr>
                <a:xfrm>
                  <a:off x="8553" y="4401"/>
                  <a:ext cx="797" cy="739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3</a:t>
                  </a:r>
                </a:p>
              </p:txBody>
            </p:sp>
          </p:grp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85BC668-5063-5EE5-0317-47BFB98D6576}"/>
                  </a:ext>
                </a:extLst>
              </p:cNvPr>
              <p:cNvSpPr txBox="1"/>
              <p:nvPr/>
            </p:nvSpPr>
            <p:spPr>
              <a:xfrm>
                <a:off x="3521075" y="5581342"/>
                <a:ext cx="980122" cy="43088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SRPT-k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47F6AFF-A5D0-805E-5293-77E05C469E40}"/>
                  </a:ext>
                </a:extLst>
              </p:cNvPr>
              <p:cNvSpPr txBox="1"/>
              <p:nvPr/>
            </p:nvSpPr>
            <p:spPr>
              <a:xfrm>
                <a:off x="3517742" y="4443709"/>
                <a:ext cx="980122" cy="43088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SMOD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1E870328-4B11-F0E1-7383-01C7AD25D66A}"/>
                </a:ext>
              </a:extLst>
            </p:cNvPr>
            <p:cNvGrpSpPr/>
            <p:nvPr/>
          </p:nvGrpSpPr>
          <p:grpSpPr>
            <a:xfrm>
              <a:off x="2377122" y="4302768"/>
              <a:ext cx="1801812" cy="1936107"/>
              <a:chOff x="5406072" y="4236093"/>
              <a:chExt cx="1801812" cy="1936107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C7AC85B9-62B5-75A9-B205-3D70FD1AACF2}"/>
                  </a:ext>
                </a:extLst>
              </p:cNvPr>
              <p:cNvSpPr/>
              <p:nvPr/>
            </p:nvSpPr>
            <p:spPr>
              <a:xfrm>
                <a:off x="6617016" y="4476750"/>
                <a:ext cx="590868" cy="1643707"/>
              </a:xfrm>
              <a:prstGeom prst="round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08526CB7-F777-1446-7B81-553FFCA6F648}"/>
                  </a:ext>
                </a:extLst>
              </p:cNvPr>
              <p:cNvSpPr/>
              <p:nvPr/>
            </p:nvSpPr>
            <p:spPr>
              <a:xfrm>
                <a:off x="5406072" y="4236093"/>
                <a:ext cx="590868" cy="1936107"/>
              </a:xfrm>
              <a:prstGeom prst="round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A63AF-3F19-F6A9-C323-DB5E0A246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B0DE3D-38FC-D847-E02B-5D8317946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65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2545B-FF9F-E732-03F4-9CB0DAB5F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tweak: SEK-SMOD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041D5F-FC04-6235-231A-70549241DA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63251" cy="309506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Great worst-case properties! Lemmas:</a:t>
                </a:r>
              </a:p>
              <a:p>
                <a:pPr marL="457200" indent="-457200"/>
                <a:r>
                  <a:rPr lang="en-US" dirty="0"/>
                  <a:t>Positive part monotonically decreasing</a:t>
                </a:r>
              </a:p>
              <a:p>
                <a:pPr marL="457200" indent="-457200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 extra job</a:t>
                </a:r>
              </a:p>
              <a:p>
                <a:pPr marL="457200" indent="-457200"/>
                <a:r>
                  <a:rPr lang="en-US" dirty="0"/>
                  <a:t>Each job is “extra job”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time: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worse per arrival.</a:t>
                </a:r>
              </a:p>
              <a:p>
                <a:pPr marL="457200" indent="-457200"/>
                <a:r>
                  <a:rPr lang="en-US" dirty="0"/>
                  <a:t>Once all divergence jobs complete, never worse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041D5F-FC04-6235-231A-70549241DA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63251" cy="3095069"/>
              </a:xfrm>
              <a:blipFill>
                <a:blip r:embed="rId2"/>
                <a:stretch>
                  <a:fillRect l="-1133" t="-31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533A157E-02E9-C034-6CB1-E3E062F84B7C}"/>
              </a:ext>
            </a:extLst>
          </p:cNvPr>
          <p:cNvGrpSpPr/>
          <p:nvPr/>
        </p:nvGrpSpPr>
        <p:grpSpPr>
          <a:xfrm>
            <a:off x="8388453" y="276667"/>
            <a:ext cx="3690142" cy="2303949"/>
            <a:chOff x="488792" y="4088923"/>
            <a:chExt cx="3690142" cy="2303949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867EADEE-C715-39DE-A7D3-15F58BF83F45}"/>
                </a:ext>
              </a:extLst>
            </p:cNvPr>
            <p:cNvGrpSpPr/>
            <p:nvPr/>
          </p:nvGrpSpPr>
          <p:grpSpPr>
            <a:xfrm>
              <a:off x="488792" y="4088923"/>
              <a:ext cx="3690142" cy="2303949"/>
              <a:chOff x="3517742" y="4022248"/>
              <a:chExt cx="3690142" cy="2303949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22A3712F-0AB7-A1FC-1D2B-68D404295A7E}"/>
                  </a:ext>
                </a:extLst>
              </p:cNvPr>
              <p:cNvGrpSpPr/>
              <p:nvPr/>
            </p:nvGrpSpPr>
            <p:grpSpPr>
              <a:xfrm>
                <a:off x="4194492" y="4022248"/>
                <a:ext cx="3006090" cy="1097915"/>
                <a:chOff x="5630" y="3735"/>
                <a:chExt cx="4734" cy="1729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6992D764-27C2-015C-08EC-7AA9D849834D}"/>
                    </a:ext>
                  </a:extLst>
                </p:cNvPr>
                <p:cNvGrpSpPr/>
                <p:nvPr/>
              </p:nvGrpSpPr>
              <p:grpSpPr>
                <a:xfrm>
                  <a:off x="5630" y="3735"/>
                  <a:ext cx="4734" cy="1729"/>
                  <a:chOff x="5630" y="3735"/>
                  <a:chExt cx="4734" cy="1729"/>
                </a:xfrm>
              </p:grpSpPr>
              <p:sp>
                <p:nvSpPr>
                  <p:cNvPr id="15" name="Rectangles 8">
                    <a:extLst>
                      <a:ext uri="{FF2B5EF4-FFF2-40B4-BE49-F238E27FC236}">
                        <a16:creationId xmlns:a16="http://schemas.microsoft.com/office/drawing/2014/main" id="{78F50EE7-8927-229F-F735-5A5DA9CBC2EC}"/>
                      </a:ext>
                    </a:extLst>
                  </p:cNvPr>
                  <p:cNvSpPr/>
                  <p:nvPr/>
                </p:nvSpPr>
                <p:spPr>
                  <a:xfrm>
                    <a:off x="6596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" name="Rectangles 9">
                    <a:extLst>
                      <a:ext uri="{FF2B5EF4-FFF2-40B4-BE49-F238E27FC236}">
                        <a16:creationId xmlns:a16="http://schemas.microsoft.com/office/drawing/2014/main" id="{F5B8BF6E-EC74-5E24-ADF1-E936A61AD662}"/>
                      </a:ext>
                    </a:extLst>
                  </p:cNvPr>
                  <p:cNvSpPr/>
                  <p:nvPr/>
                </p:nvSpPr>
                <p:spPr>
                  <a:xfrm>
                    <a:off x="7538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" name="Rectangles 10">
                    <a:extLst>
                      <a:ext uri="{FF2B5EF4-FFF2-40B4-BE49-F238E27FC236}">
                        <a16:creationId xmlns:a16="http://schemas.microsoft.com/office/drawing/2014/main" id="{5327A16B-8219-B47C-C498-2E6AB4601695}"/>
                      </a:ext>
                    </a:extLst>
                  </p:cNvPr>
                  <p:cNvSpPr/>
                  <p:nvPr/>
                </p:nvSpPr>
                <p:spPr>
                  <a:xfrm>
                    <a:off x="8480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" name="Rectangles 11">
                    <a:extLst>
                      <a:ext uri="{FF2B5EF4-FFF2-40B4-BE49-F238E27FC236}">
                        <a16:creationId xmlns:a16="http://schemas.microsoft.com/office/drawing/2014/main" id="{718F18B9-288E-677C-1781-4CB3EC002879}"/>
                      </a:ext>
                    </a:extLst>
                  </p:cNvPr>
                  <p:cNvSpPr/>
                  <p:nvPr/>
                </p:nvSpPr>
                <p:spPr>
                  <a:xfrm>
                    <a:off x="9422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EC4956D5-0566-4D4B-B5B3-66302FCCCBCA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3735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A9E635DD-3BF5-B4E9-A3F8-E71A8973C723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5449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" name="Rectangles 16">
                  <a:extLst>
                    <a:ext uri="{FF2B5EF4-FFF2-40B4-BE49-F238E27FC236}">
                      <a16:creationId xmlns:a16="http://schemas.microsoft.com/office/drawing/2014/main" id="{755DD3E3-CFCF-0F13-EC7E-11206E55BDDF}"/>
                    </a:ext>
                  </a:extLst>
                </p:cNvPr>
                <p:cNvSpPr/>
                <p:nvPr/>
              </p:nvSpPr>
              <p:spPr>
                <a:xfrm>
                  <a:off x="9494" y="4738"/>
                  <a:ext cx="797" cy="40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  <p:sp>
              <p:nvSpPr>
                <p:cNvPr id="10" name="Rectangles 18">
                  <a:extLst>
                    <a:ext uri="{FF2B5EF4-FFF2-40B4-BE49-F238E27FC236}">
                      <a16:creationId xmlns:a16="http://schemas.microsoft.com/office/drawing/2014/main" id="{898CD802-9740-1281-9FC8-939F7FDFC5E5}"/>
                    </a:ext>
                  </a:extLst>
                </p:cNvPr>
                <p:cNvSpPr/>
                <p:nvPr/>
              </p:nvSpPr>
              <p:spPr>
                <a:xfrm>
                  <a:off x="7610" y="4283"/>
                  <a:ext cx="797" cy="85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4</a:t>
                  </a:r>
                </a:p>
              </p:txBody>
            </p:sp>
            <p:sp>
              <p:nvSpPr>
                <p:cNvPr id="11" name="Rectangles 19">
                  <a:extLst>
                    <a:ext uri="{FF2B5EF4-FFF2-40B4-BE49-F238E27FC236}">
                      <a16:creationId xmlns:a16="http://schemas.microsoft.com/office/drawing/2014/main" id="{423BF86C-874A-8599-684F-83EFA9A6EB4C}"/>
                    </a:ext>
                  </a:extLst>
                </p:cNvPr>
                <p:cNvSpPr/>
                <p:nvPr/>
              </p:nvSpPr>
              <p:spPr>
                <a:xfrm>
                  <a:off x="6668" y="4160"/>
                  <a:ext cx="797" cy="98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5</a:t>
                  </a:r>
                </a:p>
              </p:txBody>
            </p:sp>
            <p:sp>
              <p:nvSpPr>
                <p:cNvPr id="12" name="Rectangles 20">
                  <a:extLst>
                    <a:ext uri="{FF2B5EF4-FFF2-40B4-BE49-F238E27FC236}">
                      <a16:creationId xmlns:a16="http://schemas.microsoft.com/office/drawing/2014/main" id="{6B92ADD3-5954-EB31-35A0-B9DC5153E7BB}"/>
                    </a:ext>
                  </a:extLst>
                </p:cNvPr>
                <p:cNvSpPr/>
                <p:nvPr/>
              </p:nvSpPr>
              <p:spPr>
                <a:xfrm>
                  <a:off x="8553" y="4586"/>
                  <a:ext cx="797" cy="55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2</a:t>
                  </a: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F3451463-8A86-3013-156D-5C8B5C558EFE}"/>
                  </a:ext>
                </a:extLst>
              </p:cNvPr>
              <p:cNvGrpSpPr/>
              <p:nvPr/>
            </p:nvGrpSpPr>
            <p:grpSpPr>
              <a:xfrm>
                <a:off x="4201794" y="5228282"/>
                <a:ext cx="3006090" cy="1097915"/>
                <a:chOff x="5630" y="3735"/>
                <a:chExt cx="4734" cy="1729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520B7C4C-1701-CF53-4CE3-2F74B0B75267}"/>
                    </a:ext>
                  </a:extLst>
                </p:cNvPr>
                <p:cNvGrpSpPr/>
                <p:nvPr/>
              </p:nvGrpSpPr>
              <p:grpSpPr>
                <a:xfrm>
                  <a:off x="5630" y="3735"/>
                  <a:ext cx="4734" cy="1729"/>
                  <a:chOff x="5630" y="3735"/>
                  <a:chExt cx="4734" cy="1729"/>
                </a:xfrm>
              </p:grpSpPr>
              <p:sp>
                <p:nvSpPr>
                  <p:cNvPr id="27" name="Rectangles 8">
                    <a:extLst>
                      <a:ext uri="{FF2B5EF4-FFF2-40B4-BE49-F238E27FC236}">
                        <a16:creationId xmlns:a16="http://schemas.microsoft.com/office/drawing/2014/main" id="{BD500C78-C8EB-0254-4BE3-722A81E79D89}"/>
                      </a:ext>
                    </a:extLst>
                  </p:cNvPr>
                  <p:cNvSpPr/>
                  <p:nvPr/>
                </p:nvSpPr>
                <p:spPr>
                  <a:xfrm>
                    <a:off x="6596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" name="Rectangles 9">
                    <a:extLst>
                      <a:ext uri="{FF2B5EF4-FFF2-40B4-BE49-F238E27FC236}">
                        <a16:creationId xmlns:a16="http://schemas.microsoft.com/office/drawing/2014/main" id="{BAAE5A02-09B3-D7C9-17BF-D7679D502C52}"/>
                      </a:ext>
                    </a:extLst>
                  </p:cNvPr>
                  <p:cNvSpPr/>
                  <p:nvPr/>
                </p:nvSpPr>
                <p:spPr>
                  <a:xfrm>
                    <a:off x="7538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Rectangles 10">
                    <a:extLst>
                      <a:ext uri="{FF2B5EF4-FFF2-40B4-BE49-F238E27FC236}">
                        <a16:creationId xmlns:a16="http://schemas.microsoft.com/office/drawing/2014/main" id="{DDF7EF80-3811-05F2-AE7A-070985E548C3}"/>
                      </a:ext>
                    </a:extLst>
                  </p:cNvPr>
                  <p:cNvSpPr/>
                  <p:nvPr/>
                </p:nvSpPr>
                <p:spPr>
                  <a:xfrm>
                    <a:off x="8480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Rectangles 11">
                    <a:extLst>
                      <a:ext uri="{FF2B5EF4-FFF2-40B4-BE49-F238E27FC236}">
                        <a16:creationId xmlns:a16="http://schemas.microsoft.com/office/drawing/2014/main" id="{5AA4DF65-E87E-C2C3-3302-3FB3402020B8}"/>
                      </a:ext>
                    </a:extLst>
                  </p:cNvPr>
                  <p:cNvSpPr/>
                  <p:nvPr/>
                </p:nvSpPr>
                <p:spPr>
                  <a:xfrm>
                    <a:off x="9422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3C979509-230F-C4CE-9DD5-24B6DA196D20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3735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A2526928-78D0-DAE4-CB3D-EBC2606603F4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5449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4" name="Rectangles 18">
                  <a:extLst>
                    <a:ext uri="{FF2B5EF4-FFF2-40B4-BE49-F238E27FC236}">
                      <a16:creationId xmlns:a16="http://schemas.microsoft.com/office/drawing/2014/main" id="{E2E81DAA-6A4C-94FD-2750-9165B00CA61F}"/>
                    </a:ext>
                  </a:extLst>
                </p:cNvPr>
                <p:cNvSpPr/>
                <p:nvPr/>
              </p:nvSpPr>
              <p:spPr>
                <a:xfrm>
                  <a:off x="7610" y="4291"/>
                  <a:ext cx="797" cy="849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3.5</a:t>
                  </a:r>
                </a:p>
              </p:txBody>
            </p:sp>
            <p:sp>
              <p:nvSpPr>
                <p:cNvPr id="25" name="Rectangles 19">
                  <a:extLst>
                    <a:ext uri="{FF2B5EF4-FFF2-40B4-BE49-F238E27FC236}">
                      <a16:creationId xmlns:a16="http://schemas.microsoft.com/office/drawing/2014/main" id="{37E8E993-B257-2410-E177-0644786C40D7}"/>
                    </a:ext>
                  </a:extLst>
                </p:cNvPr>
                <p:cNvSpPr/>
                <p:nvPr/>
              </p:nvSpPr>
              <p:spPr>
                <a:xfrm>
                  <a:off x="6668" y="3975"/>
                  <a:ext cx="797" cy="1165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6</a:t>
                  </a:r>
                </a:p>
              </p:txBody>
            </p:sp>
            <p:sp>
              <p:nvSpPr>
                <p:cNvPr id="26" name="Rectangles 20">
                  <a:extLst>
                    <a:ext uri="{FF2B5EF4-FFF2-40B4-BE49-F238E27FC236}">
                      <a16:creationId xmlns:a16="http://schemas.microsoft.com/office/drawing/2014/main" id="{2FAB8318-DC1F-726A-FA1D-69F23F939337}"/>
                    </a:ext>
                  </a:extLst>
                </p:cNvPr>
                <p:cNvSpPr/>
                <p:nvPr/>
              </p:nvSpPr>
              <p:spPr>
                <a:xfrm>
                  <a:off x="8553" y="4401"/>
                  <a:ext cx="797" cy="739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3</a:t>
                  </a:r>
                </a:p>
              </p:txBody>
            </p:sp>
          </p:grp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85BC668-5063-5EE5-0317-47BFB98D6576}"/>
                  </a:ext>
                </a:extLst>
              </p:cNvPr>
              <p:cNvSpPr txBox="1"/>
              <p:nvPr/>
            </p:nvSpPr>
            <p:spPr>
              <a:xfrm>
                <a:off x="3521075" y="5581342"/>
                <a:ext cx="980122" cy="43088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SRPT-k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47F6AFF-A5D0-805E-5293-77E05C469E40}"/>
                  </a:ext>
                </a:extLst>
              </p:cNvPr>
              <p:cNvSpPr txBox="1"/>
              <p:nvPr/>
            </p:nvSpPr>
            <p:spPr>
              <a:xfrm>
                <a:off x="3517742" y="4443709"/>
                <a:ext cx="980122" cy="43088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SMOD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1E870328-4B11-F0E1-7383-01C7AD25D66A}"/>
                </a:ext>
              </a:extLst>
            </p:cNvPr>
            <p:cNvGrpSpPr/>
            <p:nvPr/>
          </p:nvGrpSpPr>
          <p:grpSpPr>
            <a:xfrm>
              <a:off x="2377122" y="4302768"/>
              <a:ext cx="1801812" cy="1936107"/>
              <a:chOff x="5406072" y="4236093"/>
              <a:chExt cx="1801812" cy="1936107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C7AC85B9-62B5-75A9-B205-3D70FD1AACF2}"/>
                  </a:ext>
                </a:extLst>
              </p:cNvPr>
              <p:cNvSpPr/>
              <p:nvPr/>
            </p:nvSpPr>
            <p:spPr>
              <a:xfrm>
                <a:off x="6617016" y="4476750"/>
                <a:ext cx="590868" cy="1643707"/>
              </a:xfrm>
              <a:prstGeom prst="round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08526CB7-F777-1446-7B81-553FFCA6F648}"/>
                  </a:ext>
                </a:extLst>
              </p:cNvPr>
              <p:cNvSpPr/>
              <p:nvPr/>
            </p:nvSpPr>
            <p:spPr>
              <a:xfrm>
                <a:off x="5406072" y="4236093"/>
                <a:ext cx="590868" cy="1936107"/>
              </a:xfrm>
              <a:prstGeom prst="round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A50EC-29E6-AB6A-9160-DD459C315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42EA96-613A-AF61-DE05-260F292FB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168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2545B-FF9F-E732-03F4-9CB0DAB5F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tweak: SEK-SMOD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041D5F-FC04-6235-231A-70549241DA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63251" cy="309506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Great worst-case properties! Lemmas:</a:t>
                </a:r>
              </a:p>
              <a:p>
                <a:pPr marL="457200" indent="-457200"/>
                <a:r>
                  <a:rPr lang="en-US" dirty="0"/>
                  <a:t>Positive part monotonically decreasing</a:t>
                </a:r>
              </a:p>
              <a:p>
                <a:pPr marL="457200" indent="-457200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 extra job</a:t>
                </a:r>
              </a:p>
              <a:p>
                <a:pPr marL="457200" indent="-457200"/>
                <a:r>
                  <a:rPr lang="en-US" dirty="0"/>
                  <a:t>Each job is “extra job”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time: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worse per arrival.</a:t>
                </a:r>
              </a:p>
              <a:p>
                <a:pPr marL="457200" indent="-457200"/>
                <a:r>
                  <a:rPr lang="en-US" dirty="0"/>
                  <a:t>Once all divergence jobs complete, never worse: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arrivals per divergence.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041D5F-FC04-6235-231A-70549241DA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63251" cy="3095069"/>
              </a:xfrm>
              <a:blipFill>
                <a:blip r:embed="rId2"/>
                <a:stretch>
                  <a:fillRect l="-1133" t="-31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533A157E-02E9-C034-6CB1-E3E062F84B7C}"/>
              </a:ext>
            </a:extLst>
          </p:cNvPr>
          <p:cNvGrpSpPr/>
          <p:nvPr/>
        </p:nvGrpSpPr>
        <p:grpSpPr>
          <a:xfrm>
            <a:off x="8388453" y="276667"/>
            <a:ext cx="3690142" cy="2303949"/>
            <a:chOff x="488792" y="4088923"/>
            <a:chExt cx="3690142" cy="2303949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867EADEE-C715-39DE-A7D3-15F58BF83F45}"/>
                </a:ext>
              </a:extLst>
            </p:cNvPr>
            <p:cNvGrpSpPr/>
            <p:nvPr/>
          </p:nvGrpSpPr>
          <p:grpSpPr>
            <a:xfrm>
              <a:off x="488792" y="4088923"/>
              <a:ext cx="3690142" cy="2303949"/>
              <a:chOff x="3517742" y="4022248"/>
              <a:chExt cx="3690142" cy="2303949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22A3712F-0AB7-A1FC-1D2B-68D404295A7E}"/>
                  </a:ext>
                </a:extLst>
              </p:cNvPr>
              <p:cNvGrpSpPr/>
              <p:nvPr/>
            </p:nvGrpSpPr>
            <p:grpSpPr>
              <a:xfrm>
                <a:off x="4194492" y="4022248"/>
                <a:ext cx="3006090" cy="1097915"/>
                <a:chOff x="5630" y="3735"/>
                <a:chExt cx="4734" cy="1729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6992D764-27C2-015C-08EC-7AA9D849834D}"/>
                    </a:ext>
                  </a:extLst>
                </p:cNvPr>
                <p:cNvGrpSpPr/>
                <p:nvPr/>
              </p:nvGrpSpPr>
              <p:grpSpPr>
                <a:xfrm>
                  <a:off x="5630" y="3735"/>
                  <a:ext cx="4734" cy="1729"/>
                  <a:chOff x="5630" y="3735"/>
                  <a:chExt cx="4734" cy="1729"/>
                </a:xfrm>
              </p:grpSpPr>
              <p:sp>
                <p:nvSpPr>
                  <p:cNvPr id="15" name="Rectangles 8">
                    <a:extLst>
                      <a:ext uri="{FF2B5EF4-FFF2-40B4-BE49-F238E27FC236}">
                        <a16:creationId xmlns:a16="http://schemas.microsoft.com/office/drawing/2014/main" id="{78F50EE7-8927-229F-F735-5A5DA9CBC2EC}"/>
                      </a:ext>
                    </a:extLst>
                  </p:cNvPr>
                  <p:cNvSpPr/>
                  <p:nvPr/>
                </p:nvSpPr>
                <p:spPr>
                  <a:xfrm>
                    <a:off x="6596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" name="Rectangles 9">
                    <a:extLst>
                      <a:ext uri="{FF2B5EF4-FFF2-40B4-BE49-F238E27FC236}">
                        <a16:creationId xmlns:a16="http://schemas.microsoft.com/office/drawing/2014/main" id="{F5B8BF6E-EC74-5E24-ADF1-E936A61AD662}"/>
                      </a:ext>
                    </a:extLst>
                  </p:cNvPr>
                  <p:cNvSpPr/>
                  <p:nvPr/>
                </p:nvSpPr>
                <p:spPr>
                  <a:xfrm>
                    <a:off x="7538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" name="Rectangles 10">
                    <a:extLst>
                      <a:ext uri="{FF2B5EF4-FFF2-40B4-BE49-F238E27FC236}">
                        <a16:creationId xmlns:a16="http://schemas.microsoft.com/office/drawing/2014/main" id="{5327A16B-8219-B47C-C498-2E6AB4601695}"/>
                      </a:ext>
                    </a:extLst>
                  </p:cNvPr>
                  <p:cNvSpPr/>
                  <p:nvPr/>
                </p:nvSpPr>
                <p:spPr>
                  <a:xfrm>
                    <a:off x="8480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" name="Rectangles 11">
                    <a:extLst>
                      <a:ext uri="{FF2B5EF4-FFF2-40B4-BE49-F238E27FC236}">
                        <a16:creationId xmlns:a16="http://schemas.microsoft.com/office/drawing/2014/main" id="{718F18B9-288E-677C-1781-4CB3EC002879}"/>
                      </a:ext>
                    </a:extLst>
                  </p:cNvPr>
                  <p:cNvSpPr/>
                  <p:nvPr/>
                </p:nvSpPr>
                <p:spPr>
                  <a:xfrm>
                    <a:off x="9422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EC4956D5-0566-4D4B-B5B3-66302FCCCBCA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3735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A9E635DD-3BF5-B4E9-A3F8-E71A8973C723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5449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" name="Rectangles 16">
                  <a:extLst>
                    <a:ext uri="{FF2B5EF4-FFF2-40B4-BE49-F238E27FC236}">
                      <a16:creationId xmlns:a16="http://schemas.microsoft.com/office/drawing/2014/main" id="{755DD3E3-CFCF-0F13-EC7E-11206E55BDDF}"/>
                    </a:ext>
                  </a:extLst>
                </p:cNvPr>
                <p:cNvSpPr/>
                <p:nvPr/>
              </p:nvSpPr>
              <p:spPr>
                <a:xfrm>
                  <a:off x="9494" y="4738"/>
                  <a:ext cx="797" cy="40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  <p:sp>
              <p:nvSpPr>
                <p:cNvPr id="10" name="Rectangles 18">
                  <a:extLst>
                    <a:ext uri="{FF2B5EF4-FFF2-40B4-BE49-F238E27FC236}">
                      <a16:creationId xmlns:a16="http://schemas.microsoft.com/office/drawing/2014/main" id="{898CD802-9740-1281-9FC8-939F7FDFC5E5}"/>
                    </a:ext>
                  </a:extLst>
                </p:cNvPr>
                <p:cNvSpPr/>
                <p:nvPr/>
              </p:nvSpPr>
              <p:spPr>
                <a:xfrm>
                  <a:off x="7610" y="4283"/>
                  <a:ext cx="797" cy="85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4</a:t>
                  </a:r>
                </a:p>
              </p:txBody>
            </p:sp>
            <p:sp>
              <p:nvSpPr>
                <p:cNvPr id="11" name="Rectangles 19">
                  <a:extLst>
                    <a:ext uri="{FF2B5EF4-FFF2-40B4-BE49-F238E27FC236}">
                      <a16:creationId xmlns:a16="http://schemas.microsoft.com/office/drawing/2014/main" id="{423BF86C-874A-8599-684F-83EFA9A6EB4C}"/>
                    </a:ext>
                  </a:extLst>
                </p:cNvPr>
                <p:cNvSpPr/>
                <p:nvPr/>
              </p:nvSpPr>
              <p:spPr>
                <a:xfrm>
                  <a:off x="6668" y="4160"/>
                  <a:ext cx="797" cy="98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5</a:t>
                  </a:r>
                </a:p>
              </p:txBody>
            </p:sp>
            <p:sp>
              <p:nvSpPr>
                <p:cNvPr id="12" name="Rectangles 20">
                  <a:extLst>
                    <a:ext uri="{FF2B5EF4-FFF2-40B4-BE49-F238E27FC236}">
                      <a16:creationId xmlns:a16="http://schemas.microsoft.com/office/drawing/2014/main" id="{6B92ADD3-5954-EB31-35A0-B9DC5153E7BB}"/>
                    </a:ext>
                  </a:extLst>
                </p:cNvPr>
                <p:cNvSpPr/>
                <p:nvPr/>
              </p:nvSpPr>
              <p:spPr>
                <a:xfrm>
                  <a:off x="8553" y="4586"/>
                  <a:ext cx="797" cy="55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2</a:t>
                  </a: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F3451463-8A86-3013-156D-5C8B5C558EFE}"/>
                  </a:ext>
                </a:extLst>
              </p:cNvPr>
              <p:cNvGrpSpPr/>
              <p:nvPr/>
            </p:nvGrpSpPr>
            <p:grpSpPr>
              <a:xfrm>
                <a:off x="4201794" y="5228282"/>
                <a:ext cx="3006090" cy="1097915"/>
                <a:chOff x="5630" y="3735"/>
                <a:chExt cx="4734" cy="1729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520B7C4C-1701-CF53-4CE3-2F74B0B75267}"/>
                    </a:ext>
                  </a:extLst>
                </p:cNvPr>
                <p:cNvGrpSpPr/>
                <p:nvPr/>
              </p:nvGrpSpPr>
              <p:grpSpPr>
                <a:xfrm>
                  <a:off x="5630" y="3735"/>
                  <a:ext cx="4734" cy="1729"/>
                  <a:chOff x="5630" y="3735"/>
                  <a:chExt cx="4734" cy="1729"/>
                </a:xfrm>
              </p:grpSpPr>
              <p:sp>
                <p:nvSpPr>
                  <p:cNvPr id="27" name="Rectangles 8">
                    <a:extLst>
                      <a:ext uri="{FF2B5EF4-FFF2-40B4-BE49-F238E27FC236}">
                        <a16:creationId xmlns:a16="http://schemas.microsoft.com/office/drawing/2014/main" id="{BD500C78-C8EB-0254-4BE3-722A81E79D89}"/>
                      </a:ext>
                    </a:extLst>
                  </p:cNvPr>
                  <p:cNvSpPr/>
                  <p:nvPr/>
                </p:nvSpPr>
                <p:spPr>
                  <a:xfrm>
                    <a:off x="6596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" name="Rectangles 9">
                    <a:extLst>
                      <a:ext uri="{FF2B5EF4-FFF2-40B4-BE49-F238E27FC236}">
                        <a16:creationId xmlns:a16="http://schemas.microsoft.com/office/drawing/2014/main" id="{BAAE5A02-09B3-D7C9-17BF-D7679D502C52}"/>
                      </a:ext>
                    </a:extLst>
                  </p:cNvPr>
                  <p:cNvSpPr/>
                  <p:nvPr/>
                </p:nvSpPr>
                <p:spPr>
                  <a:xfrm>
                    <a:off x="7538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Rectangles 10">
                    <a:extLst>
                      <a:ext uri="{FF2B5EF4-FFF2-40B4-BE49-F238E27FC236}">
                        <a16:creationId xmlns:a16="http://schemas.microsoft.com/office/drawing/2014/main" id="{DDF7EF80-3811-05F2-AE7A-070985E548C3}"/>
                      </a:ext>
                    </a:extLst>
                  </p:cNvPr>
                  <p:cNvSpPr/>
                  <p:nvPr/>
                </p:nvSpPr>
                <p:spPr>
                  <a:xfrm>
                    <a:off x="8480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Rectangles 11">
                    <a:extLst>
                      <a:ext uri="{FF2B5EF4-FFF2-40B4-BE49-F238E27FC236}">
                        <a16:creationId xmlns:a16="http://schemas.microsoft.com/office/drawing/2014/main" id="{5AA4DF65-E87E-C2C3-3302-3FB3402020B8}"/>
                      </a:ext>
                    </a:extLst>
                  </p:cNvPr>
                  <p:cNvSpPr/>
                  <p:nvPr/>
                </p:nvSpPr>
                <p:spPr>
                  <a:xfrm>
                    <a:off x="9422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3C979509-230F-C4CE-9DD5-24B6DA196D20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3735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A2526928-78D0-DAE4-CB3D-EBC2606603F4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5449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4" name="Rectangles 18">
                  <a:extLst>
                    <a:ext uri="{FF2B5EF4-FFF2-40B4-BE49-F238E27FC236}">
                      <a16:creationId xmlns:a16="http://schemas.microsoft.com/office/drawing/2014/main" id="{E2E81DAA-6A4C-94FD-2750-9165B00CA61F}"/>
                    </a:ext>
                  </a:extLst>
                </p:cNvPr>
                <p:cNvSpPr/>
                <p:nvPr/>
              </p:nvSpPr>
              <p:spPr>
                <a:xfrm>
                  <a:off x="7610" y="4291"/>
                  <a:ext cx="797" cy="849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3.5</a:t>
                  </a:r>
                </a:p>
              </p:txBody>
            </p:sp>
            <p:sp>
              <p:nvSpPr>
                <p:cNvPr id="25" name="Rectangles 19">
                  <a:extLst>
                    <a:ext uri="{FF2B5EF4-FFF2-40B4-BE49-F238E27FC236}">
                      <a16:creationId xmlns:a16="http://schemas.microsoft.com/office/drawing/2014/main" id="{37E8E993-B257-2410-E177-0644786C40D7}"/>
                    </a:ext>
                  </a:extLst>
                </p:cNvPr>
                <p:cNvSpPr/>
                <p:nvPr/>
              </p:nvSpPr>
              <p:spPr>
                <a:xfrm>
                  <a:off x="6668" y="3975"/>
                  <a:ext cx="797" cy="1165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6</a:t>
                  </a:r>
                </a:p>
              </p:txBody>
            </p:sp>
            <p:sp>
              <p:nvSpPr>
                <p:cNvPr id="26" name="Rectangles 20">
                  <a:extLst>
                    <a:ext uri="{FF2B5EF4-FFF2-40B4-BE49-F238E27FC236}">
                      <a16:creationId xmlns:a16="http://schemas.microsoft.com/office/drawing/2014/main" id="{2FAB8318-DC1F-726A-FA1D-69F23F939337}"/>
                    </a:ext>
                  </a:extLst>
                </p:cNvPr>
                <p:cNvSpPr/>
                <p:nvPr/>
              </p:nvSpPr>
              <p:spPr>
                <a:xfrm>
                  <a:off x="8553" y="4401"/>
                  <a:ext cx="797" cy="739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3</a:t>
                  </a:r>
                </a:p>
              </p:txBody>
            </p:sp>
          </p:grp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85BC668-5063-5EE5-0317-47BFB98D6576}"/>
                  </a:ext>
                </a:extLst>
              </p:cNvPr>
              <p:cNvSpPr txBox="1"/>
              <p:nvPr/>
            </p:nvSpPr>
            <p:spPr>
              <a:xfrm>
                <a:off x="3521075" y="5581342"/>
                <a:ext cx="980122" cy="43088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SRPT-k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47F6AFF-A5D0-805E-5293-77E05C469E40}"/>
                  </a:ext>
                </a:extLst>
              </p:cNvPr>
              <p:cNvSpPr txBox="1"/>
              <p:nvPr/>
            </p:nvSpPr>
            <p:spPr>
              <a:xfrm>
                <a:off x="3517742" y="4443709"/>
                <a:ext cx="980122" cy="43088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SMOD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1E870328-4B11-F0E1-7383-01C7AD25D66A}"/>
                </a:ext>
              </a:extLst>
            </p:cNvPr>
            <p:cNvGrpSpPr/>
            <p:nvPr/>
          </p:nvGrpSpPr>
          <p:grpSpPr>
            <a:xfrm>
              <a:off x="2377122" y="4302768"/>
              <a:ext cx="1801812" cy="1936107"/>
              <a:chOff x="5406072" y="4236093"/>
              <a:chExt cx="1801812" cy="1936107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C7AC85B9-62B5-75A9-B205-3D70FD1AACF2}"/>
                  </a:ext>
                </a:extLst>
              </p:cNvPr>
              <p:cNvSpPr/>
              <p:nvPr/>
            </p:nvSpPr>
            <p:spPr>
              <a:xfrm>
                <a:off x="6617016" y="4476750"/>
                <a:ext cx="590868" cy="1643707"/>
              </a:xfrm>
              <a:prstGeom prst="round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08526CB7-F777-1446-7B81-553FFCA6F648}"/>
                  </a:ext>
                </a:extLst>
              </p:cNvPr>
              <p:cNvSpPr/>
              <p:nvPr/>
            </p:nvSpPr>
            <p:spPr>
              <a:xfrm>
                <a:off x="5406072" y="4236093"/>
                <a:ext cx="590868" cy="1936107"/>
              </a:xfrm>
              <a:prstGeom prst="round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607F13-E953-8B87-D1C4-1AAED9038014}"/>
                  </a:ext>
                </a:extLst>
              </p:cNvPr>
              <p:cNvSpPr txBox="1"/>
              <p:nvPr/>
            </p:nvSpPr>
            <p:spPr>
              <a:xfrm>
                <a:off x="1209674" y="4893693"/>
                <a:ext cx="9801225" cy="9618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Lemma: With appropriate parameterization, for every divergence </a:t>
                </a:r>
                <a:br>
                  <a:rPr lang="en-US" sz="2800" dirty="0"/>
                </a:b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∑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𝑆𝐸𝐾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𝑆𝑀𝑂𝐷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∑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𝑆𝑅𝑃𝑇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800" i="1" dirty="0"/>
                  <a:t>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607F13-E953-8B87-D1C4-1AAED9038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674" y="4893693"/>
                <a:ext cx="9801225" cy="961802"/>
              </a:xfrm>
              <a:prstGeom prst="rect">
                <a:avLst/>
              </a:prstGeom>
              <a:blipFill>
                <a:blip r:embed="rId3"/>
                <a:stretch>
                  <a:fillRect t="-6329" r="-1057" b="-170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47E4C5B-13F4-1A33-36A5-E15CF83D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943984-4B0F-9911-30BE-A71F5D3EA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82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B1860-0773-D4B5-FBA5-7880EB418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Result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99ECB0-CADC-C6EF-A0AF-63B4932F6E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47342" cy="4351338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dirty="0"/>
                  <a:t>Theorem: With appropriate parameterization, </a:t>
                </a:r>
                <a:br>
                  <a:rPr lang="en-US" dirty="0"/>
                </a:br>
                <a:r>
                  <a:rPr lang="en-US" dirty="0"/>
                  <a:t>SEK-SMOD always outperforms SRPT-k: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𝑆𝐸𝐾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𝑆𝑀𝑂𝐷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𝑆𝑅𝑃𝑇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First policy to ever outperform SRPT-k!</a:t>
                </a:r>
              </a:p>
              <a:p>
                <a:pPr marL="0" indent="0">
                  <a:buNone/>
                </a:pPr>
                <a:r>
                  <a:rPr lang="en-US" dirty="0"/>
                  <a:t>Full details: “Outperforming Multiserver SRPT at All Loads”. SIGMETRICS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High-level intuition: Use more information – global state.</a:t>
                </a:r>
                <a:br>
                  <a:rPr lang="en-US" dirty="0"/>
                </a:br>
                <a:r>
                  <a:rPr lang="en-US" dirty="0"/>
                  <a:t>Find predictable situation – about to complete.</a:t>
                </a:r>
                <a:br>
                  <a:rPr lang="en-US" dirty="0"/>
                </a:br>
                <a:r>
                  <a:rPr lang="en-US" dirty="0"/>
                  <a:t>Consistent benefit.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99ECB0-CADC-C6EF-A0AF-63B4932F6E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47342" cy="4351338"/>
              </a:xfrm>
              <a:blipFill>
                <a:blip r:embed="rId2"/>
                <a:stretch>
                  <a:fillRect l="-119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AFCEF65-AADF-6CA2-FD92-5B020A9DB107}"/>
              </a:ext>
            </a:extLst>
          </p:cNvPr>
          <p:cNvSpPr/>
          <p:nvPr/>
        </p:nvSpPr>
        <p:spPr>
          <a:xfrm>
            <a:off x="2846895" y="1825625"/>
            <a:ext cx="6796726" cy="1231900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6265C-1166-C0CB-4CC9-68EAD7A9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14B7E-3322-D5F3-14BE-634C0275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392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D8649-6012-BA9C-7FE9-E1FC88930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outperformance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01DB68-34D4-D9AE-0821-B8125F4657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676775"/>
                <a:ext cx="10515600" cy="15001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Empirically: No complex parameterization needed, no SMOD. Just SEK.</a:t>
                </a:r>
              </a:p>
              <a:p>
                <a:pPr marL="0" indent="0">
                  <a:buNone/>
                </a:pPr>
                <a:r>
                  <a:rPr lang="en-US" dirty="0"/>
                  <a:t>Small vs. large: above &amp; below cutoff. Mean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is fine.</a:t>
                </a:r>
              </a:p>
              <a:p>
                <a:pPr marL="0" indent="0">
                  <a:buNone/>
                </a:pPr>
                <a:r>
                  <a:rPr lang="en-US" dirty="0"/>
                  <a:t>Maximum improvement observed: 0.9%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01DB68-34D4-D9AE-0821-B8125F4657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676775"/>
                <a:ext cx="10515600" cy="1500187"/>
              </a:xfrm>
              <a:blipFill>
                <a:blip r:embed="rId2"/>
                <a:stretch>
                  <a:fillRect l="-1217" t="-6504" b="-11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3A65620-58E3-202C-634F-DFC8AB3E1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50" y="1333619"/>
            <a:ext cx="11107700" cy="3210373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FF43DF-3CB1-0653-1B02-2583E9F44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847C0-0696-BA13-A071-5AD532333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735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7928E-3C22-3A06-347F-EA02C5EF3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servers: More divergences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E8EE5-6A0B-98E0-B0EA-5462ECBACE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4851399"/>
                <a:ext cx="10898171" cy="13255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SEK2: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≥3</m:t>
                    </m:r>
                  </m:oMath>
                </a14:m>
                <a:r>
                  <a:rPr lang="en-US" dirty="0"/>
                  <a:t> servers, diverge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dirty="0"/>
                  <a:t> jobs present,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small jobs.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E8EE5-6A0B-98E0-B0EA-5462ECBACE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4851399"/>
                <a:ext cx="10898171" cy="1325563"/>
              </a:xfrm>
              <a:blipFill>
                <a:blip r:embed="rId2"/>
                <a:stretch>
                  <a:fillRect l="-1119" t="-7834" r="-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57E9B7A-46E7-AFE5-257A-823988ACA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047" y="1690688"/>
            <a:ext cx="7201905" cy="3029373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B5971-CF24-EDF9-1E40-DF7A83CA1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60AAE-1C71-FF9C-F6A7-76FA83767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90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DBEE3-2CD4-7034-1DD8-6FDB971C4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Estimates: SEK still helps, if low noise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E40BB4-8D77-E25D-260D-D0FB8DB272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772452"/>
                <a:ext cx="10515600" cy="6000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 </a:t>
                </a:r>
                <a:r>
                  <a:rPr lang="en-US" dirty="0" err="1"/>
                  <a:t>hyperexponential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≈10</m:t>
                    </m:r>
                  </m:oMath>
                </a14:m>
                <a:r>
                  <a:rPr lang="en-US" dirty="0"/>
                  <a:t>. Estimation error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E40BB4-8D77-E25D-260D-D0FB8DB272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772452"/>
                <a:ext cx="10515600" cy="600075"/>
              </a:xfrm>
              <a:blipFill>
                <a:blip r:embed="rId2"/>
                <a:stretch>
                  <a:fillRect l="-1217" t="-17347" b="-9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4AE0E25-BE18-BE6C-213E-784CCE5DC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55" y="1447498"/>
            <a:ext cx="11031489" cy="4324954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D7360-D277-581E-FEC1-BF2A2F5F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475EB-F110-5D08-E4EC-34DF63660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62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0E983-ED25-8B30-87B5-C7E8B3D67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to optimality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DAA2C-8F53-CD61-7E2E-EE90D3849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good is 0.9% improvement, anyways? How close to optimal?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don’t know! Need better lower bounds!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F3EC89-CA8B-681C-A93C-5EE88D278A12}"/>
              </a:ext>
            </a:extLst>
          </p:cNvPr>
          <p:cNvGrpSpPr/>
          <p:nvPr/>
        </p:nvGrpSpPr>
        <p:grpSpPr>
          <a:xfrm>
            <a:off x="2394408" y="2474222"/>
            <a:ext cx="1696826" cy="1169551"/>
            <a:chOff x="2394408" y="2219698"/>
            <a:chExt cx="1696826" cy="1169551"/>
          </a:xfrm>
        </p:grpSpPr>
        <p:sp>
          <p:nvSpPr>
            <p:cNvPr id="4" name="Smiley Face 3">
              <a:extLst>
                <a:ext uri="{FF2B5EF4-FFF2-40B4-BE49-F238E27FC236}">
                  <a16:creationId xmlns:a16="http://schemas.microsoft.com/office/drawing/2014/main" id="{AB7CB3DB-E4DA-F8E9-65CD-E9162DF06D97}"/>
                </a:ext>
              </a:extLst>
            </p:cNvPr>
            <p:cNvSpPr/>
            <p:nvPr/>
          </p:nvSpPr>
          <p:spPr>
            <a:xfrm>
              <a:off x="2394408" y="2384981"/>
              <a:ext cx="848413" cy="838986"/>
            </a:xfrm>
            <a:prstGeom prst="smileyFace">
              <a:avLst/>
            </a:prstGeom>
            <a:solidFill>
              <a:srgbClr val="00B05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C2B4380-87AA-8837-5F2F-CDA3991719AB}"/>
                </a:ext>
              </a:extLst>
            </p:cNvPr>
            <p:cNvSpPr txBox="1"/>
            <p:nvPr/>
          </p:nvSpPr>
          <p:spPr>
            <a:xfrm>
              <a:off x="3242821" y="2219698"/>
              <a:ext cx="848413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0" dirty="0"/>
                <a:t>?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79E032-7B9F-DCF0-A1CE-F0886609C779}"/>
              </a:ext>
            </a:extLst>
          </p:cNvPr>
          <p:cNvGrpSpPr/>
          <p:nvPr/>
        </p:nvGrpSpPr>
        <p:grpSpPr>
          <a:xfrm>
            <a:off x="5671793" y="2474221"/>
            <a:ext cx="1672475" cy="1169551"/>
            <a:chOff x="5671793" y="2219697"/>
            <a:chExt cx="1672475" cy="1169551"/>
          </a:xfrm>
        </p:grpSpPr>
        <p:sp>
          <p:nvSpPr>
            <p:cNvPr id="5" name="Smiley Face 4">
              <a:extLst>
                <a:ext uri="{FF2B5EF4-FFF2-40B4-BE49-F238E27FC236}">
                  <a16:creationId xmlns:a16="http://schemas.microsoft.com/office/drawing/2014/main" id="{DC2B4037-0AB2-5B7A-F0F0-DD416C4249B9}"/>
                </a:ext>
              </a:extLst>
            </p:cNvPr>
            <p:cNvSpPr/>
            <p:nvPr/>
          </p:nvSpPr>
          <p:spPr>
            <a:xfrm>
              <a:off x="5671793" y="2384981"/>
              <a:ext cx="848413" cy="838986"/>
            </a:xfrm>
            <a:prstGeom prst="smileyFace">
              <a:avLst>
                <a:gd name="adj" fmla="val 112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F1781AE-34B7-9FF6-8DED-EB908EC7B73C}"/>
                </a:ext>
              </a:extLst>
            </p:cNvPr>
            <p:cNvSpPr txBox="1"/>
            <p:nvPr/>
          </p:nvSpPr>
          <p:spPr>
            <a:xfrm>
              <a:off x="6495855" y="2219697"/>
              <a:ext cx="848413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0" dirty="0"/>
                <a:t>?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CC1761-41D8-18F9-7BA6-BFABFB9AE0EC}"/>
              </a:ext>
            </a:extLst>
          </p:cNvPr>
          <p:cNvGrpSpPr/>
          <p:nvPr/>
        </p:nvGrpSpPr>
        <p:grpSpPr>
          <a:xfrm>
            <a:off x="8524971" y="2474220"/>
            <a:ext cx="1696827" cy="1169551"/>
            <a:chOff x="8524971" y="2219696"/>
            <a:chExt cx="1696827" cy="1169551"/>
          </a:xfrm>
        </p:grpSpPr>
        <p:sp>
          <p:nvSpPr>
            <p:cNvPr id="6" name="Smiley Face 5">
              <a:extLst>
                <a:ext uri="{FF2B5EF4-FFF2-40B4-BE49-F238E27FC236}">
                  <a16:creationId xmlns:a16="http://schemas.microsoft.com/office/drawing/2014/main" id="{99A991E5-84F7-8935-BD41-DEDB92482EA1}"/>
                </a:ext>
              </a:extLst>
            </p:cNvPr>
            <p:cNvSpPr/>
            <p:nvPr/>
          </p:nvSpPr>
          <p:spPr>
            <a:xfrm>
              <a:off x="8524971" y="2384981"/>
              <a:ext cx="848413" cy="838986"/>
            </a:xfrm>
            <a:prstGeom prst="smileyFace">
              <a:avLst>
                <a:gd name="adj" fmla="val -4653"/>
              </a:avLst>
            </a:prstGeom>
            <a:solidFill>
              <a:srgbClr val="FF00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6A0323D-50DF-864F-3892-24675F722F4F}"/>
                </a:ext>
              </a:extLst>
            </p:cNvPr>
            <p:cNvSpPr txBox="1"/>
            <p:nvPr/>
          </p:nvSpPr>
          <p:spPr>
            <a:xfrm>
              <a:off x="9373385" y="2219696"/>
              <a:ext cx="848413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0" dirty="0"/>
                <a:t>?</a:t>
              </a:r>
            </a:p>
          </p:txBody>
        </p:sp>
      </p:grp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60E660E-AA41-2EC5-CC33-924D5570D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76E4BA2-BCB7-83E4-9EDC-A80091D3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325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C999B-AFD0-0C70-3CC0-A749AC214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313181-2AEE-FFFB-53C3-CC10741400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Prior work &amp; SRPT-k</a:t>
                </a:r>
              </a:p>
              <a:p>
                <a:r>
                  <a:rPr lang="en-US" dirty="0"/>
                  <a:t>New policy: SRPT-Except-k+1 (SEK)</a:t>
                </a:r>
              </a:p>
              <a:p>
                <a:r>
                  <a:rPr lang="en-US" dirty="0"/>
                  <a:t>First improvement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over SRPT-k,</a:t>
                </a:r>
                <a:br>
                  <a:rPr lang="en-US" dirty="0"/>
                </a:br>
                <a:r>
                  <a:rPr lang="en-US" dirty="0"/>
                  <a:t>via minor tweaks.</a:t>
                </a:r>
              </a:p>
              <a:p>
                <a:r>
                  <a:rPr lang="en-US" dirty="0"/>
                  <a:t>New, stronger lower bounds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313181-2AEE-FFFB-53C3-CC10741400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98549E19-BA6C-8CF2-76D0-523211B56FE4}"/>
              </a:ext>
            </a:extLst>
          </p:cNvPr>
          <p:cNvGrpSpPr/>
          <p:nvPr/>
        </p:nvGrpSpPr>
        <p:grpSpPr>
          <a:xfrm>
            <a:off x="7177229" y="896206"/>
            <a:ext cx="4594860" cy="1723902"/>
            <a:chOff x="3630866" y="1755263"/>
            <a:chExt cx="4594860" cy="172390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53E4BEB-F446-834C-5FF6-93A397F76832}"/>
                </a:ext>
              </a:extLst>
            </p:cNvPr>
            <p:cNvGrpSpPr/>
            <p:nvPr/>
          </p:nvGrpSpPr>
          <p:grpSpPr>
            <a:xfrm>
              <a:off x="3630866" y="2154555"/>
              <a:ext cx="4594860" cy="1324610"/>
              <a:chOff x="3630866" y="2154555"/>
              <a:chExt cx="4594860" cy="132461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607CC74A-B381-EA7A-5FB4-73FA5DC63536}"/>
                  </a:ext>
                </a:extLst>
              </p:cNvPr>
              <p:cNvGrpSpPr/>
              <p:nvPr/>
            </p:nvGrpSpPr>
            <p:grpSpPr>
              <a:xfrm>
                <a:off x="3630866" y="2154555"/>
                <a:ext cx="4594860" cy="1324610"/>
                <a:chOff x="541" y="3013"/>
                <a:chExt cx="7236" cy="2086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0E09BBDD-B274-2B84-AA7A-77013E09C724}"/>
                    </a:ext>
                  </a:extLst>
                </p:cNvPr>
                <p:cNvGrpSpPr/>
                <p:nvPr/>
              </p:nvGrpSpPr>
              <p:grpSpPr>
                <a:xfrm>
                  <a:off x="541" y="3013"/>
                  <a:ext cx="7236" cy="2086"/>
                  <a:chOff x="541" y="3013"/>
                  <a:chExt cx="7236" cy="2086"/>
                </a:xfrm>
              </p:grpSpPr>
              <p:grpSp>
                <p:nvGrpSpPr>
                  <p:cNvPr id="12" name="Group 11">
                    <a:extLst>
                      <a:ext uri="{FF2B5EF4-FFF2-40B4-BE49-F238E27FC236}">
                        <a16:creationId xmlns:a16="http://schemas.microsoft.com/office/drawing/2014/main" id="{BFDECB0E-A1A2-1D26-69D5-BD14E065AFA2}"/>
                      </a:ext>
                    </a:extLst>
                  </p:cNvPr>
                  <p:cNvGrpSpPr/>
                  <p:nvPr/>
                </p:nvGrpSpPr>
                <p:grpSpPr>
                  <a:xfrm>
                    <a:off x="541" y="3013"/>
                    <a:ext cx="7236" cy="1763"/>
                    <a:chOff x="4612" y="3687"/>
                    <a:chExt cx="7236" cy="1763"/>
                  </a:xfrm>
                </p:grpSpPr>
                <p:grpSp>
                  <p:nvGrpSpPr>
                    <p:cNvPr id="16" name="Group 15">
                      <a:extLst>
                        <a:ext uri="{FF2B5EF4-FFF2-40B4-BE49-F238E27FC236}">
                          <a16:creationId xmlns:a16="http://schemas.microsoft.com/office/drawing/2014/main" id="{B65CEC7F-0265-D34C-0258-BCF984DAF4E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30" y="3687"/>
                      <a:ext cx="5881" cy="1763"/>
                      <a:chOff x="5630" y="3687"/>
                      <a:chExt cx="5881" cy="1763"/>
                    </a:xfrm>
                  </p:grpSpPr>
                  <p:sp>
                    <p:nvSpPr>
                      <p:cNvPr id="23" name="Rectangles 8">
                        <a:extLst>
                          <a:ext uri="{FF2B5EF4-FFF2-40B4-BE49-F238E27FC236}">
                            <a16:creationId xmlns:a16="http://schemas.microsoft.com/office/drawing/2014/main" id="{641BA885-FC87-AB81-0E71-D8BFBE2DD6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96" y="3735"/>
                        <a:ext cx="942" cy="171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rgbClr val="20202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4" name="Rectangles 9">
                        <a:extLst>
                          <a:ext uri="{FF2B5EF4-FFF2-40B4-BE49-F238E27FC236}">
                            <a16:creationId xmlns:a16="http://schemas.microsoft.com/office/drawing/2014/main" id="{12460804-6E7A-9293-D89C-5E7855CB85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38" y="3735"/>
                        <a:ext cx="942" cy="171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rgbClr val="20202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5" name="Rectangles 10">
                        <a:extLst>
                          <a:ext uri="{FF2B5EF4-FFF2-40B4-BE49-F238E27FC236}">
                            <a16:creationId xmlns:a16="http://schemas.microsoft.com/office/drawing/2014/main" id="{51B68C52-8E9D-581D-DBA6-F319D36CE7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80" y="3735"/>
                        <a:ext cx="942" cy="171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rgbClr val="20202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6" name="Rectangles 11">
                        <a:extLst>
                          <a:ext uri="{FF2B5EF4-FFF2-40B4-BE49-F238E27FC236}">
                            <a16:creationId xmlns:a16="http://schemas.microsoft.com/office/drawing/2014/main" id="{2F9EB3C3-91BA-DB0B-13D3-70E3DEC8F0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22" y="3735"/>
                        <a:ext cx="942" cy="171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rgbClr val="20202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7" name="Oval 26">
                        <a:extLst>
                          <a:ext uri="{FF2B5EF4-FFF2-40B4-BE49-F238E27FC236}">
                            <a16:creationId xmlns:a16="http://schemas.microsoft.com/office/drawing/2014/main" id="{4649C8AD-68B3-F48D-B213-07E9481075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84" y="3687"/>
                        <a:ext cx="827" cy="881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28" name="Straight Connector 27">
                        <a:extLst>
                          <a:ext uri="{FF2B5EF4-FFF2-40B4-BE49-F238E27FC236}">
                            <a16:creationId xmlns:a16="http://schemas.microsoft.com/office/drawing/2014/main" id="{CD2F286E-5794-1129-D400-DE006C79E71C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5630" y="3721"/>
                        <a:ext cx="966" cy="15"/>
                      </a:xfrm>
                      <a:prstGeom prst="line">
                        <a:avLst/>
                      </a:prstGeom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9" name="Straight Connector 28">
                        <a:extLst>
                          <a:ext uri="{FF2B5EF4-FFF2-40B4-BE49-F238E27FC236}">
                            <a16:creationId xmlns:a16="http://schemas.microsoft.com/office/drawing/2014/main" id="{10737AE1-2CFF-CD01-94C9-939576AD0EE2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5630" y="5435"/>
                        <a:ext cx="966" cy="15"/>
                      </a:xfrm>
                      <a:prstGeom prst="line">
                        <a:avLst/>
                      </a:prstGeom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8" name="Rectangles 19">
                      <a:extLst>
                        <a:ext uri="{FF2B5EF4-FFF2-40B4-BE49-F238E27FC236}">
                          <a16:creationId xmlns:a16="http://schemas.microsoft.com/office/drawing/2014/main" id="{54CA55EC-D216-785C-04F9-179390E008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94" y="4157"/>
                      <a:ext cx="797" cy="980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21" name="Straight Arrow Connector 20">
                      <a:extLst>
                        <a:ext uri="{FF2B5EF4-FFF2-40B4-BE49-F238E27FC236}">
                          <a16:creationId xmlns:a16="http://schemas.microsoft.com/office/drawing/2014/main" id="{330A663F-B0D8-5817-E667-A6D38BD35679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11511" y="4124"/>
                      <a:ext cx="337" cy="7"/>
                    </a:xfrm>
                    <a:prstGeom prst="straightConnector1">
                      <a:avLst/>
                    </a:prstGeom>
                    <a:ln w="25400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" name="Straight Arrow Connector 21">
                      <a:extLst>
                        <a:ext uri="{FF2B5EF4-FFF2-40B4-BE49-F238E27FC236}">
                          <a16:creationId xmlns:a16="http://schemas.microsoft.com/office/drawing/2014/main" id="{F6115287-393E-FAE3-B6CD-2BEA2DCD9605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612" y="4647"/>
                      <a:ext cx="1018" cy="6"/>
                    </a:xfrm>
                    <a:prstGeom prst="straightConnector1">
                      <a:avLst/>
                    </a:prstGeom>
                    <a:ln w="63500">
                      <a:solidFill>
                        <a:schemeClr val="tx1"/>
                      </a:solidFill>
                      <a:tailEnd type="arrow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3" name="Oval 12">
                    <a:extLst>
                      <a:ext uri="{FF2B5EF4-FFF2-40B4-BE49-F238E27FC236}">
                        <a16:creationId xmlns:a16="http://schemas.microsoft.com/office/drawing/2014/main" id="{EC239F13-6295-88A1-F2C1-83499C628DDE}"/>
                      </a:ext>
                    </a:extLst>
                  </p:cNvPr>
                  <p:cNvSpPr/>
                  <p:nvPr/>
                </p:nvSpPr>
                <p:spPr>
                  <a:xfrm>
                    <a:off x="6613" y="4218"/>
                    <a:ext cx="827" cy="881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4" name="Straight Arrow Connector 13">
                    <a:extLst>
                      <a:ext uri="{FF2B5EF4-FFF2-40B4-BE49-F238E27FC236}">
                        <a16:creationId xmlns:a16="http://schemas.microsoft.com/office/drawing/2014/main" id="{DF308A3E-2FFE-6A05-24A3-7668F8AB362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440" y="4655"/>
                    <a:ext cx="337" cy="7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" name="Rectangles 17">
                    <a:extLst>
                      <a:ext uri="{FF2B5EF4-FFF2-40B4-BE49-F238E27FC236}">
                        <a16:creationId xmlns:a16="http://schemas.microsoft.com/office/drawing/2014/main" id="{56BBAA83-337E-C604-9998-08E999D0B5FE}"/>
                      </a:ext>
                    </a:extLst>
                  </p:cNvPr>
                  <p:cNvSpPr/>
                  <p:nvPr/>
                </p:nvSpPr>
                <p:spPr>
                  <a:xfrm>
                    <a:off x="6729" y="3403"/>
                    <a:ext cx="594" cy="191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05D1D75C-655E-7664-42C1-9C3D8EF937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08" y="3443"/>
                  <a:ext cx="259" cy="151"/>
                </a:xfrm>
                <a:prstGeom prst="line">
                  <a:avLst/>
                </a:prstGeom>
                <a:ln w="38100">
                  <a:solidFill>
                    <a:srgbClr val="20202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4BE76E63-BABA-9A63-4817-B10A024B1FF2}"/>
                    </a:ext>
                  </a:extLst>
                </p:cNvPr>
                <p:cNvCxnSpPr>
                  <a:cxnSpLocks/>
                  <a:endCxn id="13" idx="2"/>
                </p:cNvCxnSpPr>
                <p:nvPr/>
              </p:nvCxnSpPr>
              <p:spPr>
                <a:xfrm>
                  <a:off x="6308" y="4452"/>
                  <a:ext cx="305" cy="207"/>
                </a:xfrm>
                <a:prstGeom prst="line">
                  <a:avLst/>
                </a:prstGeom>
                <a:ln w="38100">
                  <a:solidFill>
                    <a:srgbClr val="20202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Rectangles 16">
                <a:extLst>
                  <a:ext uri="{FF2B5EF4-FFF2-40B4-BE49-F238E27FC236}">
                    <a16:creationId xmlns:a16="http://schemas.microsoft.com/office/drawing/2014/main" id="{A006E2F1-57D3-F83F-6A55-655D96B270C2}"/>
                  </a:ext>
                </a:extLst>
              </p:cNvPr>
              <p:cNvSpPr/>
              <p:nvPr/>
            </p:nvSpPr>
            <p:spPr>
              <a:xfrm>
                <a:off x="7562786" y="3106273"/>
                <a:ext cx="372110" cy="18732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C406AE3-5CF6-7E0A-1B34-28107F1FD115}"/>
                </a:ext>
              </a:extLst>
            </p:cNvPr>
            <p:cNvSpPr txBox="1"/>
            <p:nvPr/>
          </p:nvSpPr>
          <p:spPr>
            <a:xfrm>
              <a:off x="6165469" y="1755263"/>
              <a:ext cx="980122" cy="43088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SRPT-k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E757A35-8E66-6B07-A262-5B3695C5C9C0}"/>
              </a:ext>
            </a:extLst>
          </p:cNvPr>
          <p:cNvGrpSpPr/>
          <p:nvPr/>
        </p:nvGrpSpPr>
        <p:grpSpPr>
          <a:xfrm>
            <a:off x="7177229" y="2790534"/>
            <a:ext cx="4594860" cy="1724854"/>
            <a:chOff x="7335979" y="2791486"/>
            <a:chExt cx="4594860" cy="1724854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3E71807-E8EB-7A96-95EE-089DD15BA066}"/>
                </a:ext>
              </a:extLst>
            </p:cNvPr>
            <p:cNvGrpSpPr/>
            <p:nvPr/>
          </p:nvGrpSpPr>
          <p:grpSpPr>
            <a:xfrm>
              <a:off x="7335979" y="2791486"/>
              <a:ext cx="4594860" cy="1723902"/>
              <a:chOff x="3630866" y="1755263"/>
              <a:chExt cx="4594860" cy="1723902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D078D715-A6FC-B366-868C-E1F9744C1DDB}"/>
                  </a:ext>
                </a:extLst>
              </p:cNvPr>
              <p:cNvGrpSpPr/>
              <p:nvPr/>
            </p:nvGrpSpPr>
            <p:grpSpPr>
              <a:xfrm>
                <a:off x="3630866" y="2154555"/>
                <a:ext cx="4594860" cy="1324610"/>
                <a:chOff x="3630866" y="2154555"/>
                <a:chExt cx="4594860" cy="1324610"/>
              </a:xfrm>
            </p:grpSpPr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76C4FC51-31E9-D427-B9D9-2A61445BBFCC}"/>
                    </a:ext>
                  </a:extLst>
                </p:cNvPr>
                <p:cNvGrpSpPr/>
                <p:nvPr/>
              </p:nvGrpSpPr>
              <p:grpSpPr>
                <a:xfrm>
                  <a:off x="3630866" y="2154555"/>
                  <a:ext cx="4594860" cy="1324610"/>
                  <a:chOff x="541" y="3013"/>
                  <a:chExt cx="7236" cy="2086"/>
                </a:xfrm>
              </p:grpSpPr>
              <p:grpSp>
                <p:nvGrpSpPr>
                  <p:cNvPr id="35" name="Group 34">
                    <a:extLst>
                      <a:ext uri="{FF2B5EF4-FFF2-40B4-BE49-F238E27FC236}">
                        <a16:creationId xmlns:a16="http://schemas.microsoft.com/office/drawing/2014/main" id="{7C82D36E-02DB-C5F0-34B6-61F73843B000}"/>
                      </a:ext>
                    </a:extLst>
                  </p:cNvPr>
                  <p:cNvGrpSpPr/>
                  <p:nvPr/>
                </p:nvGrpSpPr>
                <p:grpSpPr>
                  <a:xfrm>
                    <a:off x="541" y="3013"/>
                    <a:ext cx="7236" cy="2086"/>
                    <a:chOff x="541" y="3013"/>
                    <a:chExt cx="7236" cy="2086"/>
                  </a:xfrm>
                </p:grpSpPr>
                <p:grpSp>
                  <p:nvGrpSpPr>
                    <p:cNvPr id="38" name="Group 37">
                      <a:extLst>
                        <a:ext uri="{FF2B5EF4-FFF2-40B4-BE49-F238E27FC236}">
                          <a16:creationId xmlns:a16="http://schemas.microsoft.com/office/drawing/2014/main" id="{94A94778-B732-C038-9737-DE0B0631D26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1" y="3013"/>
                      <a:ext cx="7236" cy="1763"/>
                      <a:chOff x="4612" y="3687"/>
                      <a:chExt cx="7236" cy="1763"/>
                    </a:xfrm>
                  </p:grpSpPr>
                  <p:grpSp>
                    <p:nvGrpSpPr>
                      <p:cNvPr id="42" name="Group 41">
                        <a:extLst>
                          <a:ext uri="{FF2B5EF4-FFF2-40B4-BE49-F238E27FC236}">
                            <a16:creationId xmlns:a16="http://schemas.microsoft.com/office/drawing/2014/main" id="{0FE5BFF3-95A3-28E0-5198-756A9A5167B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30" y="3687"/>
                        <a:ext cx="5881" cy="1763"/>
                        <a:chOff x="5630" y="3687"/>
                        <a:chExt cx="5881" cy="1763"/>
                      </a:xfrm>
                    </p:grpSpPr>
                    <p:sp>
                      <p:nvSpPr>
                        <p:cNvPr id="46" name="Rectangles 8">
                          <a:extLst>
                            <a:ext uri="{FF2B5EF4-FFF2-40B4-BE49-F238E27FC236}">
                              <a16:creationId xmlns:a16="http://schemas.microsoft.com/office/drawing/2014/main" id="{6937D28D-D5C2-B8C9-BD5E-47BFCFED8C8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596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47" name="Rectangles 9">
                          <a:extLst>
                            <a:ext uri="{FF2B5EF4-FFF2-40B4-BE49-F238E27FC236}">
                              <a16:creationId xmlns:a16="http://schemas.microsoft.com/office/drawing/2014/main" id="{CC399E60-50F7-BD06-020A-8C64982207B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538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48" name="Rectangles 10">
                          <a:extLst>
                            <a:ext uri="{FF2B5EF4-FFF2-40B4-BE49-F238E27FC236}">
                              <a16:creationId xmlns:a16="http://schemas.microsoft.com/office/drawing/2014/main" id="{CB359784-E31B-5110-1433-806504DD2BE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80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49" name="Rectangles 11">
                          <a:extLst>
                            <a:ext uri="{FF2B5EF4-FFF2-40B4-BE49-F238E27FC236}">
                              <a16:creationId xmlns:a16="http://schemas.microsoft.com/office/drawing/2014/main" id="{EC3B839A-B9D1-F395-8F36-A4961B8E2A5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22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0" name="Oval 49">
                          <a:extLst>
                            <a:ext uri="{FF2B5EF4-FFF2-40B4-BE49-F238E27FC236}">
                              <a16:creationId xmlns:a16="http://schemas.microsoft.com/office/drawing/2014/main" id="{1458A91D-A6C8-387B-726E-2BFBE26540A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684" y="3687"/>
                          <a:ext cx="827" cy="881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cxnSp>
                      <p:nvCxnSpPr>
                        <p:cNvPr id="51" name="Straight Connector 50">
                          <a:extLst>
                            <a:ext uri="{FF2B5EF4-FFF2-40B4-BE49-F238E27FC236}">
                              <a16:creationId xmlns:a16="http://schemas.microsoft.com/office/drawing/2014/main" id="{7D098E2E-C93F-BB73-CC38-8B13A6DED4D5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5630" y="3721"/>
                          <a:ext cx="966" cy="15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2" name="Straight Connector 51">
                          <a:extLst>
                            <a:ext uri="{FF2B5EF4-FFF2-40B4-BE49-F238E27FC236}">
                              <a16:creationId xmlns:a16="http://schemas.microsoft.com/office/drawing/2014/main" id="{B364C0F1-705B-B761-FD3C-5CF9948C9C66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5630" y="5435"/>
                          <a:ext cx="966" cy="15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44" name="Straight Arrow Connector 43">
                        <a:extLst>
                          <a:ext uri="{FF2B5EF4-FFF2-40B4-BE49-F238E27FC236}">
                            <a16:creationId xmlns:a16="http://schemas.microsoft.com/office/drawing/2014/main" id="{05511C32-C430-FDC3-8BFA-DD254414E987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11511" y="4124"/>
                        <a:ext cx="337" cy="7"/>
                      </a:xfrm>
                      <a:prstGeom prst="straightConnector1">
                        <a:avLst/>
                      </a:prstGeom>
                      <a:ln w="25400">
                        <a:solidFill>
                          <a:schemeClr val="tx1"/>
                        </a:solidFill>
                        <a:tailEnd type="arrow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5" name="Straight Arrow Connector 44">
                        <a:extLst>
                          <a:ext uri="{FF2B5EF4-FFF2-40B4-BE49-F238E27FC236}">
                            <a16:creationId xmlns:a16="http://schemas.microsoft.com/office/drawing/2014/main" id="{A5EA651B-95C9-DEF8-7D91-B5F4DA295BED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4612" y="4647"/>
                        <a:ext cx="1018" cy="6"/>
                      </a:xfrm>
                      <a:prstGeom prst="straightConnector1">
                        <a:avLst/>
                      </a:prstGeom>
                      <a:ln w="63500">
                        <a:solidFill>
                          <a:schemeClr val="tx1"/>
                        </a:solidFill>
                        <a:tailEnd type="arrow" w="lg" len="lg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40" name="Straight Arrow Connector 39">
                      <a:extLst>
                        <a:ext uri="{FF2B5EF4-FFF2-40B4-BE49-F238E27FC236}">
                          <a16:creationId xmlns:a16="http://schemas.microsoft.com/office/drawing/2014/main" id="{EEB92D08-24FA-5D0C-917C-ED09BEA17304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440" y="4655"/>
                      <a:ext cx="337" cy="7"/>
                    </a:xfrm>
                    <a:prstGeom prst="straightConnector1">
                      <a:avLst/>
                    </a:prstGeom>
                    <a:ln w="25400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1" name="Rectangles 17">
                      <a:extLst>
                        <a:ext uri="{FF2B5EF4-FFF2-40B4-BE49-F238E27FC236}">
                          <a16:creationId xmlns:a16="http://schemas.microsoft.com/office/drawing/2014/main" id="{A77BBC3C-D9E2-0EC5-41C5-D4FB53EBD8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9" y="3403"/>
                      <a:ext cx="594" cy="191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9" name="Oval 38">
                      <a:extLst>
                        <a:ext uri="{FF2B5EF4-FFF2-40B4-BE49-F238E27FC236}">
                          <a16:creationId xmlns:a16="http://schemas.microsoft.com/office/drawing/2014/main" id="{AB16D547-DC3D-17A7-3B5B-61457E1A8E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13" y="4218"/>
                      <a:ext cx="827" cy="88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19FF5D91-7D73-84EB-9303-355F577258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308" y="3443"/>
                    <a:ext cx="259" cy="151"/>
                  </a:xfrm>
                  <a:prstGeom prst="line">
                    <a:avLst/>
                  </a:prstGeom>
                  <a:ln w="38100">
                    <a:solidFill>
                      <a:srgbClr val="20202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A6004A7C-9239-19AA-2878-9487B499892A}"/>
                      </a:ext>
                    </a:extLst>
                  </p:cNvPr>
                  <p:cNvCxnSpPr>
                    <a:cxnSpLocks/>
                    <a:endCxn id="39" idx="2"/>
                  </p:cNvCxnSpPr>
                  <p:nvPr/>
                </p:nvCxnSpPr>
                <p:spPr>
                  <a:xfrm>
                    <a:off x="6308" y="4452"/>
                    <a:ext cx="305" cy="207"/>
                  </a:xfrm>
                  <a:prstGeom prst="line">
                    <a:avLst/>
                  </a:prstGeom>
                  <a:ln w="38100">
                    <a:solidFill>
                      <a:srgbClr val="20202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4" name="Rectangles 16">
                  <a:extLst>
                    <a:ext uri="{FF2B5EF4-FFF2-40B4-BE49-F238E27FC236}">
                      <a16:creationId xmlns:a16="http://schemas.microsoft.com/office/drawing/2014/main" id="{69E491BA-BECA-2C1A-F751-74CE96C3E536}"/>
                    </a:ext>
                  </a:extLst>
                </p:cNvPr>
                <p:cNvSpPr/>
                <p:nvPr/>
              </p:nvSpPr>
              <p:spPr>
                <a:xfrm>
                  <a:off x="6800609" y="2670492"/>
                  <a:ext cx="372110" cy="187325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8847064-F1B9-9AED-75B6-F6B050857A7A}"/>
                  </a:ext>
                </a:extLst>
              </p:cNvPr>
              <p:cNvSpPr txBox="1"/>
              <p:nvPr/>
            </p:nvSpPr>
            <p:spPr>
              <a:xfrm>
                <a:off x="6526465" y="1755263"/>
                <a:ext cx="619125" cy="43088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SEK</a:t>
                </a:r>
              </a:p>
            </p:txBody>
          </p:sp>
        </p:grpSp>
        <p:sp>
          <p:nvSpPr>
            <p:cNvPr id="54" name="Rectangles 19">
              <a:extLst>
                <a:ext uri="{FF2B5EF4-FFF2-40B4-BE49-F238E27FC236}">
                  <a16:creationId xmlns:a16="http://schemas.microsoft.com/office/drawing/2014/main" id="{05CAD0DA-F01C-831F-91A3-582D1234E65E}"/>
                </a:ext>
              </a:extLst>
            </p:cNvPr>
            <p:cNvSpPr/>
            <p:nvPr/>
          </p:nvSpPr>
          <p:spPr>
            <a:xfrm>
              <a:off x="11200906" y="3894040"/>
              <a:ext cx="506095" cy="6223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8D89EF7-46D0-AEB0-2C6D-A60479F15F07}"/>
              </a:ext>
            </a:extLst>
          </p:cNvPr>
          <p:cNvGrpSpPr/>
          <p:nvPr/>
        </p:nvGrpSpPr>
        <p:grpSpPr>
          <a:xfrm>
            <a:off x="480767" y="671929"/>
            <a:ext cx="11532675" cy="4081046"/>
            <a:chOff x="480767" y="671929"/>
            <a:chExt cx="11532675" cy="408104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3828D7E-6A6C-939B-5A2E-6F299BF287E6}"/>
                </a:ext>
              </a:extLst>
            </p:cNvPr>
            <p:cNvSpPr/>
            <p:nvPr/>
          </p:nvSpPr>
          <p:spPr>
            <a:xfrm>
              <a:off x="480767" y="1577438"/>
              <a:ext cx="6581069" cy="2128325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7FED72B-FCF9-50D1-0861-11EAB951458E}"/>
                </a:ext>
              </a:extLst>
            </p:cNvPr>
            <p:cNvSpPr/>
            <p:nvPr/>
          </p:nvSpPr>
          <p:spPr>
            <a:xfrm>
              <a:off x="7061836" y="671929"/>
              <a:ext cx="4951606" cy="4081046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Footer Placeholder 42">
            <a:extLst>
              <a:ext uri="{FF2B5EF4-FFF2-40B4-BE49-F238E27FC236}">
                <a16:creationId xmlns:a16="http://schemas.microsoft.com/office/drawing/2014/main" id="{65E95614-5D1C-2EDC-D10E-6D6FA7364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53" name="Slide Number Placeholder 52">
            <a:extLst>
              <a:ext uri="{FF2B5EF4-FFF2-40B4-BE49-F238E27FC236}">
                <a16:creationId xmlns:a16="http://schemas.microsoft.com/office/drawing/2014/main" id="{2EB5B6AD-D922-F849-4F3D-1BC05169C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532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6918D-EC02-3411-565C-B41659F2B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Multiserver lower bounds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B7FCDF-C0A8-D73C-2CD4-80E9B07BC6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Existing simple lower bound: M/G/1/SRPT </a:t>
                </a:r>
                <a:r>
                  <a:rPr lang="en-US" dirty="0" err="1"/>
                  <a:t>superserver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Another simple lower bound: Service time (M/G/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/>
                  <a:t>).</a:t>
                </a:r>
              </a:p>
              <a:p>
                <a:pPr marL="0" indent="0">
                  <a:buNone/>
                </a:pPr>
                <a:r>
                  <a:rPr lang="en-US" dirty="0"/>
                  <a:t>SRPT-1 tight for high load, service time tight for low load.</a:t>
                </a:r>
              </a:p>
              <a:p>
                <a:pPr marL="0" indent="0">
                  <a:buNone/>
                </a:pPr>
                <a:r>
                  <a:rPr lang="en-US" dirty="0"/>
                  <a:t>Neither tight between.</a:t>
                </a:r>
              </a:p>
              <a:p>
                <a:pPr marL="0" indent="0">
                  <a:buNone/>
                </a:pPr>
                <a:r>
                  <a:rPr lang="en-US" dirty="0"/>
                  <a:t>“Novel lower bounds on M/G/k scheduling”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B7FCDF-C0A8-D73C-2CD4-80E9B07BC6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621DD463-D8D3-E637-BAD2-1054B62E9E0F}"/>
              </a:ext>
            </a:extLst>
          </p:cNvPr>
          <p:cNvGrpSpPr/>
          <p:nvPr/>
        </p:nvGrpSpPr>
        <p:grpSpPr>
          <a:xfrm>
            <a:off x="9006611" y="648521"/>
            <a:ext cx="2722762" cy="783259"/>
            <a:chOff x="1559" y="3008"/>
            <a:chExt cx="6235" cy="199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268EC96-C02E-8161-0072-FDAF72DC019E}"/>
                </a:ext>
              </a:extLst>
            </p:cNvPr>
            <p:cNvGrpSpPr/>
            <p:nvPr/>
          </p:nvGrpSpPr>
          <p:grpSpPr>
            <a:xfrm>
              <a:off x="1559" y="3008"/>
              <a:ext cx="6235" cy="1993"/>
              <a:chOff x="1559" y="3008"/>
              <a:chExt cx="6235" cy="1993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054EEA3-5BEA-6D1E-340C-1AABFED4411F}"/>
                  </a:ext>
                </a:extLst>
              </p:cNvPr>
              <p:cNvSpPr/>
              <p:nvPr/>
            </p:nvSpPr>
            <p:spPr>
              <a:xfrm>
                <a:off x="6630" y="3008"/>
                <a:ext cx="827" cy="88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EA63D0C8-30E4-877C-C221-60954BB89A9F}"/>
                  </a:ext>
                </a:extLst>
              </p:cNvPr>
              <p:cNvGrpSpPr/>
              <p:nvPr/>
            </p:nvGrpSpPr>
            <p:grpSpPr>
              <a:xfrm>
                <a:off x="1559" y="3061"/>
                <a:ext cx="5782" cy="1729"/>
                <a:chOff x="5630" y="3735"/>
                <a:chExt cx="5782" cy="1729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470F9E3B-162D-F69F-7696-7B9CE5618B77}"/>
                    </a:ext>
                  </a:extLst>
                </p:cNvPr>
                <p:cNvGrpSpPr/>
                <p:nvPr/>
              </p:nvGrpSpPr>
              <p:grpSpPr>
                <a:xfrm>
                  <a:off x="5630" y="3735"/>
                  <a:ext cx="4734" cy="1729"/>
                  <a:chOff x="5630" y="3735"/>
                  <a:chExt cx="4734" cy="1729"/>
                </a:xfrm>
              </p:grpSpPr>
              <p:sp>
                <p:nvSpPr>
                  <p:cNvPr id="20" name="Rectangles 8">
                    <a:extLst>
                      <a:ext uri="{FF2B5EF4-FFF2-40B4-BE49-F238E27FC236}">
                        <a16:creationId xmlns:a16="http://schemas.microsoft.com/office/drawing/2014/main" id="{4F834299-C567-47E2-DED1-C5669475A3E6}"/>
                      </a:ext>
                    </a:extLst>
                  </p:cNvPr>
                  <p:cNvSpPr/>
                  <p:nvPr/>
                </p:nvSpPr>
                <p:spPr>
                  <a:xfrm>
                    <a:off x="6596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" name="Rectangles 9">
                    <a:extLst>
                      <a:ext uri="{FF2B5EF4-FFF2-40B4-BE49-F238E27FC236}">
                        <a16:creationId xmlns:a16="http://schemas.microsoft.com/office/drawing/2014/main" id="{CAADAE62-EF14-5779-01EB-4CADA908B860}"/>
                      </a:ext>
                    </a:extLst>
                  </p:cNvPr>
                  <p:cNvSpPr/>
                  <p:nvPr/>
                </p:nvSpPr>
                <p:spPr>
                  <a:xfrm>
                    <a:off x="7538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Rectangles 10">
                    <a:extLst>
                      <a:ext uri="{FF2B5EF4-FFF2-40B4-BE49-F238E27FC236}">
                        <a16:creationId xmlns:a16="http://schemas.microsoft.com/office/drawing/2014/main" id="{3E41CD94-6F73-44B4-8A4D-DBE430DBD124}"/>
                      </a:ext>
                    </a:extLst>
                  </p:cNvPr>
                  <p:cNvSpPr/>
                  <p:nvPr/>
                </p:nvSpPr>
                <p:spPr>
                  <a:xfrm>
                    <a:off x="8480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Rectangles 11">
                    <a:extLst>
                      <a:ext uri="{FF2B5EF4-FFF2-40B4-BE49-F238E27FC236}">
                        <a16:creationId xmlns:a16="http://schemas.microsoft.com/office/drawing/2014/main" id="{4B9CC77C-1AF7-947D-6350-5992E3FFD5F9}"/>
                      </a:ext>
                    </a:extLst>
                  </p:cNvPr>
                  <p:cNvSpPr/>
                  <p:nvPr/>
                </p:nvSpPr>
                <p:spPr>
                  <a:xfrm>
                    <a:off x="9422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324D6A5C-CC6A-8E0B-FF3C-538A7E4ED08C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3735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D6B8CC36-9C9D-9974-A752-5257C9FC683D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5449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" name="Rectangles 16">
                  <a:extLst>
                    <a:ext uri="{FF2B5EF4-FFF2-40B4-BE49-F238E27FC236}">
                      <a16:creationId xmlns:a16="http://schemas.microsoft.com/office/drawing/2014/main" id="{E317E4D0-232C-F743-835E-2BFCB2C13C40}"/>
                    </a:ext>
                  </a:extLst>
                </p:cNvPr>
                <p:cNvSpPr/>
                <p:nvPr/>
              </p:nvSpPr>
              <p:spPr>
                <a:xfrm>
                  <a:off x="7611" y="4738"/>
                  <a:ext cx="797" cy="40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" name="Rectangles 18">
                  <a:extLst>
                    <a:ext uri="{FF2B5EF4-FFF2-40B4-BE49-F238E27FC236}">
                      <a16:creationId xmlns:a16="http://schemas.microsoft.com/office/drawing/2014/main" id="{07DF93A3-0464-2C19-46FB-5B928A9EA4F6}"/>
                    </a:ext>
                  </a:extLst>
                </p:cNvPr>
                <p:cNvSpPr/>
                <p:nvPr/>
              </p:nvSpPr>
              <p:spPr>
                <a:xfrm>
                  <a:off x="9495" y="4283"/>
                  <a:ext cx="797" cy="85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Rectangles 19">
                  <a:extLst>
                    <a:ext uri="{FF2B5EF4-FFF2-40B4-BE49-F238E27FC236}">
                      <a16:creationId xmlns:a16="http://schemas.microsoft.com/office/drawing/2014/main" id="{C908852D-3334-F34B-14A1-7F83ACA6AE22}"/>
                    </a:ext>
                  </a:extLst>
                </p:cNvPr>
                <p:cNvSpPr/>
                <p:nvPr/>
              </p:nvSpPr>
              <p:spPr>
                <a:xfrm>
                  <a:off x="6668" y="4160"/>
                  <a:ext cx="797" cy="98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Rectangles 20">
                  <a:extLst>
                    <a:ext uri="{FF2B5EF4-FFF2-40B4-BE49-F238E27FC236}">
                      <a16:creationId xmlns:a16="http://schemas.microsoft.com/office/drawing/2014/main" id="{49CB7F4A-9C4D-D072-0D5A-69EB3BE4BC13}"/>
                    </a:ext>
                  </a:extLst>
                </p:cNvPr>
                <p:cNvSpPr/>
                <p:nvPr/>
              </p:nvSpPr>
              <p:spPr>
                <a:xfrm>
                  <a:off x="8553" y="4483"/>
                  <a:ext cx="797" cy="65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Rectangles 21">
                  <a:extLst>
                    <a:ext uri="{FF2B5EF4-FFF2-40B4-BE49-F238E27FC236}">
                      <a16:creationId xmlns:a16="http://schemas.microsoft.com/office/drawing/2014/main" id="{CC60544C-7974-FBFF-2290-E7C5D766337A}"/>
                    </a:ext>
                  </a:extLst>
                </p:cNvPr>
                <p:cNvSpPr/>
                <p:nvPr/>
              </p:nvSpPr>
              <p:spPr>
                <a:xfrm>
                  <a:off x="10818" y="3874"/>
                  <a:ext cx="594" cy="531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974F71BC-953A-AE1D-A415-CF00DF377BAE}"/>
                  </a:ext>
                </a:extLst>
              </p:cNvPr>
              <p:cNvCxnSpPr/>
              <p:nvPr/>
            </p:nvCxnSpPr>
            <p:spPr>
              <a:xfrm flipV="1">
                <a:off x="7457" y="3374"/>
                <a:ext cx="337" cy="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124A1C4-69B1-E448-BFC6-975FCE72E978}"/>
                  </a:ext>
                </a:extLst>
              </p:cNvPr>
              <p:cNvSpPr/>
              <p:nvPr/>
            </p:nvSpPr>
            <p:spPr>
              <a:xfrm>
                <a:off x="6630" y="4120"/>
                <a:ext cx="827" cy="88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275D4056-89B0-40A7-16B5-C844FE549198}"/>
                  </a:ext>
                </a:extLst>
              </p:cNvPr>
              <p:cNvCxnSpPr/>
              <p:nvPr/>
            </p:nvCxnSpPr>
            <p:spPr>
              <a:xfrm flipV="1">
                <a:off x="7457" y="4544"/>
                <a:ext cx="337" cy="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Rectangles 25">
                <a:extLst>
                  <a:ext uri="{FF2B5EF4-FFF2-40B4-BE49-F238E27FC236}">
                    <a16:creationId xmlns:a16="http://schemas.microsoft.com/office/drawing/2014/main" id="{54370717-73C4-3719-8AE9-051B156960F1}"/>
                  </a:ext>
                </a:extLst>
              </p:cNvPr>
              <p:cNvSpPr/>
              <p:nvPr/>
            </p:nvSpPr>
            <p:spPr>
              <a:xfrm>
                <a:off x="6747" y="4454"/>
                <a:ext cx="594" cy="38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347762C-D002-8A2B-3712-6847F42C271C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 flipV="1">
              <a:off x="6288" y="3449"/>
              <a:ext cx="342" cy="138"/>
            </a:xfrm>
            <a:prstGeom prst="line">
              <a:avLst/>
            </a:prstGeom>
            <a:ln w="38100">
              <a:solidFill>
                <a:srgbClr val="2020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26C8741-481F-1457-6A14-C68F84091F30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>
              <a:off x="6300" y="4365"/>
              <a:ext cx="330" cy="196"/>
            </a:xfrm>
            <a:prstGeom prst="line">
              <a:avLst/>
            </a:prstGeom>
            <a:ln w="38100">
              <a:solidFill>
                <a:srgbClr val="2020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6407BFA-EE5C-5CDD-37FA-2C84B2EBFDDE}"/>
              </a:ext>
            </a:extLst>
          </p:cNvPr>
          <p:cNvGrpSpPr/>
          <p:nvPr/>
        </p:nvGrpSpPr>
        <p:grpSpPr>
          <a:xfrm>
            <a:off x="9006611" y="1711993"/>
            <a:ext cx="2779981" cy="895826"/>
            <a:chOff x="1559" y="3061"/>
            <a:chExt cx="6586" cy="1729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E3E36EC-930D-1166-3C50-65CCDEF745C6}"/>
                </a:ext>
              </a:extLst>
            </p:cNvPr>
            <p:cNvSpPr/>
            <p:nvPr/>
          </p:nvSpPr>
          <p:spPr>
            <a:xfrm>
              <a:off x="6297" y="3220"/>
              <a:ext cx="1569" cy="152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40E4056-E007-C428-00EA-7B8E96534906}"/>
                </a:ext>
              </a:extLst>
            </p:cNvPr>
            <p:cNvGrpSpPr/>
            <p:nvPr/>
          </p:nvGrpSpPr>
          <p:grpSpPr>
            <a:xfrm>
              <a:off x="1559" y="3061"/>
              <a:ext cx="5787" cy="1729"/>
              <a:chOff x="5630" y="3735"/>
              <a:chExt cx="5787" cy="1729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E20949BA-CCEC-5104-FFBC-54E226B9C427}"/>
                  </a:ext>
                </a:extLst>
              </p:cNvPr>
              <p:cNvGrpSpPr/>
              <p:nvPr/>
            </p:nvGrpSpPr>
            <p:grpSpPr>
              <a:xfrm>
                <a:off x="5630" y="3735"/>
                <a:ext cx="4734" cy="1729"/>
                <a:chOff x="5630" y="3735"/>
                <a:chExt cx="4734" cy="1729"/>
              </a:xfrm>
            </p:grpSpPr>
            <p:sp>
              <p:nvSpPr>
                <p:cNvPr id="36" name="Rectangles 8">
                  <a:extLst>
                    <a:ext uri="{FF2B5EF4-FFF2-40B4-BE49-F238E27FC236}">
                      <a16:creationId xmlns:a16="http://schemas.microsoft.com/office/drawing/2014/main" id="{EBFE7843-D8AC-ECA0-2D27-505B01B1D86D}"/>
                    </a:ext>
                  </a:extLst>
                </p:cNvPr>
                <p:cNvSpPr/>
                <p:nvPr/>
              </p:nvSpPr>
              <p:spPr>
                <a:xfrm>
                  <a:off x="6596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s 9">
                  <a:extLst>
                    <a:ext uri="{FF2B5EF4-FFF2-40B4-BE49-F238E27FC236}">
                      <a16:creationId xmlns:a16="http://schemas.microsoft.com/office/drawing/2014/main" id="{2FFDE902-0F36-43D1-6878-C1D981821B34}"/>
                    </a:ext>
                  </a:extLst>
                </p:cNvPr>
                <p:cNvSpPr/>
                <p:nvPr/>
              </p:nvSpPr>
              <p:spPr>
                <a:xfrm>
                  <a:off x="7538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Rectangles 10">
                  <a:extLst>
                    <a:ext uri="{FF2B5EF4-FFF2-40B4-BE49-F238E27FC236}">
                      <a16:creationId xmlns:a16="http://schemas.microsoft.com/office/drawing/2014/main" id="{64A85645-3E57-76FA-2C0C-6198A6F28FBD}"/>
                    </a:ext>
                  </a:extLst>
                </p:cNvPr>
                <p:cNvSpPr/>
                <p:nvPr/>
              </p:nvSpPr>
              <p:spPr>
                <a:xfrm>
                  <a:off x="8480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Rectangles 11">
                  <a:extLst>
                    <a:ext uri="{FF2B5EF4-FFF2-40B4-BE49-F238E27FC236}">
                      <a16:creationId xmlns:a16="http://schemas.microsoft.com/office/drawing/2014/main" id="{140118A1-D576-D0E9-BA16-B201DD676B83}"/>
                    </a:ext>
                  </a:extLst>
                </p:cNvPr>
                <p:cNvSpPr/>
                <p:nvPr/>
              </p:nvSpPr>
              <p:spPr>
                <a:xfrm>
                  <a:off x="9422" y="3735"/>
                  <a:ext cx="942" cy="171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20202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A428750E-714A-F4B3-9FEA-F9F1BE7CD217}"/>
                    </a:ext>
                  </a:extLst>
                </p:cNvPr>
                <p:cNvCxnSpPr/>
                <p:nvPr/>
              </p:nvCxnSpPr>
              <p:spPr>
                <a:xfrm>
                  <a:off x="5630" y="3735"/>
                  <a:ext cx="966" cy="1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9B39BD15-1FA2-5B50-A0A8-E975E2E898D5}"/>
                    </a:ext>
                  </a:extLst>
                </p:cNvPr>
                <p:cNvCxnSpPr/>
                <p:nvPr/>
              </p:nvCxnSpPr>
              <p:spPr>
                <a:xfrm>
                  <a:off x="5630" y="5449"/>
                  <a:ext cx="966" cy="1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Rectangles 16">
                <a:extLst>
                  <a:ext uri="{FF2B5EF4-FFF2-40B4-BE49-F238E27FC236}">
                    <a16:creationId xmlns:a16="http://schemas.microsoft.com/office/drawing/2014/main" id="{80E8F384-09AA-003B-E435-9175F26CD998}"/>
                  </a:ext>
                </a:extLst>
              </p:cNvPr>
              <p:cNvSpPr/>
              <p:nvPr/>
            </p:nvSpPr>
            <p:spPr>
              <a:xfrm>
                <a:off x="7611" y="4738"/>
                <a:ext cx="797" cy="40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Rectangles 18">
                <a:extLst>
                  <a:ext uri="{FF2B5EF4-FFF2-40B4-BE49-F238E27FC236}">
                    <a16:creationId xmlns:a16="http://schemas.microsoft.com/office/drawing/2014/main" id="{01DE6F6F-C6BE-8B1E-885D-E445B221AD54}"/>
                  </a:ext>
                </a:extLst>
              </p:cNvPr>
              <p:cNvSpPr/>
              <p:nvPr/>
            </p:nvSpPr>
            <p:spPr>
              <a:xfrm>
                <a:off x="9495" y="4283"/>
                <a:ext cx="797" cy="85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s 19">
                <a:extLst>
                  <a:ext uri="{FF2B5EF4-FFF2-40B4-BE49-F238E27FC236}">
                    <a16:creationId xmlns:a16="http://schemas.microsoft.com/office/drawing/2014/main" id="{7E0B8B6F-19C5-5AFA-DFEC-793A317457EF}"/>
                  </a:ext>
                </a:extLst>
              </p:cNvPr>
              <p:cNvSpPr/>
              <p:nvPr/>
            </p:nvSpPr>
            <p:spPr>
              <a:xfrm>
                <a:off x="6668" y="4160"/>
                <a:ext cx="797" cy="98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s 20">
                <a:extLst>
                  <a:ext uri="{FF2B5EF4-FFF2-40B4-BE49-F238E27FC236}">
                    <a16:creationId xmlns:a16="http://schemas.microsoft.com/office/drawing/2014/main" id="{28638294-AA7E-A963-5653-A39C1494CFC5}"/>
                  </a:ext>
                </a:extLst>
              </p:cNvPr>
              <p:cNvSpPr/>
              <p:nvPr/>
            </p:nvSpPr>
            <p:spPr>
              <a:xfrm>
                <a:off x="8553" y="4483"/>
                <a:ext cx="797" cy="65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s 21">
                <a:extLst>
                  <a:ext uri="{FF2B5EF4-FFF2-40B4-BE49-F238E27FC236}">
                    <a16:creationId xmlns:a16="http://schemas.microsoft.com/office/drawing/2014/main" id="{666AF44A-DC84-A5B8-BA5E-AF363F9A951D}"/>
                  </a:ext>
                </a:extLst>
              </p:cNvPr>
              <p:cNvSpPr/>
              <p:nvPr/>
            </p:nvSpPr>
            <p:spPr>
              <a:xfrm>
                <a:off x="10823" y="4446"/>
                <a:ext cx="594" cy="53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979FAD3-0A7C-341F-0282-D8F8FA00ED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08" y="3957"/>
              <a:ext cx="337" cy="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AD7B8818-8371-B506-646D-D17F654E4DB1}"/>
              </a:ext>
            </a:extLst>
          </p:cNvPr>
          <p:cNvGrpSpPr/>
          <p:nvPr/>
        </p:nvGrpSpPr>
        <p:grpSpPr>
          <a:xfrm>
            <a:off x="10974401" y="2845988"/>
            <a:ext cx="753666" cy="1767604"/>
            <a:chOff x="10974401" y="2845988"/>
            <a:chExt cx="753666" cy="1767604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D4EA551B-8BDD-2D31-75EB-CA80D7FE6547}"/>
                </a:ext>
              </a:extLst>
            </p:cNvPr>
            <p:cNvGrpSpPr/>
            <p:nvPr/>
          </p:nvGrpSpPr>
          <p:grpSpPr>
            <a:xfrm>
              <a:off x="10974401" y="2845988"/>
              <a:ext cx="753666" cy="1234339"/>
              <a:chOff x="10974401" y="2845988"/>
              <a:chExt cx="753666" cy="1234339"/>
            </a:xfrm>
          </p:grpSpPr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B43F066C-5297-185E-1C55-FA7831EE25CC}"/>
                  </a:ext>
                </a:extLst>
              </p:cNvPr>
              <p:cNvGrpSpPr/>
              <p:nvPr/>
            </p:nvGrpSpPr>
            <p:grpSpPr>
              <a:xfrm>
                <a:off x="10974401" y="2845988"/>
                <a:ext cx="741062" cy="1234339"/>
                <a:chOff x="10974401" y="2845988"/>
                <a:chExt cx="741062" cy="1234339"/>
              </a:xfrm>
            </p:grpSpPr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61FAE393-47B5-707F-DE54-F2B1F5530B37}"/>
                    </a:ext>
                  </a:extLst>
                </p:cNvPr>
                <p:cNvSpPr/>
                <p:nvPr/>
              </p:nvSpPr>
              <p:spPr>
                <a:xfrm>
                  <a:off x="11208304" y="3734090"/>
                  <a:ext cx="361143" cy="34623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9423B4D0-3133-A424-F6FF-0CDB8F760DED}"/>
                    </a:ext>
                  </a:extLst>
                </p:cNvPr>
                <p:cNvGrpSpPr/>
                <p:nvPr/>
              </p:nvGrpSpPr>
              <p:grpSpPr>
                <a:xfrm>
                  <a:off x="10974401" y="2845988"/>
                  <a:ext cx="741062" cy="1223425"/>
                  <a:chOff x="6097" y="3008"/>
                  <a:chExt cx="1697" cy="3113"/>
                </a:xfrm>
              </p:grpSpPr>
              <p:grpSp>
                <p:nvGrpSpPr>
                  <p:cNvPr id="43" name="Group 42">
                    <a:extLst>
                      <a:ext uri="{FF2B5EF4-FFF2-40B4-BE49-F238E27FC236}">
                        <a16:creationId xmlns:a16="http://schemas.microsoft.com/office/drawing/2014/main" id="{B6E6173B-B3BE-33E6-B617-C18CF9AAA222}"/>
                      </a:ext>
                    </a:extLst>
                  </p:cNvPr>
                  <p:cNvGrpSpPr/>
                  <p:nvPr/>
                </p:nvGrpSpPr>
                <p:grpSpPr>
                  <a:xfrm>
                    <a:off x="6630" y="3008"/>
                    <a:ext cx="1164" cy="3113"/>
                    <a:chOff x="6630" y="3008"/>
                    <a:chExt cx="1164" cy="3113"/>
                  </a:xfrm>
                </p:grpSpPr>
                <p:sp>
                  <p:nvSpPr>
                    <p:cNvPr id="46" name="Oval 45">
                      <a:extLst>
                        <a:ext uri="{FF2B5EF4-FFF2-40B4-BE49-F238E27FC236}">
                          <a16:creationId xmlns:a16="http://schemas.microsoft.com/office/drawing/2014/main" id="{847DC797-76E2-D694-C273-1DF5A370AA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30" y="3008"/>
                      <a:ext cx="827" cy="88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47" name="Group 46">
                      <a:extLst>
                        <a:ext uri="{FF2B5EF4-FFF2-40B4-BE49-F238E27FC236}">
                          <a16:creationId xmlns:a16="http://schemas.microsoft.com/office/drawing/2014/main" id="{51D866CE-D3AF-F07B-BE28-78279E3F46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630" y="3200"/>
                      <a:ext cx="797" cy="2921"/>
                      <a:chOff x="10701" y="3874"/>
                      <a:chExt cx="797" cy="2921"/>
                    </a:xfrm>
                  </p:grpSpPr>
                  <p:sp>
                    <p:nvSpPr>
                      <p:cNvPr id="54" name="Rectangles 18">
                        <a:extLst>
                          <a:ext uri="{FF2B5EF4-FFF2-40B4-BE49-F238E27FC236}">
                            <a16:creationId xmlns:a16="http://schemas.microsoft.com/office/drawing/2014/main" id="{5A094615-06AF-C481-32E8-A958370D38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01" y="5938"/>
                        <a:ext cx="797" cy="857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57" name="Rectangles 21">
                        <a:extLst>
                          <a:ext uri="{FF2B5EF4-FFF2-40B4-BE49-F238E27FC236}">
                            <a16:creationId xmlns:a16="http://schemas.microsoft.com/office/drawing/2014/main" id="{E908A39A-BA5A-8DB1-C220-5DA86F37BB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18" y="3874"/>
                        <a:ext cx="594" cy="531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cxnSp>
                  <p:nvCxnSpPr>
                    <p:cNvPr id="48" name="Straight Arrow Connector 47">
                      <a:extLst>
                        <a:ext uri="{FF2B5EF4-FFF2-40B4-BE49-F238E27FC236}">
                          <a16:creationId xmlns:a16="http://schemas.microsoft.com/office/drawing/2014/main" id="{7D1D0C60-B211-AF13-D3A1-B991774088DB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457" y="3374"/>
                      <a:ext cx="337" cy="7"/>
                    </a:xfrm>
                    <a:prstGeom prst="straightConnector1">
                      <a:avLst/>
                    </a:prstGeom>
                    <a:ln w="25400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9" name="Oval 48">
                      <a:extLst>
                        <a:ext uri="{FF2B5EF4-FFF2-40B4-BE49-F238E27FC236}">
                          <a16:creationId xmlns:a16="http://schemas.microsoft.com/office/drawing/2014/main" id="{176F5132-F984-EF4E-B92F-FDB15EFE1D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30" y="4120"/>
                      <a:ext cx="827" cy="88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50" name="Straight Arrow Connector 49">
                      <a:extLst>
                        <a:ext uri="{FF2B5EF4-FFF2-40B4-BE49-F238E27FC236}">
                          <a16:creationId xmlns:a16="http://schemas.microsoft.com/office/drawing/2014/main" id="{776C5D0D-129C-5770-F498-6198BAC0D4D5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457" y="4544"/>
                      <a:ext cx="337" cy="7"/>
                    </a:xfrm>
                    <a:prstGeom prst="straightConnector1">
                      <a:avLst/>
                    </a:prstGeom>
                    <a:ln w="25400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1" name="Rectangles 25">
                      <a:extLst>
                        <a:ext uri="{FF2B5EF4-FFF2-40B4-BE49-F238E27FC236}">
                          <a16:creationId xmlns:a16="http://schemas.microsoft.com/office/drawing/2014/main" id="{5C981B13-8FE1-2B0E-0358-A40113B05B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47" y="4454"/>
                      <a:ext cx="594" cy="383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cxnSp>
                <p:nvCxnSpPr>
                  <p:cNvPr id="44" name="Straight Connector 43">
                    <a:extLst>
                      <a:ext uri="{FF2B5EF4-FFF2-40B4-BE49-F238E27FC236}">
                        <a16:creationId xmlns:a16="http://schemas.microsoft.com/office/drawing/2014/main" id="{7F6DA98D-9785-97EA-224A-721ABF561A80}"/>
                      </a:ext>
                    </a:extLst>
                  </p:cNvPr>
                  <p:cNvCxnSpPr>
                    <a:cxnSpLocks/>
                    <a:endCxn id="46" idx="2"/>
                  </p:cNvCxnSpPr>
                  <p:nvPr/>
                </p:nvCxnSpPr>
                <p:spPr>
                  <a:xfrm flipV="1">
                    <a:off x="6136" y="3449"/>
                    <a:ext cx="494" cy="1092"/>
                  </a:xfrm>
                  <a:prstGeom prst="line">
                    <a:avLst/>
                  </a:prstGeom>
                  <a:ln w="38100">
                    <a:solidFill>
                      <a:srgbClr val="20202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Connector 44">
                    <a:extLst>
                      <a:ext uri="{FF2B5EF4-FFF2-40B4-BE49-F238E27FC236}">
                        <a16:creationId xmlns:a16="http://schemas.microsoft.com/office/drawing/2014/main" id="{9D49FD24-B73E-44E0-E9CB-9556B2A54A17}"/>
                      </a:ext>
                    </a:extLst>
                  </p:cNvPr>
                  <p:cNvCxnSpPr>
                    <a:cxnSpLocks/>
                    <a:endCxn id="49" idx="2"/>
                  </p:cNvCxnSpPr>
                  <p:nvPr/>
                </p:nvCxnSpPr>
                <p:spPr>
                  <a:xfrm>
                    <a:off x="6097" y="4544"/>
                    <a:ext cx="533" cy="17"/>
                  </a:xfrm>
                  <a:prstGeom prst="line">
                    <a:avLst/>
                  </a:prstGeom>
                  <a:ln w="38100">
                    <a:solidFill>
                      <a:srgbClr val="20202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15CDD10-A14C-EBB5-A980-1E3B55F268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91509" y="3449644"/>
                <a:ext cx="199104" cy="451366"/>
              </a:xfrm>
              <a:prstGeom prst="line">
                <a:avLst/>
              </a:prstGeom>
              <a:ln w="38100">
                <a:solidFill>
                  <a:srgbClr val="20202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65BE8516-01B1-7E45-5EAE-743F9E95CB23}"/>
                  </a:ext>
                </a:extLst>
              </p:cNvPr>
              <p:cNvCxnSpPr/>
              <p:nvPr/>
            </p:nvCxnSpPr>
            <p:spPr>
              <a:xfrm flipV="1">
                <a:off x="11580903" y="3905845"/>
                <a:ext cx="147164" cy="275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91EEEAB-F100-BC18-CF6A-7D277B869EA8}"/>
                </a:ext>
              </a:extLst>
            </p:cNvPr>
            <p:cNvSpPr txBox="1"/>
            <p:nvPr/>
          </p:nvSpPr>
          <p:spPr>
            <a:xfrm>
              <a:off x="11107140" y="3751818"/>
              <a:ext cx="509863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0" dirty="0"/>
                <a:t>…</a:t>
              </a:r>
            </a:p>
          </p:txBody>
        </p:sp>
      </p:grpSp>
      <p:sp>
        <p:nvSpPr>
          <p:cNvPr id="80" name="Footer Placeholder 79">
            <a:extLst>
              <a:ext uri="{FF2B5EF4-FFF2-40B4-BE49-F238E27FC236}">
                <a16:creationId xmlns:a16="http://schemas.microsoft.com/office/drawing/2014/main" id="{2A4B468E-34F9-4732-9A35-357C7D62B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81" name="Slide Number Placeholder 80">
            <a:extLst>
              <a:ext uri="{FF2B5EF4-FFF2-40B4-BE49-F238E27FC236}">
                <a16:creationId xmlns:a16="http://schemas.microsoft.com/office/drawing/2014/main" id="{B7672C73-96C1-A6F7-529F-28DD8C2F6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438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58812-8879-F535-EB0B-69D5A0980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US" dirty="0"/>
              <a:t>Innovation 1: WINE combination of lower bounds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BB6D7A-B0C9-6E50-E119-5D41CAAFEF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489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WINE: Work Integral Number Equality [S</a:t>
                </a:r>
                <a:r>
                  <a:rPr lang="en-US" b="1" dirty="0"/>
                  <a:t>G</a:t>
                </a:r>
                <a:r>
                  <a:rPr lang="en-US" dirty="0"/>
                  <a:t>H’21]</a:t>
                </a:r>
                <a:br>
                  <a:rPr lang="en-US" dirty="0"/>
                </a:br>
                <a:r>
                  <a:rPr lang="en-US" dirty="0"/>
                  <a:t>Universal connection of response time to relevant work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p>
                                  </m:sSubSup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Relevant work: Total remaining size of all jobs with remaining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M/G/1/SRPT lower bound and M/G/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/>
                  <a:t> lower bound can be phrased in terms of relevant work – so we can combine them! “</a:t>
                </a:r>
                <a:r>
                  <a:rPr lang="en-US" dirty="0" err="1"/>
                  <a:t>MixEx</a:t>
                </a:r>
                <a:r>
                  <a:rPr lang="en-US" dirty="0"/>
                  <a:t>”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BB6D7A-B0C9-6E50-E119-5D41CAAFEF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48932"/>
              </a:xfrm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E7C1C136-BACF-C1DC-20D5-B8795048E1C4}"/>
              </a:ext>
            </a:extLst>
          </p:cNvPr>
          <p:cNvGrpSpPr/>
          <p:nvPr/>
        </p:nvGrpSpPr>
        <p:grpSpPr>
          <a:xfrm>
            <a:off x="4383464" y="4001294"/>
            <a:ext cx="3829711" cy="1192875"/>
            <a:chOff x="1559" y="3008"/>
            <a:chExt cx="6235" cy="199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6698F0B-CC4C-2B94-F079-3EE209F73B00}"/>
                </a:ext>
              </a:extLst>
            </p:cNvPr>
            <p:cNvGrpSpPr/>
            <p:nvPr/>
          </p:nvGrpSpPr>
          <p:grpSpPr>
            <a:xfrm>
              <a:off x="1559" y="3008"/>
              <a:ext cx="6235" cy="1993"/>
              <a:chOff x="1559" y="3008"/>
              <a:chExt cx="6235" cy="1993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1974415-5684-F8DD-27FD-08157CEF8BDB}"/>
                  </a:ext>
                </a:extLst>
              </p:cNvPr>
              <p:cNvSpPr/>
              <p:nvPr/>
            </p:nvSpPr>
            <p:spPr>
              <a:xfrm>
                <a:off x="6630" y="3008"/>
                <a:ext cx="827" cy="88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B2B25753-F9D5-BA7D-7280-21A76EF98BCB}"/>
                  </a:ext>
                </a:extLst>
              </p:cNvPr>
              <p:cNvGrpSpPr/>
              <p:nvPr/>
            </p:nvGrpSpPr>
            <p:grpSpPr>
              <a:xfrm>
                <a:off x="1559" y="3061"/>
                <a:ext cx="5782" cy="1729"/>
                <a:chOff x="5630" y="3735"/>
                <a:chExt cx="5782" cy="1729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2D9657E6-F2E8-D8BA-8B87-CDB87BA4B93E}"/>
                    </a:ext>
                  </a:extLst>
                </p:cNvPr>
                <p:cNvGrpSpPr/>
                <p:nvPr/>
              </p:nvGrpSpPr>
              <p:grpSpPr>
                <a:xfrm>
                  <a:off x="5630" y="3735"/>
                  <a:ext cx="4734" cy="1729"/>
                  <a:chOff x="5630" y="3735"/>
                  <a:chExt cx="4734" cy="1729"/>
                </a:xfrm>
              </p:grpSpPr>
              <p:sp>
                <p:nvSpPr>
                  <p:cNvPr id="20" name="Rectangles 8">
                    <a:extLst>
                      <a:ext uri="{FF2B5EF4-FFF2-40B4-BE49-F238E27FC236}">
                        <a16:creationId xmlns:a16="http://schemas.microsoft.com/office/drawing/2014/main" id="{C822CE79-04B8-83C5-F54A-6AB1460E2B03}"/>
                      </a:ext>
                    </a:extLst>
                  </p:cNvPr>
                  <p:cNvSpPr/>
                  <p:nvPr/>
                </p:nvSpPr>
                <p:spPr>
                  <a:xfrm>
                    <a:off x="6596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" name="Rectangles 9">
                    <a:extLst>
                      <a:ext uri="{FF2B5EF4-FFF2-40B4-BE49-F238E27FC236}">
                        <a16:creationId xmlns:a16="http://schemas.microsoft.com/office/drawing/2014/main" id="{3DB5418D-F10A-3F07-260E-D60BF8F3CB58}"/>
                      </a:ext>
                    </a:extLst>
                  </p:cNvPr>
                  <p:cNvSpPr/>
                  <p:nvPr/>
                </p:nvSpPr>
                <p:spPr>
                  <a:xfrm>
                    <a:off x="7538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Rectangles 10">
                    <a:extLst>
                      <a:ext uri="{FF2B5EF4-FFF2-40B4-BE49-F238E27FC236}">
                        <a16:creationId xmlns:a16="http://schemas.microsoft.com/office/drawing/2014/main" id="{76B213A9-E8B2-5790-B664-81FFF5F193DB}"/>
                      </a:ext>
                    </a:extLst>
                  </p:cNvPr>
                  <p:cNvSpPr/>
                  <p:nvPr/>
                </p:nvSpPr>
                <p:spPr>
                  <a:xfrm>
                    <a:off x="8480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Rectangles 11">
                    <a:extLst>
                      <a:ext uri="{FF2B5EF4-FFF2-40B4-BE49-F238E27FC236}">
                        <a16:creationId xmlns:a16="http://schemas.microsoft.com/office/drawing/2014/main" id="{3E023E29-53E9-B78F-F8D0-88D481C1E130}"/>
                      </a:ext>
                    </a:extLst>
                  </p:cNvPr>
                  <p:cNvSpPr/>
                  <p:nvPr/>
                </p:nvSpPr>
                <p:spPr>
                  <a:xfrm>
                    <a:off x="9422" y="3735"/>
                    <a:ext cx="942" cy="1714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1565821D-6AC7-DBA0-99C0-9232A83E073F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3735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FB54E47F-6AAD-5938-0A02-0D24582AEF4F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5449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" name="Rectangles 16">
                  <a:extLst>
                    <a:ext uri="{FF2B5EF4-FFF2-40B4-BE49-F238E27FC236}">
                      <a16:creationId xmlns:a16="http://schemas.microsoft.com/office/drawing/2014/main" id="{36215C65-77C9-2F84-096B-BBD440054879}"/>
                    </a:ext>
                  </a:extLst>
                </p:cNvPr>
                <p:cNvSpPr/>
                <p:nvPr/>
              </p:nvSpPr>
              <p:spPr>
                <a:xfrm>
                  <a:off x="7611" y="4738"/>
                  <a:ext cx="797" cy="40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" name="Rectangles 18">
                  <a:extLst>
                    <a:ext uri="{FF2B5EF4-FFF2-40B4-BE49-F238E27FC236}">
                      <a16:creationId xmlns:a16="http://schemas.microsoft.com/office/drawing/2014/main" id="{A5929FA0-0D7E-13DF-DAEC-23AC5F3D4742}"/>
                    </a:ext>
                  </a:extLst>
                </p:cNvPr>
                <p:cNvSpPr/>
                <p:nvPr/>
              </p:nvSpPr>
              <p:spPr>
                <a:xfrm>
                  <a:off x="9495" y="4283"/>
                  <a:ext cx="797" cy="85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Rectangles 19">
                  <a:extLst>
                    <a:ext uri="{FF2B5EF4-FFF2-40B4-BE49-F238E27FC236}">
                      <a16:creationId xmlns:a16="http://schemas.microsoft.com/office/drawing/2014/main" id="{F3C9E04E-6A80-91FD-7D41-3E768A6CBC7B}"/>
                    </a:ext>
                  </a:extLst>
                </p:cNvPr>
                <p:cNvSpPr/>
                <p:nvPr/>
              </p:nvSpPr>
              <p:spPr>
                <a:xfrm>
                  <a:off x="6668" y="4160"/>
                  <a:ext cx="797" cy="98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Rectangles 20">
                  <a:extLst>
                    <a:ext uri="{FF2B5EF4-FFF2-40B4-BE49-F238E27FC236}">
                      <a16:creationId xmlns:a16="http://schemas.microsoft.com/office/drawing/2014/main" id="{9B19FEE3-0306-D5B2-C3BC-9EA5CB23DF98}"/>
                    </a:ext>
                  </a:extLst>
                </p:cNvPr>
                <p:cNvSpPr/>
                <p:nvPr/>
              </p:nvSpPr>
              <p:spPr>
                <a:xfrm>
                  <a:off x="8553" y="4483"/>
                  <a:ext cx="797" cy="65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Rectangles 21">
                  <a:extLst>
                    <a:ext uri="{FF2B5EF4-FFF2-40B4-BE49-F238E27FC236}">
                      <a16:creationId xmlns:a16="http://schemas.microsoft.com/office/drawing/2014/main" id="{5ECFE171-B2C2-5220-3959-1252D9DCF39F}"/>
                    </a:ext>
                  </a:extLst>
                </p:cNvPr>
                <p:cNvSpPr/>
                <p:nvPr/>
              </p:nvSpPr>
              <p:spPr>
                <a:xfrm>
                  <a:off x="10818" y="3874"/>
                  <a:ext cx="594" cy="531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D1AC68E3-6327-3FF6-DB7A-150FC4A12BB2}"/>
                  </a:ext>
                </a:extLst>
              </p:cNvPr>
              <p:cNvCxnSpPr/>
              <p:nvPr/>
            </p:nvCxnSpPr>
            <p:spPr>
              <a:xfrm flipV="1">
                <a:off x="7457" y="3374"/>
                <a:ext cx="337" cy="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02CDB6F-AF81-9898-A8DA-C30DDB2AEE7A}"/>
                  </a:ext>
                </a:extLst>
              </p:cNvPr>
              <p:cNvSpPr/>
              <p:nvPr/>
            </p:nvSpPr>
            <p:spPr>
              <a:xfrm>
                <a:off x="6630" y="4120"/>
                <a:ext cx="827" cy="88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4F7549FB-3DDA-BF29-39DA-D6352431D5B0}"/>
                  </a:ext>
                </a:extLst>
              </p:cNvPr>
              <p:cNvCxnSpPr/>
              <p:nvPr/>
            </p:nvCxnSpPr>
            <p:spPr>
              <a:xfrm flipV="1">
                <a:off x="7457" y="4544"/>
                <a:ext cx="337" cy="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Rectangles 25">
                <a:extLst>
                  <a:ext uri="{FF2B5EF4-FFF2-40B4-BE49-F238E27FC236}">
                    <a16:creationId xmlns:a16="http://schemas.microsoft.com/office/drawing/2014/main" id="{6D179F56-901A-7A77-05B0-028DFDA5BD19}"/>
                  </a:ext>
                </a:extLst>
              </p:cNvPr>
              <p:cNvSpPr/>
              <p:nvPr/>
            </p:nvSpPr>
            <p:spPr>
              <a:xfrm>
                <a:off x="6747" y="4454"/>
                <a:ext cx="594" cy="38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FD52F00-3965-2033-BD58-FB9660548AB3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 flipV="1">
              <a:off x="6288" y="3449"/>
              <a:ext cx="342" cy="138"/>
            </a:xfrm>
            <a:prstGeom prst="line">
              <a:avLst/>
            </a:prstGeom>
            <a:ln w="38100">
              <a:solidFill>
                <a:srgbClr val="2020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3C8434-8EC1-05C2-89A9-F2DD3040EDE9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>
              <a:off x="6300" y="4365"/>
              <a:ext cx="330" cy="196"/>
            </a:xfrm>
            <a:prstGeom prst="line">
              <a:avLst/>
            </a:prstGeom>
            <a:ln w="38100">
              <a:solidFill>
                <a:srgbClr val="2020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D731B99-7A56-DF8C-75F6-36A6D8B04FD9}"/>
              </a:ext>
            </a:extLst>
          </p:cNvPr>
          <p:cNvGrpSpPr/>
          <p:nvPr/>
        </p:nvGrpSpPr>
        <p:grpSpPr>
          <a:xfrm>
            <a:off x="5011607" y="4222453"/>
            <a:ext cx="2272241" cy="739330"/>
            <a:chOff x="5011607" y="4222453"/>
            <a:chExt cx="2272241" cy="73933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7D24BCB-7D81-2546-9386-79D8EDC20352}"/>
                </a:ext>
              </a:extLst>
            </p:cNvPr>
            <p:cNvSpPr/>
            <p:nvPr/>
          </p:nvSpPr>
          <p:spPr>
            <a:xfrm>
              <a:off x="5011607" y="4222453"/>
              <a:ext cx="507352" cy="698188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1AD3649-6BBB-9589-8BC3-2C3CBB9B2C97}"/>
                </a:ext>
              </a:extLst>
            </p:cNvPr>
            <p:cNvSpPr/>
            <p:nvPr/>
          </p:nvSpPr>
          <p:spPr>
            <a:xfrm>
              <a:off x="6148755" y="4265246"/>
              <a:ext cx="1135093" cy="696537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Graphic 28" descr="Lights On with solid fill">
            <a:extLst>
              <a:ext uri="{FF2B5EF4-FFF2-40B4-BE49-F238E27FC236}">
                <a16:creationId xmlns:a16="http://schemas.microsoft.com/office/drawing/2014/main" id="{C7AA7515-9C16-6DBF-E0FD-3255EBDFC4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5096010"/>
            <a:ext cx="914400" cy="914400"/>
          </a:xfrm>
          <a:prstGeom prst="rect">
            <a:avLst/>
          </a:prstGeom>
        </p:spPr>
      </p:pic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93AEEF5E-498A-15A7-A0A6-EC6B78A6B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A54169FA-4B10-36C3-DB5A-D03E64F70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66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E8B6C-A237-01E7-4BA4-4D5ADC8C5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Relevant Work Lower Bounds: </a:t>
            </a:r>
            <a:r>
              <a:rPr lang="en-US" dirty="0" err="1"/>
              <a:t>MixEx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239BF8-8C86-7476-7CF8-36BA869413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SRPT-1 super server: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-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𝑆𝑅𝑃𝑇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2(1−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M/G/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/∞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WINE Combination: </a:t>
                </a:r>
                <a:r>
                  <a:rPr lang="en-US" dirty="0" err="1"/>
                  <a:t>MixEx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239BF8-8C86-7476-7CF8-36BA869413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5E48AA-B46F-AE5D-236F-3ED22DC19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80CD2C-6768-59D6-F552-03115E358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539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5509-76DC-340D-8C8C-F61CE2364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of bounds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75D2C8-546B-8835-843B-6E9685C27B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548608"/>
                <a:ext cx="10515600" cy="100965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𝐸𝑥𝑝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servers.</a:t>
                </a:r>
              </a:p>
              <a:p>
                <a:pPr marL="0" indent="0">
                  <a:buNone/>
                </a:pPr>
                <a:r>
                  <a:rPr lang="en-US" dirty="0"/>
                  <a:t>We’ve made a bunch of progress, how do we go further?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75D2C8-546B-8835-843B-6E9685C27B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548608"/>
                <a:ext cx="10515600" cy="1009652"/>
              </a:xfrm>
              <a:blipFill>
                <a:blip r:embed="rId2"/>
                <a:stretch>
                  <a:fillRect l="-1217" t="-9639" b="-14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298B2939-AAC4-C656-8280-CEA693B85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020" y="1309391"/>
            <a:ext cx="8125959" cy="4239217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08FE61-8ED8-A5C0-F546-EDE2AAA1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6F9BC2-01AB-08B3-F855-EB2B77E6D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117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8905F-2D90-4E84-494A-5DEE691E6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Innovation 2: Increasing Speed Queue (ISQ)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249A80-CE00-3E85-66C7-A4D9C42974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76003"/>
                <a:ext cx="10515600" cy="36550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Single-server variable-speed queue.</a:t>
                </a:r>
                <a:br>
                  <a:rPr lang="en-US" dirty="0"/>
                </a:br>
                <a:r>
                  <a:rPr lang="en-US" dirty="0"/>
                  <a:t>State: Amount of work, server speed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Each arrival: Speed increases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</a:t>
                </a:r>
                <a:br>
                  <a:rPr lang="en-US" dirty="0"/>
                </a:br>
                <a:r>
                  <a:rPr lang="en-US" dirty="0"/>
                  <a:t>Cap at speed 1.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249A80-CE00-3E85-66C7-A4D9C42974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76003"/>
                <a:ext cx="10515600" cy="3655060"/>
              </a:xfrm>
              <a:blipFill>
                <a:blip r:embed="rId3"/>
                <a:stretch>
                  <a:fillRect l="-1217" t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9C9A3D-B04A-638E-EEA9-6081838DD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F25A07-A070-982A-E20B-1059A575E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3FC4-A741-40E0-A7E6-A0B0F42F419F}" type="slidenum">
              <a:rPr lang="en-US" smtClean="0"/>
              <a:t>29</a:t>
            </a:fld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285C805-E34E-C690-E237-1B13D876D7E3}"/>
              </a:ext>
            </a:extLst>
          </p:cNvPr>
          <p:cNvGrpSpPr/>
          <p:nvPr/>
        </p:nvGrpSpPr>
        <p:grpSpPr>
          <a:xfrm>
            <a:off x="7525368" y="1387114"/>
            <a:ext cx="4400550" cy="1528167"/>
            <a:chOff x="3592830" y="2854127"/>
            <a:chExt cx="4400550" cy="1528167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A51DDBA-DF86-EAF9-F949-7D20AEEBAEBF}"/>
                </a:ext>
              </a:extLst>
            </p:cNvPr>
            <p:cNvGrpSpPr/>
            <p:nvPr/>
          </p:nvGrpSpPr>
          <p:grpSpPr>
            <a:xfrm>
              <a:off x="3592830" y="3285014"/>
              <a:ext cx="4400550" cy="1097280"/>
              <a:chOff x="3307080" y="2740865"/>
              <a:chExt cx="4400550" cy="1097280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7FC8B9B0-90D8-6ED2-4BAD-0F7360AE11F3}"/>
                  </a:ext>
                </a:extLst>
              </p:cNvPr>
              <p:cNvGrpSpPr/>
              <p:nvPr/>
            </p:nvGrpSpPr>
            <p:grpSpPr>
              <a:xfrm>
                <a:off x="3307080" y="2740865"/>
                <a:ext cx="4400550" cy="1097280"/>
                <a:chOff x="541" y="3047"/>
                <a:chExt cx="6930" cy="1728"/>
              </a:xfrm>
            </p:grpSpPr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CE9D6BE2-E409-C6FB-D4A9-228EFDEA1C0E}"/>
                    </a:ext>
                  </a:extLst>
                </p:cNvPr>
                <p:cNvGrpSpPr/>
                <p:nvPr/>
              </p:nvGrpSpPr>
              <p:grpSpPr>
                <a:xfrm>
                  <a:off x="541" y="3047"/>
                  <a:ext cx="5752" cy="1728"/>
                  <a:chOff x="4612" y="3721"/>
                  <a:chExt cx="5752" cy="1728"/>
                </a:xfrm>
              </p:grpSpPr>
              <p:grpSp>
                <p:nvGrpSpPr>
                  <p:cNvPr id="11" name="Group 10">
                    <a:extLst>
                      <a:ext uri="{FF2B5EF4-FFF2-40B4-BE49-F238E27FC236}">
                        <a16:creationId xmlns:a16="http://schemas.microsoft.com/office/drawing/2014/main" id="{2B0A04DC-A50E-C3F5-37E8-8748EDE90E53}"/>
                      </a:ext>
                    </a:extLst>
                  </p:cNvPr>
                  <p:cNvGrpSpPr/>
                  <p:nvPr/>
                </p:nvGrpSpPr>
                <p:grpSpPr>
                  <a:xfrm>
                    <a:off x="5630" y="3721"/>
                    <a:ext cx="4734" cy="1728"/>
                    <a:chOff x="5630" y="3721"/>
                    <a:chExt cx="4734" cy="1728"/>
                  </a:xfrm>
                </p:grpSpPr>
                <p:sp>
                  <p:nvSpPr>
                    <p:cNvPr id="17" name="Rectangles 8">
                      <a:extLst>
                        <a:ext uri="{FF2B5EF4-FFF2-40B4-BE49-F238E27FC236}">
                          <a16:creationId xmlns:a16="http://schemas.microsoft.com/office/drawing/2014/main" id="{CED21D21-BFEE-00CE-BF7E-F40CF72F9D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96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8" name="Rectangles 9">
                      <a:extLst>
                        <a:ext uri="{FF2B5EF4-FFF2-40B4-BE49-F238E27FC236}">
                          <a16:creationId xmlns:a16="http://schemas.microsoft.com/office/drawing/2014/main" id="{78A89B22-C2F8-C53F-CC71-BD571C8311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38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9" name="Rectangles 10">
                      <a:extLst>
                        <a:ext uri="{FF2B5EF4-FFF2-40B4-BE49-F238E27FC236}">
                          <a16:creationId xmlns:a16="http://schemas.microsoft.com/office/drawing/2014/main" id="{8FFB6923-4D60-FD1B-0C90-561C58340D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80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" name="Rectangles 11">
                      <a:extLst>
                        <a:ext uri="{FF2B5EF4-FFF2-40B4-BE49-F238E27FC236}">
                          <a16:creationId xmlns:a16="http://schemas.microsoft.com/office/drawing/2014/main" id="{EAF86052-D46A-F843-DF33-DCEE543C46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22" y="3735"/>
                      <a:ext cx="942" cy="17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rgbClr val="20202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21" name="Straight Connector 20">
                      <a:extLst>
                        <a:ext uri="{FF2B5EF4-FFF2-40B4-BE49-F238E27FC236}">
                          <a16:creationId xmlns:a16="http://schemas.microsoft.com/office/drawing/2014/main" id="{3F31EA1F-F888-748C-0FF8-E6AEF03E914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630" y="3721"/>
                      <a:ext cx="966" cy="1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" name="Straight Connector 21">
                      <a:extLst>
                        <a:ext uri="{FF2B5EF4-FFF2-40B4-BE49-F238E27FC236}">
                          <a16:creationId xmlns:a16="http://schemas.microsoft.com/office/drawing/2014/main" id="{48C81D29-A6BF-DFAA-41FD-0BCF9996D3D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630" y="5449"/>
                      <a:ext cx="954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6" name="Straight Arrow Connector 15">
                    <a:extLst>
                      <a:ext uri="{FF2B5EF4-FFF2-40B4-BE49-F238E27FC236}">
                        <a16:creationId xmlns:a16="http://schemas.microsoft.com/office/drawing/2014/main" id="{415887E2-8345-975C-68EC-BC3C0A1E811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4612" y="4647"/>
                    <a:ext cx="1018" cy="6"/>
                  </a:xfrm>
                  <a:prstGeom prst="straightConnector1">
                    <a:avLst/>
                  </a:prstGeom>
                  <a:ln w="6350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03033C58-5A76-1EBA-AAA3-2CD66C478A66}"/>
                    </a:ext>
                  </a:extLst>
                </p:cNvPr>
                <p:cNvSpPr/>
                <p:nvPr/>
              </p:nvSpPr>
              <p:spPr>
                <a:xfrm>
                  <a:off x="5452" y="3061"/>
                  <a:ext cx="1682" cy="1714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BDF46EAA-250C-1664-28CA-CAA57C1267D4}"/>
                    </a:ext>
                  </a:extLst>
                </p:cNvPr>
                <p:cNvCxnSpPr/>
                <p:nvPr/>
              </p:nvCxnSpPr>
              <p:spPr>
                <a:xfrm flipV="1">
                  <a:off x="7134" y="3911"/>
                  <a:ext cx="337" cy="7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D6DE351-8C6A-372C-9EFB-C33BD5A9993F}"/>
                  </a:ext>
                </a:extLst>
              </p:cNvPr>
              <p:cNvSpPr/>
              <p:nvPr/>
            </p:nvSpPr>
            <p:spPr>
              <a:xfrm>
                <a:off x="3913505" y="2768805"/>
                <a:ext cx="3006090" cy="1050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s 25">
                <a:extLst>
                  <a:ext uri="{FF2B5EF4-FFF2-40B4-BE49-F238E27FC236}">
                    <a16:creationId xmlns:a16="http://schemas.microsoft.com/office/drawing/2014/main" id="{CA76AD07-F78E-A6F3-1722-0EA0E2C01224}"/>
                  </a:ext>
                </a:extLst>
              </p:cNvPr>
              <p:cNvSpPr/>
              <p:nvPr/>
            </p:nvSpPr>
            <p:spPr>
              <a:xfrm>
                <a:off x="6361430" y="3015185"/>
                <a:ext cx="786766" cy="56197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5B8E70A-0DFF-9283-4D36-26A89D436D81}"/>
                    </a:ext>
                  </a:extLst>
                </p:cNvPr>
                <p:cNvSpPr txBox="1"/>
                <p:nvPr/>
              </p:nvSpPr>
              <p:spPr>
                <a:xfrm>
                  <a:off x="4573270" y="2854127"/>
                  <a:ext cx="2427446" cy="430887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=2.4,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=1/2)</m:t>
                        </m:r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5B8E70A-0DFF-9283-4D36-26A89D436D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3270" y="2854127"/>
                  <a:ext cx="2427446" cy="430887"/>
                </a:xfrm>
                <a:prstGeom prst="rect">
                  <a:avLst/>
                </a:prstGeom>
                <a:blipFill>
                  <a:blip r:embed="rId4"/>
                  <a:stretch>
                    <a:fillRect b="-10390"/>
                  </a:stretch>
                </a:blipFill>
                <a:ln w="381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FE9F5E1-8042-89D7-A6E4-A28B19ED5048}"/>
              </a:ext>
            </a:extLst>
          </p:cNvPr>
          <p:cNvGrpSpPr/>
          <p:nvPr/>
        </p:nvGrpSpPr>
        <p:grpSpPr>
          <a:xfrm>
            <a:off x="146457" y="3838575"/>
            <a:ext cx="1399539" cy="2040903"/>
            <a:chOff x="146457" y="4114800"/>
            <a:chExt cx="1399539" cy="2040903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C3C4448-F7F2-7CE1-0BE8-BF357667FA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45996" y="4114800"/>
              <a:ext cx="0" cy="204090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7C89499-394F-B900-75FD-731688853A74}"/>
                    </a:ext>
                  </a:extLst>
                </p:cNvPr>
                <p:cNvSpPr txBox="1"/>
                <p:nvPr/>
              </p:nvSpPr>
              <p:spPr>
                <a:xfrm>
                  <a:off x="146457" y="4772902"/>
                  <a:ext cx="1383486" cy="4770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500" b="0" dirty="0"/>
                    <a:t>Work </a:t>
                  </a:r>
                  <a14:m>
                    <m:oMath xmlns:m="http://schemas.openxmlformats.org/officeDocument/2006/math"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a14:m>
                  <a:endParaRPr lang="en-US" sz="25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7C89499-394F-B900-75FD-731688853A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457" y="4772902"/>
                  <a:ext cx="1383486" cy="477054"/>
                </a:xfrm>
                <a:prstGeom prst="rect">
                  <a:avLst/>
                </a:prstGeom>
                <a:blipFill>
                  <a:blip r:embed="rId5"/>
                  <a:stretch>
                    <a:fillRect t="-10256" b="-307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4F7CFD2-E3AA-654D-52CA-09557D365D55}"/>
              </a:ext>
            </a:extLst>
          </p:cNvPr>
          <p:cNvGrpSpPr/>
          <p:nvPr/>
        </p:nvGrpSpPr>
        <p:grpSpPr>
          <a:xfrm>
            <a:off x="1545996" y="5879478"/>
            <a:ext cx="9587060" cy="553877"/>
            <a:chOff x="1545996" y="6155703"/>
            <a:chExt cx="9587060" cy="553877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5D843FF-6F1A-530F-1D43-04B0E87E58D1}"/>
                </a:ext>
              </a:extLst>
            </p:cNvPr>
            <p:cNvCxnSpPr/>
            <p:nvPr/>
          </p:nvCxnSpPr>
          <p:spPr>
            <a:xfrm>
              <a:off x="1545996" y="6155703"/>
              <a:ext cx="958706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4FF54A7-8834-0943-941D-69186AE23A36}"/>
                    </a:ext>
                  </a:extLst>
                </p:cNvPr>
                <p:cNvSpPr txBox="1"/>
                <p:nvPr/>
              </p:nvSpPr>
              <p:spPr>
                <a:xfrm>
                  <a:off x="5404257" y="6232526"/>
                  <a:ext cx="1383486" cy="4770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500" dirty="0"/>
                    <a:t>Time </a:t>
                  </a:r>
                  <a14:m>
                    <m:oMath xmlns:m="http://schemas.openxmlformats.org/officeDocument/2006/math"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a14:m>
                  <a:endParaRPr lang="en-US" sz="25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4FF54A7-8834-0943-941D-69186AE23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4257" y="6232526"/>
                  <a:ext cx="1383486" cy="477054"/>
                </a:xfrm>
                <a:prstGeom prst="rect">
                  <a:avLst/>
                </a:prstGeom>
                <a:blipFill>
                  <a:blip r:embed="rId6"/>
                  <a:stretch>
                    <a:fillRect t="-8974" b="-307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D7DCAC1-66F5-F2F7-1C51-8606F9D403B0}"/>
              </a:ext>
            </a:extLst>
          </p:cNvPr>
          <p:cNvGrpSpPr/>
          <p:nvPr/>
        </p:nvGrpSpPr>
        <p:grpSpPr>
          <a:xfrm>
            <a:off x="2084245" y="4496677"/>
            <a:ext cx="691744" cy="1382801"/>
            <a:chOff x="2084245" y="4772902"/>
            <a:chExt cx="691744" cy="1382801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FDC714A-7579-B7F8-5374-4659521D194A}"/>
                </a:ext>
              </a:extLst>
            </p:cNvPr>
            <p:cNvCxnSpPr/>
            <p:nvPr/>
          </p:nvCxnSpPr>
          <p:spPr>
            <a:xfrm flipV="1">
              <a:off x="2117035" y="5158409"/>
              <a:ext cx="0" cy="997294"/>
            </a:xfrm>
            <a:prstGeom prst="line">
              <a:avLst/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9503754-2884-253F-D558-89452DCE0A99}"/>
                </a:ext>
              </a:extLst>
            </p:cNvPr>
            <p:cNvCxnSpPr/>
            <p:nvPr/>
          </p:nvCxnSpPr>
          <p:spPr>
            <a:xfrm>
              <a:off x="2117035" y="5158409"/>
              <a:ext cx="626165" cy="168965"/>
            </a:xfrm>
            <a:prstGeom prst="line">
              <a:avLst/>
            </a:prstGeom>
            <a:ln w="254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C8D1535-B320-5FA3-A466-8F7D0D6AEB3A}"/>
                    </a:ext>
                  </a:extLst>
                </p:cNvPr>
                <p:cNvSpPr txBox="1"/>
                <p:nvPr/>
              </p:nvSpPr>
              <p:spPr>
                <a:xfrm>
                  <a:off x="2084245" y="4772902"/>
                  <a:ext cx="691744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sz="22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en-US" sz="22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C8D1535-B320-5FA3-A466-8F7D0D6AEB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84245" y="4772902"/>
                  <a:ext cx="691744" cy="430887"/>
                </a:xfrm>
                <a:prstGeom prst="rect">
                  <a:avLst/>
                </a:prstGeom>
                <a:blipFill>
                  <a:blip r:embed="rId7"/>
                  <a:stretch>
                    <a:fillRect b="-1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F5AA2D2-552D-C995-E5CD-95EC92DB3F5B}"/>
              </a:ext>
            </a:extLst>
          </p:cNvPr>
          <p:cNvGrpSpPr/>
          <p:nvPr/>
        </p:nvGrpSpPr>
        <p:grpSpPr>
          <a:xfrm>
            <a:off x="2753722" y="3742337"/>
            <a:ext cx="714011" cy="1322155"/>
            <a:chOff x="2753722" y="4018562"/>
            <a:chExt cx="714011" cy="1322155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6D03DCB-5966-A79D-8F7C-6AAAD39BBC3B}"/>
                </a:ext>
              </a:extLst>
            </p:cNvPr>
            <p:cNvCxnSpPr/>
            <p:nvPr/>
          </p:nvCxnSpPr>
          <p:spPr>
            <a:xfrm flipV="1">
              <a:off x="2753722" y="4343423"/>
              <a:ext cx="0" cy="997294"/>
            </a:xfrm>
            <a:prstGeom prst="line">
              <a:avLst/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E0E469E-61E1-32BF-26F0-0BA533DCC1B8}"/>
                </a:ext>
              </a:extLst>
            </p:cNvPr>
            <p:cNvCxnSpPr>
              <a:cxnSpLocks/>
            </p:cNvCxnSpPr>
            <p:nvPr/>
          </p:nvCxnSpPr>
          <p:spPr>
            <a:xfrm>
              <a:off x="2753722" y="4343423"/>
              <a:ext cx="565948" cy="368390"/>
            </a:xfrm>
            <a:prstGeom prst="line">
              <a:avLst/>
            </a:prstGeom>
            <a:ln w="254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4FC76DB-4F9E-DDB0-DD95-C16D7B97F31C}"/>
                    </a:ext>
                  </a:extLst>
                </p:cNvPr>
                <p:cNvSpPr txBox="1"/>
                <p:nvPr/>
              </p:nvSpPr>
              <p:spPr>
                <a:xfrm>
                  <a:off x="2775989" y="4018562"/>
                  <a:ext cx="691744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2/</m:t>
                        </m:r>
                        <m:r>
                          <a:rPr lang="en-US" sz="22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en-US" sz="22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4FC76DB-4F9E-DDB0-DD95-C16D7B97F3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5989" y="4018562"/>
                  <a:ext cx="691744" cy="430887"/>
                </a:xfrm>
                <a:prstGeom prst="rect">
                  <a:avLst/>
                </a:prstGeom>
                <a:blipFill>
                  <a:blip r:embed="rId8"/>
                  <a:stretch>
                    <a:fillRect b="-154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885431E-7FFE-8E1E-74C9-AFE4EE4B3D03}"/>
              </a:ext>
            </a:extLst>
          </p:cNvPr>
          <p:cNvGrpSpPr/>
          <p:nvPr/>
        </p:nvGrpSpPr>
        <p:grpSpPr>
          <a:xfrm>
            <a:off x="3313627" y="4009655"/>
            <a:ext cx="801317" cy="608065"/>
            <a:chOff x="3313627" y="4285880"/>
            <a:chExt cx="801317" cy="608065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BE7C98B-7398-A5B5-11CB-709B944665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3627" y="4395298"/>
              <a:ext cx="0" cy="316515"/>
            </a:xfrm>
            <a:prstGeom prst="line">
              <a:avLst/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59F1E83-C2CC-A609-4AF2-6DBD0F6E99D3}"/>
                </a:ext>
              </a:extLst>
            </p:cNvPr>
            <p:cNvCxnSpPr>
              <a:cxnSpLocks/>
            </p:cNvCxnSpPr>
            <p:nvPr/>
          </p:nvCxnSpPr>
          <p:spPr>
            <a:xfrm>
              <a:off x="3319670" y="4395298"/>
              <a:ext cx="531596" cy="498647"/>
            </a:xfrm>
            <a:prstGeom prst="line">
              <a:avLst/>
            </a:prstGeom>
            <a:ln w="254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27F97EFC-C00C-617D-288C-D6F235BE6982}"/>
                    </a:ext>
                  </a:extLst>
                </p:cNvPr>
                <p:cNvSpPr txBox="1"/>
                <p:nvPr/>
              </p:nvSpPr>
              <p:spPr>
                <a:xfrm>
                  <a:off x="3423200" y="4285880"/>
                  <a:ext cx="691744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2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2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en-US" sz="22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27F97EFC-C00C-617D-288C-D6F235BE69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3200" y="4285880"/>
                  <a:ext cx="691744" cy="430887"/>
                </a:xfrm>
                <a:prstGeom prst="rect">
                  <a:avLst/>
                </a:prstGeom>
                <a:blipFill>
                  <a:blip r:embed="rId9"/>
                  <a:stretch>
                    <a:fillRect b="-1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37873CF-7AB9-CB07-83F3-1CA926E81DF0}"/>
                  </a:ext>
                </a:extLst>
              </p:cNvPr>
              <p:cNvSpPr txBox="1"/>
              <p:nvPr/>
            </p:nvSpPr>
            <p:spPr>
              <a:xfrm>
                <a:off x="3851266" y="4211280"/>
                <a:ext cx="1808778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0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70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37873CF-7AB9-CB07-83F3-1CA926E81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266" y="4211280"/>
                <a:ext cx="1808778" cy="11695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549B4675-A75C-B9CA-6EBA-5BB9FC73F23A}"/>
              </a:ext>
            </a:extLst>
          </p:cNvPr>
          <p:cNvGrpSpPr/>
          <p:nvPr/>
        </p:nvGrpSpPr>
        <p:grpSpPr>
          <a:xfrm>
            <a:off x="4762155" y="4074013"/>
            <a:ext cx="1398351" cy="873660"/>
            <a:chOff x="2672459" y="4020285"/>
            <a:chExt cx="1398351" cy="873660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719D498-0796-8518-4E49-ABEB86F01CB0}"/>
                </a:ext>
              </a:extLst>
            </p:cNvPr>
            <p:cNvCxnSpPr>
              <a:cxnSpLocks/>
            </p:cNvCxnSpPr>
            <p:nvPr/>
          </p:nvCxnSpPr>
          <p:spPr>
            <a:xfrm>
              <a:off x="3319670" y="4395298"/>
              <a:ext cx="531596" cy="498647"/>
            </a:xfrm>
            <a:prstGeom prst="line">
              <a:avLst/>
            </a:prstGeom>
            <a:ln w="254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B6B77E35-E2F8-6F9D-697B-EC2FF3A4A981}"/>
                    </a:ext>
                  </a:extLst>
                </p:cNvPr>
                <p:cNvSpPr txBox="1"/>
                <p:nvPr/>
              </p:nvSpPr>
              <p:spPr>
                <a:xfrm>
                  <a:off x="2672459" y="4020285"/>
                  <a:ext cx="1398351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2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2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−1)/</m:t>
                        </m:r>
                        <m:r>
                          <a:rPr lang="en-US" sz="22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en-US" sz="22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B6B77E35-E2F8-6F9D-697B-EC2FF3A4A9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2459" y="4020285"/>
                  <a:ext cx="1398351" cy="430887"/>
                </a:xfrm>
                <a:prstGeom prst="rect">
                  <a:avLst/>
                </a:prstGeom>
                <a:blipFill>
                  <a:blip r:embed="rId11"/>
                  <a:stretch>
                    <a:fillRect l="-1304" b="-154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0D1AA8D-C82A-B25D-AE59-25D7DC3BF495}"/>
              </a:ext>
            </a:extLst>
          </p:cNvPr>
          <p:cNvGrpSpPr/>
          <p:nvPr/>
        </p:nvGrpSpPr>
        <p:grpSpPr>
          <a:xfrm>
            <a:off x="5940962" y="4507813"/>
            <a:ext cx="722728" cy="607919"/>
            <a:chOff x="3313627" y="4286026"/>
            <a:chExt cx="722728" cy="607919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29FD5BA7-E270-3DC9-FBE2-27F91AD0FE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3627" y="4395298"/>
              <a:ext cx="0" cy="316515"/>
            </a:xfrm>
            <a:prstGeom prst="line">
              <a:avLst/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EE6A949-C168-4D3C-BB16-653EF63365D6}"/>
                </a:ext>
              </a:extLst>
            </p:cNvPr>
            <p:cNvCxnSpPr>
              <a:cxnSpLocks/>
            </p:cNvCxnSpPr>
            <p:nvPr/>
          </p:nvCxnSpPr>
          <p:spPr>
            <a:xfrm>
              <a:off x="3319670" y="4395298"/>
              <a:ext cx="531596" cy="498647"/>
            </a:xfrm>
            <a:prstGeom prst="line">
              <a:avLst/>
            </a:prstGeom>
            <a:ln w="254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141E2D77-1246-5279-F762-22E2D8622A5D}"/>
                    </a:ext>
                  </a:extLst>
                </p:cNvPr>
                <p:cNvSpPr txBox="1"/>
                <p:nvPr/>
              </p:nvSpPr>
              <p:spPr>
                <a:xfrm>
                  <a:off x="3344611" y="4286026"/>
                  <a:ext cx="691744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22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141E2D77-1246-5279-F762-22E2D8622A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4611" y="4286026"/>
                  <a:ext cx="691744" cy="43088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81D594D-7066-F39B-2131-3377738C98F1}"/>
              </a:ext>
            </a:extLst>
          </p:cNvPr>
          <p:cNvGrpSpPr/>
          <p:nvPr/>
        </p:nvGrpSpPr>
        <p:grpSpPr>
          <a:xfrm>
            <a:off x="6495070" y="4700888"/>
            <a:ext cx="722728" cy="607919"/>
            <a:chOff x="3313627" y="4286026"/>
            <a:chExt cx="722728" cy="607919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28027DA-E6E7-ACB0-09E9-7DE1E3BF61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3627" y="4395298"/>
              <a:ext cx="0" cy="316515"/>
            </a:xfrm>
            <a:prstGeom prst="line">
              <a:avLst/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9D0E7F0-0B5D-429D-6ECE-962C6BB98039}"/>
                </a:ext>
              </a:extLst>
            </p:cNvPr>
            <p:cNvCxnSpPr>
              <a:cxnSpLocks/>
            </p:cNvCxnSpPr>
            <p:nvPr/>
          </p:nvCxnSpPr>
          <p:spPr>
            <a:xfrm>
              <a:off x="3319670" y="4395298"/>
              <a:ext cx="531596" cy="498647"/>
            </a:xfrm>
            <a:prstGeom prst="line">
              <a:avLst/>
            </a:prstGeom>
            <a:ln w="254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59A7BCB8-72CD-AE17-1CDB-10595C8D6E26}"/>
                    </a:ext>
                  </a:extLst>
                </p:cNvPr>
                <p:cNvSpPr txBox="1"/>
                <p:nvPr/>
              </p:nvSpPr>
              <p:spPr>
                <a:xfrm>
                  <a:off x="3344611" y="4286026"/>
                  <a:ext cx="691744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22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59A7BCB8-72CD-AE17-1CDB-10595C8D6E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4611" y="4286026"/>
                  <a:ext cx="691744" cy="43088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F14ABB9-2472-87CD-4503-A9645EB47FA8}"/>
              </a:ext>
            </a:extLst>
          </p:cNvPr>
          <p:cNvGrpSpPr/>
          <p:nvPr/>
        </p:nvGrpSpPr>
        <p:grpSpPr>
          <a:xfrm>
            <a:off x="7032709" y="4996838"/>
            <a:ext cx="979275" cy="892286"/>
            <a:chOff x="3313627" y="4395298"/>
            <a:chExt cx="979275" cy="892286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50B537F-85F7-6F73-B670-A285972E88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3627" y="4395298"/>
              <a:ext cx="0" cy="316515"/>
            </a:xfrm>
            <a:prstGeom prst="line">
              <a:avLst/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E82699B3-06F8-2FF5-0060-143D383DAAF2}"/>
                </a:ext>
              </a:extLst>
            </p:cNvPr>
            <p:cNvCxnSpPr>
              <a:cxnSpLocks/>
            </p:cNvCxnSpPr>
            <p:nvPr/>
          </p:nvCxnSpPr>
          <p:spPr>
            <a:xfrm>
              <a:off x="3319670" y="4395298"/>
              <a:ext cx="973232" cy="892286"/>
            </a:xfrm>
            <a:prstGeom prst="line">
              <a:avLst/>
            </a:prstGeom>
            <a:ln w="254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B228FC65-D205-DAB3-A15E-E049A5139936}"/>
                    </a:ext>
                  </a:extLst>
                </p:cNvPr>
                <p:cNvSpPr txBox="1"/>
                <p:nvPr/>
              </p:nvSpPr>
              <p:spPr>
                <a:xfrm>
                  <a:off x="3585233" y="4491823"/>
                  <a:ext cx="691744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22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B228FC65-D205-DAB3-A15E-E049A51399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5233" y="4491823"/>
                  <a:ext cx="691744" cy="43088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362FAD6-87A7-15FB-2EAC-968C3642D17A}"/>
              </a:ext>
            </a:extLst>
          </p:cNvPr>
          <p:cNvGrpSpPr/>
          <p:nvPr/>
        </p:nvGrpSpPr>
        <p:grpSpPr>
          <a:xfrm>
            <a:off x="10390478" y="3951403"/>
            <a:ext cx="691744" cy="1937721"/>
            <a:chOff x="2084245" y="4772902"/>
            <a:chExt cx="691744" cy="1937721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581285B-DCAA-DE93-30B1-4E887DB512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7035" y="5158409"/>
              <a:ext cx="0" cy="1552214"/>
            </a:xfrm>
            <a:prstGeom prst="line">
              <a:avLst/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88E22DE-AB44-A8A4-A038-64E2582ACCBE}"/>
                </a:ext>
              </a:extLst>
            </p:cNvPr>
            <p:cNvCxnSpPr/>
            <p:nvPr/>
          </p:nvCxnSpPr>
          <p:spPr>
            <a:xfrm>
              <a:off x="2117035" y="5158409"/>
              <a:ext cx="626165" cy="168965"/>
            </a:xfrm>
            <a:prstGeom prst="line">
              <a:avLst/>
            </a:prstGeom>
            <a:ln w="254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BDEB447D-1509-DDCB-7ADB-5F93073355BB}"/>
                    </a:ext>
                  </a:extLst>
                </p:cNvPr>
                <p:cNvSpPr txBox="1"/>
                <p:nvPr/>
              </p:nvSpPr>
              <p:spPr>
                <a:xfrm>
                  <a:off x="2084245" y="4772902"/>
                  <a:ext cx="691744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sz="22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en-US" sz="22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BDEB447D-1509-DDCB-7ADB-5F93073355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84245" y="4772902"/>
                  <a:ext cx="691744" cy="430887"/>
                </a:xfrm>
                <a:prstGeom prst="rect">
                  <a:avLst/>
                </a:prstGeom>
                <a:blipFill>
                  <a:blip r:embed="rId15"/>
                  <a:stretch>
                    <a:fillRect b="-154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1299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33CB4-7BE0-EA18-11DF-04F966641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ISQ: Lower bound, exact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91D9B1-03A8-AF37-3DA9-BE9D3E35DD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1454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Theorem: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𝐼𝑆𝑄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-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-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Intuition: ISQ completes work at maximum possible speed.</a:t>
                </a:r>
              </a:p>
              <a:p>
                <a:pPr marL="0" indent="0">
                  <a:buNone/>
                </a:pPr>
                <a:r>
                  <a:rPr lang="en-US" dirty="0"/>
                  <a:t>Likewise, relevant work lower bounds.</a:t>
                </a:r>
              </a:p>
              <a:p>
                <a:pPr marL="0" indent="0">
                  <a:buNone/>
                </a:pPr>
                <a:r>
                  <a:rPr lang="en-US" dirty="0"/>
                  <a:t>Exact analysis of total work: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𝐼𝑆𝑄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E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acc>
                                <m:accPr>
                                  <m:chr m:val="̃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3−</m:t>
                          </m:r>
                          <m:acc>
                            <m:accPr>
                              <m:chr m:val="̃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𝐼𝑆𝑄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E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2+2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: Linear combination of transforms.</a:t>
                </a:r>
              </a:p>
              <a:p>
                <a:pPr marL="0" indent="0">
                  <a:buNone/>
                </a:pPr>
                <a:r>
                  <a:rPr lang="en-US" dirty="0"/>
                  <a:t>Technique: Differential-equation-based extension to the Drift Method.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91D9B1-03A8-AF37-3DA9-BE9D3E35DD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14540"/>
              </a:xfrm>
              <a:blipFill>
                <a:blip r:embed="rId3"/>
                <a:stretch>
                  <a:fillRect l="-1217" t="-1859" b="-2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45B37-7808-7B46-A6BF-A560ABA06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30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612EE-3DBD-A39D-3166-62D975949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</p:spTree>
    <p:extLst>
      <p:ext uri="{BB962C8B-B14F-4D97-AF65-F5344CB8AC3E}">
        <p14:creationId xmlns:p14="http://schemas.microsoft.com/office/powerpoint/2010/main" val="3314556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5509-76DC-340D-8C8C-F61CE2364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of bounds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75D2C8-546B-8835-843B-6E9685C27B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8378" y="5532437"/>
                <a:ext cx="11275243" cy="13255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𝐸𝑥𝑝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servers.</a:t>
                </a:r>
              </a:p>
              <a:p>
                <a:pPr marL="0" indent="0">
                  <a:buNone/>
                </a:pPr>
                <a:r>
                  <a:rPr lang="en-US" dirty="0"/>
                  <a:t>Add ISQ bounds into the WINE mixture. 2 variants, handling of relevant work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75D2C8-546B-8835-843B-6E9685C27B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8378" y="5532437"/>
                <a:ext cx="11275243" cy="1325563"/>
              </a:xfrm>
              <a:blipFill>
                <a:blip r:embed="rId2"/>
                <a:stretch>
                  <a:fillRect l="-1081" t="-7834" r="-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298B2939-AAC4-C656-8280-CEA693B85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020" y="1309391"/>
            <a:ext cx="8125959" cy="423921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9C6C1D-5E74-AFFB-B985-AD3A9CC9A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AF2793-8B5E-2436-7B38-01513C9C4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13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09C39A-7A65-76A3-76A2-8A7D7B678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7989" y="2800976"/>
            <a:ext cx="6068272" cy="24006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A271AD-30F0-1951-C772-BEA01EBD7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36705" cy="1325563"/>
          </a:xfrm>
        </p:spPr>
        <p:txBody>
          <a:bodyPr/>
          <a:lstStyle/>
          <a:p>
            <a:r>
              <a:rPr lang="en-US" dirty="0"/>
              <a:t>Bound quality: Uncertainty Improvement Ratio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B15204-EB6B-8AF7-96FD-4F6F7DA380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33394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𝑈𝐼𝑅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𝑛𝑜𝑣𝑒𝑙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dirty="0"/>
                                    <m:t>-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𝑙𝑜𝑤𝑒𝑟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𝑜𝑙𝑑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dirty="0"/>
                                    <m:t>-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𝑙𝑜𝑤𝑒𝑟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𝑜𝑙𝑑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dirty="0"/>
                                    <m:t>-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𝑙𝑜𝑤𝑒𝑟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𝑢𝑝𝑝𝑒𝑟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    </a:t>
                </a:r>
                <a:r>
                  <a:rPr lang="en-US" dirty="0" err="1"/>
                  <a:t>MixEx</a:t>
                </a:r>
                <a:r>
                  <a:rPr lang="en-US" dirty="0"/>
                  <a:t> vs. Prior                                  ISQ-based vs. </a:t>
                </a:r>
                <a:r>
                  <a:rPr lang="en-US" dirty="0" err="1"/>
                  <a:t>MixEx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𝐸𝑥𝑝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B15204-EB6B-8AF7-96FD-4F6F7DA380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33394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47E8D90-FE95-6C00-70C5-6FD0B56625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16" y="2800976"/>
            <a:ext cx="6154009" cy="243874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A60E209-59CE-C0F6-727A-B292EC862D06}"/>
              </a:ext>
            </a:extLst>
          </p:cNvPr>
          <p:cNvSpPr/>
          <p:nvPr/>
        </p:nvSpPr>
        <p:spPr>
          <a:xfrm>
            <a:off x="6890994" y="5335571"/>
            <a:ext cx="3421930" cy="4807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4C350CC-5DFD-8F8B-440A-69E0316D6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FA58E03-B181-32A4-3CB1-EBCB5E860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4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46873-0FB0-357E-05E3-3CA17CA3B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improvement: Low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BA9907-DEE4-7D50-CCD0-5B329CD938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148501"/>
                <a:ext cx="10515600" cy="1028461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en-US" dirty="0"/>
                  <a:t> Uniform distributions.</a:t>
                </a:r>
              </a:p>
              <a:p>
                <a:pPr marL="0" indent="0">
                  <a:buNone/>
                </a:pPr>
                <a:r>
                  <a:rPr lang="en-US" dirty="0"/>
                  <a:t>Maximum improvement: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≈70%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BA9907-DEE4-7D50-CCD0-5B329CD938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148501"/>
                <a:ext cx="10515600" cy="1028461"/>
              </a:xfrm>
              <a:blipFill>
                <a:blip r:embed="rId2"/>
                <a:stretch>
                  <a:fillRect l="-1217" t="-10119" b="-13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A12B99F-2E8B-DCBA-DE48-9BCE431EE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046" y="1709497"/>
            <a:ext cx="8287907" cy="3439005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4F240-668F-9B3B-B802-34CA5B7CA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A6830-C2F9-5E3E-FF9E-90F636265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0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082F4-D394-2DAE-5367-D65EA0112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Narrowing on Optimal, Above and Below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52C98F-AE9D-24A3-5795-AE9985C67B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16198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Lower bounds: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34% </m:t>
                    </m:r>
                  </m:oMath>
                </a14:m>
                <a:r>
                  <a:rPr lang="en-US" dirty="0"/>
                  <a:t>max UIR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𝐸𝑥𝑝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≈70%</m:t>
                    </m:r>
                  </m:oMath>
                </a14:m>
                <a:r>
                  <a:rPr lang="en-US" dirty="0"/>
                  <a:t> max UIR overall</a:t>
                </a:r>
              </a:p>
              <a:p>
                <a:pPr marL="0" indent="0">
                  <a:buNone/>
                </a:pPr>
                <a:r>
                  <a:rPr lang="en-US" dirty="0"/>
                  <a:t>Upper bounds (SEK):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3%</m:t>
                    </m:r>
                  </m:oMath>
                </a14:m>
                <a:r>
                  <a:rPr lang="en-US" dirty="0"/>
                  <a:t> max UIR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𝐸𝑥𝑝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≈10%</m:t>
                    </m:r>
                  </m:oMath>
                </a14:m>
                <a:r>
                  <a:rPr lang="en-US" dirty="0"/>
                  <a:t> overall</a:t>
                </a:r>
              </a:p>
              <a:p>
                <a:pPr marL="0" indent="0">
                  <a:buNone/>
                </a:pPr>
                <a:r>
                  <a:rPr lang="en-US" dirty="0"/>
                  <a:t>Perhaps SEK is close to true optimum?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52C98F-AE9D-24A3-5795-AE9985C67B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16198"/>
                <a:ext cx="10515600" cy="4351338"/>
              </a:xfrm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30C1AC40-0E0D-0D8E-201C-10D79B8510CA}"/>
              </a:ext>
            </a:extLst>
          </p:cNvPr>
          <p:cNvGrpSpPr/>
          <p:nvPr/>
        </p:nvGrpSpPr>
        <p:grpSpPr>
          <a:xfrm>
            <a:off x="2413262" y="3218940"/>
            <a:ext cx="1696826" cy="1169551"/>
            <a:chOff x="2394408" y="2219698"/>
            <a:chExt cx="1696826" cy="1169551"/>
          </a:xfrm>
        </p:grpSpPr>
        <p:sp>
          <p:nvSpPr>
            <p:cNvPr id="5" name="Smiley Face 4">
              <a:extLst>
                <a:ext uri="{FF2B5EF4-FFF2-40B4-BE49-F238E27FC236}">
                  <a16:creationId xmlns:a16="http://schemas.microsoft.com/office/drawing/2014/main" id="{FDC4564B-BF3C-45AA-B9F9-3701FFEB850F}"/>
                </a:ext>
              </a:extLst>
            </p:cNvPr>
            <p:cNvSpPr/>
            <p:nvPr/>
          </p:nvSpPr>
          <p:spPr>
            <a:xfrm>
              <a:off x="2394408" y="2384981"/>
              <a:ext cx="848413" cy="838986"/>
            </a:xfrm>
            <a:prstGeom prst="smileyFace">
              <a:avLst/>
            </a:prstGeom>
            <a:solidFill>
              <a:srgbClr val="00B05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339018F-2B5C-C005-F871-A879173454E8}"/>
                </a:ext>
              </a:extLst>
            </p:cNvPr>
            <p:cNvSpPr txBox="1"/>
            <p:nvPr/>
          </p:nvSpPr>
          <p:spPr>
            <a:xfrm>
              <a:off x="3242821" y="2219698"/>
              <a:ext cx="848413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0" dirty="0"/>
                <a:t>?</a:t>
              </a:r>
            </a:p>
          </p:txBody>
        </p:sp>
      </p:grp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859E70E-AB98-7FFE-4D01-68D15F4F6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B3CCD32-4CF1-215B-E074-3E4701D58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46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357CA-8EAA-7983-0D20-14DE02C51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D3D275D-7C92-16DE-CC0D-2749172C7E77}"/>
              </a:ext>
            </a:extLst>
          </p:cNvPr>
          <p:cNvGrpSpPr/>
          <p:nvPr/>
        </p:nvGrpSpPr>
        <p:grpSpPr>
          <a:xfrm>
            <a:off x="546380" y="1437640"/>
            <a:ext cx="4594860" cy="1723902"/>
            <a:chOff x="6156865" y="3167097"/>
            <a:chExt cx="4594860" cy="172390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2E0B475-ACC7-1934-55F4-D53364E203EA}"/>
                </a:ext>
              </a:extLst>
            </p:cNvPr>
            <p:cNvGrpSpPr/>
            <p:nvPr/>
          </p:nvGrpSpPr>
          <p:grpSpPr>
            <a:xfrm>
              <a:off x="6156865" y="3167097"/>
              <a:ext cx="4594860" cy="1723902"/>
              <a:chOff x="3630866" y="1755263"/>
              <a:chExt cx="4594860" cy="1723902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6EE82E2F-47BB-760D-253A-3A527EDDE43D}"/>
                  </a:ext>
                </a:extLst>
              </p:cNvPr>
              <p:cNvGrpSpPr/>
              <p:nvPr/>
            </p:nvGrpSpPr>
            <p:grpSpPr>
              <a:xfrm>
                <a:off x="3630866" y="2154555"/>
                <a:ext cx="4594860" cy="1324610"/>
                <a:chOff x="3630866" y="2154555"/>
                <a:chExt cx="4594860" cy="1324610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B8C73060-3FC0-7E0E-183D-837929323E03}"/>
                    </a:ext>
                  </a:extLst>
                </p:cNvPr>
                <p:cNvGrpSpPr/>
                <p:nvPr/>
              </p:nvGrpSpPr>
              <p:grpSpPr>
                <a:xfrm>
                  <a:off x="3630866" y="2154555"/>
                  <a:ext cx="4594860" cy="1324610"/>
                  <a:chOff x="541" y="3013"/>
                  <a:chExt cx="7236" cy="2086"/>
                </a:xfrm>
              </p:grpSpPr>
              <p:grpSp>
                <p:nvGrpSpPr>
                  <p:cNvPr id="11" name="Group 10">
                    <a:extLst>
                      <a:ext uri="{FF2B5EF4-FFF2-40B4-BE49-F238E27FC236}">
                        <a16:creationId xmlns:a16="http://schemas.microsoft.com/office/drawing/2014/main" id="{6B00A6AC-8EE8-18EA-595D-F2F83E67ED8E}"/>
                      </a:ext>
                    </a:extLst>
                  </p:cNvPr>
                  <p:cNvGrpSpPr/>
                  <p:nvPr/>
                </p:nvGrpSpPr>
                <p:grpSpPr>
                  <a:xfrm>
                    <a:off x="541" y="3013"/>
                    <a:ext cx="7236" cy="2086"/>
                    <a:chOff x="541" y="3013"/>
                    <a:chExt cx="7236" cy="2086"/>
                  </a:xfrm>
                </p:grpSpPr>
                <p:grpSp>
                  <p:nvGrpSpPr>
                    <p:cNvPr id="14" name="Group 13">
                      <a:extLst>
                        <a:ext uri="{FF2B5EF4-FFF2-40B4-BE49-F238E27FC236}">
                          <a16:creationId xmlns:a16="http://schemas.microsoft.com/office/drawing/2014/main" id="{9E7D3E6E-5E50-628F-084E-32B2CD1C894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1" y="3013"/>
                      <a:ext cx="7236" cy="1763"/>
                      <a:chOff x="4612" y="3687"/>
                      <a:chExt cx="7236" cy="1763"/>
                    </a:xfrm>
                  </p:grpSpPr>
                  <p:grpSp>
                    <p:nvGrpSpPr>
                      <p:cNvPr id="18" name="Group 17">
                        <a:extLst>
                          <a:ext uri="{FF2B5EF4-FFF2-40B4-BE49-F238E27FC236}">
                            <a16:creationId xmlns:a16="http://schemas.microsoft.com/office/drawing/2014/main" id="{6A44EEA5-0B45-BD58-09CC-1EABEBC7B83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30" y="3687"/>
                        <a:ext cx="5881" cy="1763"/>
                        <a:chOff x="5630" y="3687"/>
                        <a:chExt cx="5881" cy="1763"/>
                      </a:xfrm>
                    </p:grpSpPr>
                    <p:sp>
                      <p:nvSpPr>
                        <p:cNvPr id="21" name="Rectangles 8">
                          <a:extLst>
                            <a:ext uri="{FF2B5EF4-FFF2-40B4-BE49-F238E27FC236}">
                              <a16:creationId xmlns:a16="http://schemas.microsoft.com/office/drawing/2014/main" id="{14F9FCDF-675B-41C7-DA38-B7249A3EDA6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596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" name="Rectangles 9">
                          <a:extLst>
                            <a:ext uri="{FF2B5EF4-FFF2-40B4-BE49-F238E27FC236}">
                              <a16:creationId xmlns:a16="http://schemas.microsoft.com/office/drawing/2014/main" id="{DDA4DEF5-98C8-29FE-54CF-2246A7C724C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538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" name="Rectangles 10">
                          <a:extLst>
                            <a:ext uri="{FF2B5EF4-FFF2-40B4-BE49-F238E27FC236}">
                              <a16:creationId xmlns:a16="http://schemas.microsoft.com/office/drawing/2014/main" id="{E916B308-D103-6CDE-C6A7-97309E9F32B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80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" name="Rectangles 11">
                          <a:extLst>
                            <a:ext uri="{FF2B5EF4-FFF2-40B4-BE49-F238E27FC236}">
                              <a16:creationId xmlns:a16="http://schemas.microsoft.com/office/drawing/2014/main" id="{FCE45535-6590-37CA-B66C-A3730BA64A6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22" y="3735"/>
                          <a:ext cx="942" cy="171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" name="Oval 24">
                          <a:extLst>
                            <a:ext uri="{FF2B5EF4-FFF2-40B4-BE49-F238E27FC236}">
                              <a16:creationId xmlns:a16="http://schemas.microsoft.com/office/drawing/2014/main" id="{36BF5A42-75C2-C166-C401-7C9F1FFDD91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684" y="3687"/>
                          <a:ext cx="827" cy="881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cxnSp>
                      <p:nvCxnSpPr>
                        <p:cNvPr id="26" name="Straight Connector 25">
                          <a:extLst>
                            <a:ext uri="{FF2B5EF4-FFF2-40B4-BE49-F238E27FC236}">
                              <a16:creationId xmlns:a16="http://schemas.microsoft.com/office/drawing/2014/main" id="{FA4F4A69-DE88-E6CC-4E97-E3DED7D74321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5630" y="3721"/>
                          <a:ext cx="966" cy="15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7" name="Straight Connector 26">
                          <a:extLst>
                            <a:ext uri="{FF2B5EF4-FFF2-40B4-BE49-F238E27FC236}">
                              <a16:creationId xmlns:a16="http://schemas.microsoft.com/office/drawing/2014/main" id="{078398E0-357D-CA3F-5617-4EE3B445E631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5630" y="5435"/>
                          <a:ext cx="966" cy="15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19" name="Straight Arrow Connector 18">
                        <a:extLst>
                          <a:ext uri="{FF2B5EF4-FFF2-40B4-BE49-F238E27FC236}">
                            <a16:creationId xmlns:a16="http://schemas.microsoft.com/office/drawing/2014/main" id="{B3033343-3686-3D9E-D857-AD40453A483C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11511" y="4124"/>
                        <a:ext cx="337" cy="7"/>
                      </a:xfrm>
                      <a:prstGeom prst="straightConnector1">
                        <a:avLst/>
                      </a:prstGeom>
                      <a:ln w="25400">
                        <a:solidFill>
                          <a:schemeClr val="tx1"/>
                        </a:solidFill>
                        <a:tailEnd type="arrow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" name="Straight Arrow Connector 19">
                        <a:extLst>
                          <a:ext uri="{FF2B5EF4-FFF2-40B4-BE49-F238E27FC236}">
                            <a16:creationId xmlns:a16="http://schemas.microsoft.com/office/drawing/2014/main" id="{B9A29425-E7F2-E5AC-B68F-E827C32458F0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4612" y="4647"/>
                        <a:ext cx="1018" cy="6"/>
                      </a:xfrm>
                      <a:prstGeom prst="straightConnector1">
                        <a:avLst/>
                      </a:prstGeom>
                      <a:ln w="63500">
                        <a:solidFill>
                          <a:schemeClr val="tx1"/>
                        </a:solidFill>
                        <a:tailEnd type="arrow" w="lg" len="lg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5" name="Oval 14">
                      <a:extLst>
                        <a:ext uri="{FF2B5EF4-FFF2-40B4-BE49-F238E27FC236}">
                          <a16:creationId xmlns:a16="http://schemas.microsoft.com/office/drawing/2014/main" id="{90405517-A05F-2346-64A7-1917ECF083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13" y="4218"/>
                      <a:ext cx="827" cy="88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16" name="Straight Arrow Connector 15">
                      <a:extLst>
                        <a:ext uri="{FF2B5EF4-FFF2-40B4-BE49-F238E27FC236}">
                          <a16:creationId xmlns:a16="http://schemas.microsoft.com/office/drawing/2014/main" id="{93DE2F1A-BF82-9245-4F86-2B09E035C035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440" y="4655"/>
                      <a:ext cx="337" cy="7"/>
                    </a:xfrm>
                    <a:prstGeom prst="straightConnector1">
                      <a:avLst/>
                    </a:prstGeom>
                    <a:ln w="25400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7" name="Rectangles 17">
                      <a:extLst>
                        <a:ext uri="{FF2B5EF4-FFF2-40B4-BE49-F238E27FC236}">
                          <a16:creationId xmlns:a16="http://schemas.microsoft.com/office/drawing/2014/main" id="{79F3C627-79FF-29E6-EAFD-21D213D2A9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16" y="3312"/>
                      <a:ext cx="665" cy="314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p:txBody>
                </p:sp>
              </p:grpSp>
              <p:cxnSp>
                <p:nvCxnSpPr>
                  <p:cNvPr id="12" name="Straight Connector 11">
                    <a:extLst>
                      <a:ext uri="{FF2B5EF4-FFF2-40B4-BE49-F238E27FC236}">
                        <a16:creationId xmlns:a16="http://schemas.microsoft.com/office/drawing/2014/main" id="{4AC3AAD2-D4B9-D659-3832-A90824B8A7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308" y="3443"/>
                    <a:ext cx="259" cy="151"/>
                  </a:xfrm>
                  <a:prstGeom prst="line">
                    <a:avLst/>
                  </a:prstGeom>
                  <a:ln w="38100">
                    <a:solidFill>
                      <a:srgbClr val="20202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Straight Connector 12">
                    <a:extLst>
                      <a:ext uri="{FF2B5EF4-FFF2-40B4-BE49-F238E27FC236}">
                        <a16:creationId xmlns:a16="http://schemas.microsoft.com/office/drawing/2014/main" id="{86BBABB4-A277-D39C-082E-64B53B286295}"/>
                      </a:ext>
                    </a:extLst>
                  </p:cNvPr>
                  <p:cNvCxnSpPr>
                    <a:cxnSpLocks/>
                    <a:endCxn id="15" idx="2"/>
                  </p:cNvCxnSpPr>
                  <p:nvPr/>
                </p:nvCxnSpPr>
                <p:spPr>
                  <a:xfrm>
                    <a:off x="6308" y="4452"/>
                    <a:ext cx="305" cy="207"/>
                  </a:xfrm>
                  <a:prstGeom prst="line">
                    <a:avLst/>
                  </a:prstGeom>
                  <a:ln w="38100">
                    <a:solidFill>
                      <a:srgbClr val="20202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" name="Rectangles 16">
                  <a:extLst>
                    <a:ext uri="{FF2B5EF4-FFF2-40B4-BE49-F238E27FC236}">
                      <a16:creationId xmlns:a16="http://schemas.microsoft.com/office/drawing/2014/main" id="{9EC62B56-2D84-3BA5-EDAF-2BA8673FD52F}"/>
                    </a:ext>
                  </a:extLst>
                </p:cNvPr>
                <p:cNvSpPr/>
                <p:nvPr/>
              </p:nvSpPr>
              <p:spPr>
                <a:xfrm>
                  <a:off x="6778561" y="2783649"/>
                  <a:ext cx="411480" cy="24911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4</a:t>
                  </a:r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158D369-C0CA-6B5E-02FD-D539657E1DAC}"/>
                  </a:ext>
                </a:extLst>
              </p:cNvPr>
              <p:cNvSpPr txBox="1"/>
              <p:nvPr/>
            </p:nvSpPr>
            <p:spPr>
              <a:xfrm>
                <a:off x="6165468" y="1755263"/>
                <a:ext cx="913447" cy="43088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SEK</a:t>
                </a:r>
              </a:p>
            </p:txBody>
          </p:sp>
        </p:grpSp>
        <p:sp>
          <p:nvSpPr>
            <p:cNvPr id="6" name="Rectangles 21">
              <a:extLst>
                <a:ext uri="{FF2B5EF4-FFF2-40B4-BE49-F238E27FC236}">
                  <a16:creationId xmlns:a16="http://schemas.microsoft.com/office/drawing/2014/main" id="{6987A8D4-7B10-262A-807A-FAEA049CE543}"/>
                </a:ext>
              </a:extLst>
            </p:cNvPr>
            <p:cNvSpPr/>
            <p:nvPr/>
          </p:nvSpPr>
          <p:spPr>
            <a:xfrm>
              <a:off x="10019570" y="4134714"/>
              <a:ext cx="503555" cy="6197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66277DE-D590-F45A-F3A9-12CE74CE8D3C}"/>
                  </a:ext>
                </a:extLst>
              </p:cNvPr>
              <p:cNvSpPr txBox="1"/>
              <p:nvPr/>
            </p:nvSpPr>
            <p:spPr>
              <a:xfrm>
                <a:off x="393644" y="3247489"/>
                <a:ext cx="6414172" cy="837537"/>
              </a:xfrm>
              <a:prstGeom prst="rect">
                <a:avLst/>
              </a:prstGeom>
              <a:noFill/>
              <a:ln w="38100">
                <a:solidFill>
                  <a:srgbClr val="0066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indent="0" algn="ctr">
                  <a:buNone/>
                </a:pPr>
                <a:r>
                  <a:rPr lang="en-US" sz="2400" dirty="0"/>
                  <a:t>Theorem: SEK-SMOD always outperforms SRPT-k: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𝑆𝐸𝐾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𝑆𝑀𝑂𝐷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𝑆𝑅𝑃𝑇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66277DE-D590-F45A-F3A9-12CE74CE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644" y="3247489"/>
                <a:ext cx="6414172" cy="837537"/>
              </a:xfrm>
              <a:prstGeom prst="rect">
                <a:avLst/>
              </a:prstGeom>
              <a:blipFill>
                <a:blip r:embed="rId3"/>
                <a:stretch>
                  <a:fillRect l="-284" t="-3497" r="-189"/>
                </a:stretch>
              </a:blipFill>
              <a:ln w="38100"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B119B5A-3B18-BEFE-3E2F-8A2AA126D15D}"/>
                  </a:ext>
                </a:extLst>
              </p:cNvPr>
              <p:cNvSpPr txBox="1"/>
              <p:nvPr/>
            </p:nvSpPr>
            <p:spPr>
              <a:xfrm>
                <a:off x="421267" y="5107891"/>
                <a:ext cx="6225063" cy="737831"/>
              </a:xfrm>
              <a:prstGeom prst="rect">
                <a:avLst/>
              </a:prstGeom>
              <a:noFill/>
              <a:ln w="38100">
                <a:solidFill>
                  <a:srgbClr val="0066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indent="0" algn="ctr">
                  <a:buNone/>
                </a:pPr>
                <a:r>
                  <a:rPr lang="en-US" sz="2400" b="0" dirty="0"/>
                  <a:t>MixEx: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  <m:nary>
                      <m:nary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acc>
                                      <m:accPr>
                                        <m:chr m:val="̅"/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sub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B119B5A-3B18-BEFE-3E2F-8A2AA126D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67" y="5107891"/>
                <a:ext cx="6225063" cy="737831"/>
              </a:xfrm>
              <a:prstGeom prst="rect">
                <a:avLst/>
              </a:prstGeom>
              <a:blipFill>
                <a:blip r:embed="rId4"/>
                <a:stretch>
                  <a:fillRect l="-974"/>
                </a:stretch>
              </a:blipFill>
              <a:ln w="38100"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31">
            <a:extLst>
              <a:ext uri="{FF2B5EF4-FFF2-40B4-BE49-F238E27FC236}">
                <a16:creationId xmlns:a16="http://schemas.microsoft.com/office/drawing/2014/main" id="{593BADDB-6B0F-AC8B-F1C0-E939007AA39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481" t="495" r="33287" b="1595"/>
          <a:stretch/>
        </p:blipFill>
        <p:spPr>
          <a:xfrm>
            <a:off x="7755813" y="1179072"/>
            <a:ext cx="3691332" cy="3143250"/>
          </a:xfrm>
          <a:prstGeom prst="rect">
            <a:avLst/>
          </a:prstGeom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C5C60348-74B3-7BB5-F535-5F841838376C}"/>
              </a:ext>
            </a:extLst>
          </p:cNvPr>
          <p:cNvGrpSpPr/>
          <p:nvPr/>
        </p:nvGrpSpPr>
        <p:grpSpPr>
          <a:xfrm>
            <a:off x="6778068" y="4361945"/>
            <a:ext cx="5317831" cy="2370000"/>
            <a:chOff x="1545996" y="3345218"/>
            <a:chExt cx="6635976" cy="292855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7988A68-08A5-7212-190E-E14995BFBF82}"/>
                </a:ext>
              </a:extLst>
            </p:cNvPr>
            <p:cNvGrpSpPr/>
            <p:nvPr/>
          </p:nvGrpSpPr>
          <p:grpSpPr>
            <a:xfrm>
              <a:off x="1545996" y="3345218"/>
              <a:ext cx="462744" cy="2534260"/>
              <a:chOff x="1545996" y="3621443"/>
              <a:chExt cx="462744" cy="2534260"/>
            </a:xfrm>
          </p:grpSpPr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9E83B744-6FA0-E209-C033-D305832D64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45996" y="4114800"/>
                <a:ext cx="0" cy="20409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D21FC007-2D8F-8EA3-E00A-048FE72EAD7F}"/>
                      </a:ext>
                    </a:extLst>
                  </p:cNvPr>
                  <p:cNvSpPr txBox="1"/>
                  <p:nvPr/>
                </p:nvSpPr>
                <p:spPr>
                  <a:xfrm>
                    <a:off x="1637212" y="3621443"/>
                    <a:ext cx="371528" cy="4770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sz="2500" dirty="0"/>
                  </a:p>
                </p:txBody>
              </p:sp>
            </mc:Choice>
            <mc:Fallback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D21FC007-2D8F-8EA3-E00A-048FE72EAD7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37212" y="3621443"/>
                    <a:ext cx="371528" cy="4770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30612" b="-952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C8C853B-908A-501A-F376-C737A71CD2A9}"/>
                </a:ext>
              </a:extLst>
            </p:cNvPr>
            <p:cNvGrpSpPr/>
            <p:nvPr/>
          </p:nvGrpSpPr>
          <p:grpSpPr>
            <a:xfrm>
              <a:off x="1545996" y="5796716"/>
              <a:ext cx="6635976" cy="477054"/>
              <a:chOff x="1545996" y="6072941"/>
              <a:chExt cx="9587060" cy="477054"/>
            </a:xfrm>
          </p:grpSpPr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76DE69D8-F0B3-13A2-5CC6-A359C7E39C54}"/>
                  </a:ext>
                </a:extLst>
              </p:cNvPr>
              <p:cNvCxnSpPr/>
              <p:nvPr/>
            </p:nvCxnSpPr>
            <p:spPr>
              <a:xfrm>
                <a:off x="1545996" y="6155703"/>
                <a:ext cx="958706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2CF8D74C-5A8E-D913-4060-40DF7FB2EB91}"/>
                      </a:ext>
                    </a:extLst>
                  </p:cNvPr>
                  <p:cNvSpPr txBox="1"/>
                  <p:nvPr/>
                </p:nvSpPr>
                <p:spPr>
                  <a:xfrm>
                    <a:off x="5424402" y="6072941"/>
                    <a:ext cx="1383487" cy="4770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sz="2500" dirty="0"/>
                  </a:p>
                </p:txBody>
              </p:sp>
            </mc:Choice>
            <mc:Fallback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2CF8D74C-5A8E-D913-4060-40DF7FB2EB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24402" y="6072941"/>
                    <a:ext cx="1383487" cy="4770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428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9EBFD6F-E2B9-B548-553E-D0FA73B11C65}"/>
                </a:ext>
              </a:extLst>
            </p:cNvPr>
            <p:cNvGrpSpPr/>
            <p:nvPr/>
          </p:nvGrpSpPr>
          <p:grpSpPr>
            <a:xfrm>
              <a:off x="1838976" y="4449597"/>
              <a:ext cx="937013" cy="1429881"/>
              <a:chOff x="1838976" y="4725822"/>
              <a:chExt cx="937013" cy="1429881"/>
            </a:xfrm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B600E7AC-B3D4-1D00-C68A-1BFA63EB48D6}"/>
                  </a:ext>
                </a:extLst>
              </p:cNvPr>
              <p:cNvCxnSpPr/>
              <p:nvPr/>
            </p:nvCxnSpPr>
            <p:spPr>
              <a:xfrm flipV="1">
                <a:off x="2117035" y="5158409"/>
                <a:ext cx="0" cy="997294"/>
              </a:xfrm>
              <a:prstGeom prst="line">
                <a:avLst/>
              </a:prstGeom>
              <a:ln w="254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184DAC45-94EE-0902-8AA5-09AAD81EF1A0}"/>
                  </a:ext>
                </a:extLst>
              </p:cNvPr>
              <p:cNvCxnSpPr/>
              <p:nvPr/>
            </p:nvCxnSpPr>
            <p:spPr>
              <a:xfrm>
                <a:off x="2117035" y="5158409"/>
                <a:ext cx="626165" cy="168965"/>
              </a:xfrm>
              <a:prstGeom prst="line">
                <a:avLst/>
              </a:prstGeom>
              <a:ln w="2540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D9868FF5-2DFB-354F-84A6-5CE52CCD2A51}"/>
                      </a:ext>
                    </a:extLst>
                  </p:cNvPr>
                  <p:cNvSpPr txBox="1"/>
                  <p:nvPr/>
                </p:nvSpPr>
                <p:spPr>
                  <a:xfrm>
                    <a:off x="1838976" y="4725822"/>
                    <a:ext cx="937013" cy="53243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sz="220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oMath>
                      </m:oMathPara>
                    </a14:m>
                    <a:endParaRPr lang="en-US" sz="2200" dirty="0">
                      <a:solidFill>
                        <a:srgbClr val="7030A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D9868FF5-2DFB-354F-84A6-5CE52CCD2A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8976" y="4725822"/>
                    <a:ext cx="937013" cy="53243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1549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D09E5815-D733-214E-59B9-A2239D384B9E}"/>
                </a:ext>
              </a:extLst>
            </p:cNvPr>
            <p:cNvGrpSpPr/>
            <p:nvPr/>
          </p:nvGrpSpPr>
          <p:grpSpPr>
            <a:xfrm>
              <a:off x="2672461" y="3695257"/>
              <a:ext cx="795272" cy="1369235"/>
              <a:chOff x="2672461" y="3971482"/>
              <a:chExt cx="795272" cy="1369235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8BA5BF84-A0BA-2F37-6D6C-2942DDC05812}"/>
                  </a:ext>
                </a:extLst>
              </p:cNvPr>
              <p:cNvCxnSpPr/>
              <p:nvPr/>
            </p:nvCxnSpPr>
            <p:spPr>
              <a:xfrm flipV="1">
                <a:off x="2753722" y="4343423"/>
                <a:ext cx="0" cy="997294"/>
              </a:xfrm>
              <a:prstGeom prst="line">
                <a:avLst/>
              </a:prstGeom>
              <a:ln w="254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D209E939-8BAE-CBC9-1413-E10C68928E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3722" y="4343423"/>
                <a:ext cx="565948" cy="368390"/>
              </a:xfrm>
              <a:prstGeom prst="line">
                <a:avLst/>
              </a:prstGeom>
              <a:ln w="2540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2B371C70-3404-5567-53C8-5CE96FD3194E}"/>
                      </a:ext>
                    </a:extLst>
                  </p:cNvPr>
                  <p:cNvSpPr txBox="1"/>
                  <p:nvPr/>
                </p:nvSpPr>
                <p:spPr>
                  <a:xfrm>
                    <a:off x="2672461" y="3971482"/>
                    <a:ext cx="795272" cy="53243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2/</m:t>
                          </m:r>
                          <m:r>
                            <a:rPr lang="en-US" sz="220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oMath>
                      </m:oMathPara>
                    </a14:m>
                    <a:endParaRPr lang="en-US" sz="2200" dirty="0">
                      <a:solidFill>
                        <a:srgbClr val="7030A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2B371C70-3404-5567-53C8-5CE96FD319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72461" y="3971482"/>
                    <a:ext cx="795272" cy="53243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952" b="-1549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019B37F-2E57-330D-02DB-7A23FE159DDB}"/>
                </a:ext>
              </a:extLst>
            </p:cNvPr>
            <p:cNvGrpSpPr/>
            <p:nvPr/>
          </p:nvGrpSpPr>
          <p:grpSpPr>
            <a:xfrm>
              <a:off x="3313627" y="3950805"/>
              <a:ext cx="916925" cy="666915"/>
              <a:chOff x="3313627" y="4227030"/>
              <a:chExt cx="916925" cy="666915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B87610FA-397A-CAC5-80C3-56D95348F0B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13627" y="4395298"/>
                <a:ext cx="0" cy="316515"/>
              </a:xfrm>
              <a:prstGeom prst="line">
                <a:avLst/>
              </a:prstGeom>
              <a:ln w="254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B47A6F4D-8DDD-A6E2-E120-B8FA11DBAB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19670" y="4395298"/>
                <a:ext cx="531596" cy="498647"/>
              </a:xfrm>
              <a:prstGeom prst="line">
                <a:avLst/>
              </a:prstGeom>
              <a:ln w="2540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2832D289-D5F1-55B5-F6C4-6321CED4FD75}"/>
                      </a:ext>
                    </a:extLst>
                  </p:cNvPr>
                  <p:cNvSpPr txBox="1"/>
                  <p:nvPr/>
                </p:nvSpPr>
                <p:spPr>
                  <a:xfrm>
                    <a:off x="3423199" y="4227030"/>
                    <a:ext cx="807353" cy="53243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20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20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oMath>
                      </m:oMathPara>
                    </a14:m>
                    <a:endParaRPr lang="en-US" sz="2200" dirty="0">
                      <a:solidFill>
                        <a:srgbClr val="7030A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2832D289-D5F1-55B5-F6C4-6321CED4FD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3199" y="4227030"/>
                    <a:ext cx="807353" cy="532438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1549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F97D67D1-D9CB-736B-6CD1-C060B87457F3}"/>
                    </a:ext>
                  </a:extLst>
                </p:cNvPr>
                <p:cNvSpPr txBox="1"/>
                <p:nvPr/>
              </p:nvSpPr>
              <p:spPr>
                <a:xfrm>
                  <a:off x="3851266" y="4211280"/>
                  <a:ext cx="1808778" cy="8747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F97D67D1-D9CB-736B-6CD1-C060B87457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1266" y="4211280"/>
                  <a:ext cx="1808778" cy="87471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82ED2F6C-0915-01F9-F1AA-1693BB6F1AAF}"/>
                </a:ext>
              </a:extLst>
            </p:cNvPr>
            <p:cNvGrpSpPr/>
            <p:nvPr/>
          </p:nvGrpSpPr>
          <p:grpSpPr>
            <a:xfrm>
              <a:off x="4762154" y="4074013"/>
              <a:ext cx="1716442" cy="873660"/>
              <a:chOff x="2672458" y="4020285"/>
              <a:chExt cx="1716442" cy="873660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F2B0228D-000D-B4EB-CC91-252DB1753D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19670" y="4395298"/>
                <a:ext cx="531596" cy="498647"/>
              </a:xfrm>
              <a:prstGeom prst="line">
                <a:avLst/>
              </a:prstGeom>
              <a:ln w="2540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C9B3F901-8939-5401-5A1C-5BA282AFB0D0}"/>
                      </a:ext>
                    </a:extLst>
                  </p:cNvPr>
                  <p:cNvSpPr txBox="1"/>
                  <p:nvPr/>
                </p:nvSpPr>
                <p:spPr>
                  <a:xfrm>
                    <a:off x="2672458" y="4020285"/>
                    <a:ext cx="1716442" cy="53243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2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−1)/</m:t>
                          </m:r>
                          <m:r>
                            <a:rPr lang="en-US" sz="220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oMath>
                      </m:oMathPara>
                    </a14:m>
                    <a:endParaRPr lang="en-US" sz="2200" dirty="0">
                      <a:solidFill>
                        <a:srgbClr val="7030A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C9B3F901-8939-5401-5A1C-5BA282AFB0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72458" y="4020285"/>
                    <a:ext cx="1716442" cy="53243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2667" b="-1549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0D0E3556-0D36-B998-BBAD-751EF0455807}"/>
                </a:ext>
              </a:extLst>
            </p:cNvPr>
            <p:cNvGrpSpPr/>
            <p:nvPr/>
          </p:nvGrpSpPr>
          <p:grpSpPr>
            <a:xfrm>
              <a:off x="5940962" y="4507813"/>
              <a:ext cx="722728" cy="607919"/>
              <a:chOff x="3313627" y="4286026"/>
              <a:chExt cx="722728" cy="607919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2809989A-F2A7-1F62-2AAF-9A1E631496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13627" y="4395298"/>
                <a:ext cx="0" cy="316515"/>
              </a:xfrm>
              <a:prstGeom prst="line">
                <a:avLst/>
              </a:prstGeom>
              <a:ln w="254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C6E636E2-5FB8-B87E-1F32-4C59E07F38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19670" y="4395298"/>
                <a:ext cx="531596" cy="498647"/>
              </a:xfrm>
              <a:prstGeom prst="line">
                <a:avLst/>
              </a:prstGeom>
              <a:ln w="2540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58BA99D0-E505-4ECC-723F-7541AB21A7E3}"/>
                      </a:ext>
                    </a:extLst>
                  </p:cNvPr>
                  <p:cNvSpPr txBox="1"/>
                  <p:nvPr/>
                </p:nvSpPr>
                <p:spPr>
                  <a:xfrm>
                    <a:off x="3344611" y="4286026"/>
                    <a:ext cx="691744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2200" dirty="0">
                      <a:solidFill>
                        <a:srgbClr val="7030A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141E2D77-1246-5279-F762-22E2D8622A5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4611" y="4286026"/>
                    <a:ext cx="691744" cy="43088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E13ECB88-C005-1F81-8059-075FA10CD581}"/>
                </a:ext>
              </a:extLst>
            </p:cNvPr>
            <p:cNvGrpSpPr/>
            <p:nvPr/>
          </p:nvGrpSpPr>
          <p:grpSpPr>
            <a:xfrm>
              <a:off x="6495070" y="4700888"/>
              <a:ext cx="722728" cy="607919"/>
              <a:chOff x="3313627" y="4286026"/>
              <a:chExt cx="722728" cy="607919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6865D9CE-2642-FC55-D257-A9595BCAF7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13627" y="4395298"/>
                <a:ext cx="0" cy="316515"/>
              </a:xfrm>
              <a:prstGeom prst="line">
                <a:avLst/>
              </a:prstGeom>
              <a:ln w="254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E33AAF27-92FB-1C52-5388-D57F1DB793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19670" y="4395298"/>
                <a:ext cx="531596" cy="498647"/>
              </a:xfrm>
              <a:prstGeom prst="line">
                <a:avLst/>
              </a:prstGeom>
              <a:ln w="2540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021195B6-3CC3-FE5C-A0E6-E548F26E70E6}"/>
                      </a:ext>
                    </a:extLst>
                  </p:cNvPr>
                  <p:cNvSpPr txBox="1"/>
                  <p:nvPr/>
                </p:nvSpPr>
                <p:spPr>
                  <a:xfrm>
                    <a:off x="3344611" y="4286026"/>
                    <a:ext cx="691744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2200" dirty="0">
                      <a:solidFill>
                        <a:srgbClr val="7030A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59A7BCB8-72CD-AE17-1CDB-10595C8D6E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4611" y="4286026"/>
                    <a:ext cx="691744" cy="43088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1BF93DD6-D33C-C648-4644-96EC72686EC0}"/>
                </a:ext>
              </a:extLst>
            </p:cNvPr>
            <p:cNvGrpSpPr/>
            <p:nvPr/>
          </p:nvGrpSpPr>
          <p:grpSpPr>
            <a:xfrm>
              <a:off x="7032709" y="4996838"/>
              <a:ext cx="979275" cy="892286"/>
              <a:chOff x="3313627" y="4395298"/>
              <a:chExt cx="979275" cy="892286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194B403F-F680-CECB-9C8B-3C37C7D658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13627" y="4395298"/>
                <a:ext cx="0" cy="316515"/>
              </a:xfrm>
              <a:prstGeom prst="line">
                <a:avLst/>
              </a:prstGeom>
              <a:ln w="254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78AFF8F0-456D-FC46-2F8C-8A8C060286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19670" y="4395298"/>
                <a:ext cx="973232" cy="892286"/>
              </a:xfrm>
              <a:prstGeom prst="line">
                <a:avLst/>
              </a:prstGeom>
              <a:ln w="2540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A5029736-0D80-5E0E-7037-1A53E668AB2A}"/>
                      </a:ext>
                    </a:extLst>
                  </p:cNvPr>
                  <p:cNvSpPr txBox="1"/>
                  <p:nvPr/>
                </p:nvSpPr>
                <p:spPr>
                  <a:xfrm>
                    <a:off x="3585233" y="4491823"/>
                    <a:ext cx="691744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2200" dirty="0">
                      <a:solidFill>
                        <a:srgbClr val="7030A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B228FC65-D205-DAB3-A15E-E049A51399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85233" y="4491823"/>
                    <a:ext cx="691744" cy="43088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72" name="Footer Placeholder 71">
            <a:extLst>
              <a:ext uri="{FF2B5EF4-FFF2-40B4-BE49-F238E27FC236}">
                <a16:creationId xmlns:a16="http://schemas.microsoft.com/office/drawing/2014/main" id="{59B5CC77-6A91-A6D4-674F-CDCAC347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Amherst CS Seminar, 3-30-26</a:t>
            </a:r>
          </a:p>
        </p:txBody>
      </p:sp>
      <p:sp>
        <p:nvSpPr>
          <p:cNvPr id="73" name="Slide Number Placeholder 72">
            <a:extLst>
              <a:ext uri="{FF2B5EF4-FFF2-40B4-BE49-F238E27FC236}">
                <a16:creationId xmlns:a16="http://schemas.microsoft.com/office/drawing/2014/main" id="{C2E86DA2-B047-2077-E003-DC0EA7C00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B320-44BD-4158-A6D5-89FA96D7926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134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1718</TotalTime>
  <Words>2502</Words>
  <Application>Microsoft Office PowerPoint</Application>
  <PresentationFormat>Widescreen</PresentationFormat>
  <Paragraphs>427</Paragraphs>
  <Slides>35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Calibri Light</vt:lpstr>
      <vt:lpstr>Cambria Math</vt:lpstr>
      <vt:lpstr>DejaVu Math TeX Gyre</vt:lpstr>
      <vt:lpstr>Office Theme</vt:lpstr>
      <vt:lpstr>Optimizing Multiserver Scheduling: Beyond SRPT-k</vt:lpstr>
      <vt:lpstr>Motivation: Multiserver User-Computing</vt:lpstr>
      <vt:lpstr>Today’s Model: M/G/k Scheduling</vt:lpstr>
      <vt:lpstr>Outline</vt:lpstr>
      <vt:lpstr>Prior work</vt:lpstr>
      <vt:lpstr>Prior Work: SRPT-k Heavy Traffic Optimality</vt:lpstr>
      <vt:lpstr>SRPT-k’s weak point</vt:lpstr>
      <vt:lpstr>SRPT-k’s weak point</vt:lpstr>
      <vt:lpstr>SRPT-k’s weak point</vt:lpstr>
      <vt:lpstr>SEK Improvement Intuition</vt:lpstr>
      <vt:lpstr>SEK Improvement Intuition</vt:lpstr>
      <vt:lpstr>SEK Improvement Intuition</vt:lpstr>
      <vt:lpstr>Challenge 1: If not early arrival, SEK better</vt:lpstr>
      <vt:lpstr>Challenge 2: If early arrival, only O(ϵ) worse</vt:lpstr>
      <vt:lpstr>Final tweak: SEK-SMOD</vt:lpstr>
      <vt:lpstr>Final tweak: SEK-SMOD</vt:lpstr>
      <vt:lpstr>Final tweak: SEK-SMOD</vt:lpstr>
      <vt:lpstr>Final tweak: SEK-SMOD</vt:lpstr>
      <vt:lpstr>Main Result</vt:lpstr>
      <vt:lpstr>Empirical outperformance</vt:lpstr>
      <vt:lpstr>More servers: More divergences</vt:lpstr>
      <vt:lpstr>Estimates: SEK still helps, if low noise</vt:lpstr>
      <vt:lpstr>Distance to optimality</vt:lpstr>
      <vt:lpstr>Outline</vt:lpstr>
      <vt:lpstr>Multiserver lower bounds</vt:lpstr>
      <vt:lpstr>Innovation 1: WINE combination of lower bounds</vt:lpstr>
      <vt:lpstr>Relevant Work Lower Bounds: MixEx</vt:lpstr>
      <vt:lpstr>Visualization of bounds</vt:lpstr>
      <vt:lpstr>Innovation 2: Increasing Speed Queue (ISQ)</vt:lpstr>
      <vt:lpstr>ISQ: Lower bound, exact analysis</vt:lpstr>
      <vt:lpstr>Visualization of bounds</vt:lpstr>
      <vt:lpstr>Bound quality: Uncertainty Improvement Ratio</vt:lpstr>
      <vt:lpstr>Most improvement: Low Variance</vt:lpstr>
      <vt:lpstr>Narrowing on Optimal, Above and Below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Izzy Grosof</dc:creator>
  <cp:lastModifiedBy>Izzy Grosof</cp:lastModifiedBy>
  <cp:revision>91</cp:revision>
  <dcterms:created xsi:type="dcterms:W3CDTF">2026-03-29T14:40:29Z</dcterms:created>
  <dcterms:modified xsi:type="dcterms:W3CDTF">2026-03-30T19:26:41Z</dcterms:modified>
</cp:coreProperties>
</file>