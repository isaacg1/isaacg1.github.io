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4" r:id="rId3"/>
    <p:sldId id="259" r:id="rId4"/>
    <p:sldId id="260" r:id="rId5"/>
    <p:sldId id="261" r:id="rId6"/>
    <p:sldId id="276" r:id="rId7"/>
    <p:sldId id="277" r:id="rId8"/>
    <p:sldId id="262" r:id="rId9"/>
    <p:sldId id="278" r:id="rId10"/>
    <p:sldId id="280" r:id="rId11"/>
    <p:sldId id="263" r:id="rId12"/>
    <p:sldId id="264" r:id="rId13"/>
    <p:sldId id="281" r:id="rId14"/>
    <p:sldId id="282" r:id="rId15"/>
    <p:sldId id="285" r:id="rId16"/>
    <p:sldId id="284" r:id="rId17"/>
    <p:sldId id="267" r:id="rId18"/>
    <p:sldId id="268" r:id="rId19"/>
    <p:sldId id="286" r:id="rId20"/>
    <p:sldId id="287" r:id="rId21"/>
    <p:sldId id="456" r:id="rId22"/>
    <p:sldId id="45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9755FC1-A0FC-4107-8C1A-8899391AA905}">
          <p14:sldIdLst>
            <p14:sldId id="256"/>
            <p14:sldId id="274"/>
            <p14:sldId id="259"/>
            <p14:sldId id="260"/>
            <p14:sldId id="261"/>
            <p14:sldId id="276"/>
            <p14:sldId id="277"/>
            <p14:sldId id="262"/>
            <p14:sldId id="278"/>
            <p14:sldId id="280"/>
            <p14:sldId id="263"/>
            <p14:sldId id="264"/>
            <p14:sldId id="281"/>
            <p14:sldId id="282"/>
            <p14:sldId id="285"/>
            <p14:sldId id="284"/>
            <p14:sldId id="267"/>
            <p14:sldId id="268"/>
            <p14:sldId id="286"/>
            <p14:sldId id="287"/>
            <p14:sldId id="456"/>
            <p14:sldId id="4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66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9416" autoAdjust="0"/>
  </p:normalViewPr>
  <p:slideViewPr>
    <p:cSldViewPr snapToGrid="0">
      <p:cViewPr varScale="1">
        <p:scale>
          <a:sx n="102" d="100"/>
          <a:sy n="102" d="100"/>
        </p:scale>
        <p:origin x="8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166A8-6167-46ED-9F99-5EAA5398F4F8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719BB-6CE0-4A00-9442-48D14EDA8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82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service durations, known in advance, equally important. Preempt-resume. Poisson, </a:t>
            </a:r>
            <a:r>
              <a:rPr lang="en-US" dirty="0" err="1"/>
              <a:t>i.i.d.</a:t>
            </a:r>
            <a:r>
              <a:rPr lang="en-US" dirty="0"/>
              <a:t> Mean response time E[T]. Mean number E[N] equivalent. Load rho.</a:t>
            </a:r>
          </a:p>
          <a:p>
            <a:r>
              <a:rPr lang="en-US" dirty="0"/>
              <a:t>Goal: Scheduling policy which minimizes E[T].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719BB-6CE0-4A00-9442-48D14EDA82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89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719BB-6CE0-4A00-9442-48D14EDA821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2AF43-E732-45FE-3B81-2A35A760B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F5695-B107-A0F4-AFB9-2E0E9DFE8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1D99D-F24D-A4FA-3655-4D2D1A2DE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5912A-751F-422E-BC46-0A8461724D49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2214F-4F57-31BE-6C40-9E015524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D9F67-D8F0-C4AB-6691-A0E66AFB1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6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BFBF6-D134-3BFA-3A31-E281476A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663A4-9A52-AC30-F57F-5D81224E4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FE14E-DCD8-F92A-2BD3-B1016EBF8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D18C-6C1D-4160-8E13-3604196DA0E6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2FDF-FE35-830E-8898-F95DCE661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30581-C6C8-B837-D9F8-E7600A5E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EF89-D83D-5139-9E70-7EEE1CA7B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8CF6E-918D-80D3-EC29-93BC26E58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133A0-01DD-CE53-C9E8-B16EE2528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B5F65-2FAA-4F3E-8536-81B47FE159FC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E3B08-9FE6-439B-240F-F867262BE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C007F-55CB-9D63-030B-6628CA948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7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EA337-5DE0-3A42-B13F-94C7E0990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ECF82-70B5-448A-A0B5-A8C673FC4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E6887-8CEF-ECB1-9EA9-EA3DA0268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C18FC-3247-CC6B-4DCA-0EBA26F52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C75C-2921-4072-8E17-761018C6EDEE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CD54E-F264-92F6-5BD0-BCEE67E9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BD02C-DC10-7AA6-1A1E-A8C7224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8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ECA7D-55BB-B941-8FD5-0ED2CF1AA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E1CF9-A740-C9F8-CB0C-DCDB6D8A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F28BD-210B-E2B9-7785-0E4B7CC15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979C5-C60F-CBDA-231D-135A85B30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7537E-3E92-D0E1-F385-D596F21179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826A3B-9E7F-FF5C-F120-26D6D1287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AE0AA-9962-4CB9-A9B9-52FB4EC07564}" type="datetime1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4F998-4A7B-2258-32C8-0FD2705B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5667A8-676A-DD19-C945-DE283C48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29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A729-9FB4-8A4A-459E-BB0EA67C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79396-0379-6B44-4C04-9AF7F063E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4DD80-13F2-4B5F-B9E0-C1DB829B06E1}" type="datetime1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FF802-0A92-1277-494D-501A2DE1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611CC-716B-C40B-5711-AE4559DE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9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67A7E8-BDBF-1517-6680-8343EBDB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2E209-5CC3-40E9-8B3C-9CBDB8212146}" type="datetime1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9F01EF-DB07-03B9-873D-3B5DC6B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5436D-F27F-E898-C227-6914D4F0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4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B882-F63F-FC1A-6C6C-FD126017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64501-73E7-D9A7-D886-3442588DF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D2A60-EEDF-0F6E-3B2F-3F6B657AF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291A9-3D29-6621-96DA-AA4903B9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91A36-E1F1-458D-9AE9-59D37F50EAE8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49F47-D2AC-FE2A-3EC5-2CC3A7881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5E50C-D9E2-5B28-BE8D-B6884B41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59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13D67-8AD7-9550-E01E-EAB0CA3F7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F378E-2E96-C185-AF0E-4C8146EA6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673FA-FB89-BB2D-AAD5-41D8CBA90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77FA9-690E-1A29-CFD9-C1946BD9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25A6-94C3-4121-BBA7-CEAFA8274DDA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38C4E-F5D1-C47D-23B4-E6C167DD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DFE53-803A-FB99-EAA1-6BCFE357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12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80137-16F2-041E-CA9C-6C2D82A50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1FC74-9425-8A4D-B6A2-16DDBBBB4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1CE89-264C-F137-ED50-5BB76E87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8F709-7612-4C23-A298-EA01E72F70B1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D5F31-B1EE-E36B-79B3-AB2458BA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751A1-C80D-3527-841C-92630F37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7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85DB7-C530-9B4C-08F1-A93B68F93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94165-2570-DAFC-30A3-A7A4BE3BC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CB0D7-27C1-793A-1F07-56C6FFE6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833D9-6A82-4955-AF43-2B4046F49876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64BE4-FCEB-937B-7703-48073E23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9D1CC-4FE6-B814-81C5-BD7EFEE2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5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F3C729-36D0-BB8B-FFA5-BD70B641E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7D0B9-8940-7D81-662F-57AAD4570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9A260-FC9D-DA38-B826-97ED2F57F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F47B0-435E-4DEF-99E4-9BC4716B7074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6D130-63D8-DB93-1401-135BFF54C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SIGMETRICS, June 10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E7AFB-9627-3083-4C35-CE0EC6539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A150B320-44BD-4158-A6D5-89FA96D79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4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10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5.svg"/><Relationship Id="rId3" Type="http://schemas.openxmlformats.org/officeDocument/2006/relationships/image" Target="../media/image10.png"/><Relationship Id="rId7" Type="http://schemas.openxmlformats.org/officeDocument/2006/relationships/image" Target="../media/image25.png"/><Relationship Id="rId12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3.png"/><Relationship Id="rId5" Type="http://schemas.openxmlformats.org/officeDocument/2006/relationships/image" Target="../media/image23.png"/><Relationship Id="rId10" Type="http://schemas.openxmlformats.org/officeDocument/2006/relationships/image" Target="../media/image32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9EE1-867F-765E-BC49-245696CC8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152" y="1122363"/>
            <a:ext cx="9833695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Outperforming Multiserver SRPT</a:t>
            </a:r>
            <a:br>
              <a:rPr lang="en-US" dirty="0"/>
            </a:br>
            <a:r>
              <a:rPr lang="en-US" dirty="0"/>
              <a:t>at All Loads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E94775-67EE-3AA6-F131-69039BAAC2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026975"/>
          </a:xfrm>
        </p:spPr>
        <p:txBody>
          <a:bodyPr>
            <a:normAutofit/>
          </a:bodyPr>
          <a:lstStyle/>
          <a:p>
            <a:r>
              <a:rPr lang="en-US" b="1" dirty="0"/>
              <a:t>Izzy Grosof</a:t>
            </a:r>
            <a:br>
              <a:rPr lang="en-US" dirty="0"/>
            </a:br>
            <a:r>
              <a:rPr lang="en-US" dirty="0"/>
              <a:t>Northwestern University, IEMS</a:t>
            </a:r>
          </a:p>
          <a:p>
            <a:r>
              <a:rPr lang="en-US" dirty="0"/>
              <a:t>Daniela Hurtado-Lange, NU, Kellogg</a:t>
            </a:r>
          </a:p>
        </p:txBody>
      </p:sp>
      <p:pic>
        <p:nvPicPr>
          <p:cNvPr id="4" name="Picture 3" descr="A person taking a selfie with a dog&#10;&#10;Description automatically generated">
            <a:extLst>
              <a:ext uri="{FF2B5EF4-FFF2-40B4-BE49-F238E27FC236}">
                <a16:creationId xmlns:a16="http://schemas.microsoft.com/office/drawing/2014/main" id="{29BA8422-462C-C5A8-ED25-0146129EB5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3" t="1534" r="22503"/>
          <a:stretch/>
        </p:blipFill>
        <p:spPr>
          <a:xfrm>
            <a:off x="454258" y="3509963"/>
            <a:ext cx="3249995" cy="2698497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0671E-1946-57BF-C4A1-FA6A331D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1A1C8-F10A-6F2C-AEDA-D6C54F71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80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6493-0FCC-F1AB-D387-BC7B359AA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M/G/k Scheduling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65BF0E8-7F73-4A7C-ABB8-32EB122C5D8C}"/>
              </a:ext>
            </a:extLst>
          </p:cNvPr>
          <p:cNvGrpSpPr/>
          <p:nvPr/>
        </p:nvGrpSpPr>
        <p:grpSpPr>
          <a:xfrm>
            <a:off x="3227925" y="2571989"/>
            <a:ext cx="4605655" cy="1265555"/>
            <a:chOff x="541" y="3008"/>
            <a:chExt cx="7253" cy="19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72DB750-5C7A-5BFB-0421-B0C518FB468E}"/>
                </a:ext>
              </a:extLst>
            </p:cNvPr>
            <p:cNvGrpSpPr/>
            <p:nvPr/>
          </p:nvGrpSpPr>
          <p:grpSpPr>
            <a:xfrm>
              <a:off x="541" y="3008"/>
              <a:ext cx="7253" cy="1993"/>
              <a:chOff x="541" y="3008"/>
              <a:chExt cx="7253" cy="1993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7CBC829-7977-848D-7D48-3189CA61E979}"/>
                  </a:ext>
                </a:extLst>
              </p:cNvPr>
              <p:cNvSpPr/>
              <p:nvPr/>
            </p:nvSpPr>
            <p:spPr>
              <a:xfrm>
                <a:off x="6630" y="3008"/>
                <a:ext cx="827" cy="8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35D023A-B1AB-9784-D655-4032C9C01279}"/>
                  </a:ext>
                </a:extLst>
              </p:cNvPr>
              <p:cNvGrpSpPr/>
              <p:nvPr/>
            </p:nvGrpSpPr>
            <p:grpSpPr>
              <a:xfrm>
                <a:off x="541" y="3061"/>
                <a:ext cx="6800" cy="1729"/>
                <a:chOff x="4612" y="3735"/>
                <a:chExt cx="6800" cy="1729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638AEDAC-EE23-E2B3-D71C-98A932B0A1F5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24" name="Rectangles 8">
                    <a:extLst>
                      <a:ext uri="{FF2B5EF4-FFF2-40B4-BE49-F238E27FC236}">
                        <a16:creationId xmlns:a16="http://schemas.microsoft.com/office/drawing/2014/main" id="{B4387B9F-0F0C-F6AF-4694-A50990D411F9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s 9">
                    <a:extLst>
                      <a:ext uri="{FF2B5EF4-FFF2-40B4-BE49-F238E27FC236}">
                        <a16:creationId xmlns:a16="http://schemas.microsoft.com/office/drawing/2014/main" id="{F2886EC6-A59A-8780-EC2D-4BB779519B39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Rectangles 10">
                    <a:extLst>
                      <a:ext uri="{FF2B5EF4-FFF2-40B4-BE49-F238E27FC236}">
                        <a16:creationId xmlns:a16="http://schemas.microsoft.com/office/drawing/2014/main" id="{56DF1B98-82D0-F04B-1BB4-B15CF81D6CD5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Rectangles 11">
                    <a:extLst>
                      <a:ext uri="{FF2B5EF4-FFF2-40B4-BE49-F238E27FC236}">
                        <a16:creationId xmlns:a16="http://schemas.microsoft.com/office/drawing/2014/main" id="{84C074D4-3895-DC0B-4FE6-526344EC3BA3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AEB7E68F-7CA4-96DC-B547-8DF51B974A3B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84A178A2-E21D-BA87-D019-FCCE5CB5659F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" name="Rectangles 16">
                  <a:extLst>
                    <a:ext uri="{FF2B5EF4-FFF2-40B4-BE49-F238E27FC236}">
                      <a16:creationId xmlns:a16="http://schemas.microsoft.com/office/drawing/2014/main" id="{DE172811-3ECE-EE6D-A0D8-7D4C3DE64ACF}"/>
                    </a:ext>
                  </a:extLst>
                </p:cNvPr>
                <p:cNvSpPr/>
                <p:nvPr/>
              </p:nvSpPr>
              <p:spPr>
                <a:xfrm>
                  <a:off x="7611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Rectangles 18">
                  <a:extLst>
                    <a:ext uri="{FF2B5EF4-FFF2-40B4-BE49-F238E27FC236}">
                      <a16:creationId xmlns:a16="http://schemas.microsoft.com/office/drawing/2014/main" id="{B38D3F89-693A-8C53-85FB-F12C8FFD86EE}"/>
                    </a:ext>
                  </a:extLst>
                </p:cNvPr>
                <p:cNvSpPr/>
                <p:nvPr/>
              </p:nvSpPr>
              <p:spPr>
                <a:xfrm>
                  <a:off x="9495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s 19">
                  <a:extLst>
                    <a:ext uri="{FF2B5EF4-FFF2-40B4-BE49-F238E27FC236}">
                      <a16:creationId xmlns:a16="http://schemas.microsoft.com/office/drawing/2014/main" id="{0F16FDF3-68BF-3B55-ACDC-2D6B00978A75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s 20">
                  <a:extLst>
                    <a:ext uri="{FF2B5EF4-FFF2-40B4-BE49-F238E27FC236}">
                      <a16:creationId xmlns:a16="http://schemas.microsoft.com/office/drawing/2014/main" id="{9F0A97BE-F8BD-853D-8340-84A0088D5310}"/>
                    </a:ext>
                  </a:extLst>
                </p:cNvPr>
                <p:cNvSpPr/>
                <p:nvPr/>
              </p:nvSpPr>
              <p:spPr>
                <a:xfrm>
                  <a:off x="8553" y="4483"/>
                  <a:ext cx="797" cy="6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Rectangles 21">
                  <a:extLst>
                    <a:ext uri="{FF2B5EF4-FFF2-40B4-BE49-F238E27FC236}">
                      <a16:creationId xmlns:a16="http://schemas.microsoft.com/office/drawing/2014/main" id="{747066A8-F291-192A-C81F-4D1D0487E0E2}"/>
                    </a:ext>
                  </a:extLst>
                </p:cNvPr>
                <p:cNvSpPr/>
                <p:nvPr/>
              </p:nvSpPr>
              <p:spPr>
                <a:xfrm>
                  <a:off x="10818" y="3874"/>
                  <a:ext cx="594" cy="531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2B5C8F3D-B552-5B3E-3749-5D14114057D4}"/>
                    </a:ext>
                  </a:extLst>
                </p:cNvPr>
                <p:cNvCxnSpPr/>
                <p:nvPr/>
              </p:nvCxnSpPr>
              <p:spPr>
                <a:xfrm flipV="1">
                  <a:off x="4612" y="4647"/>
                  <a:ext cx="1018" cy="6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45F5D5E-7E9D-2623-084F-BE4C8FD65AA1}"/>
                  </a:ext>
                </a:extLst>
              </p:cNvPr>
              <p:cNvCxnSpPr/>
              <p:nvPr/>
            </p:nvCxnSpPr>
            <p:spPr>
              <a:xfrm flipV="1">
                <a:off x="7457" y="3374"/>
                <a:ext cx="337" cy="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6C1F123-29C1-5CD3-674E-84F2D7E3F7FB}"/>
                  </a:ext>
                </a:extLst>
              </p:cNvPr>
              <p:cNvSpPr/>
              <p:nvPr/>
            </p:nvSpPr>
            <p:spPr>
              <a:xfrm>
                <a:off x="6630" y="4120"/>
                <a:ext cx="827" cy="8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4DD5CA7-2583-4821-8802-C42D193ED309}"/>
                  </a:ext>
                </a:extLst>
              </p:cNvPr>
              <p:cNvCxnSpPr/>
              <p:nvPr/>
            </p:nvCxnSpPr>
            <p:spPr>
              <a:xfrm flipV="1">
                <a:off x="7457" y="4544"/>
                <a:ext cx="337" cy="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s 25">
                <a:extLst>
                  <a:ext uri="{FF2B5EF4-FFF2-40B4-BE49-F238E27FC236}">
                    <a16:creationId xmlns:a16="http://schemas.microsoft.com/office/drawing/2014/main" id="{1B398D81-273C-DAB2-A7D0-4B0EC4BA7A8D}"/>
                  </a:ext>
                </a:extLst>
              </p:cNvPr>
              <p:cNvSpPr/>
              <p:nvPr/>
            </p:nvSpPr>
            <p:spPr>
              <a:xfrm>
                <a:off x="6747" y="4454"/>
                <a:ext cx="594" cy="3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2DCA190-B356-5BF8-D468-63CD00742BE3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V="1">
              <a:off x="6288" y="3449"/>
              <a:ext cx="342" cy="138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5C00521-3FD1-785C-E155-CC1AC7832590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6300" y="4365"/>
              <a:ext cx="330" cy="196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B9CE2D9-2D8C-3FEA-46DF-742103255157}"/>
              </a:ext>
            </a:extLst>
          </p:cNvPr>
          <p:cNvGrpSpPr/>
          <p:nvPr/>
        </p:nvGrpSpPr>
        <p:grpSpPr>
          <a:xfrm>
            <a:off x="8232342" y="2252292"/>
            <a:ext cx="1395748" cy="1802130"/>
            <a:chOff x="7930469" y="3625215"/>
            <a:chExt cx="1395748" cy="1802130"/>
          </a:xfrm>
        </p:grpSpPr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6AE78BB8-17AF-A781-3F9D-745EDEE2AA62}"/>
                </a:ext>
              </a:extLst>
            </p:cNvPr>
            <p:cNvSpPr/>
            <p:nvPr/>
          </p:nvSpPr>
          <p:spPr>
            <a:xfrm>
              <a:off x="7930469" y="3625215"/>
              <a:ext cx="461010" cy="1802130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7CC8715-1C63-8147-A0A0-9D142221F92F}"/>
                    </a:ext>
                  </a:extLst>
                </p:cNvPr>
                <p:cNvSpPr txBox="1"/>
                <p:nvPr/>
              </p:nvSpPr>
              <p:spPr>
                <a:xfrm>
                  <a:off x="8328977" y="4309734"/>
                  <a:ext cx="997240" cy="46166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rgbClr val="C40F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≥2</m:t>
                        </m:r>
                      </m:oMath>
                    </m:oMathPara>
                  </a14:m>
                  <a:endParaRPr lang="en-US" sz="2400" dirty="0">
                    <a:solidFill>
                      <a:srgbClr val="C40F0F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7CC8715-1C63-8147-A0A0-9D142221F9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8977" y="4309734"/>
                  <a:ext cx="99724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291A3B6-3411-0FED-CE33-8DF8EA7FC01F}"/>
              </a:ext>
            </a:extLst>
          </p:cNvPr>
          <p:cNvGrpSpPr/>
          <p:nvPr/>
        </p:nvGrpSpPr>
        <p:grpSpPr>
          <a:xfrm>
            <a:off x="3487958" y="1496540"/>
            <a:ext cx="3394710" cy="1483360"/>
            <a:chOff x="5265" y="1644"/>
            <a:chExt cx="5346" cy="23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 Box 26">
                  <a:extLst>
                    <a:ext uri="{FF2B5EF4-FFF2-40B4-BE49-F238E27FC236}">
                      <a16:creationId xmlns:a16="http://schemas.microsoft.com/office/drawing/2014/main" id="{51A6B2D9-6396-2357-3C26-423509F935DD}"/>
                    </a:ext>
                  </a:extLst>
                </p:cNvPr>
                <p:cNvSpPr txBox="1"/>
                <p:nvPr/>
              </p:nvSpPr>
              <p:spPr>
                <a:xfrm>
                  <a:off x="5265" y="1644"/>
                  <a:ext cx="5346" cy="1745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200" dirty="0"/>
                    <a:t>Job size (duration)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2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𝑆</m:t>
                      </m:r>
                    </m:oMath>
                  </a14:m>
                  <a:r>
                    <a:rPr lang="en-US" sz="2200" dirty="0"/>
                    <a:t>, </a:t>
                  </a:r>
                  <a:r>
                    <a:rPr lang="en-US" sz="2200" dirty="0" err="1"/>
                    <a:t>i.i.d.</a:t>
                  </a:r>
                  <a:endParaRPr lang="en-US" sz="2200" dirty="0"/>
                </a:p>
                <a:p>
                  <a:pPr algn="ctr"/>
                  <a:r>
                    <a:rPr lang="en-US" sz="2200" dirty="0"/>
                    <a:t>Scheduling w/ known sizes, preempt-resume</a:t>
                  </a:r>
                </a:p>
              </p:txBody>
            </p:sp>
          </mc:Choice>
          <mc:Fallback xmlns="">
            <p:sp>
              <p:nvSpPr>
                <p:cNvPr id="35" name="Text Box 26">
                  <a:extLst>
                    <a:ext uri="{FF2B5EF4-FFF2-40B4-BE49-F238E27FC236}">
                      <a16:creationId xmlns:a16="http://schemas.microsoft.com/office/drawing/2014/main" id="{51A6B2D9-6396-2357-3C26-423509F935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5" y="1644"/>
                  <a:ext cx="5346" cy="1745"/>
                </a:xfrm>
                <a:prstGeom prst="rect">
                  <a:avLst/>
                </a:prstGeom>
                <a:blipFill>
                  <a:blip r:embed="rId4"/>
                  <a:stretch>
                    <a:fillRect l="-1243" t="-1596" r="-1776" b="-8511"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CD676D2-5F8B-EB42-D31B-C5277037A391}"/>
                </a:ext>
              </a:extLst>
            </p:cNvPr>
            <p:cNvCxnSpPr>
              <a:cxnSpLocks/>
              <a:stCxn id="35" idx="2"/>
            </p:cNvCxnSpPr>
            <p:nvPr/>
          </p:nvCxnSpPr>
          <p:spPr>
            <a:xfrm>
              <a:off x="7938" y="3389"/>
              <a:ext cx="1215" cy="5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FC0BF0-53D6-9A62-04AD-D118DB74CA77}"/>
              </a:ext>
            </a:extLst>
          </p:cNvPr>
          <p:cNvGrpSpPr/>
          <p:nvPr/>
        </p:nvGrpSpPr>
        <p:grpSpPr>
          <a:xfrm>
            <a:off x="3667664" y="3936278"/>
            <a:ext cx="4560570" cy="626110"/>
            <a:chOff x="5521" y="4476"/>
            <a:chExt cx="7182" cy="986"/>
          </a:xfrm>
        </p:grpSpPr>
        <p:sp>
          <p:nvSpPr>
            <p:cNvPr id="38" name="Left Brace 37">
              <a:extLst>
                <a:ext uri="{FF2B5EF4-FFF2-40B4-BE49-F238E27FC236}">
                  <a16:creationId xmlns:a16="http://schemas.microsoft.com/office/drawing/2014/main" id="{FA858525-8CF3-706F-C302-9B6DE2325865}"/>
                </a:ext>
              </a:extLst>
            </p:cNvPr>
            <p:cNvSpPr/>
            <p:nvPr/>
          </p:nvSpPr>
          <p:spPr>
            <a:xfrm rot="16200000">
              <a:off x="8721" y="1276"/>
              <a:ext cx="781" cy="7182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 Box 29">
                  <a:extLst>
                    <a:ext uri="{FF2B5EF4-FFF2-40B4-BE49-F238E27FC236}">
                      <a16:creationId xmlns:a16="http://schemas.microsoft.com/office/drawing/2014/main" id="{211A312A-2E3B-4A05-44A5-66B9F8287A6F}"/>
                    </a:ext>
                  </a:extLst>
                </p:cNvPr>
                <p:cNvSpPr txBox="1"/>
                <p:nvPr/>
              </p:nvSpPr>
              <p:spPr>
                <a:xfrm>
                  <a:off x="7208" y="4785"/>
                  <a:ext cx="3469" cy="67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Response time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𝑇</m:t>
                      </m:r>
                    </m:oMath>
                  </a14:m>
                  <a:endParaRPr lang="en-US" sz="2200" dirty="0">
                    <a:solidFill>
                      <a:srgbClr val="C00000"/>
                    </a:solidFill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</p:txBody>
            </p:sp>
          </mc:Choice>
          <mc:Fallback xmlns="">
            <p:sp>
              <p:nvSpPr>
                <p:cNvPr id="39" name="Text Box 29">
                  <a:extLst>
                    <a:ext uri="{FF2B5EF4-FFF2-40B4-BE49-F238E27FC236}">
                      <a16:creationId xmlns:a16="http://schemas.microsoft.com/office/drawing/2014/main" id="{211A312A-2E3B-4A05-44A5-66B9F8287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8" y="4785"/>
                  <a:ext cx="3469" cy="677"/>
                </a:xfrm>
                <a:prstGeom prst="rect">
                  <a:avLst/>
                </a:prstGeom>
                <a:blipFill>
                  <a:blip r:embed="rId5"/>
                  <a:stretch>
                    <a:fillRect l="-2717" t="-5263" b="-22368"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A94F095-F8B8-3DE7-B3CC-D7E366324E61}"/>
              </a:ext>
            </a:extLst>
          </p:cNvPr>
          <p:cNvGrpSpPr/>
          <p:nvPr/>
        </p:nvGrpSpPr>
        <p:grpSpPr>
          <a:xfrm>
            <a:off x="1472150" y="2958387"/>
            <a:ext cx="1755775" cy="431165"/>
            <a:chOff x="1847" y="3258"/>
            <a:chExt cx="2765" cy="6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 Box 2">
                  <a:extLst>
                    <a:ext uri="{FF2B5EF4-FFF2-40B4-BE49-F238E27FC236}">
                      <a16:creationId xmlns:a16="http://schemas.microsoft.com/office/drawing/2014/main" id="{66A22920-F5EC-889A-3131-999494648126}"/>
                    </a:ext>
                  </a:extLst>
                </p:cNvPr>
                <p:cNvSpPr txBox="1"/>
                <p:nvPr/>
              </p:nvSpPr>
              <p:spPr>
                <a:xfrm>
                  <a:off x="2231" y="3258"/>
                  <a:ext cx="2381" cy="679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 err="1"/>
                    <a:t>PoissonP</a:t>
                  </a:r>
                  <a:r>
                    <a:rPr lang="en-US" sz="2200" dirty="0"/>
                    <a:t>(</a:t>
                  </a:r>
                  <a14:m>
                    <m:oMath xmlns:m="http://schemas.openxmlformats.org/officeDocument/2006/math">
                      <m:r>
                        <a:rPr lang="en-US" sz="2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𝜆</m:t>
                      </m:r>
                    </m:oMath>
                  </a14:m>
                  <a:r>
                    <a:rPr lang="en-US" sz="2200" dirty="0"/>
                    <a:t>)</a:t>
                  </a:r>
                </a:p>
              </p:txBody>
            </p:sp>
          </mc:Choice>
          <mc:Fallback xmlns="">
            <p:sp>
              <p:nvSpPr>
                <p:cNvPr id="41" name="Text Box 2">
                  <a:extLst>
                    <a:ext uri="{FF2B5EF4-FFF2-40B4-BE49-F238E27FC236}">
                      <a16:creationId xmlns:a16="http://schemas.microsoft.com/office/drawing/2014/main" id="{66A22920-F5EC-889A-3131-999494648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1" y="3258"/>
                  <a:ext cx="2381" cy="679"/>
                </a:xfrm>
                <a:prstGeom prst="rect">
                  <a:avLst/>
                </a:prstGeom>
                <a:blipFill>
                  <a:blip r:embed="rId6"/>
                  <a:stretch>
                    <a:fillRect l="-4348" t="-5333" r="-3953" b="-24000"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8BB23B6-68EA-EEA3-F0B9-02776076ED39}"/>
                </a:ext>
              </a:extLst>
            </p:cNvPr>
            <p:cNvCxnSpPr>
              <a:cxnSpLocks/>
              <a:stCxn id="41" idx="1"/>
            </p:cNvCxnSpPr>
            <p:nvPr/>
          </p:nvCxnSpPr>
          <p:spPr>
            <a:xfrm flipH="1">
              <a:off x="1847" y="3598"/>
              <a:ext cx="384" cy="97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9822291-4C2F-06C9-A6CF-16F5DEA5BC20}"/>
              </a:ext>
            </a:extLst>
          </p:cNvPr>
          <p:cNvGrpSpPr/>
          <p:nvPr/>
        </p:nvGrpSpPr>
        <p:grpSpPr>
          <a:xfrm>
            <a:off x="7629110" y="1586152"/>
            <a:ext cx="2524587" cy="461353"/>
            <a:chOff x="12060" y="1551"/>
            <a:chExt cx="3682" cy="12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32">
                  <a:extLst>
                    <a:ext uri="{FF2B5EF4-FFF2-40B4-BE49-F238E27FC236}">
                      <a16:creationId xmlns:a16="http://schemas.microsoft.com/office/drawing/2014/main" id="{9193E7FE-87A6-89AA-79CF-69A28AE00FCA}"/>
                    </a:ext>
                  </a:extLst>
                </p:cNvPr>
                <p:cNvSpPr txBox="1"/>
                <p:nvPr/>
              </p:nvSpPr>
              <p:spPr>
                <a:xfrm>
                  <a:off x="12060" y="1551"/>
                  <a:ext cx="3682" cy="121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Load </a:t>
                  </a:r>
                  <a14:m>
                    <m:oMath xmlns:m="http://schemas.openxmlformats.org/officeDocument/2006/math">
                      <m:r>
                        <a:rPr lang="en-US" sz="2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𝜌</m:t>
                      </m:r>
                      <m:r>
                        <a:rPr lang="en-US" sz="22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𝜆</m:t>
                      </m:r>
                      <m:r>
                        <a:rPr lang="en-US" sz="22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𝐸</m:t>
                      </m:r>
                      <m:r>
                        <a:rPr lang="en-US" sz="22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[</m:t>
                      </m:r>
                      <m:r>
                        <a:rPr lang="en-US" sz="22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𝑆</m:t>
                      </m:r>
                      <m:r>
                        <a:rPr lang="en-US" sz="22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]&lt;1</m:t>
                      </m:r>
                    </m:oMath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33" name="Text 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0" y="1551"/>
                  <a:ext cx="3682" cy="1210"/>
                </a:xfrm>
                <a:prstGeom prst="rect">
                  <a:avLst/>
                </a:prstGeom>
                <a:blipFill>
                  <a:blip r:embed="rId7"/>
                  <a:stretch>
                    <a:fillRect l="-2632" t="-6250" b="-16250"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4CD8D9F-0E2D-0E2D-4783-8B6075DFFE1B}"/>
                </a:ext>
              </a:extLst>
            </p:cNvPr>
            <p:cNvCxnSpPr/>
            <p:nvPr/>
          </p:nvCxnSpPr>
          <p:spPr>
            <a:xfrm flipH="1">
              <a:off x="15123" y="2000"/>
              <a:ext cx="226" cy="98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5A551228-8066-F624-8348-05E5195A718F}"/>
                  </a:ext>
                </a:extLst>
              </p:cNvPr>
              <p:cNvSpPr/>
              <p:nvPr/>
            </p:nvSpPr>
            <p:spPr>
              <a:xfrm>
                <a:off x="814280" y="5029844"/>
                <a:ext cx="5581035" cy="980634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>
                    <a:solidFill>
                      <a:schemeClr val="tx1"/>
                    </a:solidFill>
                  </a:rPr>
                  <a:t>Q: What scheduling policy minimizes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5A551228-8066-F624-8348-05E5195A71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80" y="5029844"/>
                <a:ext cx="5581035" cy="980634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Footer Placeholder 54">
            <a:extLst>
              <a:ext uri="{FF2B5EF4-FFF2-40B4-BE49-F238E27FC236}">
                <a16:creationId xmlns:a16="http://schemas.microsoft.com/office/drawing/2014/main" id="{61606001-72EA-D3EF-336B-7F6B8E76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58EB555B-83E0-9767-111C-F50A4BE8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3FC4-A741-40E0-A7E6-A0B0F42F419F}" type="slidenum">
              <a:rPr lang="en-US" smtClean="0"/>
              <a:t>2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EA39CB-0003-628A-87CD-2E17275C44C7}"/>
              </a:ext>
            </a:extLst>
          </p:cNvPr>
          <p:cNvSpPr/>
          <p:nvPr/>
        </p:nvSpPr>
        <p:spPr>
          <a:xfrm>
            <a:off x="6793420" y="5034556"/>
            <a:ext cx="4672099" cy="943685"/>
          </a:xfrm>
          <a:prstGeom prst="roundRect">
            <a:avLst/>
          </a:prstGeom>
          <a:solidFill>
            <a:srgbClr val="FFCC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Shortest Remaining Processing Time?</a:t>
            </a:r>
          </a:p>
        </p:txBody>
      </p:sp>
    </p:spTree>
    <p:extLst>
      <p:ext uri="{BB962C8B-B14F-4D97-AF65-F5344CB8AC3E}">
        <p14:creationId xmlns:p14="http://schemas.microsoft.com/office/powerpoint/2010/main" val="262546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12868-B61C-586A-1403-F66461B78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9F6E9C-FF8D-A946-A990-24718446E6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435499" cy="48520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Single-server (M/G/1): SRPT optimal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. Worst-case optimal. </a:t>
                </a:r>
                <a:r>
                  <a:rPr lang="en-US" sz="2000" dirty="0"/>
                  <a:t>[Schrage ’68]</a:t>
                </a:r>
                <a:br>
                  <a:rPr lang="en-US" dirty="0"/>
                </a:br>
                <a:r>
                  <a:rPr lang="en-US" dirty="0"/>
                  <a:t>Stochastic exact formula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  <a:r>
                  <a:rPr lang="en-US" sz="2000" dirty="0"/>
                  <a:t>[SM ’66]</a:t>
                </a:r>
              </a:p>
              <a:p>
                <a:pPr marL="0" indent="0">
                  <a:buNone/>
                </a:pPr>
                <a:r>
                  <a:rPr lang="en-US" dirty="0"/>
                  <a:t>70s-00s: Limited progress on stochastic multiserver. Formulas for simpler policies in simpler multiserver models, no optimality. </a:t>
                </a:r>
                <a:r>
                  <a:rPr lang="en-US" sz="2000" dirty="0"/>
                  <a:t>[</a:t>
                </a:r>
                <a:r>
                  <a:rPr lang="en-US" sz="2000" dirty="0" err="1"/>
                  <a:t>Sleptchenko</a:t>
                </a:r>
                <a:r>
                  <a:rPr lang="en-US" sz="2000" dirty="0"/>
                  <a:t> ’05]</a:t>
                </a:r>
              </a:p>
              <a:p>
                <a:pPr marL="0" indent="0">
                  <a:buNone/>
                </a:pPr>
                <a:r>
                  <a:rPr lang="en-US" dirty="0"/>
                  <a:t>Worst-case multiserver: Without arrivals (batch setting), SRPT-k is optimal </a:t>
                </a:r>
                <a:r>
                  <a:rPr lang="en-US" sz="2000" dirty="0"/>
                  <a:t>[McNaughton ’59], [CMM ’67]</a:t>
                </a:r>
              </a:p>
              <a:p>
                <a:pPr marL="0" indent="0">
                  <a:buNone/>
                </a:pPr>
                <a:r>
                  <a:rPr lang="en-US" dirty="0"/>
                  <a:t>With arrivals, no online policy matches offline optimum. Not even constant competitive ratio. SRPT-k achieves best competitive ratio scaling. </a:t>
                </a:r>
                <a:r>
                  <a:rPr lang="en-US" sz="2000" dirty="0"/>
                  <a:t>[LR ’97]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9F6E9C-FF8D-A946-A990-24718446E6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435499" cy="4852012"/>
              </a:xfrm>
              <a:blipFill>
                <a:blip r:embed="rId2"/>
                <a:stretch>
                  <a:fillRect l="-1066" t="-2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58BC96D-95A1-5368-0600-7343B83DB570}"/>
              </a:ext>
            </a:extLst>
          </p:cNvPr>
          <p:cNvGrpSpPr/>
          <p:nvPr/>
        </p:nvGrpSpPr>
        <p:grpSpPr>
          <a:xfrm>
            <a:off x="7520505" y="478948"/>
            <a:ext cx="4561205" cy="1097915"/>
            <a:chOff x="962" y="3061"/>
            <a:chExt cx="7183" cy="1729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E088325-1BB3-AE24-E9B2-AFF2B15527B7}"/>
                </a:ext>
              </a:extLst>
            </p:cNvPr>
            <p:cNvSpPr/>
            <p:nvPr/>
          </p:nvSpPr>
          <p:spPr>
            <a:xfrm>
              <a:off x="6297" y="3220"/>
              <a:ext cx="1569" cy="152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1C0898C-E794-AD00-1576-F02A6A693601}"/>
                </a:ext>
              </a:extLst>
            </p:cNvPr>
            <p:cNvGrpSpPr/>
            <p:nvPr/>
          </p:nvGrpSpPr>
          <p:grpSpPr>
            <a:xfrm>
              <a:off x="962" y="3061"/>
              <a:ext cx="6384" cy="1729"/>
              <a:chOff x="5033" y="3735"/>
              <a:chExt cx="6384" cy="1729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05AD2E7-3405-1D9B-9F52-EFB6170DFC68}"/>
                  </a:ext>
                </a:extLst>
              </p:cNvPr>
              <p:cNvGrpSpPr/>
              <p:nvPr/>
            </p:nvGrpSpPr>
            <p:grpSpPr>
              <a:xfrm>
                <a:off x="5630" y="3735"/>
                <a:ext cx="4734" cy="1729"/>
                <a:chOff x="5630" y="3735"/>
                <a:chExt cx="4734" cy="1729"/>
              </a:xfrm>
            </p:grpSpPr>
            <p:sp>
              <p:nvSpPr>
                <p:cNvPr id="21" name="Rectangles 8">
                  <a:extLst>
                    <a:ext uri="{FF2B5EF4-FFF2-40B4-BE49-F238E27FC236}">
                      <a16:creationId xmlns:a16="http://schemas.microsoft.com/office/drawing/2014/main" id="{EF7AE534-A76B-E14D-BEEA-D704EF3BD401}"/>
                    </a:ext>
                  </a:extLst>
                </p:cNvPr>
                <p:cNvSpPr/>
                <p:nvPr/>
              </p:nvSpPr>
              <p:spPr>
                <a:xfrm>
                  <a:off x="6596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Rectangles 9">
                  <a:extLst>
                    <a:ext uri="{FF2B5EF4-FFF2-40B4-BE49-F238E27FC236}">
                      <a16:creationId xmlns:a16="http://schemas.microsoft.com/office/drawing/2014/main" id="{D1767491-55C7-A71C-13A6-B0CCBB300460}"/>
                    </a:ext>
                  </a:extLst>
                </p:cNvPr>
                <p:cNvSpPr/>
                <p:nvPr/>
              </p:nvSpPr>
              <p:spPr>
                <a:xfrm>
                  <a:off x="7538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s 10">
                  <a:extLst>
                    <a:ext uri="{FF2B5EF4-FFF2-40B4-BE49-F238E27FC236}">
                      <a16:creationId xmlns:a16="http://schemas.microsoft.com/office/drawing/2014/main" id="{42F22CEB-8191-0FDC-FD52-73C364166910}"/>
                    </a:ext>
                  </a:extLst>
                </p:cNvPr>
                <p:cNvSpPr/>
                <p:nvPr/>
              </p:nvSpPr>
              <p:spPr>
                <a:xfrm>
                  <a:off x="8480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s 11">
                  <a:extLst>
                    <a:ext uri="{FF2B5EF4-FFF2-40B4-BE49-F238E27FC236}">
                      <a16:creationId xmlns:a16="http://schemas.microsoft.com/office/drawing/2014/main" id="{3FC0E3AA-B782-943A-B808-E61B3D7884A0}"/>
                    </a:ext>
                  </a:extLst>
                </p:cNvPr>
                <p:cNvSpPr/>
                <p:nvPr/>
              </p:nvSpPr>
              <p:spPr>
                <a:xfrm>
                  <a:off x="9422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CCFF9D38-19FB-F948-1F11-9104634FA663}"/>
                    </a:ext>
                  </a:extLst>
                </p:cNvPr>
                <p:cNvCxnSpPr/>
                <p:nvPr/>
              </p:nvCxnSpPr>
              <p:spPr>
                <a:xfrm>
                  <a:off x="5630" y="3735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143AC016-8BA7-F52A-13D2-FE12846D455C}"/>
                    </a:ext>
                  </a:extLst>
                </p:cNvPr>
                <p:cNvCxnSpPr/>
                <p:nvPr/>
              </p:nvCxnSpPr>
              <p:spPr>
                <a:xfrm>
                  <a:off x="5630" y="5449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Rectangles 16">
                <a:extLst>
                  <a:ext uri="{FF2B5EF4-FFF2-40B4-BE49-F238E27FC236}">
                    <a16:creationId xmlns:a16="http://schemas.microsoft.com/office/drawing/2014/main" id="{7F61AFFB-2A9A-F2C3-2511-83D13E2FE479}"/>
                  </a:ext>
                </a:extLst>
              </p:cNvPr>
              <p:cNvSpPr/>
              <p:nvPr/>
            </p:nvSpPr>
            <p:spPr>
              <a:xfrm>
                <a:off x="7611" y="4738"/>
                <a:ext cx="797" cy="40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s 18">
                <a:extLst>
                  <a:ext uri="{FF2B5EF4-FFF2-40B4-BE49-F238E27FC236}">
                    <a16:creationId xmlns:a16="http://schemas.microsoft.com/office/drawing/2014/main" id="{924D9A8B-4FF6-5DDB-BD9F-9E266D33E575}"/>
                  </a:ext>
                </a:extLst>
              </p:cNvPr>
              <p:cNvSpPr/>
              <p:nvPr/>
            </p:nvSpPr>
            <p:spPr>
              <a:xfrm>
                <a:off x="9495" y="4283"/>
                <a:ext cx="797" cy="8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s 19">
                <a:extLst>
                  <a:ext uri="{FF2B5EF4-FFF2-40B4-BE49-F238E27FC236}">
                    <a16:creationId xmlns:a16="http://schemas.microsoft.com/office/drawing/2014/main" id="{425981E4-4E31-D668-ED55-AEBFEF66FCBF}"/>
                  </a:ext>
                </a:extLst>
              </p:cNvPr>
              <p:cNvSpPr/>
              <p:nvPr/>
            </p:nvSpPr>
            <p:spPr>
              <a:xfrm>
                <a:off x="6668" y="4160"/>
                <a:ext cx="797" cy="9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s 20">
                <a:extLst>
                  <a:ext uri="{FF2B5EF4-FFF2-40B4-BE49-F238E27FC236}">
                    <a16:creationId xmlns:a16="http://schemas.microsoft.com/office/drawing/2014/main" id="{D8C736EA-3CB2-F83A-5CB7-0907D6EBCC34}"/>
                  </a:ext>
                </a:extLst>
              </p:cNvPr>
              <p:cNvSpPr/>
              <p:nvPr/>
            </p:nvSpPr>
            <p:spPr>
              <a:xfrm>
                <a:off x="8553" y="4483"/>
                <a:ext cx="797" cy="6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s 21">
                <a:extLst>
                  <a:ext uri="{FF2B5EF4-FFF2-40B4-BE49-F238E27FC236}">
                    <a16:creationId xmlns:a16="http://schemas.microsoft.com/office/drawing/2014/main" id="{7EE2508A-0C66-8A43-4349-A8D808B60492}"/>
                  </a:ext>
                </a:extLst>
              </p:cNvPr>
              <p:cNvSpPr/>
              <p:nvPr/>
            </p:nvSpPr>
            <p:spPr>
              <a:xfrm>
                <a:off x="10823" y="4446"/>
                <a:ext cx="594" cy="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0C716777-94F6-35FF-DFBC-07BC7951EC9D}"/>
                  </a:ext>
                </a:extLst>
              </p:cNvPr>
              <p:cNvCxnSpPr/>
              <p:nvPr/>
            </p:nvCxnSpPr>
            <p:spPr>
              <a:xfrm flipV="1">
                <a:off x="5033" y="4655"/>
                <a:ext cx="1018" cy="6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451E161-BBBF-3642-BC9C-ED6A19798F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8" y="3957"/>
              <a:ext cx="337" cy="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DB8A0A80-C7E7-8894-552D-44FDC77E3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65B200A-A6D5-A8DD-A7D3-AC60FD81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5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86A96-2C15-A156-4638-A6DC55F2F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Work: SRPT-k Heavy Traffic Optimality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0735B1-BB8B-E76A-BFBD-8DE0C46752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M/G/k: Multiserver SRPT (SRPT-k) is heavy-traffic optimal: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 dirty="0"/>
                  <a:t> limit, fixed size distribution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fixed servers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 </a:t>
                </a:r>
                <a:r>
                  <a:rPr lang="en-US" sz="2000" dirty="0"/>
                  <a:t>[</a:t>
                </a:r>
                <a:r>
                  <a:rPr lang="en-US" sz="2000" b="1" dirty="0"/>
                  <a:t>G</a:t>
                </a:r>
                <a:r>
                  <a:rPr lang="en-US" sz="2000" dirty="0"/>
                  <a:t>SH ’18]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𝑆𝑅𝑃𝑇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-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𝑂𝑃𝑇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-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Lower bound: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𝑂𝑃𝑇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-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𝑆𝑅𝑃𝑇</m:t>
                        </m:r>
                        <m:r>
                          <m:rPr>
                            <m:nor/>
                          </m:rPr>
                          <a:rPr lang="en-US" dirty="0"/>
                          <m:t>-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(super-server)</a:t>
                </a:r>
              </a:p>
              <a:p>
                <a:pPr marL="0" indent="0">
                  <a:buNone/>
                </a:pPr>
                <a:r>
                  <a:rPr lang="en-US" dirty="0"/>
                  <a:t>Not unique: PSJF-k (smallest original service duration) also HT optimal, range of policies between SRPT-k and PSJF-k, such as RS-k.</a:t>
                </a:r>
              </a:p>
              <a:p>
                <a:pPr marL="0" indent="0">
                  <a:buNone/>
                </a:pPr>
                <a:r>
                  <a:rPr lang="en-US" dirty="0"/>
                  <a:t>Empirically: SRPT-k better than all others known. Global optimum?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0735B1-BB8B-E76A-BFBD-8DE0C46752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2C8BAC7-2318-31F9-AE08-5EDF54A4FDF3}"/>
              </a:ext>
            </a:extLst>
          </p:cNvPr>
          <p:cNvGrpSpPr/>
          <p:nvPr/>
        </p:nvGrpSpPr>
        <p:grpSpPr>
          <a:xfrm>
            <a:off x="9469238" y="1366527"/>
            <a:ext cx="2722762" cy="783259"/>
            <a:chOff x="1559" y="3008"/>
            <a:chExt cx="6235" cy="19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AD352CC-FE26-E61B-4F89-6117E8AD0721}"/>
                </a:ext>
              </a:extLst>
            </p:cNvPr>
            <p:cNvGrpSpPr/>
            <p:nvPr/>
          </p:nvGrpSpPr>
          <p:grpSpPr>
            <a:xfrm>
              <a:off x="1559" y="3008"/>
              <a:ext cx="6235" cy="1993"/>
              <a:chOff x="1559" y="3008"/>
              <a:chExt cx="6235" cy="1993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4EF3E87-7C9E-9072-FDFC-F6F8E764738F}"/>
                  </a:ext>
                </a:extLst>
              </p:cNvPr>
              <p:cNvSpPr/>
              <p:nvPr/>
            </p:nvSpPr>
            <p:spPr>
              <a:xfrm>
                <a:off x="6630" y="3008"/>
                <a:ext cx="827" cy="8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90F128B-01C4-5EC3-C02B-C0787097E6AF}"/>
                  </a:ext>
                </a:extLst>
              </p:cNvPr>
              <p:cNvGrpSpPr/>
              <p:nvPr/>
            </p:nvGrpSpPr>
            <p:grpSpPr>
              <a:xfrm>
                <a:off x="1559" y="3061"/>
                <a:ext cx="5782" cy="1729"/>
                <a:chOff x="5630" y="3735"/>
                <a:chExt cx="5782" cy="1729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EE83C92-2F65-845E-6B48-60DE54D277BF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21" name="Rectangles 8">
                    <a:extLst>
                      <a:ext uri="{FF2B5EF4-FFF2-40B4-BE49-F238E27FC236}">
                        <a16:creationId xmlns:a16="http://schemas.microsoft.com/office/drawing/2014/main" id="{938219FC-EC1D-8927-B001-BB73616070BC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Rectangles 9">
                    <a:extLst>
                      <a:ext uri="{FF2B5EF4-FFF2-40B4-BE49-F238E27FC236}">
                        <a16:creationId xmlns:a16="http://schemas.microsoft.com/office/drawing/2014/main" id="{4921F016-06FC-5480-46BD-5CEFCAC7A694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s 10">
                    <a:extLst>
                      <a:ext uri="{FF2B5EF4-FFF2-40B4-BE49-F238E27FC236}">
                        <a16:creationId xmlns:a16="http://schemas.microsoft.com/office/drawing/2014/main" id="{52133EF0-646E-B46D-9470-C704EFDA9A37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Rectangles 11">
                    <a:extLst>
                      <a:ext uri="{FF2B5EF4-FFF2-40B4-BE49-F238E27FC236}">
                        <a16:creationId xmlns:a16="http://schemas.microsoft.com/office/drawing/2014/main" id="{810B21EC-1636-5F82-2D3E-1998B9F0F7A0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15913907-EFA5-990C-7D26-307AB58E82FD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828C5BD4-8CE1-E50E-6BA8-FDFC8E5EBAC3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" name="Rectangles 16">
                  <a:extLst>
                    <a:ext uri="{FF2B5EF4-FFF2-40B4-BE49-F238E27FC236}">
                      <a16:creationId xmlns:a16="http://schemas.microsoft.com/office/drawing/2014/main" id="{05BCCC79-AF73-EDB2-2EC6-EE8D3CA6EB99}"/>
                    </a:ext>
                  </a:extLst>
                </p:cNvPr>
                <p:cNvSpPr/>
                <p:nvPr/>
              </p:nvSpPr>
              <p:spPr>
                <a:xfrm>
                  <a:off x="7611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Rectangles 18">
                  <a:extLst>
                    <a:ext uri="{FF2B5EF4-FFF2-40B4-BE49-F238E27FC236}">
                      <a16:creationId xmlns:a16="http://schemas.microsoft.com/office/drawing/2014/main" id="{7B52D0F0-7B26-FDF8-F7F6-F27452E91693}"/>
                    </a:ext>
                  </a:extLst>
                </p:cNvPr>
                <p:cNvSpPr/>
                <p:nvPr/>
              </p:nvSpPr>
              <p:spPr>
                <a:xfrm>
                  <a:off x="9495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s 19">
                  <a:extLst>
                    <a:ext uri="{FF2B5EF4-FFF2-40B4-BE49-F238E27FC236}">
                      <a16:creationId xmlns:a16="http://schemas.microsoft.com/office/drawing/2014/main" id="{5028BA83-8579-0410-0D93-15D7A84541F7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s 20">
                  <a:extLst>
                    <a:ext uri="{FF2B5EF4-FFF2-40B4-BE49-F238E27FC236}">
                      <a16:creationId xmlns:a16="http://schemas.microsoft.com/office/drawing/2014/main" id="{BA61F0C6-2A14-FCD2-8B46-3E7F6EA480DD}"/>
                    </a:ext>
                  </a:extLst>
                </p:cNvPr>
                <p:cNvSpPr/>
                <p:nvPr/>
              </p:nvSpPr>
              <p:spPr>
                <a:xfrm>
                  <a:off x="8553" y="4483"/>
                  <a:ext cx="797" cy="6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s 21">
                  <a:extLst>
                    <a:ext uri="{FF2B5EF4-FFF2-40B4-BE49-F238E27FC236}">
                      <a16:creationId xmlns:a16="http://schemas.microsoft.com/office/drawing/2014/main" id="{3B8D0C1E-1EA7-4AA0-1446-C63387DF4F7B}"/>
                    </a:ext>
                  </a:extLst>
                </p:cNvPr>
                <p:cNvSpPr/>
                <p:nvPr/>
              </p:nvSpPr>
              <p:spPr>
                <a:xfrm>
                  <a:off x="10818" y="3874"/>
                  <a:ext cx="594" cy="531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DA6D1B2D-A23C-D736-E813-33B4BFCEB1FE}"/>
                  </a:ext>
                </a:extLst>
              </p:cNvPr>
              <p:cNvCxnSpPr/>
              <p:nvPr/>
            </p:nvCxnSpPr>
            <p:spPr>
              <a:xfrm flipV="1">
                <a:off x="7457" y="3374"/>
                <a:ext cx="337" cy="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85CCA94-D569-C045-A147-A7FFC42833D4}"/>
                  </a:ext>
                </a:extLst>
              </p:cNvPr>
              <p:cNvSpPr/>
              <p:nvPr/>
            </p:nvSpPr>
            <p:spPr>
              <a:xfrm>
                <a:off x="6630" y="4120"/>
                <a:ext cx="827" cy="8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A9931FF-4B32-E69D-6490-F2EA23CE2BDC}"/>
                  </a:ext>
                </a:extLst>
              </p:cNvPr>
              <p:cNvCxnSpPr/>
              <p:nvPr/>
            </p:nvCxnSpPr>
            <p:spPr>
              <a:xfrm flipV="1">
                <a:off x="7457" y="4544"/>
                <a:ext cx="337" cy="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ectangles 25">
                <a:extLst>
                  <a:ext uri="{FF2B5EF4-FFF2-40B4-BE49-F238E27FC236}">
                    <a16:creationId xmlns:a16="http://schemas.microsoft.com/office/drawing/2014/main" id="{640EEF66-93D7-78DC-5A2F-0E8D492F1212}"/>
                  </a:ext>
                </a:extLst>
              </p:cNvPr>
              <p:cNvSpPr/>
              <p:nvPr/>
            </p:nvSpPr>
            <p:spPr>
              <a:xfrm>
                <a:off x="6747" y="4454"/>
                <a:ext cx="594" cy="3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717FA25-D995-F40D-F552-5F8AEC2163F0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6288" y="3449"/>
              <a:ext cx="342" cy="138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2A8CEBD-0BAE-6079-99B1-F21D99E8BBDA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6300" y="4365"/>
              <a:ext cx="330" cy="196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F6C02AD-F5D2-144F-8B7B-92C8A83EC2A5}"/>
              </a:ext>
            </a:extLst>
          </p:cNvPr>
          <p:cNvGrpSpPr/>
          <p:nvPr/>
        </p:nvGrpSpPr>
        <p:grpSpPr>
          <a:xfrm>
            <a:off x="9412019" y="3050544"/>
            <a:ext cx="2779981" cy="895826"/>
            <a:chOff x="1559" y="3061"/>
            <a:chExt cx="6586" cy="17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E6DE05A-4596-10C0-41FF-A41A5DC4267F}"/>
                </a:ext>
              </a:extLst>
            </p:cNvPr>
            <p:cNvSpPr/>
            <p:nvPr/>
          </p:nvSpPr>
          <p:spPr>
            <a:xfrm>
              <a:off x="6297" y="3220"/>
              <a:ext cx="1569" cy="152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D6C1DC3-4098-E55B-8898-0AB57128A0BC}"/>
                </a:ext>
              </a:extLst>
            </p:cNvPr>
            <p:cNvGrpSpPr/>
            <p:nvPr/>
          </p:nvGrpSpPr>
          <p:grpSpPr>
            <a:xfrm>
              <a:off x="1559" y="3061"/>
              <a:ext cx="5787" cy="1729"/>
              <a:chOff x="5630" y="3735"/>
              <a:chExt cx="5787" cy="1729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AFF5AA26-277E-B648-E585-9475F1F63300}"/>
                  </a:ext>
                </a:extLst>
              </p:cNvPr>
              <p:cNvGrpSpPr/>
              <p:nvPr/>
            </p:nvGrpSpPr>
            <p:grpSpPr>
              <a:xfrm>
                <a:off x="5630" y="3735"/>
                <a:ext cx="4734" cy="1729"/>
                <a:chOff x="5630" y="3735"/>
                <a:chExt cx="4734" cy="1729"/>
              </a:xfrm>
            </p:grpSpPr>
            <p:sp>
              <p:nvSpPr>
                <p:cNvPr id="38" name="Rectangles 8">
                  <a:extLst>
                    <a:ext uri="{FF2B5EF4-FFF2-40B4-BE49-F238E27FC236}">
                      <a16:creationId xmlns:a16="http://schemas.microsoft.com/office/drawing/2014/main" id="{C19293B1-9DF0-340F-B999-1EE5E4F72BB3}"/>
                    </a:ext>
                  </a:extLst>
                </p:cNvPr>
                <p:cNvSpPr/>
                <p:nvPr/>
              </p:nvSpPr>
              <p:spPr>
                <a:xfrm>
                  <a:off x="6596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s 9">
                  <a:extLst>
                    <a:ext uri="{FF2B5EF4-FFF2-40B4-BE49-F238E27FC236}">
                      <a16:creationId xmlns:a16="http://schemas.microsoft.com/office/drawing/2014/main" id="{509B94C4-03CD-B8C6-17C6-A58DB94B4EE8}"/>
                    </a:ext>
                  </a:extLst>
                </p:cNvPr>
                <p:cNvSpPr/>
                <p:nvPr/>
              </p:nvSpPr>
              <p:spPr>
                <a:xfrm>
                  <a:off x="7538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s 10">
                  <a:extLst>
                    <a:ext uri="{FF2B5EF4-FFF2-40B4-BE49-F238E27FC236}">
                      <a16:creationId xmlns:a16="http://schemas.microsoft.com/office/drawing/2014/main" id="{D34EFCED-32C7-BD26-F6E8-ECFCB854E69A}"/>
                    </a:ext>
                  </a:extLst>
                </p:cNvPr>
                <p:cNvSpPr/>
                <p:nvPr/>
              </p:nvSpPr>
              <p:spPr>
                <a:xfrm>
                  <a:off x="8480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s 11">
                  <a:extLst>
                    <a:ext uri="{FF2B5EF4-FFF2-40B4-BE49-F238E27FC236}">
                      <a16:creationId xmlns:a16="http://schemas.microsoft.com/office/drawing/2014/main" id="{94D22F7B-F066-1329-471B-02D87015E21E}"/>
                    </a:ext>
                  </a:extLst>
                </p:cNvPr>
                <p:cNvSpPr/>
                <p:nvPr/>
              </p:nvSpPr>
              <p:spPr>
                <a:xfrm>
                  <a:off x="9422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08DC0779-CEF7-9FBF-3473-84E99274524E}"/>
                    </a:ext>
                  </a:extLst>
                </p:cNvPr>
                <p:cNvCxnSpPr/>
                <p:nvPr/>
              </p:nvCxnSpPr>
              <p:spPr>
                <a:xfrm>
                  <a:off x="5630" y="3735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1F32063C-E606-6490-D24D-D155398D236A}"/>
                    </a:ext>
                  </a:extLst>
                </p:cNvPr>
                <p:cNvCxnSpPr/>
                <p:nvPr/>
              </p:nvCxnSpPr>
              <p:spPr>
                <a:xfrm>
                  <a:off x="5630" y="5449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Rectangles 16">
                <a:extLst>
                  <a:ext uri="{FF2B5EF4-FFF2-40B4-BE49-F238E27FC236}">
                    <a16:creationId xmlns:a16="http://schemas.microsoft.com/office/drawing/2014/main" id="{89BCBBBA-9388-2AB7-A56B-A6B14DD9CD2B}"/>
                  </a:ext>
                </a:extLst>
              </p:cNvPr>
              <p:cNvSpPr/>
              <p:nvPr/>
            </p:nvSpPr>
            <p:spPr>
              <a:xfrm>
                <a:off x="7611" y="4738"/>
                <a:ext cx="797" cy="40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angles 18">
                <a:extLst>
                  <a:ext uri="{FF2B5EF4-FFF2-40B4-BE49-F238E27FC236}">
                    <a16:creationId xmlns:a16="http://schemas.microsoft.com/office/drawing/2014/main" id="{C71DC8BC-24A1-CA96-350F-1D485751D7D6}"/>
                  </a:ext>
                </a:extLst>
              </p:cNvPr>
              <p:cNvSpPr/>
              <p:nvPr/>
            </p:nvSpPr>
            <p:spPr>
              <a:xfrm>
                <a:off x="9495" y="4283"/>
                <a:ext cx="797" cy="8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s 19">
                <a:extLst>
                  <a:ext uri="{FF2B5EF4-FFF2-40B4-BE49-F238E27FC236}">
                    <a16:creationId xmlns:a16="http://schemas.microsoft.com/office/drawing/2014/main" id="{7C8C0CA2-0BFC-16AD-DFFA-B892FF4D5EFA}"/>
                  </a:ext>
                </a:extLst>
              </p:cNvPr>
              <p:cNvSpPr/>
              <p:nvPr/>
            </p:nvSpPr>
            <p:spPr>
              <a:xfrm>
                <a:off x="6668" y="4160"/>
                <a:ext cx="797" cy="9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s 20">
                <a:extLst>
                  <a:ext uri="{FF2B5EF4-FFF2-40B4-BE49-F238E27FC236}">
                    <a16:creationId xmlns:a16="http://schemas.microsoft.com/office/drawing/2014/main" id="{FB3FA97C-D00C-2E0D-250C-A69669069C95}"/>
                  </a:ext>
                </a:extLst>
              </p:cNvPr>
              <p:cNvSpPr/>
              <p:nvPr/>
            </p:nvSpPr>
            <p:spPr>
              <a:xfrm>
                <a:off x="8553" y="4483"/>
                <a:ext cx="797" cy="6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s 21">
                <a:extLst>
                  <a:ext uri="{FF2B5EF4-FFF2-40B4-BE49-F238E27FC236}">
                    <a16:creationId xmlns:a16="http://schemas.microsoft.com/office/drawing/2014/main" id="{DEE1AA0C-F57D-ACAF-3477-AE777AA55C33}"/>
                  </a:ext>
                </a:extLst>
              </p:cNvPr>
              <p:cNvSpPr/>
              <p:nvPr/>
            </p:nvSpPr>
            <p:spPr>
              <a:xfrm>
                <a:off x="10823" y="4446"/>
                <a:ext cx="594" cy="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DD3C526-8825-5609-B87A-39D0AFC2C8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8" y="3957"/>
              <a:ext cx="337" cy="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9D1B432-6299-F48E-2B0B-614C8730E764}"/>
              </a:ext>
            </a:extLst>
          </p:cNvPr>
          <p:cNvSpPr/>
          <p:nvPr/>
        </p:nvSpPr>
        <p:spPr>
          <a:xfrm>
            <a:off x="2917196" y="5512241"/>
            <a:ext cx="6357608" cy="98063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Can we stochastically outperform SRPT-k?</a:t>
            </a:r>
          </a:p>
        </p:txBody>
      </p:sp>
      <p:sp>
        <p:nvSpPr>
          <p:cNvPr id="45" name="Footer Placeholder 44">
            <a:extLst>
              <a:ext uri="{FF2B5EF4-FFF2-40B4-BE49-F238E27FC236}">
                <a16:creationId xmlns:a16="http://schemas.microsoft.com/office/drawing/2014/main" id="{9873A11F-627C-AF66-A155-11BF9575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DD1DF5FE-3E10-C89F-26E7-B9141409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0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D5CB-65E6-6AC4-A655-6E5DD929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SRPT-k’s weak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BB23E-2D9E-F5CC-392E-293A07121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SRPT-k’s problem: last job is inefficient – server(s) idle.</a:t>
            </a:r>
          </a:p>
          <a:p>
            <a:pPr marL="0" indent="0">
              <a:buNone/>
            </a:pPr>
            <a:r>
              <a:rPr lang="en-US" dirty="0"/>
              <a:t>New policy: SRPT-Except-k+1 (SEK). If we see this coming, diverge.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A3D5DB-9E66-54FA-E373-8840D54961F3}"/>
              </a:ext>
            </a:extLst>
          </p:cNvPr>
          <p:cNvGrpSpPr/>
          <p:nvPr/>
        </p:nvGrpSpPr>
        <p:grpSpPr>
          <a:xfrm>
            <a:off x="838200" y="2855091"/>
            <a:ext cx="4594860" cy="1723902"/>
            <a:chOff x="3630866" y="1755263"/>
            <a:chExt cx="4594860" cy="17239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F41CFB2-52F6-73F7-46A3-9A8414450CBC}"/>
                </a:ext>
              </a:extLst>
            </p:cNvPr>
            <p:cNvGrpSpPr/>
            <p:nvPr/>
          </p:nvGrpSpPr>
          <p:grpSpPr>
            <a:xfrm>
              <a:off x="3630866" y="2154555"/>
              <a:ext cx="4594860" cy="1324610"/>
              <a:chOff x="3630866" y="2154555"/>
              <a:chExt cx="4594860" cy="132461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16359CE-448A-2743-F114-622E1C49955D}"/>
                  </a:ext>
                </a:extLst>
              </p:cNvPr>
              <p:cNvGrpSpPr/>
              <p:nvPr/>
            </p:nvGrpSpPr>
            <p:grpSpPr>
              <a:xfrm>
                <a:off x="3630866" y="2154555"/>
                <a:ext cx="4594860" cy="1324610"/>
                <a:chOff x="541" y="3013"/>
                <a:chExt cx="7236" cy="2086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F517C8B8-C192-5A1C-4641-8BCB50E9F0BB}"/>
                    </a:ext>
                  </a:extLst>
                </p:cNvPr>
                <p:cNvGrpSpPr/>
                <p:nvPr/>
              </p:nvGrpSpPr>
              <p:grpSpPr>
                <a:xfrm>
                  <a:off x="541" y="3013"/>
                  <a:ext cx="7236" cy="2086"/>
                  <a:chOff x="541" y="3013"/>
                  <a:chExt cx="7236" cy="2086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37E973CF-DBDB-61CC-6193-57E3BFE92014}"/>
                      </a:ext>
                    </a:extLst>
                  </p:cNvPr>
                  <p:cNvGrpSpPr/>
                  <p:nvPr/>
                </p:nvGrpSpPr>
                <p:grpSpPr>
                  <a:xfrm>
                    <a:off x="541" y="3013"/>
                    <a:ext cx="7236" cy="1763"/>
                    <a:chOff x="4612" y="3687"/>
                    <a:chExt cx="7236" cy="1763"/>
                  </a:xfrm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22ABAC7D-EC47-D066-712D-2F6FE67644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30" y="3687"/>
                      <a:ext cx="5881" cy="1763"/>
                      <a:chOff x="5630" y="3687"/>
                      <a:chExt cx="5881" cy="1763"/>
                    </a:xfrm>
                  </p:grpSpPr>
                  <p:sp>
                    <p:nvSpPr>
                      <p:cNvPr id="20" name="Rectangles 8">
                        <a:extLst>
                          <a:ext uri="{FF2B5EF4-FFF2-40B4-BE49-F238E27FC236}">
                            <a16:creationId xmlns:a16="http://schemas.microsoft.com/office/drawing/2014/main" id="{C1D9F9DF-2B06-7D1D-5136-2C8411246A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96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" name="Rectangles 9">
                        <a:extLst>
                          <a:ext uri="{FF2B5EF4-FFF2-40B4-BE49-F238E27FC236}">
                            <a16:creationId xmlns:a16="http://schemas.microsoft.com/office/drawing/2014/main" id="{2DF38E5A-67C2-818B-0173-E0173C623A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38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2" name="Rectangles 10">
                        <a:extLst>
                          <a:ext uri="{FF2B5EF4-FFF2-40B4-BE49-F238E27FC236}">
                            <a16:creationId xmlns:a16="http://schemas.microsoft.com/office/drawing/2014/main" id="{CBE8144C-A789-BEE3-7E58-9E18351068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80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3" name="Rectangles 11">
                        <a:extLst>
                          <a:ext uri="{FF2B5EF4-FFF2-40B4-BE49-F238E27FC236}">
                            <a16:creationId xmlns:a16="http://schemas.microsoft.com/office/drawing/2014/main" id="{019A38E1-0D5D-FA0E-56BD-F459E1EDFC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22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4" name="Oval 23">
                        <a:extLst>
                          <a:ext uri="{FF2B5EF4-FFF2-40B4-BE49-F238E27FC236}">
                            <a16:creationId xmlns:a16="http://schemas.microsoft.com/office/drawing/2014/main" id="{FAEC38F9-3D9B-C5A5-4585-8F13FADA9F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4" y="3687"/>
                        <a:ext cx="827" cy="88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25" name="Straight Connector 24">
                        <a:extLst>
                          <a:ext uri="{FF2B5EF4-FFF2-40B4-BE49-F238E27FC236}">
                            <a16:creationId xmlns:a16="http://schemas.microsoft.com/office/drawing/2014/main" id="{2607A20A-4BE2-1374-0561-FA7DB5B81E15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5630" y="3721"/>
                        <a:ext cx="966" cy="15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6" name="Straight Connector 25">
                        <a:extLst>
                          <a:ext uri="{FF2B5EF4-FFF2-40B4-BE49-F238E27FC236}">
                            <a16:creationId xmlns:a16="http://schemas.microsoft.com/office/drawing/2014/main" id="{8D876FB5-1B33-5547-637E-8C27C2B1C1C6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5630" y="5435"/>
                        <a:ext cx="966" cy="15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7" name="Rectangles 21">
                      <a:extLst>
                        <a:ext uri="{FF2B5EF4-FFF2-40B4-BE49-F238E27FC236}">
                          <a16:creationId xmlns:a16="http://schemas.microsoft.com/office/drawing/2014/main" id="{3689CA89-DC3A-57E5-E21E-330899A89C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94" y="4160"/>
                      <a:ext cx="793" cy="976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p:txBody>
                </p:sp>
                <p:cxnSp>
                  <p:nvCxnSpPr>
                    <p:cNvPr id="18" name="Straight Arrow Connector 17">
                      <a:extLst>
                        <a:ext uri="{FF2B5EF4-FFF2-40B4-BE49-F238E27FC236}">
                          <a16:creationId xmlns:a16="http://schemas.microsoft.com/office/drawing/2014/main" id="{DA655353-3E89-A2C4-F283-BCA5BE8CFA0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1511" y="4124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Straight Arrow Connector 18">
                      <a:extLst>
                        <a:ext uri="{FF2B5EF4-FFF2-40B4-BE49-F238E27FC236}">
                          <a16:creationId xmlns:a16="http://schemas.microsoft.com/office/drawing/2014/main" id="{997609E5-AF8E-F740-1DCC-1E2E2CC1EA4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612" y="4647"/>
                      <a:ext cx="1018" cy="6"/>
                    </a:xfrm>
                    <a:prstGeom prst="straightConnector1">
                      <a:avLst/>
                    </a:prstGeom>
                    <a:ln w="63500">
                      <a:solidFill>
                        <a:schemeClr val="tx1"/>
                      </a:solidFill>
                      <a:tailEnd type="arrow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A5EB37BD-6CEE-8B70-6BF0-6F4383996425}"/>
                      </a:ext>
                    </a:extLst>
                  </p:cNvPr>
                  <p:cNvSpPr/>
                  <p:nvPr/>
                </p:nvSpPr>
                <p:spPr>
                  <a:xfrm>
                    <a:off x="6613" y="4218"/>
                    <a:ext cx="827" cy="881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FE392270-866F-5316-4442-033AE79CE95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440" y="4655"/>
                    <a:ext cx="337" cy="7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" name="Rectangles 17">
                    <a:extLst>
                      <a:ext uri="{FF2B5EF4-FFF2-40B4-BE49-F238E27FC236}">
                        <a16:creationId xmlns:a16="http://schemas.microsoft.com/office/drawing/2014/main" id="{B40394D0-D557-8D6D-AD3A-7CB13CB9E2B3}"/>
                      </a:ext>
                    </a:extLst>
                  </p:cNvPr>
                  <p:cNvSpPr/>
                  <p:nvPr/>
                </p:nvSpPr>
                <p:spPr>
                  <a:xfrm>
                    <a:off x="6716" y="3312"/>
                    <a:ext cx="665" cy="31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3</a:t>
                    </a:r>
                  </a:p>
                </p:txBody>
              </p:sp>
            </p:grp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89784433-8A2B-C761-B906-C57EB3A556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08" y="3443"/>
                  <a:ext cx="259" cy="151"/>
                </a:xfrm>
                <a:prstGeom prst="line">
                  <a:avLst/>
                </a:prstGeom>
                <a:ln w="38100">
                  <a:solidFill>
                    <a:srgbClr val="20202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9E2CC275-AF01-4E49-C8FF-DB308777FA59}"/>
                    </a:ext>
                  </a:extLst>
                </p:cNvPr>
                <p:cNvCxnSpPr>
                  <a:cxnSpLocks/>
                  <a:endCxn id="13" idx="2"/>
                </p:cNvCxnSpPr>
                <p:nvPr/>
              </p:nvCxnSpPr>
              <p:spPr>
                <a:xfrm>
                  <a:off x="6308" y="4452"/>
                  <a:ext cx="305" cy="207"/>
                </a:xfrm>
                <a:prstGeom prst="line">
                  <a:avLst/>
                </a:prstGeom>
                <a:ln w="38100">
                  <a:solidFill>
                    <a:srgbClr val="20202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Rectangles 16">
                <a:extLst>
                  <a:ext uri="{FF2B5EF4-FFF2-40B4-BE49-F238E27FC236}">
                    <a16:creationId xmlns:a16="http://schemas.microsoft.com/office/drawing/2014/main" id="{F67E0E85-8C52-B80A-712E-483C2D170476}"/>
                  </a:ext>
                </a:extLst>
              </p:cNvPr>
              <p:cNvSpPr/>
              <p:nvPr/>
            </p:nvSpPr>
            <p:spPr>
              <a:xfrm>
                <a:off x="7543418" y="3074670"/>
                <a:ext cx="411480" cy="25364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D8F10E-986C-B008-3959-62B742925AEA}"/>
                </a:ext>
              </a:extLst>
            </p:cNvPr>
            <p:cNvSpPr txBox="1"/>
            <p:nvPr/>
          </p:nvSpPr>
          <p:spPr>
            <a:xfrm>
              <a:off x="6165469" y="1755263"/>
              <a:ext cx="980122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SRPT-k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3ED5EB-DA5B-154B-7E21-96433DA3CCF7}"/>
              </a:ext>
            </a:extLst>
          </p:cNvPr>
          <p:cNvGrpSpPr/>
          <p:nvPr/>
        </p:nvGrpSpPr>
        <p:grpSpPr>
          <a:xfrm>
            <a:off x="6340140" y="3022322"/>
            <a:ext cx="3892584" cy="1688450"/>
            <a:chOff x="3708367" y="4632821"/>
            <a:chExt cx="3892584" cy="168845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4B0B3F5-0669-F2AB-3F71-04D43001D6B3}"/>
                </a:ext>
              </a:extLst>
            </p:cNvPr>
            <p:cNvGrpSpPr/>
            <p:nvPr/>
          </p:nvGrpSpPr>
          <p:grpSpPr>
            <a:xfrm>
              <a:off x="3708367" y="4632821"/>
              <a:ext cx="3892584" cy="1688450"/>
              <a:chOff x="1668859" y="3965823"/>
              <a:chExt cx="1996153" cy="1688450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6DCCB7F5-9994-BB1D-FDD5-37D28C6C46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4952" y="3965823"/>
                <a:ext cx="10129" cy="11709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s 17">
                <a:extLst>
                  <a:ext uri="{FF2B5EF4-FFF2-40B4-BE49-F238E27FC236}">
                    <a16:creationId xmlns:a16="http://schemas.microsoft.com/office/drawing/2014/main" id="{EEFBFC80-CAED-E4FB-5BA3-1A236B8201E7}"/>
                  </a:ext>
                </a:extLst>
              </p:cNvPr>
              <p:cNvSpPr/>
              <p:nvPr/>
            </p:nvSpPr>
            <p:spPr>
              <a:xfrm>
                <a:off x="1763310" y="4272500"/>
                <a:ext cx="271531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31" name="Rectangles 16">
                <a:extLst>
                  <a:ext uri="{FF2B5EF4-FFF2-40B4-BE49-F238E27FC236}">
                    <a16:creationId xmlns:a16="http://schemas.microsoft.com/office/drawing/2014/main" id="{B7A83F5E-0D03-4A57-72DD-FAC28A7B7A0A}"/>
                  </a:ext>
                </a:extLst>
              </p:cNvPr>
              <p:cNvSpPr/>
              <p:nvPr/>
            </p:nvSpPr>
            <p:spPr>
              <a:xfrm>
                <a:off x="1754914" y="4733970"/>
                <a:ext cx="448490" cy="33378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32" name="Rectangles 21">
                <a:extLst>
                  <a:ext uri="{FF2B5EF4-FFF2-40B4-BE49-F238E27FC236}">
                    <a16:creationId xmlns:a16="http://schemas.microsoft.com/office/drawing/2014/main" id="{4BAE9967-A53E-FC9D-E96D-1C604D67F8BD}"/>
                  </a:ext>
                </a:extLst>
              </p:cNvPr>
              <p:cNvSpPr/>
              <p:nvPr/>
            </p:nvSpPr>
            <p:spPr>
              <a:xfrm>
                <a:off x="2067126" y="4264978"/>
                <a:ext cx="1014730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F1F93BA-921B-439C-409D-C8E3EBD1DF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4951" y="5136776"/>
                <a:ext cx="19300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20CE70D-D798-3583-6205-316607C3D9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4583" y="5067756"/>
                <a:ext cx="0" cy="19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8A77A2E-5784-54EA-358D-619BAC4E4EBF}"/>
                  </a:ext>
                </a:extLst>
              </p:cNvPr>
              <p:cNvSpPr txBox="1"/>
              <p:nvPr/>
            </p:nvSpPr>
            <p:spPr>
              <a:xfrm>
                <a:off x="1668859" y="5284941"/>
                <a:ext cx="18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0        3     4                             13</a:t>
                </a:r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6369783-869A-A274-51D2-4F8E3869DD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0752" y="5728278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9C249D2-FBEF-DC71-DC66-18765226E0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548" y="5707927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6EE105-886B-07DF-25D0-D50D383D4585}"/>
                  </a:ext>
                </a:extLst>
              </p:cNvPr>
              <p:cNvSpPr txBox="1"/>
              <p:nvPr/>
            </p:nvSpPr>
            <p:spPr>
              <a:xfrm>
                <a:off x="10113714" y="3404882"/>
                <a:ext cx="20414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Total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: 20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6EE105-886B-07DF-25D0-D50D383D4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714" y="3404882"/>
                <a:ext cx="2041456" cy="461665"/>
              </a:xfrm>
              <a:prstGeom prst="rect">
                <a:avLst/>
              </a:prstGeom>
              <a:blipFill>
                <a:blip r:embed="rId2"/>
                <a:stretch>
                  <a:fillRect l="-447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EE4EE0B0-813E-2BEE-5E5D-47D815B21752}"/>
              </a:ext>
            </a:extLst>
          </p:cNvPr>
          <p:cNvGrpSpPr/>
          <p:nvPr/>
        </p:nvGrpSpPr>
        <p:grpSpPr>
          <a:xfrm>
            <a:off x="838200" y="4587349"/>
            <a:ext cx="4594860" cy="1723902"/>
            <a:chOff x="6156865" y="3167097"/>
            <a:chExt cx="4594860" cy="1723902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3F938E0-4EAB-3160-795D-9CC61B1CC510}"/>
                </a:ext>
              </a:extLst>
            </p:cNvPr>
            <p:cNvGrpSpPr/>
            <p:nvPr/>
          </p:nvGrpSpPr>
          <p:grpSpPr>
            <a:xfrm>
              <a:off x="6156865" y="3167097"/>
              <a:ext cx="4594860" cy="1723902"/>
              <a:chOff x="3630866" y="1755263"/>
              <a:chExt cx="4594860" cy="1723902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7F5FBD55-2509-FABF-5122-387B1F209A4A}"/>
                  </a:ext>
                </a:extLst>
              </p:cNvPr>
              <p:cNvGrpSpPr/>
              <p:nvPr/>
            </p:nvGrpSpPr>
            <p:grpSpPr>
              <a:xfrm>
                <a:off x="3630866" y="2154555"/>
                <a:ext cx="4594860" cy="1324610"/>
                <a:chOff x="3630866" y="2154555"/>
                <a:chExt cx="4594860" cy="1324610"/>
              </a:xfrm>
            </p:grpSpPr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35F1F739-D5A8-30F7-5CD6-82A2975B021F}"/>
                    </a:ext>
                  </a:extLst>
                </p:cNvPr>
                <p:cNvGrpSpPr/>
                <p:nvPr/>
              </p:nvGrpSpPr>
              <p:grpSpPr>
                <a:xfrm>
                  <a:off x="3630866" y="2154555"/>
                  <a:ext cx="4594860" cy="1324610"/>
                  <a:chOff x="541" y="3013"/>
                  <a:chExt cx="7236" cy="2086"/>
                </a:xfrm>
              </p:grpSpPr>
              <p:grpSp>
                <p:nvGrpSpPr>
                  <p:cNvPr id="62" name="Group 61">
                    <a:extLst>
                      <a:ext uri="{FF2B5EF4-FFF2-40B4-BE49-F238E27FC236}">
                        <a16:creationId xmlns:a16="http://schemas.microsoft.com/office/drawing/2014/main" id="{E032270A-CE2A-3796-A26B-7313A68D36AD}"/>
                      </a:ext>
                    </a:extLst>
                  </p:cNvPr>
                  <p:cNvGrpSpPr/>
                  <p:nvPr/>
                </p:nvGrpSpPr>
                <p:grpSpPr>
                  <a:xfrm>
                    <a:off x="541" y="3013"/>
                    <a:ext cx="7236" cy="2086"/>
                    <a:chOff x="541" y="3013"/>
                    <a:chExt cx="7236" cy="2086"/>
                  </a:xfrm>
                </p:grpSpPr>
                <p:grpSp>
                  <p:nvGrpSpPr>
                    <p:cNvPr id="65" name="Group 64">
                      <a:extLst>
                        <a:ext uri="{FF2B5EF4-FFF2-40B4-BE49-F238E27FC236}">
                          <a16:creationId xmlns:a16="http://schemas.microsoft.com/office/drawing/2014/main" id="{9DFABD01-048E-F18B-5C32-6235BCCE70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1" y="3013"/>
                      <a:ext cx="7236" cy="1763"/>
                      <a:chOff x="4612" y="3687"/>
                      <a:chExt cx="7236" cy="1763"/>
                    </a:xfrm>
                  </p:grpSpPr>
                  <p:grpSp>
                    <p:nvGrpSpPr>
                      <p:cNvPr id="69" name="Group 68">
                        <a:extLst>
                          <a:ext uri="{FF2B5EF4-FFF2-40B4-BE49-F238E27FC236}">
                            <a16:creationId xmlns:a16="http://schemas.microsoft.com/office/drawing/2014/main" id="{1DE47B32-A049-16C2-6336-FF28DB0198C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687"/>
                        <a:ext cx="5881" cy="1763"/>
                        <a:chOff x="5630" y="3687"/>
                        <a:chExt cx="5881" cy="1763"/>
                      </a:xfrm>
                    </p:grpSpPr>
                    <p:sp>
                      <p:nvSpPr>
                        <p:cNvPr id="72" name="Rectangles 8">
                          <a:extLst>
                            <a:ext uri="{FF2B5EF4-FFF2-40B4-BE49-F238E27FC236}">
                              <a16:creationId xmlns:a16="http://schemas.microsoft.com/office/drawing/2014/main" id="{2F6C7115-45F0-D86F-6134-207C1EE404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3" name="Rectangles 9">
                          <a:extLst>
                            <a:ext uri="{FF2B5EF4-FFF2-40B4-BE49-F238E27FC236}">
                              <a16:creationId xmlns:a16="http://schemas.microsoft.com/office/drawing/2014/main" id="{51D44BDD-8627-4110-540D-57E82414AB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4" name="Rectangles 10">
                          <a:extLst>
                            <a:ext uri="{FF2B5EF4-FFF2-40B4-BE49-F238E27FC236}">
                              <a16:creationId xmlns:a16="http://schemas.microsoft.com/office/drawing/2014/main" id="{3898C4AE-C30D-A5C0-81E0-8A9B35D1E0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5" name="Rectangles 11">
                          <a:extLst>
                            <a:ext uri="{FF2B5EF4-FFF2-40B4-BE49-F238E27FC236}">
                              <a16:creationId xmlns:a16="http://schemas.microsoft.com/office/drawing/2014/main" id="{1C16E14C-D060-F00A-E47F-86DA218670D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>
                          <a:extLst>
                            <a:ext uri="{FF2B5EF4-FFF2-40B4-BE49-F238E27FC236}">
                              <a16:creationId xmlns:a16="http://schemas.microsoft.com/office/drawing/2014/main" id="{9FDC1122-BA28-5A04-9C5A-922354905B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4" y="3687"/>
                          <a:ext cx="827" cy="881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77" name="Straight Connector 76">
                          <a:extLst>
                            <a:ext uri="{FF2B5EF4-FFF2-40B4-BE49-F238E27FC236}">
                              <a16:creationId xmlns:a16="http://schemas.microsoft.com/office/drawing/2014/main" id="{699ED120-9EBB-309D-58AC-5874982353AF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8" name="Straight Connector 77">
                          <a:extLst>
                            <a:ext uri="{FF2B5EF4-FFF2-40B4-BE49-F238E27FC236}">
                              <a16:creationId xmlns:a16="http://schemas.microsoft.com/office/drawing/2014/main" id="{46BBC26C-786A-3DAF-828F-1F73A1DA55A3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70" name="Straight Arrow Connector 69">
                        <a:extLst>
                          <a:ext uri="{FF2B5EF4-FFF2-40B4-BE49-F238E27FC236}">
                            <a16:creationId xmlns:a16="http://schemas.microsoft.com/office/drawing/2014/main" id="{85F3C148-0F41-B507-9403-9AC20F2BDA80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1511" y="4124"/>
                        <a:ext cx="337" cy="7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Straight Arrow Connector 70">
                        <a:extLst>
                          <a:ext uri="{FF2B5EF4-FFF2-40B4-BE49-F238E27FC236}">
                            <a16:creationId xmlns:a16="http://schemas.microsoft.com/office/drawing/2014/main" id="{579AEEC2-45D3-7B8A-7A01-8EEA31A15A9B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4612" y="4647"/>
                        <a:ext cx="1018" cy="6"/>
                      </a:xfrm>
                      <a:prstGeom prst="straightConnector1">
                        <a:avLst/>
                      </a:prstGeom>
                      <a:ln w="63500">
                        <a:solidFill>
                          <a:schemeClr val="tx1"/>
                        </a:solidFill>
                        <a:tailEnd type="arrow" w="lg" len="lg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66" name="Oval 65">
                      <a:extLst>
                        <a:ext uri="{FF2B5EF4-FFF2-40B4-BE49-F238E27FC236}">
                          <a16:creationId xmlns:a16="http://schemas.microsoft.com/office/drawing/2014/main" id="{85C8BD7D-C3DF-DB70-D4AA-68131F5D4F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3" y="4218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67" name="Straight Arrow Connector 66">
                      <a:extLst>
                        <a:ext uri="{FF2B5EF4-FFF2-40B4-BE49-F238E27FC236}">
                          <a16:creationId xmlns:a16="http://schemas.microsoft.com/office/drawing/2014/main" id="{B8494743-24F2-FBDD-5519-47EF9227D8D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40" y="4655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8" name="Rectangles 17">
                      <a:extLst>
                        <a:ext uri="{FF2B5EF4-FFF2-40B4-BE49-F238E27FC236}">
                          <a16:creationId xmlns:a16="http://schemas.microsoft.com/office/drawing/2014/main" id="{BDF9B306-ADB1-DDBF-67FA-2CC6E9BD4D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16" y="3312"/>
                      <a:ext cx="665" cy="314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p:txBody>
                </p:sp>
              </p:grp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94F03D47-0BC1-C1D5-7DEE-DDA206DC85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08" y="3443"/>
                    <a:ext cx="259" cy="151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D1113D2F-4A07-BC68-F937-802836EA25BF}"/>
                      </a:ext>
                    </a:extLst>
                  </p:cNvPr>
                  <p:cNvCxnSpPr>
                    <a:cxnSpLocks/>
                    <a:endCxn id="66" idx="2"/>
                  </p:cNvCxnSpPr>
                  <p:nvPr/>
                </p:nvCxnSpPr>
                <p:spPr>
                  <a:xfrm>
                    <a:off x="6308" y="4452"/>
                    <a:ext cx="305" cy="207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1" name="Rectangles 16">
                  <a:extLst>
                    <a:ext uri="{FF2B5EF4-FFF2-40B4-BE49-F238E27FC236}">
                      <a16:creationId xmlns:a16="http://schemas.microsoft.com/office/drawing/2014/main" id="{221E100F-0A78-E01E-A63D-768613A8587A}"/>
                    </a:ext>
                  </a:extLst>
                </p:cNvPr>
                <p:cNvSpPr/>
                <p:nvPr/>
              </p:nvSpPr>
              <p:spPr>
                <a:xfrm>
                  <a:off x="6778561" y="2783649"/>
                  <a:ext cx="411480" cy="24911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244EA6C-2A26-53A0-4E45-D109A22496E2}"/>
                  </a:ext>
                </a:extLst>
              </p:cNvPr>
              <p:cNvSpPr txBox="1"/>
              <p:nvPr/>
            </p:nvSpPr>
            <p:spPr>
              <a:xfrm>
                <a:off x="6165468" y="1755263"/>
                <a:ext cx="913447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sp>
          <p:nvSpPr>
            <p:cNvPr id="57" name="Rectangles 21">
              <a:extLst>
                <a:ext uri="{FF2B5EF4-FFF2-40B4-BE49-F238E27FC236}">
                  <a16:creationId xmlns:a16="http://schemas.microsoft.com/office/drawing/2014/main" id="{C7674AE9-C50F-6997-DDA3-AD0F6FA99135}"/>
                </a:ext>
              </a:extLst>
            </p:cNvPr>
            <p:cNvSpPr/>
            <p:nvPr/>
          </p:nvSpPr>
          <p:spPr>
            <a:xfrm>
              <a:off x="10019570" y="4134714"/>
              <a:ext cx="503555" cy="61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92567C4-3778-F659-9F91-805375B15535}"/>
              </a:ext>
            </a:extLst>
          </p:cNvPr>
          <p:cNvGrpSpPr/>
          <p:nvPr/>
        </p:nvGrpSpPr>
        <p:grpSpPr>
          <a:xfrm>
            <a:off x="6332838" y="4896066"/>
            <a:ext cx="3892584" cy="1688450"/>
            <a:chOff x="3708367" y="4632821"/>
            <a:chExt cx="3892584" cy="1688450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BB6A98B-D905-11B4-753A-865E0746E22F}"/>
                </a:ext>
              </a:extLst>
            </p:cNvPr>
            <p:cNvGrpSpPr/>
            <p:nvPr/>
          </p:nvGrpSpPr>
          <p:grpSpPr>
            <a:xfrm>
              <a:off x="3708367" y="4632821"/>
              <a:ext cx="3892584" cy="1688450"/>
              <a:chOff x="1668859" y="3965823"/>
              <a:chExt cx="1996153" cy="1688450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41362A82-5A3A-1672-5408-2679175A93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4952" y="3965823"/>
                <a:ext cx="10129" cy="11709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s 17">
                <a:extLst>
                  <a:ext uri="{FF2B5EF4-FFF2-40B4-BE49-F238E27FC236}">
                    <a16:creationId xmlns:a16="http://schemas.microsoft.com/office/drawing/2014/main" id="{1055685F-A705-5DB5-E95F-08EAA06783C7}"/>
                  </a:ext>
                </a:extLst>
              </p:cNvPr>
              <p:cNvSpPr/>
              <p:nvPr/>
            </p:nvSpPr>
            <p:spPr>
              <a:xfrm>
                <a:off x="1763310" y="4272500"/>
                <a:ext cx="271531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85" name="Rectangles 16">
                <a:extLst>
                  <a:ext uri="{FF2B5EF4-FFF2-40B4-BE49-F238E27FC236}">
                    <a16:creationId xmlns:a16="http://schemas.microsoft.com/office/drawing/2014/main" id="{960C9D5A-F574-5245-0033-ED23FBD515E7}"/>
                  </a:ext>
                </a:extLst>
              </p:cNvPr>
              <p:cNvSpPr/>
              <p:nvPr/>
            </p:nvSpPr>
            <p:spPr>
              <a:xfrm>
                <a:off x="2087606" y="4272500"/>
                <a:ext cx="448490" cy="350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86" name="Rectangles 21">
                <a:extLst>
                  <a:ext uri="{FF2B5EF4-FFF2-40B4-BE49-F238E27FC236}">
                    <a16:creationId xmlns:a16="http://schemas.microsoft.com/office/drawing/2014/main" id="{C55D9B54-A984-85B2-8E26-2E1877F676E8}"/>
                  </a:ext>
                </a:extLst>
              </p:cNvPr>
              <p:cNvSpPr/>
              <p:nvPr/>
            </p:nvSpPr>
            <p:spPr>
              <a:xfrm>
                <a:off x="1764096" y="4701741"/>
                <a:ext cx="1014730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AC5CABB-F7D0-8D4F-C26E-A26B757597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4951" y="5136776"/>
                <a:ext cx="19300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B2DBF2-735F-2DB0-5161-BC9F5B62BB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4583" y="5067756"/>
                <a:ext cx="0" cy="19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3592085-780E-9804-99FA-C987E9E69987}"/>
                  </a:ext>
                </a:extLst>
              </p:cNvPr>
              <p:cNvSpPr txBox="1"/>
              <p:nvPr/>
            </p:nvSpPr>
            <p:spPr>
              <a:xfrm>
                <a:off x="1668859" y="5284941"/>
                <a:ext cx="18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0        3                 7      10</a:t>
                </a:r>
              </a:p>
            </p:txBody>
          </p:sp>
        </p:grp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28658A0-B118-1BE4-E651-108417F8D5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9517" y="5746419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5E2CE6A-9234-778C-F50F-31A15A19A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2850" y="5737529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01323E7-5DE4-7D8C-CA3F-CD65FC2B61FE}"/>
                  </a:ext>
                </a:extLst>
              </p:cNvPr>
              <p:cNvSpPr txBox="1"/>
              <p:nvPr/>
            </p:nvSpPr>
            <p:spPr>
              <a:xfrm>
                <a:off x="10113714" y="5393633"/>
                <a:ext cx="20414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Total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: 20</a:t>
                </a: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01323E7-5DE4-7D8C-CA3F-CD65FC2B6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714" y="5393633"/>
                <a:ext cx="2041456" cy="461665"/>
              </a:xfrm>
              <a:prstGeom prst="rect">
                <a:avLst/>
              </a:prstGeom>
              <a:blipFill>
                <a:blip r:embed="rId3"/>
                <a:stretch>
                  <a:fillRect l="-447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Footer Placeholder 90">
            <a:extLst>
              <a:ext uri="{FF2B5EF4-FFF2-40B4-BE49-F238E27FC236}">
                <a16:creationId xmlns:a16="http://schemas.microsoft.com/office/drawing/2014/main" id="{3221F47C-9186-95C7-080A-9FCE0BA1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92" name="Slide Number Placeholder 91">
            <a:extLst>
              <a:ext uri="{FF2B5EF4-FFF2-40B4-BE49-F238E27FC236}">
                <a16:creationId xmlns:a16="http://schemas.microsoft.com/office/drawing/2014/main" id="{60C8CD25-669C-855B-5DDE-40AE0D03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8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4" grpId="0"/>
      <p:bldP spid="9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D5CB-65E6-6AC4-A655-6E5DD929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SRPT-k’s weak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BB23E-2D9E-F5CC-392E-293A07121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SRPT-k’s problem: last job is inefficient – server idle.</a:t>
            </a:r>
          </a:p>
          <a:p>
            <a:pPr marL="0" indent="0">
              <a:buNone/>
            </a:pPr>
            <a:r>
              <a:rPr lang="en-US" dirty="0"/>
              <a:t>Idea of SRPT-Except-k+1 (SEK): If we see this coming, diverge.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Early arrival: Benefits SRPT-k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3ED5EB-DA5B-154B-7E21-96433DA3CCF7}"/>
              </a:ext>
            </a:extLst>
          </p:cNvPr>
          <p:cNvGrpSpPr/>
          <p:nvPr/>
        </p:nvGrpSpPr>
        <p:grpSpPr>
          <a:xfrm>
            <a:off x="6340140" y="3022322"/>
            <a:ext cx="3892584" cy="1688450"/>
            <a:chOff x="3708367" y="4632821"/>
            <a:chExt cx="3892584" cy="168845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4B0B3F5-0669-F2AB-3F71-04D43001D6B3}"/>
                </a:ext>
              </a:extLst>
            </p:cNvPr>
            <p:cNvGrpSpPr/>
            <p:nvPr/>
          </p:nvGrpSpPr>
          <p:grpSpPr>
            <a:xfrm>
              <a:off x="3708367" y="4632821"/>
              <a:ext cx="3892584" cy="1688450"/>
              <a:chOff x="1668859" y="3965823"/>
              <a:chExt cx="1996153" cy="1688450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6DCCB7F5-9994-BB1D-FDD5-37D28C6C46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4952" y="3965823"/>
                <a:ext cx="10129" cy="11709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s 17">
                <a:extLst>
                  <a:ext uri="{FF2B5EF4-FFF2-40B4-BE49-F238E27FC236}">
                    <a16:creationId xmlns:a16="http://schemas.microsoft.com/office/drawing/2014/main" id="{EEFBFC80-CAED-E4FB-5BA3-1A236B8201E7}"/>
                  </a:ext>
                </a:extLst>
              </p:cNvPr>
              <p:cNvSpPr/>
              <p:nvPr/>
            </p:nvSpPr>
            <p:spPr>
              <a:xfrm>
                <a:off x="1763310" y="4272500"/>
                <a:ext cx="271531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31" name="Rectangles 16">
                <a:extLst>
                  <a:ext uri="{FF2B5EF4-FFF2-40B4-BE49-F238E27FC236}">
                    <a16:creationId xmlns:a16="http://schemas.microsoft.com/office/drawing/2014/main" id="{B7A83F5E-0D03-4A57-72DD-FAC28A7B7A0A}"/>
                  </a:ext>
                </a:extLst>
              </p:cNvPr>
              <p:cNvSpPr/>
              <p:nvPr/>
            </p:nvSpPr>
            <p:spPr>
              <a:xfrm>
                <a:off x="1754914" y="4733970"/>
                <a:ext cx="448490" cy="33378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32" name="Rectangles 21">
                <a:extLst>
                  <a:ext uri="{FF2B5EF4-FFF2-40B4-BE49-F238E27FC236}">
                    <a16:creationId xmlns:a16="http://schemas.microsoft.com/office/drawing/2014/main" id="{4BAE9967-A53E-FC9D-E96D-1C604D67F8BD}"/>
                  </a:ext>
                </a:extLst>
              </p:cNvPr>
              <p:cNvSpPr/>
              <p:nvPr/>
            </p:nvSpPr>
            <p:spPr>
              <a:xfrm>
                <a:off x="2067126" y="4264978"/>
                <a:ext cx="1014730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F1F93BA-921B-439C-409D-C8E3EBD1DF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4951" y="5136776"/>
                <a:ext cx="19300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20CE70D-D798-3583-6205-316607C3D9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4583" y="5067756"/>
                <a:ext cx="0" cy="19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8A77A2E-5784-54EA-358D-619BAC4E4EBF}"/>
                  </a:ext>
                </a:extLst>
              </p:cNvPr>
              <p:cNvSpPr txBox="1"/>
              <p:nvPr/>
            </p:nvSpPr>
            <p:spPr>
              <a:xfrm>
                <a:off x="1668859" y="5284941"/>
                <a:ext cx="18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0        3     4                             13</a:t>
                </a:r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6369783-869A-A274-51D2-4F8E3869DD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0752" y="5728278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9C249D2-FBEF-DC71-DC66-18765226E0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548" y="5707927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92567C4-3778-F659-9F91-805375B15535}"/>
              </a:ext>
            </a:extLst>
          </p:cNvPr>
          <p:cNvGrpSpPr/>
          <p:nvPr/>
        </p:nvGrpSpPr>
        <p:grpSpPr>
          <a:xfrm>
            <a:off x="6332838" y="4896066"/>
            <a:ext cx="3892584" cy="1688450"/>
            <a:chOff x="3708367" y="4632821"/>
            <a:chExt cx="3892584" cy="1688450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BB6A98B-D905-11B4-753A-865E0746E22F}"/>
                </a:ext>
              </a:extLst>
            </p:cNvPr>
            <p:cNvGrpSpPr/>
            <p:nvPr/>
          </p:nvGrpSpPr>
          <p:grpSpPr>
            <a:xfrm>
              <a:off x="3708367" y="4632821"/>
              <a:ext cx="3892584" cy="1688450"/>
              <a:chOff x="1668859" y="3965823"/>
              <a:chExt cx="1996153" cy="1688450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41362A82-5A3A-1672-5408-2679175A93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4952" y="3965823"/>
                <a:ext cx="10129" cy="11709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s 17">
                <a:extLst>
                  <a:ext uri="{FF2B5EF4-FFF2-40B4-BE49-F238E27FC236}">
                    <a16:creationId xmlns:a16="http://schemas.microsoft.com/office/drawing/2014/main" id="{1055685F-A705-5DB5-E95F-08EAA06783C7}"/>
                  </a:ext>
                </a:extLst>
              </p:cNvPr>
              <p:cNvSpPr/>
              <p:nvPr/>
            </p:nvSpPr>
            <p:spPr>
              <a:xfrm>
                <a:off x="1763310" y="4272500"/>
                <a:ext cx="271531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85" name="Rectangles 16">
                <a:extLst>
                  <a:ext uri="{FF2B5EF4-FFF2-40B4-BE49-F238E27FC236}">
                    <a16:creationId xmlns:a16="http://schemas.microsoft.com/office/drawing/2014/main" id="{960C9D5A-F574-5245-0033-ED23FBD515E7}"/>
                  </a:ext>
                </a:extLst>
              </p:cNvPr>
              <p:cNvSpPr/>
              <p:nvPr/>
            </p:nvSpPr>
            <p:spPr>
              <a:xfrm>
                <a:off x="2087606" y="4272500"/>
                <a:ext cx="448490" cy="350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86" name="Rectangles 21">
                <a:extLst>
                  <a:ext uri="{FF2B5EF4-FFF2-40B4-BE49-F238E27FC236}">
                    <a16:creationId xmlns:a16="http://schemas.microsoft.com/office/drawing/2014/main" id="{C55D9B54-A984-85B2-8E26-2E1877F676E8}"/>
                  </a:ext>
                </a:extLst>
              </p:cNvPr>
              <p:cNvSpPr/>
              <p:nvPr/>
            </p:nvSpPr>
            <p:spPr>
              <a:xfrm>
                <a:off x="1764096" y="4701741"/>
                <a:ext cx="1014730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AC5CABB-F7D0-8D4F-C26E-A26B757597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4951" y="5136776"/>
                <a:ext cx="19300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B2DBF2-735F-2DB0-5161-BC9F5B62BB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4583" y="5067756"/>
                <a:ext cx="0" cy="19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3592085-780E-9804-99FA-C987E9E69987}"/>
                  </a:ext>
                </a:extLst>
              </p:cNvPr>
              <p:cNvSpPr txBox="1"/>
              <p:nvPr/>
            </p:nvSpPr>
            <p:spPr>
              <a:xfrm>
                <a:off x="1668859" y="5284941"/>
                <a:ext cx="18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0        3                 7      10</a:t>
                </a:r>
              </a:p>
            </p:txBody>
          </p:sp>
        </p:grp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28658A0-B118-1BE4-E651-108417F8D5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9517" y="5746419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5E2CE6A-9234-778C-F50F-31A15A19A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2850" y="5737529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206A31A-8808-1614-0304-878D49B8D2DD}"/>
              </a:ext>
            </a:extLst>
          </p:cNvPr>
          <p:cNvSpPr txBox="1"/>
          <p:nvPr/>
        </p:nvSpPr>
        <p:spPr>
          <a:xfrm>
            <a:off x="7248674" y="2794007"/>
            <a:ext cx="980122" cy="43088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SRPT-k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FAAF47-81DD-6962-4FCD-54431B848998}"/>
              </a:ext>
            </a:extLst>
          </p:cNvPr>
          <p:cNvSpPr txBox="1"/>
          <p:nvPr/>
        </p:nvSpPr>
        <p:spPr>
          <a:xfrm>
            <a:off x="7282011" y="4671495"/>
            <a:ext cx="913447" cy="43088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SEK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7D08C95-AD20-68DE-7967-227B1FF7A29C}"/>
              </a:ext>
            </a:extLst>
          </p:cNvPr>
          <p:cNvCxnSpPr/>
          <p:nvPr/>
        </p:nvCxnSpPr>
        <p:spPr>
          <a:xfrm>
            <a:off x="6781770" y="3070124"/>
            <a:ext cx="0" cy="3279397"/>
          </a:xfrm>
          <a:prstGeom prst="line">
            <a:avLst/>
          </a:prstGeom>
          <a:ln w="38100">
            <a:solidFill>
              <a:srgbClr val="FF66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D62379A-E973-E76F-D800-78287AC437D6}"/>
              </a:ext>
            </a:extLst>
          </p:cNvPr>
          <p:cNvGrpSpPr/>
          <p:nvPr/>
        </p:nvGrpSpPr>
        <p:grpSpPr>
          <a:xfrm>
            <a:off x="7506945" y="3780955"/>
            <a:ext cx="1721924" cy="1742064"/>
            <a:chOff x="7506945" y="3780955"/>
            <a:chExt cx="1721924" cy="1742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4FEB3716-F3DA-7246-E1B3-8A29AC1A7B45}"/>
                </a:ext>
              </a:extLst>
            </p:cNvPr>
            <p:cNvSpPr/>
            <p:nvPr/>
          </p:nvSpPr>
          <p:spPr>
            <a:xfrm>
              <a:off x="7506945" y="3780955"/>
              <a:ext cx="1094130" cy="343300"/>
            </a:xfrm>
            <a:prstGeom prst="roundRect">
              <a:avLst/>
            </a:prstGeom>
            <a:solidFill>
              <a:srgbClr val="FF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47EFC4B6-D7D1-C94D-FAA6-42B028BDD482}"/>
                </a:ext>
              </a:extLst>
            </p:cNvPr>
            <p:cNvSpPr/>
            <p:nvPr/>
          </p:nvSpPr>
          <p:spPr>
            <a:xfrm>
              <a:off x="8134739" y="5179719"/>
              <a:ext cx="1094130" cy="343300"/>
            </a:xfrm>
            <a:prstGeom prst="roundRect">
              <a:avLst/>
            </a:prstGeom>
            <a:solidFill>
              <a:srgbClr val="FF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A697D6E4-8C8C-4662-1F13-C8E90412488E}"/>
              </a:ext>
            </a:extLst>
          </p:cNvPr>
          <p:cNvSpPr/>
          <p:nvPr/>
        </p:nvSpPr>
        <p:spPr>
          <a:xfrm>
            <a:off x="771525" y="3275834"/>
            <a:ext cx="4455282" cy="535986"/>
          </a:xfrm>
          <a:prstGeom prst="rect">
            <a:avLst/>
          </a:prstGeom>
          <a:noFill/>
          <a:ln w="38100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800F2664-64C9-C39C-3086-9EA93B4EE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47CC07F3-C453-241A-A195-CA8D0F6A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7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D5CB-65E6-6AC4-A655-6E5DD929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SRPT-k’s weak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BB23E-2D9E-F5CC-392E-293A07121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SRPT-k’s problem: last job is inefficient – server idle.</a:t>
            </a:r>
          </a:p>
          <a:p>
            <a:pPr marL="0" indent="0">
              <a:buNone/>
            </a:pPr>
            <a:r>
              <a:rPr lang="en-US" dirty="0"/>
              <a:t>Idea of SRPT-Except-k+1 (SEK): If we see this coming, diverge.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Early arrival: Benefits SRPT-k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Late arrivals: Benefit SEK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SEK diverges when 2 jobs</a:t>
            </a:r>
            <a:br>
              <a:rPr lang="en-US" dirty="0"/>
            </a:br>
            <a:r>
              <a:rPr lang="en-US" dirty="0"/>
              <a:t>are very small, almost all upside.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3ED5EB-DA5B-154B-7E21-96433DA3CCF7}"/>
              </a:ext>
            </a:extLst>
          </p:cNvPr>
          <p:cNvGrpSpPr/>
          <p:nvPr/>
        </p:nvGrpSpPr>
        <p:grpSpPr>
          <a:xfrm>
            <a:off x="6340140" y="3022322"/>
            <a:ext cx="3892584" cy="1688450"/>
            <a:chOff x="3708367" y="4632821"/>
            <a:chExt cx="3892584" cy="168845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4B0B3F5-0669-F2AB-3F71-04D43001D6B3}"/>
                </a:ext>
              </a:extLst>
            </p:cNvPr>
            <p:cNvGrpSpPr/>
            <p:nvPr/>
          </p:nvGrpSpPr>
          <p:grpSpPr>
            <a:xfrm>
              <a:off x="3708367" y="4632821"/>
              <a:ext cx="3892584" cy="1688450"/>
              <a:chOff x="1668859" y="3965823"/>
              <a:chExt cx="1996153" cy="1688450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6DCCB7F5-9994-BB1D-FDD5-37D28C6C46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4952" y="3965823"/>
                <a:ext cx="10129" cy="11709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s 17">
                <a:extLst>
                  <a:ext uri="{FF2B5EF4-FFF2-40B4-BE49-F238E27FC236}">
                    <a16:creationId xmlns:a16="http://schemas.microsoft.com/office/drawing/2014/main" id="{EEFBFC80-CAED-E4FB-5BA3-1A236B8201E7}"/>
                  </a:ext>
                </a:extLst>
              </p:cNvPr>
              <p:cNvSpPr/>
              <p:nvPr/>
            </p:nvSpPr>
            <p:spPr>
              <a:xfrm>
                <a:off x="1763310" y="4272500"/>
                <a:ext cx="271531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31" name="Rectangles 16">
                <a:extLst>
                  <a:ext uri="{FF2B5EF4-FFF2-40B4-BE49-F238E27FC236}">
                    <a16:creationId xmlns:a16="http://schemas.microsoft.com/office/drawing/2014/main" id="{B7A83F5E-0D03-4A57-72DD-FAC28A7B7A0A}"/>
                  </a:ext>
                </a:extLst>
              </p:cNvPr>
              <p:cNvSpPr/>
              <p:nvPr/>
            </p:nvSpPr>
            <p:spPr>
              <a:xfrm>
                <a:off x="1754914" y="4733970"/>
                <a:ext cx="448490" cy="33378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32" name="Rectangles 21">
                <a:extLst>
                  <a:ext uri="{FF2B5EF4-FFF2-40B4-BE49-F238E27FC236}">
                    <a16:creationId xmlns:a16="http://schemas.microsoft.com/office/drawing/2014/main" id="{4BAE9967-A53E-FC9D-E96D-1C604D67F8BD}"/>
                  </a:ext>
                </a:extLst>
              </p:cNvPr>
              <p:cNvSpPr/>
              <p:nvPr/>
            </p:nvSpPr>
            <p:spPr>
              <a:xfrm>
                <a:off x="2067126" y="4264978"/>
                <a:ext cx="1014730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F1F93BA-921B-439C-409D-C8E3EBD1DF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4951" y="5136776"/>
                <a:ext cx="19300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20CE70D-D798-3583-6205-316607C3D9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4583" y="5067756"/>
                <a:ext cx="0" cy="19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8A77A2E-5784-54EA-358D-619BAC4E4EBF}"/>
                  </a:ext>
                </a:extLst>
              </p:cNvPr>
              <p:cNvSpPr txBox="1"/>
              <p:nvPr/>
            </p:nvSpPr>
            <p:spPr>
              <a:xfrm>
                <a:off x="1668859" y="5284941"/>
                <a:ext cx="18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0        3     4                             13</a:t>
                </a:r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6369783-869A-A274-51D2-4F8E3869DD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0752" y="5728278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9C249D2-FBEF-DC71-DC66-18765226E0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548" y="5707927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92567C4-3778-F659-9F91-805375B15535}"/>
              </a:ext>
            </a:extLst>
          </p:cNvPr>
          <p:cNvGrpSpPr/>
          <p:nvPr/>
        </p:nvGrpSpPr>
        <p:grpSpPr>
          <a:xfrm>
            <a:off x="6332838" y="4896066"/>
            <a:ext cx="3892584" cy="1688450"/>
            <a:chOff x="3708367" y="4632821"/>
            <a:chExt cx="3892584" cy="1688450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BB6A98B-D905-11B4-753A-865E0746E22F}"/>
                </a:ext>
              </a:extLst>
            </p:cNvPr>
            <p:cNvGrpSpPr/>
            <p:nvPr/>
          </p:nvGrpSpPr>
          <p:grpSpPr>
            <a:xfrm>
              <a:off x="3708367" y="4632821"/>
              <a:ext cx="3892584" cy="1688450"/>
              <a:chOff x="1668859" y="3965823"/>
              <a:chExt cx="1996153" cy="1688450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41362A82-5A3A-1672-5408-2679175A93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4952" y="3965823"/>
                <a:ext cx="10129" cy="11709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s 17">
                <a:extLst>
                  <a:ext uri="{FF2B5EF4-FFF2-40B4-BE49-F238E27FC236}">
                    <a16:creationId xmlns:a16="http://schemas.microsoft.com/office/drawing/2014/main" id="{1055685F-A705-5DB5-E95F-08EAA06783C7}"/>
                  </a:ext>
                </a:extLst>
              </p:cNvPr>
              <p:cNvSpPr/>
              <p:nvPr/>
            </p:nvSpPr>
            <p:spPr>
              <a:xfrm>
                <a:off x="1763310" y="4272500"/>
                <a:ext cx="271531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85" name="Rectangles 16">
                <a:extLst>
                  <a:ext uri="{FF2B5EF4-FFF2-40B4-BE49-F238E27FC236}">
                    <a16:creationId xmlns:a16="http://schemas.microsoft.com/office/drawing/2014/main" id="{960C9D5A-F574-5245-0033-ED23FBD515E7}"/>
                  </a:ext>
                </a:extLst>
              </p:cNvPr>
              <p:cNvSpPr/>
              <p:nvPr/>
            </p:nvSpPr>
            <p:spPr>
              <a:xfrm>
                <a:off x="2087606" y="4272500"/>
                <a:ext cx="448490" cy="350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86" name="Rectangles 21">
                <a:extLst>
                  <a:ext uri="{FF2B5EF4-FFF2-40B4-BE49-F238E27FC236}">
                    <a16:creationId xmlns:a16="http://schemas.microsoft.com/office/drawing/2014/main" id="{C55D9B54-A984-85B2-8E26-2E1877F676E8}"/>
                  </a:ext>
                </a:extLst>
              </p:cNvPr>
              <p:cNvSpPr/>
              <p:nvPr/>
            </p:nvSpPr>
            <p:spPr>
              <a:xfrm>
                <a:off x="1764096" y="4701741"/>
                <a:ext cx="1014730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AC5CABB-F7D0-8D4F-C26E-A26B757597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4951" y="5136776"/>
                <a:ext cx="19300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B2DBF2-735F-2DB0-5161-BC9F5B62BB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4583" y="5067756"/>
                <a:ext cx="0" cy="19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3592085-780E-9804-99FA-C987E9E69987}"/>
                  </a:ext>
                </a:extLst>
              </p:cNvPr>
              <p:cNvSpPr txBox="1"/>
              <p:nvPr/>
            </p:nvSpPr>
            <p:spPr>
              <a:xfrm>
                <a:off x="1668859" y="5284941"/>
                <a:ext cx="18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0        3                 7      10</a:t>
                </a:r>
              </a:p>
            </p:txBody>
          </p:sp>
        </p:grp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28658A0-B118-1BE4-E651-108417F8D5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9517" y="5746419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5E2CE6A-9234-778C-F50F-31A15A19A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2850" y="5737529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206A31A-8808-1614-0304-878D49B8D2DD}"/>
              </a:ext>
            </a:extLst>
          </p:cNvPr>
          <p:cNvSpPr txBox="1"/>
          <p:nvPr/>
        </p:nvSpPr>
        <p:spPr>
          <a:xfrm>
            <a:off x="7248674" y="2794007"/>
            <a:ext cx="980122" cy="43088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SRPT-k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FAAF47-81DD-6962-4FCD-54431B848998}"/>
              </a:ext>
            </a:extLst>
          </p:cNvPr>
          <p:cNvSpPr txBox="1"/>
          <p:nvPr/>
        </p:nvSpPr>
        <p:spPr>
          <a:xfrm>
            <a:off x="7283126" y="4680622"/>
            <a:ext cx="913447" cy="43088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SEK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697D6E4-8C8C-4662-1F13-C8E90412488E}"/>
              </a:ext>
            </a:extLst>
          </p:cNvPr>
          <p:cNvSpPr/>
          <p:nvPr/>
        </p:nvSpPr>
        <p:spPr>
          <a:xfrm>
            <a:off x="771525" y="3275834"/>
            <a:ext cx="4455282" cy="535986"/>
          </a:xfrm>
          <a:prstGeom prst="rect">
            <a:avLst/>
          </a:prstGeom>
          <a:noFill/>
          <a:ln w="38100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E387F7-910B-ADA2-8FEC-3C57D3BC510C}"/>
              </a:ext>
            </a:extLst>
          </p:cNvPr>
          <p:cNvSpPr/>
          <p:nvPr/>
        </p:nvSpPr>
        <p:spPr>
          <a:xfrm>
            <a:off x="771525" y="4289041"/>
            <a:ext cx="4455282" cy="535986"/>
          </a:xfrm>
          <a:prstGeom prst="rect">
            <a:avLst/>
          </a:prstGeom>
          <a:noFill/>
          <a:ln w="38100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F7B3D7-981E-627C-60DF-6F689B8EE51E}"/>
              </a:ext>
            </a:extLst>
          </p:cNvPr>
          <p:cNvCxnSpPr/>
          <p:nvPr/>
        </p:nvCxnSpPr>
        <p:spPr>
          <a:xfrm>
            <a:off x="8362920" y="3022322"/>
            <a:ext cx="0" cy="3279397"/>
          </a:xfrm>
          <a:prstGeom prst="line">
            <a:avLst/>
          </a:prstGeom>
          <a:ln w="38100">
            <a:solidFill>
              <a:srgbClr val="9966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0FB558-5518-20C6-D6B4-0473CAA12D3D}"/>
              </a:ext>
            </a:extLst>
          </p:cNvPr>
          <p:cNvGrpSpPr/>
          <p:nvPr/>
        </p:nvGrpSpPr>
        <p:grpSpPr>
          <a:xfrm>
            <a:off x="8457317" y="3320017"/>
            <a:ext cx="1813295" cy="2660831"/>
            <a:chOff x="8457317" y="3320017"/>
            <a:chExt cx="1813295" cy="2660831"/>
          </a:xfrm>
          <a:solidFill>
            <a:srgbClr val="9966FF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5269D36-4E78-392D-18A8-128163B02069}"/>
                </a:ext>
              </a:extLst>
            </p:cNvPr>
            <p:cNvGrpSpPr/>
            <p:nvPr/>
          </p:nvGrpSpPr>
          <p:grpSpPr>
            <a:xfrm>
              <a:off x="8457317" y="3320017"/>
              <a:ext cx="1813295" cy="2231360"/>
              <a:chOff x="8457317" y="3320017"/>
              <a:chExt cx="1813295" cy="2231360"/>
            </a:xfrm>
            <a:grpFill/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B9FFB03-B293-E618-3CCF-A850B72764DE}"/>
                  </a:ext>
                </a:extLst>
              </p:cNvPr>
              <p:cNvSpPr/>
              <p:nvPr/>
            </p:nvSpPr>
            <p:spPr>
              <a:xfrm>
                <a:off x="9176482" y="3320017"/>
                <a:ext cx="1094130" cy="3433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5F677CA4-0CD6-55AB-8A25-FEE5D7D90FE3}"/>
                  </a:ext>
                </a:extLst>
              </p:cNvPr>
              <p:cNvSpPr/>
              <p:nvPr/>
            </p:nvSpPr>
            <p:spPr>
              <a:xfrm>
                <a:off x="8457317" y="5208077"/>
                <a:ext cx="1094130" cy="3433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9A26570-FE09-5AF1-E213-0EB0E2301586}"/>
                </a:ext>
              </a:extLst>
            </p:cNvPr>
            <p:cNvSpPr/>
            <p:nvPr/>
          </p:nvSpPr>
          <p:spPr>
            <a:xfrm>
              <a:off x="8580527" y="5637548"/>
              <a:ext cx="1094130" cy="3433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E213DE2-13CE-1877-795F-559C0F632A6A}"/>
                </a:ext>
              </a:extLst>
            </p:cNvPr>
            <p:cNvSpPr/>
            <p:nvPr/>
          </p:nvSpPr>
          <p:spPr>
            <a:xfrm>
              <a:off x="8577890" y="3759681"/>
              <a:ext cx="1094130" cy="3433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Graphic 12" descr="Lights On with solid fill">
            <a:extLst>
              <a:ext uri="{FF2B5EF4-FFF2-40B4-BE49-F238E27FC236}">
                <a16:creationId xmlns:a16="http://schemas.microsoft.com/office/drawing/2014/main" id="{9E2C6C32-173B-9835-6283-1C8E9B840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191110"/>
            <a:ext cx="914400" cy="91440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A99152F-F8AF-C450-CFE3-C457B419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AA1C704-76BB-E80C-6E2B-3A30FA30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5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4144-4BE5-1632-EA15-1A1F739F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SEK Improvement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E64D7-CFBA-22C9-A609-10B5B7E500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82300" cy="492351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the asymptotic limit as 2 small jobs are really small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),</a:t>
                </a:r>
                <a:br>
                  <a:rPr lang="en-US" dirty="0"/>
                </a:br>
                <a:r>
                  <a:rPr lang="en-US" dirty="0"/>
                  <a:t>scaling of improvement favors SEK.</a:t>
                </a:r>
              </a:p>
              <a:p>
                <a:pPr marL="0" indent="0">
                  <a:buNone/>
                </a:pPr>
                <a:r>
                  <a:rPr lang="en-US" dirty="0"/>
                  <a:t>Sum of response times per divergence: In expectation, SEK smaller.</a:t>
                </a:r>
              </a:p>
              <a:p>
                <a:pPr marL="0" indent="0">
                  <a:buNone/>
                </a:pPr>
                <a:r>
                  <a:rPr lang="en-US" dirty="0"/>
                  <a:t>Early arrival: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probability per divergence,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advantage for SRPT-k</a:t>
                </a:r>
              </a:p>
              <a:p>
                <a:pPr marL="0" indent="0">
                  <a:buNone/>
                </a:pPr>
                <a:r>
                  <a:rPr lang="en-US" dirty="0"/>
                  <a:t>Late arrival: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probability per divergence,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advantage for SEK</a:t>
                </a:r>
              </a:p>
              <a:p>
                <a:pPr marL="0" indent="0">
                  <a:buNone/>
                </a:pPr>
                <a:r>
                  <a:rPr lang="en-US" dirty="0"/>
                  <a:t>All other arrival patterns: SEK no worse.</a:t>
                </a:r>
              </a:p>
              <a:p>
                <a:pPr marL="0" indent="0">
                  <a:buNone/>
                </a:pPr>
                <a:r>
                  <a:rPr lang="en-US" dirty="0"/>
                  <a:t>Some easy to prove, some challenging.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E64D7-CFBA-22C9-A609-10B5B7E50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82300" cy="4923518"/>
              </a:xfrm>
              <a:blipFill>
                <a:blip r:embed="rId2"/>
                <a:stretch>
                  <a:fillRect l="-1188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DB2B1EF-A456-2CD8-8DFF-2CBB2C42DFCC}"/>
              </a:ext>
            </a:extLst>
          </p:cNvPr>
          <p:cNvGrpSpPr/>
          <p:nvPr/>
        </p:nvGrpSpPr>
        <p:grpSpPr>
          <a:xfrm>
            <a:off x="9381498" y="230188"/>
            <a:ext cx="2556057" cy="1189038"/>
            <a:chOff x="6803295" y="3077831"/>
            <a:chExt cx="3948430" cy="181316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4D15BE-AD89-455F-1C39-B053F8439DA7}"/>
                </a:ext>
              </a:extLst>
            </p:cNvPr>
            <p:cNvGrpSpPr/>
            <p:nvPr/>
          </p:nvGrpSpPr>
          <p:grpSpPr>
            <a:xfrm>
              <a:off x="6803295" y="3077831"/>
              <a:ext cx="3948430" cy="1813168"/>
              <a:chOff x="4277296" y="1665997"/>
              <a:chExt cx="3948430" cy="181316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4E4D57F-97E9-E29E-DEEA-94B887C0FC0C}"/>
                  </a:ext>
                </a:extLst>
              </p:cNvPr>
              <p:cNvGrpSpPr/>
              <p:nvPr/>
            </p:nvGrpSpPr>
            <p:grpSpPr>
              <a:xfrm>
                <a:off x="4277296" y="2154555"/>
                <a:ext cx="3948430" cy="1324610"/>
                <a:chOff x="4277296" y="2154555"/>
                <a:chExt cx="3948430" cy="132461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D0B579CB-9EBD-3272-7C87-1894BA713976}"/>
                    </a:ext>
                  </a:extLst>
                </p:cNvPr>
                <p:cNvGrpSpPr/>
                <p:nvPr/>
              </p:nvGrpSpPr>
              <p:grpSpPr>
                <a:xfrm>
                  <a:off x="4277296" y="2154555"/>
                  <a:ext cx="3948430" cy="1324610"/>
                  <a:chOff x="1559" y="3013"/>
                  <a:chExt cx="6218" cy="2086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0CD944C7-B68D-BDC3-C016-CCE293617B36}"/>
                      </a:ext>
                    </a:extLst>
                  </p:cNvPr>
                  <p:cNvGrpSpPr/>
                  <p:nvPr/>
                </p:nvGrpSpPr>
                <p:grpSpPr>
                  <a:xfrm>
                    <a:off x="1559" y="3013"/>
                    <a:ext cx="6218" cy="2086"/>
                    <a:chOff x="1559" y="3013"/>
                    <a:chExt cx="6218" cy="2086"/>
                  </a:xfrm>
                </p:grpSpPr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16A8BC47-1429-C0B4-C5BA-215A50EAF2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59" y="3013"/>
                      <a:ext cx="6218" cy="1763"/>
                      <a:chOff x="5630" y="3687"/>
                      <a:chExt cx="6218" cy="1763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475E1DE0-94BE-5EF9-0E19-4E4BBA6F96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687"/>
                        <a:ext cx="5881" cy="1763"/>
                        <a:chOff x="5630" y="3687"/>
                        <a:chExt cx="5881" cy="1763"/>
                      </a:xfrm>
                    </p:grpSpPr>
                    <p:sp>
                      <p:nvSpPr>
                        <p:cNvPr id="21" name="Rectangles 8">
                          <a:extLst>
                            <a:ext uri="{FF2B5EF4-FFF2-40B4-BE49-F238E27FC236}">
                              <a16:creationId xmlns:a16="http://schemas.microsoft.com/office/drawing/2014/main" id="{6A7D703C-DE9E-40C9-C33C-D43821B0AF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" name="Rectangles 9">
                          <a:extLst>
                            <a:ext uri="{FF2B5EF4-FFF2-40B4-BE49-F238E27FC236}">
                              <a16:creationId xmlns:a16="http://schemas.microsoft.com/office/drawing/2014/main" id="{8911A3FD-BF8B-87B4-7BF0-87AB503530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" name="Rectangles 10">
                          <a:extLst>
                            <a:ext uri="{FF2B5EF4-FFF2-40B4-BE49-F238E27FC236}">
                              <a16:creationId xmlns:a16="http://schemas.microsoft.com/office/drawing/2014/main" id="{ECD3A48B-756D-B255-4522-8EA835F01E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" name="Rectangles 11">
                          <a:extLst>
                            <a:ext uri="{FF2B5EF4-FFF2-40B4-BE49-F238E27FC236}">
                              <a16:creationId xmlns:a16="http://schemas.microsoft.com/office/drawing/2014/main" id="{A2B30CCD-ED54-4A48-2355-A7E39D731C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" name="Oval 24">
                          <a:extLst>
                            <a:ext uri="{FF2B5EF4-FFF2-40B4-BE49-F238E27FC236}">
                              <a16:creationId xmlns:a16="http://schemas.microsoft.com/office/drawing/2014/main" id="{AC1BDDCF-838D-0FA3-B924-1E9DFB8590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4" y="3687"/>
                          <a:ext cx="827" cy="881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26" name="Straight Connector 25">
                          <a:extLst>
                            <a:ext uri="{FF2B5EF4-FFF2-40B4-BE49-F238E27FC236}">
                              <a16:creationId xmlns:a16="http://schemas.microsoft.com/office/drawing/2014/main" id="{C3D62208-AF9D-2FD8-5254-1FA40FCB4A9B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" name="Straight Connector 26">
                          <a:extLst>
                            <a:ext uri="{FF2B5EF4-FFF2-40B4-BE49-F238E27FC236}">
                              <a16:creationId xmlns:a16="http://schemas.microsoft.com/office/drawing/2014/main" id="{94939348-8EA9-79F9-5E80-218F0DF0826D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9" name="Straight Arrow Connector 18">
                        <a:extLst>
                          <a:ext uri="{FF2B5EF4-FFF2-40B4-BE49-F238E27FC236}">
                            <a16:creationId xmlns:a16="http://schemas.microsoft.com/office/drawing/2014/main" id="{6FB999D0-10A8-2BB3-0732-E07FD5A631D3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1511" y="4124"/>
                        <a:ext cx="337" cy="7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C4956ED9-3D2B-9113-442B-40FE227A0B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3" y="4218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6" name="Straight Arrow Connector 15">
                      <a:extLst>
                        <a:ext uri="{FF2B5EF4-FFF2-40B4-BE49-F238E27FC236}">
                          <a16:creationId xmlns:a16="http://schemas.microsoft.com/office/drawing/2014/main" id="{99FC0085-BACF-0424-9205-48E9B0CDF73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40" y="4655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Rectangles 17">
                      <a:extLst>
                        <a:ext uri="{FF2B5EF4-FFF2-40B4-BE49-F238E27FC236}">
                          <a16:creationId xmlns:a16="http://schemas.microsoft.com/office/drawing/2014/main" id="{ACBEF490-1515-3D6F-0CD5-5CD66B898A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47" y="3128"/>
                      <a:ext cx="770" cy="56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p:txBody>
                </p:sp>
              </p:grp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869A40A2-DF1E-59EF-204C-E532137744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08" y="3443"/>
                    <a:ext cx="259" cy="151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1B7ED48E-CB07-62D2-5CC8-A436E2758270}"/>
                      </a:ext>
                    </a:extLst>
                  </p:cNvPr>
                  <p:cNvCxnSpPr>
                    <a:cxnSpLocks/>
                    <a:endCxn id="15" idx="2"/>
                  </p:cNvCxnSpPr>
                  <p:nvPr/>
                </p:nvCxnSpPr>
                <p:spPr>
                  <a:xfrm>
                    <a:off x="6308" y="4452"/>
                    <a:ext cx="305" cy="207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Rectangles 16">
                  <a:extLst>
                    <a:ext uri="{FF2B5EF4-FFF2-40B4-BE49-F238E27FC236}">
                      <a16:creationId xmlns:a16="http://schemas.microsoft.com/office/drawing/2014/main" id="{A1D678DD-AC08-1D98-160D-9CBB7C0C2B82}"/>
                    </a:ext>
                  </a:extLst>
                </p:cNvPr>
                <p:cNvSpPr/>
                <p:nvPr/>
              </p:nvSpPr>
              <p:spPr>
                <a:xfrm>
                  <a:off x="6744883" y="2713990"/>
                  <a:ext cx="475616" cy="31877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0.4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334D36-8059-0899-787B-83A824579128}"/>
                  </a:ext>
                </a:extLst>
              </p:cNvPr>
              <p:cNvSpPr txBox="1"/>
              <p:nvPr/>
            </p:nvSpPr>
            <p:spPr>
              <a:xfrm>
                <a:off x="6165468" y="1665997"/>
                <a:ext cx="924124" cy="50062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tIns="0" rtlCol="0">
                <a:no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sp>
          <p:nvSpPr>
            <p:cNvPr id="6" name="Rectangles 21">
              <a:extLst>
                <a:ext uri="{FF2B5EF4-FFF2-40B4-BE49-F238E27FC236}">
                  <a16:creationId xmlns:a16="http://schemas.microsoft.com/office/drawing/2014/main" id="{90D05DA0-58B2-8644-A6C6-52909CA3144F}"/>
                </a:ext>
              </a:extLst>
            </p:cNvPr>
            <p:cNvSpPr/>
            <p:nvPr/>
          </p:nvSpPr>
          <p:spPr>
            <a:xfrm>
              <a:off x="10019570" y="4170273"/>
              <a:ext cx="503556" cy="61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B32BA81-DB5D-64AA-EAA8-488E53298B2E}"/>
              </a:ext>
            </a:extLst>
          </p:cNvPr>
          <p:cNvSpPr/>
          <p:nvPr/>
        </p:nvSpPr>
        <p:spPr>
          <a:xfrm>
            <a:off x="838200" y="3234773"/>
            <a:ext cx="1905000" cy="448074"/>
          </a:xfrm>
          <a:prstGeom prst="rect">
            <a:avLst/>
          </a:prstGeom>
          <a:noFill/>
          <a:ln w="38100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F32352-F289-3558-03A6-A8D7A5E4E74C}"/>
              </a:ext>
            </a:extLst>
          </p:cNvPr>
          <p:cNvSpPr/>
          <p:nvPr/>
        </p:nvSpPr>
        <p:spPr>
          <a:xfrm>
            <a:off x="838200" y="3760941"/>
            <a:ext cx="1838325" cy="448073"/>
          </a:xfrm>
          <a:prstGeom prst="rect">
            <a:avLst/>
          </a:prstGeom>
          <a:noFill/>
          <a:ln w="38100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C275E677-C255-2709-BA0E-12E170FCE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F68FACDA-3AB2-E4A9-8C0F-668DDBAB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7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4144-4BE5-1632-EA15-1A1F739F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SEK Improvement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E64D7-CFBA-22C9-A609-10B5B7E500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82300" cy="492351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the asymptotic limit as 2 small jobs are really small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),</a:t>
                </a:r>
                <a:br>
                  <a:rPr lang="en-US" dirty="0"/>
                </a:br>
                <a:r>
                  <a:rPr lang="en-US" dirty="0"/>
                  <a:t>scaling of improvement favors SEK.</a:t>
                </a:r>
              </a:p>
              <a:p>
                <a:pPr marL="0" indent="0">
                  <a:buNone/>
                </a:pPr>
                <a:r>
                  <a:rPr lang="en-US" dirty="0"/>
                  <a:t>Sum of response times per divergence: In expectation, SEK smaller.</a:t>
                </a:r>
              </a:p>
              <a:p>
                <a:pPr marL="0" indent="0">
                  <a:buNone/>
                </a:pPr>
                <a:r>
                  <a:rPr lang="en-US" dirty="0"/>
                  <a:t>Early arrival: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probability </a:t>
                </a:r>
                <a:r>
                  <a:rPr lang="en-US" dirty="0"/>
                  <a:t>per divergence,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advantage for SRPT-k</a:t>
                </a:r>
              </a:p>
              <a:p>
                <a:pPr marL="0" indent="0">
                  <a:buNone/>
                </a:pPr>
                <a:r>
                  <a:rPr lang="en-US" dirty="0"/>
                  <a:t>Late arrival: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probability </a:t>
                </a:r>
                <a:r>
                  <a:rPr lang="en-US" dirty="0"/>
                  <a:t>per divergence,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advantage </a:t>
                </a:r>
                <a:r>
                  <a:rPr lang="en-US" dirty="0"/>
                  <a:t>for SEK</a:t>
                </a:r>
              </a:p>
              <a:p>
                <a:pPr marL="0" indent="0">
                  <a:buNone/>
                </a:pPr>
                <a:r>
                  <a:rPr lang="en-US" dirty="0"/>
                  <a:t>All other arrival patterns: SEK no worse.</a:t>
                </a:r>
              </a:p>
              <a:p>
                <a:pPr marL="0" indent="0">
                  <a:buNone/>
                </a:pPr>
                <a:r>
                  <a:rPr lang="en-US" dirty="0"/>
                  <a:t>Some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easy</a:t>
                </a:r>
                <a:r>
                  <a:rPr lang="en-US" dirty="0"/>
                  <a:t> to prove, some challenging.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E64D7-CFBA-22C9-A609-10B5B7E50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82300" cy="4923518"/>
              </a:xfrm>
              <a:blipFill>
                <a:blip r:embed="rId2"/>
                <a:stretch>
                  <a:fillRect l="-1188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DB2B1EF-A456-2CD8-8DFF-2CBB2C42DFCC}"/>
              </a:ext>
            </a:extLst>
          </p:cNvPr>
          <p:cNvGrpSpPr/>
          <p:nvPr/>
        </p:nvGrpSpPr>
        <p:grpSpPr>
          <a:xfrm>
            <a:off x="9381498" y="230188"/>
            <a:ext cx="2556057" cy="1189038"/>
            <a:chOff x="6803295" y="3077831"/>
            <a:chExt cx="3948430" cy="181316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4D15BE-AD89-455F-1C39-B053F8439DA7}"/>
                </a:ext>
              </a:extLst>
            </p:cNvPr>
            <p:cNvGrpSpPr/>
            <p:nvPr/>
          </p:nvGrpSpPr>
          <p:grpSpPr>
            <a:xfrm>
              <a:off x="6803295" y="3077831"/>
              <a:ext cx="3948430" cy="1813168"/>
              <a:chOff x="4277296" y="1665997"/>
              <a:chExt cx="3948430" cy="181316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4E4D57F-97E9-E29E-DEEA-94B887C0FC0C}"/>
                  </a:ext>
                </a:extLst>
              </p:cNvPr>
              <p:cNvGrpSpPr/>
              <p:nvPr/>
            </p:nvGrpSpPr>
            <p:grpSpPr>
              <a:xfrm>
                <a:off x="4277296" y="2154555"/>
                <a:ext cx="3948430" cy="1324610"/>
                <a:chOff x="4277296" y="2154555"/>
                <a:chExt cx="3948430" cy="132461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D0B579CB-9EBD-3272-7C87-1894BA713976}"/>
                    </a:ext>
                  </a:extLst>
                </p:cNvPr>
                <p:cNvGrpSpPr/>
                <p:nvPr/>
              </p:nvGrpSpPr>
              <p:grpSpPr>
                <a:xfrm>
                  <a:off x="4277296" y="2154555"/>
                  <a:ext cx="3948430" cy="1324610"/>
                  <a:chOff x="1559" y="3013"/>
                  <a:chExt cx="6218" cy="2086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0CD944C7-B68D-BDC3-C016-CCE293617B36}"/>
                      </a:ext>
                    </a:extLst>
                  </p:cNvPr>
                  <p:cNvGrpSpPr/>
                  <p:nvPr/>
                </p:nvGrpSpPr>
                <p:grpSpPr>
                  <a:xfrm>
                    <a:off x="1559" y="3013"/>
                    <a:ext cx="6218" cy="2086"/>
                    <a:chOff x="1559" y="3013"/>
                    <a:chExt cx="6218" cy="2086"/>
                  </a:xfrm>
                </p:grpSpPr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16A8BC47-1429-C0B4-C5BA-215A50EAF2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59" y="3013"/>
                      <a:ext cx="6218" cy="1763"/>
                      <a:chOff x="5630" y="3687"/>
                      <a:chExt cx="6218" cy="1763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475E1DE0-94BE-5EF9-0E19-4E4BBA6F96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687"/>
                        <a:ext cx="5881" cy="1763"/>
                        <a:chOff x="5630" y="3687"/>
                        <a:chExt cx="5881" cy="1763"/>
                      </a:xfrm>
                    </p:grpSpPr>
                    <p:sp>
                      <p:nvSpPr>
                        <p:cNvPr id="21" name="Rectangles 8">
                          <a:extLst>
                            <a:ext uri="{FF2B5EF4-FFF2-40B4-BE49-F238E27FC236}">
                              <a16:creationId xmlns:a16="http://schemas.microsoft.com/office/drawing/2014/main" id="{6A7D703C-DE9E-40C9-C33C-D43821B0AF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" name="Rectangles 9">
                          <a:extLst>
                            <a:ext uri="{FF2B5EF4-FFF2-40B4-BE49-F238E27FC236}">
                              <a16:creationId xmlns:a16="http://schemas.microsoft.com/office/drawing/2014/main" id="{8911A3FD-BF8B-87B4-7BF0-87AB503530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" name="Rectangles 10">
                          <a:extLst>
                            <a:ext uri="{FF2B5EF4-FFF2-40B4-BE49-F238E27FC236}">
                              <a16:creationId xmlns:a16="http://schemas.microsoft.com/office/drawing/2014/main" id="{ECD3A48B-756D-B255-4522-8EA835F01E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" name="Rectangles 11">
                          <a:extLst>
                            <a:ext uri="{FF2B5EF4-FFF2-40B4-BE49-F238E27FC236}">
                              <a16:creationId xmlns:a16="http://schemas.microsoft.com/office/drawing/2014/main" id="{A2B30CCD-ED54-4A48-2355-A7E39D731C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" name="Oval 24">
                          <a:extLst>
                            <a:ext uri="{FF2B5EF4-FFF2-40B4-BE49-F238E27FC236}">
                              <a16:creationId xmlns:a16="http://schemas.microsoft.com/office/drawing/2014/main" id="{AC1BDDCF-838D-0FA3-B924-1E9DFB8590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4" y="3687"/>
                          <a:ext cx="827" cy="881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26" name="Straight Connector 25">
                          <a:extLst>
                            <a:ext uri="{FF2B5EF4-FFF2-40B4-BE49-F238E27FC236}">
                              <a16:creationId xmlns:a16="http://schemas.microsoft.com/office/drawing/2014/main" id="{C3D62208-AF9D-2FD8-5254-1FA40FCB4A9B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" name="Straight Connector 26">
                          <a:extLst>
                            <a:ext uri="{FF2B5EF4-FFF2-40B4-BE49-F238E27FC236}">
                              <a16:creationId xmlns:a16="http://schemas.microsoft.com/office/drawing/2014/main" id="{94939348-8EA9-79F9-5E80-218F0DF0826D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9" name="Straight Arrow Connector 18">
                        <a:extLst>
                          <a:ext uri="{FF2B5EF4-FFF2-40B4-BE49-F238E27FC236}">
                            <a16:creationId xmlns:a16="http://schemas.microsoft.com/office/drawing/2014/main" id="{6FB999D0-10A8-2BB3-0732-E07FD5A631D3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1511" y="4124"/>
                        <a:ext cx="337" cy="7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C4956ED9-3D2B-9113-442B-40FE227A0B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3" y="4218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6" name="Straight Arrow Connector 15">
                      <a:extLst>
                        <a:ext uri="{FF2B5EF4-FFF2-40B4-BE49-F238E27FC236}">
                          <a16:creationId xmlns:a16="http://schemas.microsoft.com/office/drawing/2014/main" id="{99FC0085-BACF-0424-9205-48E9B0CDF73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40" y="4655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Rectangles 17">
                      <a:extLst>
                        <a:ext uri="{FF2B5EF4-FFF2-40B4-BE49-F238E27FC236}">
                          <a16:creationId xmlns:a16="http://schemas.microsoft.com/office/drawing/2014/main" id="{ACBEF490-1515-3D6F-0CD5-5CD66B898A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47" y="3128"/>
                      <a:ext cx="770" cy="56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p:txBody>
                </p:sp>
              </p:grp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869A40A2-DF1E-59EF-204C-E532137744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08" y="3443"/>
                    <a:ext cx="259" cy="151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1B7ED48E-CB07-62D2-5CC8-A436E2758270}"/>
                      </a:ext>
                    </a:extLst>
                  </p:cNvPr>
                  <p:cNvCxnSpPr>
                    <a:cxnSpLocks/>
                    <a:endCxn id="15" idx="2"/>
                  </p:cNvCxnSpPr>
                  <p:nvPr/>
                </p:nvCxnSpPr>
                <p:spPr>
                  <a:xfrm>
                    <a:off x="6308" y="4452"/>
                    <a:ext cx="305" cy="207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Rectangles 16">
                  <a:extLst>
                    <a:ext uri="{FF2B5EF4-FFF2-40B4-BE49-F238E27FC236}">
                      <a16:creationId xmlns:a16="http://schemas.microsoft.com/office/drawing/2014/main" id="{A1D678DD-AC08-1D98-160D-9CBB7C0C2B82}"/>
                    </a:ext>
                  </a:extLst>
                </p:cNvPr>
                <p:cNvSpPr/>
                <p:nvPr/>
              </p:nvSpPr>
              <p:spPr>
                <a:xfrm>
                  <a:off x="6744883" y="2713990"/>
                  <a:ext cx="475616" cy="31877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0.4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334D36-8059-0899-787B-83A824579128}"/>
                  </a:ext>
                </a:extLst>
              </p:cNvPr>
              <p:cNvSpPr txBox="1"/>
              <p:nvPr/>
            </p:nvSpPr>
            <p:spPr>
              <a:xfrm>
                <a:off x="6165468" y="1665997"/>
                <a:ext cx="924124" cy="50062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tIns="0" rtlCol="0">
                <a:no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sp>
          <p:nvSpPr>
            <p:cNvPr id="6" name="Rectangles 21">
              <a:extLst>
                <a:ext uri="{FF2B5EF4-FFF2-40B4-BE49-F238E27FC236}">
                  <a16:creationId xmlns:a16="http://schemas.microsoft.com/office/drawing/2014/main" id="{90D05DA0-58B2-8644-A6C6-52909CA3144F}"/>
                </a:ext>
              </a:extLst>
            </p:cNvPr>
            <p:cNvSpPr/>
            <p:nvPr/>
          </p:nvSpPr>
          <p:spPr>
            <a:xfrm>
              <a:off x="10019570" y="4170273"/>
              <a:ext cx="503556" cy="61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B32BA81-DB5D-64AA-EAA8-488E53298B2E}"/>
              </a:ext>
            </a:extLst>
          </p:cNvPr>
          <p:cNvSpPr/>
          <p:nvPr/>
        </p:nvSpPr>
        <p:spPr>
          <a:xfrm>
            <a:off x="838200" y="3234773"/>
            <a:ext cx="1905000" cy="448074"/>
          </a:xfrm>
          <a:prstGeom prst="rect">
            <a:avLst/>
          </a:prstGeom>
          <a:noFill/>
          <a:ln w="38100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F32352-F289-3558-03A6-A8D7A5E4E74C}"/>
              </a:ext>
            </a:extLst>
          </p:cNvPr>
          <p:cNvSpPr/>
          <p:nvPr/>
        </p:nvSpPr>
        <p:spPr>
          <a:xfrm>
            <a:off x="838200" y="3760941"/>
            <a:ext cx="1838325" cy="448073"/>
          </a:xfrm>
          <a:prstGeom prst="rect">
            <a:avLst/>
          </a:prstGeom>
          <a:noFill/>
          <a:ln w="38100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12B5EDBC-2FC4-6B8D-5034-DC29D4DA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6303CA0F-FE71-068A-5E05-6C1F3972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13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4144-4BE5-1632-EA15-1A1F739F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SEK Improvement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E64D7-CFBA-22C9-A609-10B5B7E500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82300" cy="492351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the asymptotic limit as 2 small jobs are really small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),</a:t>
                </a:r>
                <a:br>
                  <a:rPr lang="en-US" dirty="0"/>
                </a:br>
                <a:r>
                  <a:rPr lang="en-US" dirty="0"/>
                  <a:t>scaling of improvement favors SEK.</a:t>
                </a:r>
              </a:p>
              <a:p>
                <a:pPr marL="0" indent="0">
                  <a:buNone/>
                </a:pPr>
                <a:r>
                  <a:rPr lang="en-US" dirty="0"/>
                  <a:t>Sum of response times per divergence: In expectation, SEK smaller.</a:t>
                </a:r>
              </a:p>
              <a:p>
                <a:pPr marL="0" indent="0">
                  <a:buNone/>
                </a:pPr>
                <a:r>
                  <a:rPr lang="en-US" dirty="0"/>
                  <a:t>Early arrival: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probability </a:t>
                </a:r>
                <a:r>
                  <a:rPr lang="en-US" dirty="0"/>
                  <a:t>per divergence,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advantage </a:t>
                </a:r>
                <a:r>
                  <a:rPr lang="en-US" dirty="0"/>
                  <a:t>for SRPT-k</a:t>
                </a:r>
              </a:p>
              <a:p>
                <a:pPr marL="0" indent="0">
                  <a:buNone/>
                </a:pPr>
                <a:r>
                  <a:rPr lang="en-US" dirty="0"/>
                  <a:t>Late arrival: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probability </a:t>
                </a:r>
                <a:r>
                  <a:rPr lang="en-US" dirty="0"/>
                  <a:t>per divergence,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advantage </a:t>
                </a:r>
                <a:r>
                  <a:rPr lang="en-US" dirty="0"/>
                  <a:t>for SEK</a:t>
                </a:r>
              </a:p>
              <a:p>
                <a:pPr marL="0" indent="0">
                  <a:buNone/>
                </a:pPr>
                <a:r>
                  <a:rPr lang="en-US" dirty="0"/>
                  <a:t>All other arrival patterns: SEK </a:t>
                </a:r>
                <a:r>
                  <a:rPr lang="en-US" dirty="0">
                    <a:solidFill>
                      <a:srgbClr val="C00000"/>
                    </a:solidFill>
                  </a:rPr>
                  <a:t>no worse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Some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easy</a:t>
                </a:r>
                <a:r>
                  <a:rPr lang="en-US" dirty="0"/>
                  <a:t> to prove, some </a:t>
                </a:r>
                <a:r>
                  <a:rPr lang="en-US" dirty="0">
                    <a:solidFill>
                      <a:srgbClr val="C00000"/>
                    </a:solidFill>
                  </a:rPr>
                  <a:t>challenging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Solution: Policy tweaks, worst-case lemmas.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E64D7-CFBA-22C9-A609-10B5B7E50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82300" cy="4923518"/>
              </a:xfrm>
              <a:blipFill>
                <a:blip r:embed="rId2"/>
                <a:stretch>
                  <a:fillRect l="-1188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DB2B1EF-A456-2CD8-8DFF-2CBB2C42DFCC}"/>
              </a:ext>
            </a:extLst>
          </p:cNvPr>
          <p:cNvGrpSpPr/>
          <p:nvPr/>
        </p:nvGrpSpPr>
        <p:grpSpPr>
          <a:xfrm>
            <a:off x="9381498" y="230188"/>
            <a:ext cx="2556057" cy="1189038"/>
            <a:chOff x="6803295" y="3077831"/>
            <a:chExt cx="3948430" cy="181316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4D15BE-AD89-455F-1C39-B053F8439DA7}"/>
                </a:ext>
              </a:extLst>
            </p:cNvPr>
            <p:cNvGrpSpPr/>
            <p:nvPr/>
          </p:nvGrpSpPr>
          <p:grpSpPr>
            <a:xfrm>
              <a:off x="6803295" y="3077831"/>
              <a:ext cx="3948430" cy="1813168"/>
              <a:chOff x="4277296" y="1665997"/>
              <a:chExt cx="3948430" cy="181316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4E4D57F-97E9-E29E-DEEA-94B887C0FC0C}"/>
                  </a:ext>
                </a:extLst>
              </p:cNvPr>
              <p:cNvGrpSpPr/>
              <p:nvPr/>
            </p:nvGrpSpPr>
            <p:grpSpPr>
              <a:xfrm>
                <a:off x="4277296" y="2154555"/>
                <a:ext cx="3948430" cy="1324610"/>
                <a:chOff x="4277296" y="2154555"/>
                <a:chExt cx="3948430" cy="132461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D0B579CB-9EBD-3272-7C87-1894BA713976}"/>
                    </a:ext>
                  </a:extLst>
                </p:cNvPr>
                <p:cNvGrpSpPr/>
                <p:nvPr/>
              </p:nvGrpSpPr>
              <p:grpSpPr>
                <a:xfrm>
                  <a:off x="4277296" y="2154555"/>
                  <a:ext cx="3948430" cy="1324610"/>
                  <a:chOff x="1559" y="3013"/>
                  <a:chExt cx="6218" cy="2086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0CD944C7-B68D-BDC3-C016-CCE293617B36}"/>
                      </a:ext>
                    </a:extLst>
                  </p:cNvPr>
                  <p:cNvGrpSpPr/>
                  <p:nvPr/>
                </p:nvGrpSpPr>
                <p:grpSpPr>
                  <a:xfrm>
                    <a:off x="1559" y="3013"/>
                    <a:ext cx="6218" cy="2086"/>
                    <a:chOff x="1559" y="3013"/>
                    <a:chExt cx="6218" cy="2086"/>
                  </a:xfrm>
                </p:grpSpPr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16A8BC47-1429-C0B4-C5BA-215A50EAF2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59" y="3013"/>
                      <a:ext cx="6218" cy="1763"/>
                      <a:chOff x="5630" y="3687"/>
                      <a:chExt cx="6218" cy="1763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475E1DE0-94BE-5EF9-0E19-4E4BBA6F96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687"/>
                        <a:ext cx="5881" cy="1763"/>
                        <a:chOff x="5630" y="3687"/>
                        <a:chExt cx="5881" cy="1763"/>
                      </a:xfrm>
                    </p:grpSpPr>
                    <p:sp>
                      <p:nvSpPr>
                        <p:cNvPr id="21" name="Rectangles 8">
                          <a:extLst>
                            <a:ext uri="{FF2B5EF4-FFF2-40B4-BE49-F238E27FC236}">
                              <a16:creationId xmlns:a16="http://schemas.microsoft.com/office/drawing/2014/main" id="{6A7D703C-DE9E-40C9-C33C-D43821B0AF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" name="Rectangles 9">
                          <a:extLst>
                            <a:ext uri="{FF2B5EF4-FFF2-40B4-BE49-F238E27FC236}">
                              <a16:creationId xmlns:a16="http://schemas.microsoft.com/office/drawing/2014/main" id="{8911A3FD-BF8B-87B4-7BF0-87AB503530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" name="Rectangles 10">
                          <a:extLst>
                            <a:ext uri="{FF2B5EF4-FFF2-40B4-BE49-F238E27FC236}">
                              <a16:creationId xmlns:a16="http://schemas.microsoft.com/office/drawing/2014/main" id="{ECD3A48B-756D-B255-4522-8EA835F01E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" name="Rectangles 11">
                          <a:extLst>
                            <a:ext uri="{FF2B5EF4-FFF2-40B4-BE49-F238E27FC236}">
                              <a16:creationId xmlns:a16="http://schemas.microsoft.com/office/drawing/2014/main" id="{A2B30CCD-ED54-4A48-2355-A7E39D731C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" name="Oval 24">
                          <a:extLst>
                            <a:ext uri="{FF2B5EF4-FFF2-40B4-BE49-F238E27FC236}">
                              <a16:creationId xmlns:a16="http://schemas.microsoft.com/office/drawing/2014/main" id="{AC1BDDCF-838D-0FA3-B924-1E9DFB8590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4" y="3687"/>
                          <a:ext cx="827" cy="881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26" name="Straight Connector 25">
                          <a:extLst>
                            <a:ext uri="{FF2B5EF4-FFF2-40B4-BE49-F238E27FC236}">
                              <a16:creationId xmlns:a16="http://schemas.microsoft.com/office/drawing/2014/main" id="{C3D62208-AF9D-2FD8-5254-1FA40FCB4A9B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" name="Straight Connector 26">
                          <a:extLst>
                            <a:ext uri="{FF2B5EF4-FFF2-40B4-BE49-F238E27FC236}">
                              <a16:creationId xmlns:a16="http://schemas.microsoft.com/office/drawing/2014/main" id="{94939348-8EA9-79F9-5E80-218F0DF0826D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9" name="Straight Arrow Connector 18">
                        <a:extLst>
                          <a:ext uri="{FF2B5EF4-FFF2-40B4-BE49-F238E27FC236}">
                            <a16:creationId xmlns:a16="http://schemas.microsoft.com/office/drawing/2014/main" id="{6FB999D0-10A8-2BB3-0732-E07FD5A631D3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1511" y="4124"/>
                        <a:ext cx="337" cy="7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C4956ED9-3D2B-9113-442B-40FE227A0B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3" y="4218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6" name="Straight Arrow Connector 15">
                      <a:extLst>
                        <a:ext uri="{FF2B5EF4-FFF2-40B4-BE49-F238E27FC236}">
                          <a16:creationId xmlns:a16="http://schemas.microsoft.com/office/drawing/2014/main" id="{99FC0085-BACF-0424-9205-48E9B0CDF73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40" y="4655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Rectangles 17">
                      <a:extLst>
                        <a:ext uri="{FF2B5EF4-FFF2-40B4-BE49-F238E27FC236}">
                          <a16:creationId xmlns:a16="http://schemas.microsoft.com/office/drawing/2014/main" id="{ACBEF490-1515-3D6F-0CD5-5CD66B898A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47" y="3128"/>
                      <a:ext cx="770" cy="56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p:txBody>
                </p:sp>
              </p:grp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869A40A2-DF1E-59EF-204C-E532137744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08" y="3443"/>
                    <a:ext cx="259" cy="151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1B7ED48E-CB07-62D2-5CC8-A436E2758270}"/>
                      </a:ext>
                    </a:extLst>
                  </p:cNvPr>
                  <p:cNvCxnSpPr>
                    <a:cxnSpLocks/>
                    <a:endCxn id="15" idx="2"/>
                  </p:cNvCxnSpPr>
                  <p:nvPr/>
                </p:nvCxnSpPr>
                <p:spPr>
                  <a:xfrm>
                    <a:off x="6308" y="4452"/>
                    <a:ext cx="305" cy="207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Rectangles 16">
                  <a:extLst>
                    <a:ext uri="{FF2B5EF4-FFF2-40B4-BE49-F238E27FC236}">
                      <a16:creationId xmlns:a16="http://schemas.microsoft.com/office/drawing/2014/main" id="{A1D678DD-AC08-1D98-160D-9CBB7C0C2B82}"/>
                    </a:ext>
                  </a:extLst>
                </p:cNvPr>
                <p:cNvSpPr/>
                <p:nvPr/>
              </p:nvSpPr>
              <p:spPr>
                <a:xfrm>
                  <a:off x="6744883" y="2713990"/>
                  <a:ext cx="475616" cy="31877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0.4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334D36-8059-0899-787B-83A824579128}"/>
                  </a:ext>
                </a:extLst>
              </p:cNvPr>
              <p:cNvSpPr txBox="1"/>
              <p:nvPr/>
            </p:nvSpPr>
            <p:spPr>
              <a:xfrm>
                <a:off x="6165468" y="1665997"/>
                <a:ext cx="924124" cy="50062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tIns="0" rtlCol="0">
                <a:no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sp>
          <p:nvSpPr>
            <p:cNvPr id="6" name="Rectangles 21">
              <a:extLst>
                <a:ext uri="{FF2B5EF4-FFF2-40B4-BE49-F238E27FC236}">
                  <a16:creationId xmlns:a16="http://schemas.microsoft.com/office/drawing/2014/main" id="{90D05DA0-58B2-8644-A6C6-52909CA3144F}"/>
                </a:ext>
              </a:extLst>
            </p:cNvPr>
            <p:cNvSpPr/>
            <p:nvPr/>
          </p:nvSpPr>
          <p:spPr>
            <a:xfrm>
              <a:off x="10019570" y="4170273"/>
              <a:ext cx="503556" cy="61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B32BA81-DB5D-64AA-EAA8-488E53298B2E}"/>
              </a:ext>
            </a:extLst>
          </p:cNvPr>
          <p:cNvSpPr/>
          <p:nvPr/>
        </p:nvSpPr>
        <p:spPr>
          <a:xfrm>
            <a:off x="838200" y="3234773"/>
            <a:ext cx="1905000" cy="448074"/>
          </a:xfrm>
          <a:prstGeom prst="rect">
            <a:avLst/>
          </a:prstGeom>
          <a:noFill/>
          <a:ln w="38100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F32352-F289-3558-03A6-A8D7A5E4E74C}"/>
              </a:ext>
            </a:extLst>
          </p:cNvPr>
          <p:cNvSpPr/>
          <p:nvPr/>
        </p:nvSpPr>
        <p:spPr>
          <a:xfrm>
            <a:off x="838200" y="3760941"/>
            <a:ext cx="1838325" cy="448073"/>
          </a:xfrm>
          <a:prstGeom prst="rect">
            <a:avLst/>
          </a:prstGeom>
          <a:noFill/>
          <a:ln w="38100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Lights On with solid fill">
            <a:extLst>
              <a:ext uri="{FF2B5EF4-FFF2-40B4-BE49-F238E27FC236}">
                <a16:creationId xmlns:a16="http://schemas.microsoft.com/office/drawing/2014/main" id="{AC042D7D-FFFF-8E9C-9C8C-67342817A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091995"/>
            <a:ext cx="914400" cy="914400"/>
          </a:xfrm>
          <a:prstGeom prst="rect">
            <a:avLst/>
          </a:prstGeom>
        </p:spPr>
      </p:pic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CB197D72-ACB5-4FEE-E590-D3216BC1E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76CD692E-F0BE-77F6-710A-65076DAA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8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C3F45-9B06-32EE-D732-D29DEB70D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1: If not early arrival, SEK no worse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38EFAA-BB2B-51D8-0B01-E6D6D00920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3282874"/>
                <a:ext cx="10945305" cy="30661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Intuition: SEK in a better state.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remaining vs.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Worse response time just after divergence will be gained back later.</a:t>
                </a:r>
              </a:p>
              <a:p>
                <a:pPr marL="0" indent="0">
                  <a:buNone/>
                </a:pPr>
                <a:r>
                  <a:rPr lang="en-US" dirty="0"/>
                  <a:t>Problem: Hard to handle multiple divergences in a row.</a:t>
                </a:r>
              </a:p>
              <a:p>
                <a:pPr marL="0" indent="0">
                  <a:buNone/>
                </a:pPr>
                <a:r>
                  <a:rPr lang="en-US" dirty="0"/>
                  <a:t>Solution: One SEK divergence, then SRPT-k until systems identical.</a:t>
                </a:r>
              </a:p>
              <a:p>
                <a:pPr lvl="1"/>
                <a:r>
                  <a:rPr lang="en-US" dirty="0"/>
                  <a:t>For theory only – in practice, fine to do all divergences.</a:t>
                </a:r>
              </a:p>
              <a:p>
                <a:pPr marL="0" indent="0">
                  <a:buNone/>
                </a:pPr>
                <a:r>
                  <a:rPr lang="en-US" dirty="0"/>
                  <a:t>Challenge solved: WC Lemma: If no early arrival,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𝑆𝐸𝐾</m:t>
                        </m:r>
                        <m:r>
                          <m:rPr>
                            <m:nor/>
                          </m:rPr>
                          <a:rPr lang="en-US" dirty="0"/>
                          <m:t>-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𝑜𝑛𝑐𝑒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≤∑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𝑆𝑅𝑃𝑇</m:t>
                        </m:r>
                        <m:r>
                          <m:rPr>
                            <m:nor/>
                          </m:rPr>
                          <a:rPr lang="en-US" dirty="0"/>
                          <m:t>-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38EFAA-BB2B-51D8-0B01-E6D6D00920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3282874"/>
                <a:ext cx="10945305" cy="3066118"/>
              </a:xfrm>
              <a:blipFill>
                <a:blip r:embed="rId2"/>
                <a:stretch>
                  <a:fillRect l="-1114" t="-3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E859D74-6F2E-EBB2-71D3-38F485CB1C3A}"/>
              </a:ext>
            </a:extLst>
          </p:cNvPr>
          <p:cNvGrpSpPr/>
          <p:nvPr/>
        </p:nvGrpSpPr>
        <p:grpSpPr>
          <a:xfrm>
            <a:off x="1136544" y="1323426"/>
            <a:ext cx="3892584" cy="1916765"/>
            <a:chOff x="1136544" y="1323426"/>
            <a:chExt cx="3892584" cy="191676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987CFC5-E75A-2058-716C-677CB9320127}"/>
                </a:ext>
              </a:extLst>
            </p:cNvPr>
            <p:cNvGrpSpPr/>
            <p:nvPr/>
          </p:nvGrpSpPr>
          <p:grpSpPr>
            <a:xfrm>
              <a:off x="1136544" y="1551741"/>
              <a:ext cx="3892584" cy="1688450"/>
              <a:chOff x="3708367" y="4632821"/>
              <a:chExt cx="3892584" cy="168845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1CC77D58-4583-AD05-DD00-BACB2F244E2A}"/>
                  </a:ext>
                </a:extLst>
              </p:cNvPr>
              <p:cNvGrpSpPr/>
              <p:nvPr/>
            </p:nvGrpSpPr>
            <p:grpSpPr>
              <a:xfrm>
                <a:off x="3708367" y="4632821"/>
                <a:ext cx="3892584" cy="1688450"/>
                <a:chOff x="1668859" y="3965823"/>
                <a:chExt cx="1996153" cy="1688450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E23BACD7-D5A3-48F7-CA3B-992B925B79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4952" y="3965823"/>
                  <a:ext cx="10129" cy="1170953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s 17">
                      <a:extLst>
                        <a:ext uri="{FF2B5EF4-FFF2-40B4-BE49-F238E27FC236}">
                          <a16:creationId xmlns:a16="http://schemas.microsoft.com/office/drawing/2014/main" id="{6A43D4E0-9ED8-941B-1995-CC20342052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63310" y="4272500"/>
                      <a:ext cx="159983" cy="359762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9" name="Rectangles 17">
                      <a:extLst>
                        <a:ext uri="{FF2B5EF4-FFF2-40B4-BE49-F238E27FC236}">
                          <a16:creationId xmlns:a16="http://schemas.microsoft.com/office/drawing/2014/main" id="{6A43D4E0-9ED8-941B-1995-CC20342052E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63310" y="4272500"/>
                      <a:ext cx="159983" cy="35976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Rectangles 16">
                      <a:extLst>
                        <a:ext uri="{FF2B5EF4-FFF2-40B4-BE49-F238E27FC236}">
                          <a16:creationId xmlns:a16="http://schemas.microsoft.com/office/drawing/2014/main" id="{3A1D19AF-4426-8E89-9C52-62D004AD0F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54914" y="4733970"/>
                      <a:ext cx="168379" cy="333786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0" name="Rectangles 16">
                      <a:extLst>
                        <a:ext uri="{FF2B5EF4-FFF2-40B4-BE49-F238E27FC236}">
                          <a16:creationId xmlns:a16="http://schemas.microsoft.com/office/drawing/2014/main" id="{3A1D19AF-4426-8E89-9C52-62D004AD0F5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54914" y="4733970"/>
                      <a:ext cx="168379" cy="33378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" name="Rectangles 21">
                  <a:extLst>
                    <a:ext uri="{FF2B5EF4-FFF2-40B4-BE49-F238E27FC236}">
                      <a16:creationId xmlns:a16="http://schemas.microsoft.com/office/drawing/2014/main" id="{440CCA10-BABC-D90D-AE08-87550D6422EC}"/>
                    </a:ext>
                  </a:extLst>
                </p:cNvPr>
                <p:cNvSpPr/>
                <p:nvPr/>
              </p:nvSpPr>
              <p:spPr>
                <a:xfrm>
                  <a:off x="1964167" y="4285168"/>
                  <a:ext cx="1014730" cy="35976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10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B2B2C644-CFD0-25B0-2224-419AA2BE12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34951" y="5136776"/>
                  <a:ext cx="1930061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B055BD0-5437-6D90-70F7-37BF9EA6BC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23293" y="5093248"/>
                  <a:ext cx="0" cy="19169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81A11F0A-799E-310F-9ADE-5A13D96288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68859" y="5284941"/>
                      <a:ext cx="18405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0    </a:t>
                      </a:r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a14:m>
                      <a:r>
                        <a:rPr lang="en-US" dirty="0"/>
                        <a:t>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10+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81A11F0A-799E-310F-9ADE-5A13D96288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68859" y="5284941"/>
                      <a:ext cx="1840574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358" t="-9836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3883EA56-4965-9A27-6CF6-F9515DC0B8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2997" y="5734754"/>
                <a:ext cx="0" cy="19078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0AC2E5-CFBD-9402-F60F-8F618B91E191}"/>
                </a:ext>
              </a:extLst>
            </p:cNvPr>
            <p:cNvSpPr txBox="1"/>
            <p:nvPr/>
          </p:nvSpPr>
          <p:spPr>
            <a:xfrm>
              <a:off x="2045078" y="1323426"/>
              <a:ext cx="980122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SRPT-k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0483BF7-CF2C-32C7-AA26-01F59C36E07E}"/>
              </a:ext>
            </a:extLst>
          </p:cNvPr>
          <p:cNvGrpSpPr/>
          <p:nvPr/>
        </p:nvGrpSpPr>
        <p:grpSpPr>
          <a:xfrm>
            <a:off x="5789434" y="1366109"/>
            <a:ext cx="3892584" cy="1916765"/>
            <a:chOff x="5789434" y="1366109"/>
            <a:chExt cx="3892584" cy="191676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86592BB-2286-AC43-DB4D-B8C0F5716AD9}"/>
                </a:ext>
              </a:extLst>
            </p:cNvPr>
            <p:cNvGrpSpPr/>
            <p:nvPr/>
          </p:nvGrpSpPr>
          <p:grpSpPr>
            <a:xfrm>
              <a:off x="5789434" y="1366109"/>
              <a:ext cx="3892584" cy="1916765"/>
              <a:chOff x="1136544" y="1323426"/>
              <a:chExt cx="3892584" cy="1916765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867A885-420D-E1C4-553A-B8507B5C0391}"/>
                  </a:ext>
                </a:extLst>
              </p:cNvPr>
              <p:cNvGrpSpPr/>
              <p:nvPr/>
            </p:nvGrpSpPr>
            <p:grpSpPr>
              <a:xfrm>
                <a:off x="1136544" y="1551741"/>
                <a:ext cx="3892584" cy="1688450"/>
                <a:chOff x="3708367" y="4632821"/>
                <a:chExt cx="3892584" cy="168845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3B60661E-674B-4EDE-D07C-1A556E9A56DC}"/>
                    </a:ext>
                  </a:extLst>
                </p:cNvPr>
                <p:cNvGrpSpPr/>
                <p:nvPr/>
              </p:nvGrpSpPr>
              <p:grpSpPr>
                <a:xfrm>
                  <a:off x="3708367" y="4632821"/>
                  <a:ext cx="3892584" cy="1688450"/>
                  <a:chOff x="1668859" y="3965823"/>
                  <a:chExt cx="1996153" cy="1688450"/>
                </a:xfrm>
              </p:grpSpPr>
              <p:cxnSp>
                <p:nvCxnSpPr>
                  <p:cNvPr id="24" name="Straight Arrow Connector 23">
                    <a:extLst>
                      <a:ext uri="{FF2B5EF4-FFF2-40B4-BE49-F238E27FC236}">
                        <a16:creationId xmlns:a16="http://schemas.microsoft.com/office/drawing/2014/main" id="{1FD80A33-1E9B-E1F5-029A-E208C7FAAA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34952" y="3965823"/>
                    <a:ext cx="10129" cy="1170953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5" name="Rectangles 17">
                        <a:extLst>
                          <a:ext uri="{FF2B5EF4-FFF2-40B4-BE49-F238E27FC236}">
                            <a16:creationId xmlns:a16="http://schemas.microsoft.com/office/drawing/2014/main" id="{ECED4F14-3CF4-9EA1-91A4-C05B7FBCE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74780" y="4728573"/>
                        <a:ext cx="159983" cy="334497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25" name="Rectangles 17">
                        <a:extLst>
                          <a:ext uri="{FF2B5EF4-FFF2-40B4-BE49-F238E27FC236}">
                            <a16:creationId xmlns:a16="http://schemas.microsoft.com/office/drawing/2014/main" id="{ECED4F14-3CF4-9EA1-91A4-C05B7FBCEB2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74780" y="4728573"/>
                        <a:ext cx="159983" cy="33449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6" name="Rectangles 16">
                        <a:extLst>
                          <a:ext uri="{FF2B5EF4-FFF2-40B4-BE49-F238E27FC236}">
                            <a16:creationId xmlns:a16="http://schemas.microsoft.com/office/drawing/2014/main" id="{2146D4A2-BAD9-DF7A-AA67-31052BE479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4914" y="4733970"/>
                        <a:ext cx="168379" cy="333786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26" name="Rectangles 16">
                        <a:extLst>
                          <a:ext uri="{FF2B5EF4-FFF2-40B4-BE49-F238E27FC236}">
                            <a16:creationId xmlns:a16="http://schemas.microsoft.com/office/drawing/2014/main" id="{2146D4A2-BAD9-DF7A-AA67-31052BE4799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4914" y="4733970"/>
                        <a:ext cx="168379" cy="333786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7" name="Rectangles 21">
                    <a:extLst>
                      <a:ext uri="{FF2B5EF4-FFF2-40B4-BE49-F238E27FC236}">
                        <a16:creationId xmlns:a16="http://schemas.microsoft.com/office/drawing/2014/main" id="{EABF140D-9606-132A-D7A5-69FB425D2C4D}"/>
                      </a:ext>
                    </a:extLst>
                  </p:cNvPr>
                  <p:cNvSpPr/>
                  <p:nvPr/>
                </p:nvSpPr>
                <p:spPr>
                  <a:xfrm>
                    <a:off x="1755821" y="4294857"/>
                    <a:ext cx="1014730" cy="359762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10</a:t>
                    </a:r>
                  </a:p>
                </p:txBody>
              </p: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DEA23256-490C-C98C-91ED-077611FB99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734951" y="5136776"/>
                    <a:ext cx="1930061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head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0D313944-A9BD-C52E-DC81-7EE48FC2B0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3293" y="5093248"/>
                    <a:ext cx="0" cy="1916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852619C4-5E2E-7F56-BC42-D3F9F775011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68859" y="5284941"/>
                        <a:ext cx="184057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/>
                          <a:t>0    </a:t>
                        </a:r>
                        <a14:m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a14:m>
                        <a:r>
                          <a:rPr lang="en-US" dirty="0"/>
                          <a:t>      </a:t>
                        </a:r>
                        <a14:m>
                          <m:oMath xmlns:m="http://schemas.openxmlformats.org/officeDocument/2006/math"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a14:m>
                        <a:r>
                          <a:rPr lang="en-US" dirty="0"/>
                          <a:t>                    </a:t>
                        </a:r>
                        <a14:m>
                          <m:oMath xmlns:m="http://schemas.openxmlformats.org/officeDocument/2006/math"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852619C4-5E2E-7F56-BC42-D3F9F775011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68859" y="5284941"/>
                        <a:ext cx="1840574" cy="369332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l="-1531" t="-9836" b="-2459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475BBB1D-6716-4CCA-5458-FAB9C743F9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95722" y="5762115"/>
                  <a:ext cx="0" cy="19078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C33AD6-3A86-37F2-84D1-78514012EE89}"/>
                  </a:ext>
                </a:extLst>
              </p:cNvPr>
              <p:cNvSpPr txBox="1"/>
              <p:nvPr/>
            </p:nvSpPr>
            <p:spPr>
              <a:xfrm>
                <a:off x="2045078" y="1323426"/>
                <a:ext cx="634445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859E599-CDFD-5B43-7A85-13D125CF39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7967" y="2689036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F69692B-3DE1-B944-54AB-FF78004D9FCB}"/>
              </a:ext>
            </a:extLst>
          </p:cNvPr>
          <p:cNvGrpSpPr/>
          <p:nvPr/>
        </p:nvGrpSpPr>
        <p:grpSpPr>
          <a:xfrm>
            <a:off x="2855859" y="1647439"/>
            <a:ext cx="4922835" cy="1576308"/>
            <a:chOff x="2855859" y="1647439"/>
            <a:chExt cx="4922835" cy="1576308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CC27935-F6A6-1BCA-73FD-5E00CA00A71E}"/>
                </a:ext>
              </a:extLst>
            </p:cNvPr>
            <p:cNvGrpSpPr/>
            <p:nvPr/>
          </p:nvGrpSpPr>
          <p:grpSpPr>
            <a:xfrm>
              <a:off x="2855859" y="1647439"/>
              <a:ext cx="312892" cy="1539586"/>
              <a:chOff x="2855859" y="1647439"/>
              <a:chExt cx="312892" cy="1539586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FE7B59E-F2A5-44AF-ECB2-9DB45C0DE7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8751" y="1647439"/>
                <a:ext cx="0" cy="1340858"/>
              </a:xfrm>
              <a:prstGeom prst="line">
                <a:avLst/>
              </a:prstGeom>
              <a:ln w="38100">
                <a:solidFill>
                  <a:srgbClr val="99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2ABAFAEA-0442-8184-26A0-19C028D291FE}"/>
                      </a:ext>
                    </a:extLst>
                  </p:cNvPr>
                  <p:cNvSpPr txBox="1"/>
                  <p:nvPr/>
                </p:nvSpPr>
                <p:spPr>
                  <a:xfrm>
                    <a:off x="2855859" y="2817695"/>
                    <a:ext cx="291418" cy="369330"/>
                  </a:xfrm>
                  <a:prstGeom prst="rect">
                    <a:avLst/>
                  </a:prstGeom>
                  <a:noFill/>
                  <a:ln w="25400">
                    <a:solidFill>
                      <a:srgbClr val="9966FF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2ABAFAEA-0442-8184-26A0-19C028D291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5859" y="2817695"/>
                    <a:ext cx="291418" cy="36933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25400">
                    <a:solidFill>
                      <a:srgbClr val="9966FF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514459C-E0FE-04FC-4E65-5AC7B392090B}"/>
                </a:ext>
              </a:extLst>
            </p:cNvPr>
            <p:cNvGrpSpPr/>
            <p:nvPr/>
          </p:nvGrpSpPr>
          <p:grpSpPr>
            <a:xfrm>
              <a:off x="7465802" y="1684161"/>
              <a:ext cx="312892" cy="1539586"/>
              <a:chOff x="2855859" y="1647439"/>
              <a:chExt cx="312892" cy="1539586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E38B73A-972D-4D31-6EF3-7C9C77D83F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8751" y="1647439"/>
                <a:ext cx="0" cy="1340858"/>
              </a:xfrm>
              <a:prstGeom prst="line">
                <a:avLst/>
              </a:prstGeom>
              <a:ln w="38100">
                <a:solidFill>
                  <a:srgbClr val="99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41539E7E-14A6-B5B0-7C88-E2CA3D590B4C}"/>
                      </a:ext>
                    </a:extLst>
                  </p:cNvPr>
                  <p:cNvSpPr txBox="1"/>
                  <p:nvPr/>
                </p:nvSpPr>
                <p:spPr>
                  <a:xfrm>
                    <a:off x="2855859" y="2817695"/>
                    <a:ext cx="291418" cy="369330"/>
                  </a:xfrm>
                  <a:prstGeom prst="rect">
                    <a:avLst/>
                  </a:prstGeom>
                  <a:noFill/>
                  <a:ln w="25400">
                    <a:solidFill>
                      <a:srgbClr val="9966FF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41539E7E-14A6-B5B0-7C88-E2CA3D590B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5859" y="2817695"/>
                    <a:ext cx="291418" cy="36933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25400">
                    <a:solidFill>
                      <a:srgbClr val="9966FF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8A774FD5-5CB0-8C4C-EB52-3B667F7B7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084B3D0D-E89B-DE6C-C220-27D66CE48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FE23462-EAEA-58AE-ED8F-C384D176A2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Challenge 2: If early arrival,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worse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FE23462-EAEA-58AE-ED8F-C384D176A2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76F3B-3954-F20C-C3B5-539A3D6BE5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315225"/>
                <a:ext cx="11228109" cy="333322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Worse until systems next identical.</a:t>
                </a:r>
                <a:br>
                  <a:rPr lang="en-US" dirty="0"/>
                </a:br>
                <a:r>
                  <a:rPr lang="en-US" dirty="0"/>
                  <a:t>Intuition: 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dirty="0"/>
                  <a:t> worse per arrival,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arrivals.</a:t>
                </a:r>
              </a:p>
              <a:p>
                <a:pPr marL="0" indent="0">
                  <a:buNone/>
                </a:pPr>
                <a:r>
                  <a:rPr lang="en-US" dirty="0"/>
                  <a:t>Lemma: SRPT-k worst-case property: Positive part monotonically decreasing,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𝑆𝐸𝐾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𝑆𝑅𝑃𝑇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-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𝑆𝐸𝐾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,10−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𝑆𝑅𝑃𝑇</m:t>
                        </m:r>
                        <m:r>
                          <m:rPr>
                            <m:nor/>
                          </m:rPr>
                          <a:rPr lang="en-US" dirty="0"/>
                          <m:t>-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=[0,10−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1. How to convert to a per-arrival result?</a:t>
                </a:r>
              </a:p>
              <a:p>
                <a:pPr marL="0" indent="0">
                  <a:buNone/>
                </a:pPr>
                <a:r>
                  <a:rPr lang="en-US" dirty="0"/>
                  <a:t>2. How to prove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arrivals, not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or more? Hard for general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Solution: Need even better worst-case properties. Policy Tweak: SMOD!</a:t>
                </a:r>
              </a:p>
              <a:p>
                <a:pPr lvl="1"/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76F3B-3954-F20C-C3B5-539A3D6BE5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315225"/>
                <a:ext cx="11228109" cy="3333221"/>
              </a:xfrm>
              <a:blipFill>
                <a:blip r:embed="rId3"/>
                <a:stretch>
                  <a:fillRect l="-978" t="-3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F6E6C5B-0DBD-A06A-B80F-D0E6EB0CEE29}"/>
              </a:ext>
            </a:extLst>
          </p:cNvPr>
          <p:cNvGrpSpPr/>
          <p:nvPr/>
        </p:nvGrpSpPr>
        <p:grpSpPr>
          <a:xfrm>
            <a:off x="1136544" y="1323426"/>
            <a:ext cx="3892584" cy="1916765"/>
            <a:chOff x="1136544" y="1323426"/>
            <a:chExt cx="3892584" cy="191676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AAF580B-F0B9-2709-769E-8398646D1B0D}"/>
                </a:ext>
              </a:extLst>
            </p:cNvPr>
            <p:cNvGrpSpPr/>
            <p:nvPr/>
          </p:nvGrpSpPr>
          <p:grpSpPr>
            <a:xfrm>
              <a:off x="1136544" y="1551741"/>
              <a:ext cx="3892584" cy="1688450"/>
              <a:chOff x="3708367" y="4632821"/>
              <a:chExt cx="3892584" cy="168845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B7AF861-2680-50C9-2DCA-67004955FEC2}"/>
                  </a:ext>
                </a:extLst>
              </p:cNvPr>
              <p:cNvGrpSpPr/>
              <p:nvPr/>
            </p:nvGrpSpPr>
            <p:grpSpPr>
              <a:xfrm>
                <a:off x="3708367" y="4632821"/>
                <a:ext cx="3892584" cy="1688450"/>
                <a:chOff x="1668859" y="3965823"/>
                <a:chExt cx="1996153" cy="1688450"/>
              </a:xfrm>
            </p:grpSpPr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519009D0-2BFD-DCD9-CBA7-70B100E466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4952" y="3965823"/>
                  <a:ext cx="10129" cy="1170953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Rectangles 17">
                      <a:extLst>
                        <a:ext uri="{FF2B5EF4-FFF2-40B4-BE49-F238E27FC236}">
                          <a16:creationId xmlns:a16="http://schemas.microsoft.com/office/drawing/2014/main" id="{F1A189C0-11C5-4501-0090-556CDC81CC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63310" y="4272500"/>
                      <a:ext cx="159983" cy="359762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0" name="Rectangles 17">
                      <a:extLst>
                        <a:ext uri="{FF2B5EF4-FFF2-40B4-BE49-F238E27FC236}">
                          <a16:creationId xmlns:a16="http://schemas.microsoft.com/office/drawing/2014/main" id="{F1A189C0-11C5-4501-0090-556CDC81CC0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63310" y="4272500"/>
                      <a:ext cx="159983" cy="35976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Rectangles 16">
                      <a:extLst>
                        <a:ext uri="{FF2B5EF4-FFF2-40B4-BE49-F238E27FC236}">
                          <a16:creationId xmlns:a16="http://schemas.microsoft.com/office/drawing/2014/main" id="{7524ACFC-8114-C8C7-6762-1C102250F6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54914" y="4733970"/>
                      <a:ext cx="168379" cy="333786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" name="Rectangles 16">
                      <a:extLst>
                        <a:ext uri="{FF2B5EF4-FFF2-40B4-BE49-F238E27FC236}">
                          <a16:creationId xmlns:a16="http://schemas.microsoft.com/office/drawing/2014/main" id="{7524ACFC-8114-C8C7-6762-1C102250F6F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54914" y="4733970"/>
                      <a:ext cx="168379" cy="333786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" name="Rectangles 21">
                  <a:extLst>
                    <a:ext uri="{FF2B5EF4-FFF2-40B4-BE49-F238E27FC236}">
                      <a16:creationId xmlns:a16="http://schemas.microsoft.com/office/drawing/2014/main" id="{591FABB9-FEAB-6DE7-0A38-A64C9225FB75}"/>
                    </a:ext>
                  </a:extLst>
                </p:cNvPr>
                <p:cNvSpPr/>
                <p:nvPr/>
              </p:nvSpPr>
              <p:spPr>
                <a:xfrm>
                  <a:off x="1964167" y="4285168"/>
                  <a:ext cx="1014730" cy="35976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10</a:t>
                  </a:r>
                </a:p>
              </p:txBody>
            </p: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72BF3742-F052-CA12-6B00-391E3535B3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34951" y="5136776"/>
                  <a:ext cx="1930061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8D57BCCE-3576-EFC2-2970-4D9FBC12A0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23293" y="5093248"/>
                  <a:ext cx="0" cy="19169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C2384C8C-F3DA-E633-2284-C0AABB01CA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68859" y="5284941"/>
                      <a:ext cx="18405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0    </a:t>
                      </a:r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a14:m>
                      <a:r>
                        <a:rPr lang="en-US" dirty="0"/>
                        <a:t>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10+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C2384C8C-F3DA-E633-2284-C0AABB01CA1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68859" y="5284941"/>
                      <a:ext cx="1840574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358" t="-9836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6978372-1409-3284-11D8-263AD5C99A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2997" y="5734754"/>
                <a:ext cx="0" cy="19078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A3EC764-2405-F784-BD25-240D6FFD6FA9}"/>
                </a:ext>
              </a:extLst>
            </p:cNvPr>
            <p:cNvSpPr txBox="1"/>
            <p:nvPr/>
          </p:nvSpPr>
          <p:spPr>
            <a:xfrm>
              <a:off x="2045078" y="1323426"/>
              <a:ext cx="980122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SRPT-k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8DF03B-B7A7-1B00-3B98-D8771E39FE29}"/>
              </a:ext>
            </a:extLst>
          </p:cNvPr>
          <p:cNvGrpSpPr/>
          <p:nvPr/>
        </p:nvGrpSpPr>
        <p:grpSpPr>
          <a:xfrm>
            <a:off x="5789434" y="1366109"/>
            <a:ext cx="3892584" cy="1916765"/>
            <a:chOff x="1136544" y="1323426"/>
            <a:chExt cx="3892584" cy="191676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A1342AF-5AE4-5D0B-4C58-18636915E424}"/>
                </a:ext>
              </a:extLst>
            </p:cNvPr>
            <p:cNvGrpSpPr/>
            <p:nvPr/>
          </p:nvGrpSpPr>
          <p:grpSpPr>
            <a:xfrm>
              <a:off x="1136544" y="1551741"/>
              <a:ext cx="3892584" cy="1688450"/>
              <a:chOff x="3708367" y="4632821"/>
              <a:chExt cx="3892584" cy="168845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738229BF-BFEC-F395-BA33-863AC8C47CF9}"/>
                  </a:ext>
                </a:extLst>
              </p:cNvPr>
              <p:cNvGrpSpPr/>
              <p:nvPr/>
            </p:nvGrpSpPr>
            <p:grpSpPr>
              <a:xfrm>
                <a:off x="3708367" y="4632821"/>
                <a:ext cx="3892584" cy="1688450"/>
                <a:chOff x="1668859" y="3965823"/>
                <a:chExt cx="1996153" cy="1688450"/>
              </a:xfrm>
            </p:grpSpPr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086D2D1B-283A-B857-4B44-C4301F822A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4952" y="3965823"/>
                  <a:ext cx="10129" cy="1170953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s 17">
                      <a:extLst>
                        <a:ext uri="{FF2B5EF4-FFF2-40B4-BE49-F238E27FC236}">
                          <a16:creationId xmlns:a16="http://schemas.microsoft.com/office/drawing/2014/main" id="{3CA62F7D-C434-7C8E-2A67-C2FF634CEB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74780" y="4728573"/>
                      <a:ext cx="159983" cy="334497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2" name="Rectangles 17">
                      <a:extLst>
                        <a:ext uri="{FF2B5EF4-FFF2-40B4-BE49-F238E27FC236}">
                          <a16:creationId xmlns:a16="http://schemas.microsoft.com/office/drawing/2014/main" id="{3CA62F7D-C434-7C8E-2A67-C2FF634CEB4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4780" y="4728573"/>
                      <a:ext cx="159983" cy="33449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s 16">
                      <a:extLst>
                        <a:ext uri="{FF2B5EF4-FFF2-40B4-BE49-F238E27FC236}">
                          <a16:creationId xmlns:a16="http://schemas.microsoft.com/office/drawing/2014/main" id="{8AE154C8-A8E6-D622-D44A-33A30936B2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54914" y="4733970"/>
                      <a:ext cx="168379" cy="333786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3" name="Rectangles 16">
                      <a:extLst>
                        <a:ext uri="{FF2B5EF4-FFF2-40B4-BE49-F238E27FC236}">
                          <a16:creationId xmlns:a16="http://schemas.microsoft.com/office/drawing/2014/main" id="{8AE154C8-A8E6-D622-D44A-33A30936B22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54914" y="4733970"/>
                      <a:ext cx="168379" cy="333786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4" name="Rectangles 21">
                  <a:extLst>
                    <a:ext uri="{FF2B5EF4-FFF2-40B4-BE49-F238E27FC236}">
                      <a16:creationId xmlns:a16="http://schemas.microsoft.com/office/drawing/2014/main" id="{87E0A4C2-D204-04A5-7C07-109B5E2394D7}"/>
                    </a:ext>
                  </a:extLst>
                </p:cNvPr>
                <p:cNvSpPr/>
                <p:nvPr/>
              </p:nvSpPr>
              <p:spPr>
                <a:xfrm>
                  <a:off x="1755821" y="4294857"/>
                  <a:ext cx="1014730" cy="35976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10</a:t>
                  </a:r>
                </a:p>
              </p:txBody>
            </p: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021D1ACC-7601-84E1-6DA5-C779AB64F0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34951" y="5136776"/>
                  <a:ext cx="1930061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AE75B57-4534-29B4-7C8F-A1CA82D0E2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23293" y="5093248"/>
                  <a:ext cx="0" cy="19169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E83B9338-1C73-3385-1F27-7EBA53386A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68859" y="5284941"/>
                      <a:ext cx="18405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0    </a:t>
                      </a:r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a14:m>
                      <a:r>
                        <a:rPr lang="en-US" dirty="0"/>
                        <a:t>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a14:m>
                      <a:r>
                        <a:rPr lang="en-US" dirty="0"/>
                        <a:t>                    </a:t>
                      </a:r>
                      <a14:m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E83B9338-1C73-3385-1F27-7EBA53386AA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68859" y="5284941"/>
                      <a:ext cx="1840574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531" t="-9836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A1510D3-F986-BE23-FC7E-C9888D6517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95722" y="5762115"/>
                <a:ext cx="0" cy="19078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BC66AA-8F9C-6316-BB82-D374489C4120}"/>
                </a:ext>
              </a:extLst>
            </p:cNvPr>
            <p:cNvSpPr txBox="1"/>
            <p:nvPr/>
          </p:nvSpPr>
          <p:spPr>
            <a:xfrm>
              <a:off x="2045078" y="1323426"/>
              <a:ext cx="610836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SEK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AD017C8-EBBD-4DD7-113A-76E5A8094E11}"/>
              </a:ext>
            </a:extLst>
          </p:cNvPr>
          <p:cNvGrpSpPr/>
          <p:nvPr/>
        </p:nvGrpSpPr>
        <p:grpSpPr>
          <a:xfrm>
            <a:off x="1933480" y="1657411"/>
            <a:ext cx="4911886" cy="1586629"/>
            <a:chOff x="3078265" y="1647439"/>
            <a:chExt cx="4911886" cy="1586629"/>
          </a:xfrm>
          <a:solidFill>
            <a:schemeClr val="bg1"/>
          </a:solid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BFB9E64-D399-02E2-508B-82ECC9C7D477}"/>
                </a:ext>
              </a:extLst>
            </p:cNvPr>
            <p:cNvGrpSpPr/>
            <p:nvPr/>
          </p:nvGrpSpPr>
          <p:grpSpPr>
            <a:xfrm>
              <a:off x="3078265" y="1647439"/>
              <a:ext cx="291418" cy="1541119"/>
              <a:chOff x="3078265" y="1647439"/>
              <a:chExt cx="291418" cy="1541119"/>
            </a:xfrm>
            <a:grpFill/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5E05202C-CA20-83EA-DE00-A11699A679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8751" y="1647439"/>
                <a:ext cx="0" cy="1340858"/>
              </a:xfrm>
              <a:prstGeom prst="line">
                <a:avLst/>
              </a:prstGeom>
              <a:grpFill/>
              <a:ln w="38100">
                <a:solidFill>
                  <a:srgbClr val="FF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6827E501-8FBE-96E6-5949-8908CCA8DD67}"/>
                      </a:ext>
                    </a:extLst>
                  </p:cNvPr>
                  <p:cNvSpPr txBox="1"/>
                  <p:nvPr/>
                </p:nvSpPr>
                <p:spPr>
                  <a:xfrm>
                    <a:off x="3078265" y="2819228"/>
                    <a:ext cx="291418" cy="369330"/>
                  </a:xfrm>
                  <a:prstGeom prst="rect">
                    <a:avLst/>
                  </a:prstGeom>
                  <a:grpFill/>
                  <a:ln w="25400">
                    <a:solidFill>
                      <a:srgbClr val="FF66FF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6827E501-8FBE-96E6-5949-8908CCA8DD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78265" y="2819228"/>
                    <a:ext cx="291418" cy="36933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25400">
                    <a:solidFill>
                      <a:srgbClr val="FF66FF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FE4D8A3-DE90-5516-5315-A43E905AF299}"/>
                </a:ext>
              </a:extLst>
            </p:cNvPr>
            <p:cNvGrpSpPr/>
            <p:nvPr/>
          </p:nvGrpSpPr>
          <p:grpSpPr>
            <a:xfrm>
              <a:off x="7698733" y="1684161"/>
              <a:ext cx="291418" cy="1549907"/>
              <a:chOff x="3088790" y="1647439"/>
              <a:chExt cx="291418" cy="1549907"/>
            </a:xfrm>
            <a:grpFill/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F0E7E32-F5FF-4C34-48C2-048B7061E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8751" y="1647439"/>
                <a:ext cx="0" cy="1340858"/>
              </a:xfrm>
              <a:prstGeom prst="line">
                <a:avLst/>
              </a:prstGeom>
              <a:grpFill/>
              <a:ln w="38100">
                <a:solidFill>
                  <a:srgbClr val="FF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D80333B9-D969-B563-9466-6D7D32175ACC}"/>
                      </a:ext>
                    </a:extLst>
                  </p:cNvPr>
                  <p:cNvSpPr txBox="1"/>
                  <p:nvPr/>
                </p:nvSpPr>
                <p:spPr>
                  <a:xfrm>
                    <a:off x="3088790" y="2828016"/>
                    <a:ext cx="291418" cy="369330"/>
                  </a:xfrm>
                  <a:prstGeom prst="rect">
                    <a:avLst/>
                  </a:prstGeom>
                  <a:grpFill/>
                  <a:ln w="25400">
                    <a:solidFill>
                      <a:srgbClr val="FF66FF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D80333B9-D969-B563-9466-6D7D32175A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8790" y="2828016"/>
                    <a:ext cx="291418" cy="36933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25400">
                    <a:solidFill>
                      <a:srgbClr val="FF66FF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35" name="Graphic 34" descr="Lights On with solid fill">
            <a:extLst>
              <a:ext uri="{FF2B5EF4-FFF2-40B4-BE49-F238E27FC236}">
                <a16:creationId xmlns:a16="http://schemas.microsoft.com/office/drawing/2014/main" id="{DC6A0802-01EC-C446-D595-08C949DEA3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5766397"/>
            <a:ext cx="914400" cy="914400"/>
          </a:xfrm>
          <a:prstGeom prst="rect">
            <a:avLst/>
          </a:prstGeom>
        </p:spPr>
      </p:pic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165F29DE-5927-A3D3-51EC-4DA25E0A2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3FCEB7A7-AB44-6D5B-AC57-ED80D872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3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67EADEE-C715-39DE-A7D3-15F58BF83F45}"/>
              </a:ext>
            </a:extLst>
          </p:cNvPr>
          <p:cNvGrpSpPr/>
          <p:nvPr/>
        </p:nvGrpSpPr>
        <p:grpSpPr>
          <a:xfrm>
            <a:off x="488792" y="4088923"/>
            <a:ext cx="3690142" cy="2303949"/>
            <a:chOff x="3517742" y="4022248"/>
            <a:chExt cx="3690142" cy="230394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2A3712F-0AB7-A1FC-1D2B-68D404295A7E}"/>
                </a:ext>
              </a:extLst>
            </p:cNvPr>
            <p:cNvGrpSpPr/>
            <p:nvPr/>
          </p:nvGrpSpPr>
          <p:grpSpPr>
            <a:xfrm>
              <a:off x="4194492" y="4022248"/>
              <a:ext cx="3006090" cy="1097915"/>
              <a:chOff x="5630" y="3735"/>
              <a:chExt cx="4734" cy="1729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992D764-27C2-015C-08EC-7AA9D849834D}"/>
                  </a:ext>
                </a:extLst>
              </p:cNvPr>
              <p:cNvGrpSpPr/>
              <p:nvPr/>
            </p:nvGrpSpPr>
            <p:grpSpPr>
              <a:xfrm>
                <a:off x="5630" y="3735"/>
                <a:ext cx="4734" cy="1729"/>
                <a:chOff x="5630" y="3735"/>
                <a:chExt cx="4734" cy="1729"/>
              </a:xfrm>
            </p:grpSpPr>
            <p:sp>
              <p:nvSpPr>
                <p:cNvPr id="15" name="Rectangles 8">
                  <a:extLst>
                    <a:ext uri="{FF2B5EF4-FFF2-40B4-BE49-F238E27FC236}">
                      <a16:creationId xmlns:a16="http://schemas.microsoft.com/office/drawing/2014/main" id="{78F50EE7-8927-229F-F735-5A5DA9CBC2EC}"/>
                    </a:ext>
                  </a:extLst>
                </p:cNvPr>
                <p:cNvSpPr/>
                <p:nvPr/>
              </p:nvSpPr>
              <p:spPr>
                <a:xfrm>
                  <a:off x="6596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ectangles 9">
                  <a:extLst>
                    <a:ext uri="{FF2B5EF4-FFF2-40B4-BE49-F238E27FC236}">
                      <a16:creationId xmlns:a16="http://schemas.microsoft.com/office/drawing/2014/main" id="{F5B8BF6E-EC74-5E24-ADF1-E936A61AD662}"/>
                    </a:ext>
                  </a:extLst>
                </p:cNvPr>
                <p:cNvSpPr/>
                <p:nvPr/>
              </p:nvSpPr>
              <p:spPr>
                <a:xfrm>
                  <a:off x="7538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s 10">
                  <a:extLst>
                    <a:ext uri="{FF2B5EF4-FFF2-40B4-BE49-F238E27FC236}">
                      <a16:creationId xmlns:a16="http://schemas.microsoft.com/office/drawing/2014/main" id="{5327A16B-8219-B47C-C498-2E6AB4601695}"/>
                    </a:ext>
                  </a:extLst>
                </p:cNvPr>
                <p:cNvSpPr/>
                <p:nvPr/>
              </p:nvSpPr>
              <p:spPr>
                <a:xfrm>
                  <a:off x="8480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s 11">
                  <a:extLst>
                    <a:ext uri="{FF2B5EF4-FFF2-40B4-BE49-F238E27FC236}">
                      <a16:creationId xmlns:a16="http://schemas.microsoft.com/office/drawing/2014/main" id="{718F18B9-288E-677C-1781-4CB3EC002879}"/>
                    </a:ext>
                  </a:extLst>
                </p:cNvPr>
                <p:cNvSpPr/>
                <p:nvPr/>
              </p:nvSpPr>
              <p:spPr>
                <a:xfrm>
                  <a:off x="9422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EC4956D5-0566-4D4B-B5B3-66302FCCCBCA}"/>
                    </a:ext>
                  </a:extLst>
                </p:cNvPr>
                <p:cNvCxnSpPr/>
                <p:nvPr/>
              </p:nvCxnSpPr>
              <p:spPr>
                <a:xfrm>
                  <a:off x="5630" y="3735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A9E635DD-3BF5-B4E9-A3F8-E71A8973C723}"/>
                    </a:ext>
                  </a:extLst>
                </p:cNvPr>
                <p:cNvCxnSpPr/>
                <p:nvPr/>
              </p:nvCxnSpPr>
              <p:spPr>
                <a:xfrm>
                  <a:off x="5630" y="5449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Rectangles 16">
                <a:extLst>
                  <a:ext uri="{FF2B5EF4-FFF2-40B4-BE49-F238E27FC236}">
                    <a16:creationId xmlns:a16="http://schemas.microsoft.com/office/drawing/2014/main" id="{755DD3E3-CFCF-0F13-EC7E-11206E55BDDF}"/>
                  </a:ext>
                </a:extLst>
              </p:cNvPr>
              <p:cNvSpPr/>
              <p:nvPr/>
            </p:nvSpPr>
            <p:spPr>
              <a:xfrm>
                <a:off x="9494" y="4738"/>
                <a:ext cx="797" cy="40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10" name="Rectangles 18">
                <a:extLst>
                  <a:ext uri="{FF2B5EF4-FFF2-40B4-BE49-F238E27FC236}">
                    <a16:creationId xmlns:a16="http://schemas.microsoft.com/office/drawing/2014/main" id="{898CD802-9740-1281-9FC8-939F7FDFC5E5}"/>
                  </a:ext>
                </a:extLst>
              </p:cNvPr>
              <p:cNvSpPr/>
              <p:nvPr/>
            </p:nvSpPr>
            <p:spPr>
              <a:xfrm>
                <a:off x="7610" y="4283"/>
                <a:ext cx="797" cy="8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11" name="Rectangles 19">
                <a:extLst>
                  <a:ext uri="{FF2B5EF4-FFF2-40B4-BE49-F238E27FC236}">
                    <a16:creationId xmlns:a16="http://schemas.microsoft.com/office/drawing/2014/main" id="{423BF86C-874A-8599-684F-83EFA9A6EB4C}"/>
                  </a:ext>
                </a:extLst>
              </p:cNvPr>
              <p:cNvSpPr/>
              <p:nvPr/>
            </p:nvSpPr>
            <p:spPr>
              <a:xfrm>
                <a:off x="6668" y="4160"/>
                <a:ext cx="797" cy="9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12" name="Rectangles 20">
                <a:extLst>
                  <a:ext uri="{FF2B5EF4-FFF2-40B4-BE49-F238E27FC236}">
                    <a16:creationId xmlns:a16="http://schemas.microsoft.com/office/drawing/2014/main" id="{6B92ADD3-5954-EB31-35A0-B9DC5153E7BB}"/>
                  </a:ext>
                </a:extLst>
              </p:cNvPr>
              <p:cNvSpPr/>
              <p:nvPr/>
            </p:nvSpPr>
            <p:spPr>
              <a:xfrm>
                <a:off x="8553" y="4586"/>
                <a:ext cx="797" cy="55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3451463-8A86-3013-156D-5C8B5C558EFE}"/>
                </a:ext>
              </a:extLst>
            </p:cNvPr>
            <p:cNvGrpSpPr/>
            <p:nvPr/>
          </p:nvGrpSpPr>
          <p:grpSpPr>
            <a:xfrm>
              <a:off x="4201794" y="5228282"/>
              <a:ext cx="3006090" cy="1097915"/>
              <a:chOff x="5630" y="3735"/>
              <a:chExt cx="4734" cy="172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20B7C4C-1701-CF53-4CE3-2F74B0B75267}"/>
                  </a:ext>
                </a:extLst>
              </p:cNvPr>
              <p:cNvGrpSpPr/>
              <p:nvPr/>
            </p:nvGrpSpPr>
            <p:grpSpPr>
              <a:xfrm>
                <a:off x="5630" y="3735"/>
                <a:ext cx="4734" cy="1729"/>
                <a:chOff x="5630" y="3735"/>
                <a:chExt cx="4734" cy="1729"/>
              </a:xfrm>
            </p:grpSpPr>
            <p:sp>
              <p:nvSpPr>
                <p:cNvPr id="27" name="Rectangles 8">
                  <a:extLst>
                    <a:ext uri="{FF2B5EF4-FFF2-40B4-BE49-F238E27FC236}">
                      <a16:creationId xmlns:a16="http://schemas.microsoft.com/office/drawing/2014/main" id="{BD500C78-C8EB-0254-4BE3-722A81E79D89}"/>
                    </a:ext>
                  </a:extLst>
                </p:cNvPr>
                <p:cNvSpPr/>
                <p:nvPr/>
              </p:nvSpPr>
              <p:spPr>
                <a:xfrm>
                  <a:off x="6596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Rectangles 9">
                  <a:extLst>
                    <a:ext uri="{FF2B5EF4-FFF2-40B4-BE49-F238E27FC236}">
                      <a16:creationId xmlns:a16="http://schemas.microsoft.com/office/drawing/2014/main" id="{BAAE5A02-09B3-D7C9-17BF-D7679D502C52}"/>
                    </a:ext>
                  </a:extLst>
                </p:cNvPr>
                <p:cNvSpPr/>
                <p:nvPr/>
              </p:nvSpPr>
              <p:spPr>
                <a:xfrm>
                  <a:off x="7538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s 10">
                  <a:extLst>
                    <a:ext uri="{FF2B5EF4-FFF2-40B4-BE49-F238E27FC236}">
                      <a16:creationId xmlns:a16="http://schemas.microsoft.com/office/drawing/2014/main" id="{DDF7EF80-3811-05F2-AE7A-070985E548C3}"/>
                    </a:ext>
                  </a:extLst>
                </p:cNvPr>
                <p:cNvSpPr/>
                <p:nvPr/>
              </p:nvSpPr>
              <p:spPr>
                <a:xfrm>
                  <a:off x="8480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s 11">
                  <a:extLst>
                    <a:ext uri="{FF2B5EF4-FFF2-40B4-BE49-F238E27FC236}">
                      <a16:creationId xmlns:a16="http://schemas.microsoft.com/office/drawing/2014/main" id="{5AA4DF65-E87E-C2C3-3302-3FB3402020B8}"/>
                    </a:ext>
                  </a:extLst>
                </p:cNvPr>
                <p:cNvSpPr/>
                <p:nvPr/>
              </p:nvSpPr>
              <p:spPr>
                <a:xfrm>
                  <a:off x="9422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3C979509-230F-C4CE-9DD5-24B6DA196D20}"/>
                    </a:ext>
                  </a:extLst>
                </p:cNvPr>
                <p:cNvCxnSpPr/>
                <p:nvPr/>
              </p:nvCxnSpPr>
              <p:spPr>
                <a:xfrm>
                  <a:off x="5630" y="3735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A2526928-78D0-DAE4-CB3D-EBC2606603F4}"/>
                    </a:ext>
                  </a:extLst>
                </p:cNvPr>
                <p:cNvCxnSpPr/>
                <p:nvPr/>
              </p:nvCxnSpPr>
              <p:spPr>
                <a:xfrm>
                  <a:off x="5630" y="5449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Rectangles 18">
                <a:extLst>
                  <a:ext uri="{FF2B5EF4-FFF2-40B4-BE49-F238E27FC236}">
                    <a16:creationId xmlns:a16="http://schemas.microsoft.com/office/drawing/2014/main" id="{E2E81DAA-6A4C-94FD-2750-9165B00CA61F}"/>
                  </a:ext>
                </a:extLst>
              </p:cNvPr>
              <p:cNvSpPr/>
              <p:nvPr/>
            </p:nvSpPr>
            <p:spPr>
              <a:xfrm>
                <a:off x="7610" y="4291"/>
                <a:ext cx="797" cy="84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3.5</a:t>
                </a:r>
              </a:p>
            </p:txBody>
          </p:sp>
          <p:sp>
            <p:nvSpPr>
              <p:cNvPr id="25" name="Rectangles 19">
                <a:extLst>
                  <a:ext uri="{FF2B5EF4-FFF2-40B4-BE49-F238E27FC236}">
                    <a16:creationId xmlns:a16="http://schemas.microsoft.com/office/drawing/2014/main" id="{37E8E993-B257-2410-E177-0644786C40D7}"/>
                  </a:ext>
                </a:extLst>
              </p:cNvPr>
              <p:cNvSpPr/>
              <p:nvPr/>
            </p:nvSpPr>
            <p:spPr>
              <a:xfrm>
                <a:off x="6668" y="3975"/>
                <a:ext cx="797" cy="116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6" name="Rectangles 20">
                <a:extLst>
                  <a:ext uri="{FF2B5EF4-FFF2-40B4-BE49-F238E27FC236}">
                    <a16:creationId xmlns:a16="http://schemas.microsoft.com/office/drawing/2014/main" id="{2FAB8318-DC1F-726A-FA1D-69F23F939337}"/>
                  </a:ext>
                </a:extLst>
              </p:cNvPr>
              <p:cNvSpPr/>
              <p:nvPr/>
            </p:nvSpPr>
            <p:spPr>
              <a:xfrm>
                <a:off x="8553" y="4401"/>
                <a:ext cx="797" cy="7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85BC668-5063-5EE5-0317-47BFB98D6576}"/>
                </a:ext>
              </a:extLst>
            </p:cNvPr>
            <p:cNvSpPr txBox="1"/>
            <p:nvPr/>
          </p:nvSpPr>
          <p:spPr>
            <a:xfrm>
              <a:off x="3521075" y="5581342"/>
              <a:ext cx="980122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SRPT-k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47F6AFF-A5D0-805E-5293-77E05C469E40}"/>
                </a:ext>
              </a:extLst>
            </p:cNvPr>
            <p:cNvSpPr txBox="1"/>
            <p:nvPr/>
          </p:nvSpPr>
          <p:spPr>
            <a:xfrm>
              <a:off x="3517742" y="4443709"/>
              <a:ext cx="980122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SMOD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A2545B-FF9F-E732-03F4-9CB0DAB5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tweak: SEK-SMOD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41D5F-FC04-6235-231A-70549241D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3251" cy="22971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Final policy: SEK-SMOD. 1 SEK divergence, then SMOD until identical.</a:t>
            </a:r>
          </a:p>
          <a:p>
            <a:pPr marL="0" indent="0">
              <a:buNone/>
            </a:pPr>
            <a:r>
              <a:rPr lang="en-US" dirty="0"/>
              <a:t>SMOD: Explicit reference to SRPT-k system with same arrivals. Completely predictable.</a:t>
            </a:r>
          </a:p>
          <a:p>
            <a:pPr marL="0" indent="0">
              <a:buNone/>
            </a:pPr>
            <a:r>
              <a:rPr lang="en-US" dirty="0"/>
              <a:t>SMOD: Prioritize jobs at indexes with equal or larger remaining size than SRPT-k counterpart, then prioritize smallest remaining size secondarily.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E870328-4B11-F0E1-7383-01C7AD25D66A}"/>
              </a:ext>
            </a:extLst>
          </p:cNvPr>
          <p:cNvGrpSpPr/>
          <p:nvPr/>
        </p:nvGrpSpPr>
        <p:grpSpPr>
          <a:xfrm>
            <a:off x="2377122" y="4302768"/>
            <a:ext cx="1801812" cy="1936107"/>
            <a:chOff x="5406072" y="4236093"/>
            <a:chExt cx="1801812" cy="1936107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7AC85B9-62B5-75A9-B205-3D70FD1AACF2}"/>
                </a:ext>
              </a:extLst>
            </p:cNvPr>
            <p:cNvSpPr/>
            <p:nvPr/>
          </p:nvSpPr>
          <p:spPr>
            <a:xfrm>
              <a:off x="6617016" y="4476750"/>
              <a:ext cx="590868" cy="1643707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8526CB7-F777-1446-7B81-553FFCA6F648}"/>
                </a:ext>
              </a:extLst>
            </p:cNvPr>
            <p:cNvSpPr/>
            <p:nvPr/>
          </p:nvSpPr>
          <p:spPr>
            <a:xfrm>
              <a:off x="5406072" y="4236093"/>
              <a:ext cx="590868" cy="1936107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36B4AE4-C94E-7F0C-1CF2-3F7B9787C7D9}"/>
                  </a:ext>
                </a:extLst>
              </p:cNvPr>
              <p:cNvSpPr txBox="1"/>
              <p:nvPr/>
            </p:nvSpPr>
            <p:spPr>
              <a:xfrm>
                <a:off x="4318220" y="4086809"/>
                <a:ext cx="7610573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Great worst-case properties! Lemmas: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Positive part monotonically decreasing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800" dirty="0"/>
                  <a:t> extra job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Each job is “extra job” 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 time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Once all divergence jobs complete, never worse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36B4AE4-C94E-7F0C-1CF2-3F7B9787C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220" y="4086809"/>
                <a:ext cx="7610573" cy="2246769"/>
              </a:xfrm>
              <a:prstGeom prst="rect">
                <a:avLst/>
              </a:prstGeom>
              <a:blipFill>
                <a:blip r:embed="rId2"/>
                <a:stretch>
                  <a:fillRect l="-1601" t="-2439" r="-240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Footer Placeholder 62">
            <a:extLst>
              <a:ext uri="{FF2B5EF4-FFF2-40B4-BE49-F238E27FC236}">
                <a16:creationId xmlns:a16="http://schemas.microsoft.com/office/drawing/2014/main" id="{8A802079-F409-885F-2D2F-F812720A2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64" name="Slide Number Placeholder 63">
            <a:extLst>
              <a:ext uri="{FF2B5EF4-FFF2-40B4-BE49-F238E27FC236}">
                <a16:creationId xmlns:a16="http://schemas.microsoft.com/office/drawing/2014/main" id="{C8CA7BEF-3485-D894-A9F5-C3A4239A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9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545B-FF9F-E732-03F4-9CB0DAB5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tweak: SEK-SMOD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41D5F-FC04-6235-231A-70549241D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63251" cy="30950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Great worst-case properties! Lemmas:</a:t>
                </a:r>
              </a:p>
              <a:p>
                <a:pPr marL="457200" indent="-457200"/>
                <a:r>
                  <a:rPr lang="en-US" dirty="0"/>
                  <a:t>Positive part monotonically decreasing</a:t>
                </a:r>
              </a:p>
              <a:p>
                <a:pPr marL="457200" indent="-45720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extra job</a:t>
                </a:r>
              </a:p>
              <a:p>
                <a:pPr marL="457200" indent="-457200"/>
                <a:r>
                  <a:rPr lang="en-US" dirty="0"/>
                  <a:t>Each job is “extra job”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time</a:t>
                </a:r>
              </a:p>
              <a:p>
                <a:pPr marL="457200" indent="-457200"/>
                <a:r>
                  <a:rPr lang="en-US" dirty="0"/>
                  <a:t>Once all divergence jobs complete, never worse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41D5F-FC04-6235-231A-70549241D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63251" cy="3095069"/>
              </a:xfrm>
              <a:blipFill>
                <a:blip r:embed="rId2"/>
                <a:stretch>
                  <a:fillRect l="-1133" t="-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33A157E-02E9-C034-6CB1-E3E062F84B7C}"/>
              </a:ext>
            </a:extLst>
          </p:cNvPr>
          <p:cNvGrpSpPr/>
          <p:nvPr/>
        </p:nvGrpSpPr>
        <p:grpSpPr>
          <a:xfrm>
            <a:off x="8388453" y="276667"/>
            <a:ext cx="3690142" cy="2303949"/>
            <a:chOff x="488792" y="4088923"/>
            <a:chExt cx="3690142" cy="230394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67EADEE-C715-39DE-A7D3-15F58BF83F45}"/>
                </a:ext>
              </a:extLst>
            </p:cNvPr>
            <p:cNvGrpSpPr/>
            <p:nvPr/>
          </p:nvGrpSpPr>
          <p:grpSpPr>
            <a:xfrm>
              <a:off x="488792" y="4088923"/>
              <a:ext cx="3690142" cy="2303949"/>
              <a:chOff x="3517742" y="4022248"/>
              <a:chExt cx="3690142" cy="230394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2A3712F-0AB7-A1FC-1D2B-68D404295A7E}"/>
                  </a:ext>
                </a:extLst>
              </p:cNvPr>
              <p:cNvGrpSpPr/>
              <p:nvPr/>
            </p:nvGrpSpPr>
            <p:grpSpPr>
              <a:xfrm>
                <a:off x="4194492" y="4022248"/>
                <a:ext cx="3006090" cy="1097915"/>
                <a:chOff x="5630" y="3735"/>
                <a:chExt cx="4734" cy="1729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6992D764-27C2-015C-08EC-7AA9D849834D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15" name="Rectangles 8">
                    <a:extLst>
                      <a:ext uri="{FF2B5EF4-FFF2-40B4-BE49-F238E27FC236}">
                        <a16:creationId xmlns:a16="http://schemas.microsoft.com/office/drawing/2014/main" id="{78F50EE7-8927-229F-F735-5A5DA9CBC2EC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Rectangles 9">
                    <a:extLst>
                      <a:ext uri="{FF2B5EF4-FFF2-40B4-BE49-F238E27FC236}">
                        <a16:creationId xmlns:a16="http://schemas.microsoft.com/office/drawing/2014/main" id="{F5B8BF6E-EC74-5E24-ADF1-E936A61AD662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Rectangles 10">
                    <a:extLst>
                      <a:ext uri="{FF2B5EF4-FFF2-40B4-BE49-F238E27FC236}">
                        <a16:creationId xmlns:a16="http://schemas.microsoft.com/office/drawing/2014/main" id="{5327A16B-8219-B47C-C498-2E6AB4601695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Rectangles 11">
                    <a:extLst>
                      <a:ext uri="{FF2B5EF4-FFF2-40B4-BE49-F238E27FC236}">
                        <a16:creationId xmlns:a16="http://schemas.microsoft.com/office/drawing/2014/main" id="{718F18B9-288E-677C-1781-4CB3EC002879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EC4956D5-0566-4D4B-B5B3-66302FCCCBCA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A9E635DD-3BF5-B4E9-A3F8-E71A8973C723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" name="Rectangles 16">
                  <a:extLst>
                    <a:ext uri="{FF2B5EF4-FFF2-40B4-BE49-F238E27FC236}">
                      <a16:creationId xmlns:a16="http://schemas.microsoft.com/office/drawing/2014/main" id="{755DD3E3-CFCF-0F13-EC7E-11206E55BDDF}"/>
                    </a:ext>
                  </a:extLst>
                </p:cNvPr>
                <p:cNvSpPr/>
                <p:nvPr/>
              </p:nvSpPr>
              <p:spPr>
                <a:xfrm>
                  <a:off x="9494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0" name="Rectangles 18">
                  <a:extLst>
                    <a:ext uri="{FF2B5EF4-FFF2-40B4-BE49-F238E27FC236}">
                      <a16:creationId xmlns:a16="http://schemas.microsoft.com/office/drawing/2014/main" id="{898CD802-9740-1281-9FC8-939F7FDFC5E5}"/>
                    </a:ext>
                  </a:extLst>
                </p:cNvPr>
                <p:cNvSpPr/>
                <p:nvPr/>
              </p:nvSpPr>
              <p:spPr>
                <a:xfrm>
                  <a:off x="7610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  <p:sp>
              <p:nvSpPr>
                <p:cNvPr id="11" name="Rectangles 19">
                  <a:extLst>
                    <a:ext uri="{FF2B5EF4-FFF2-40B4-BE49-F238E27FC236}">
                      <a16:creationId xmlns:a16="http://schemas.microsoft.com/office/drawing/2014/main" id="{423BF86C-874A-8599-684F-83EFA9A6EB4C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5</a:t>
                  </a:r>
                </a:p>
              </p:txBody>
            </p:sp>
            <p:sp>
              <p:nvSpPr>
                <p:cNvPr id="12" name="Rectangles 20">
                  <a:extLst>
                    <a:ext uri="{FF2B5EF4-FFF2-40B4-BE49-F238E27FC236}">
                      <a16:creationId xmlns:a16="http://schemas.microsoft.com/office/drawing/2014/main" id="{6B92ADD3-5954-EB31-35A0-B9DC5153E7BB}"/>
                    </a:ext>
                  </a:extLst>
                </p:cNvPr>
                <p:cNvSpPr/>
                <p:nvPr/>
              </p:nvSpPr>
              <p:spPr>
                <a:xfrm>
                  <a:off x="8553" y="4586"/>
                  <a:ext cx="797" cy="55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3451463-8A86-3013-156D-5C8B5C558EFE}"/>
                  </a:ext>
                </a:extLst>
              </p:cNvPr>
              <p:cNvGrpSpPr/>
              <p:nvPr/>
            </p:nvGrpSpPr>
            <p:grpSpPr>
              <a:xfrm>
                <a:off x="4201794" y="5228282"/>
                <a:ext cx="3006090" cy="1097915"/>
                <a:chOff x="5630" y="3735"/>
                <a:chExt cx="4734" cy="1729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520B7C4C-1701-CF53-4CE3-2F74B0B75267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27" name="Rectangles 8">
                    <a:extLst>
                      <a:ext uri="{FF2B5EF4-FFF2-40B4-BE49-F238E27FC236}">
                        <a16:creationId xmlns:a16="http://schemas.microsoft.com/office/drawing/2014/main" id="{BD500C78-C8EB-0254-4BE3-722A81E79D89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Rectangles 9">
                    <a:extLst>
                      <a:ext uri="{FF2B5EF4-FFF2-40B4-BE49-F238E27FC236}">
                        <a16:creationId xmlns:a16="http://schemas.microsoft.com/office/drawing/2014/main" id="{BAAE5A02-09B3-D7C9-17BF-D7679D502C52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Rectangles 10">
                    <a:extLst>
                      <a:ext uri="{FF2B5EF4-FFF2-40B4-BE49-F238E27FC236}">
                        <a16:creationId xmlns:a16="http://schemas.microsoft.com/office/drawing/2014/main" id="{DDF7EF80-3811-05F2-AE7A-070985E548C3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Rectangles 11">
                    <a:extLst>
                      <a:ext uri="{FF2B5EF4-FFF2-40B4-BE49-F238E27FC236}">
                        <a16:creationId xmlns:a16="http://schemas.microsoft.com/office/drawing/2014/main" id="{5AA4DF65-E87E-C2C3-3302-3FB3402020B8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3C979509-230F-C4CE-9DD5-24B6DA196D20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A2526928-78D0-DAE4-CB3D-EBC2606603F4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Rectangles 18">
                  <a:extLst>
                    <a:ext uri="{FF2B5EF4-FFF2-40B4-BE49-F238E27FC236}">
                      <a16:creationId xmlns:a16="http://schemas.microsoft.com/office/drawing/2014/main" id="{E2E81DAA-6A4C-94FD-2750-9165B00CA61F}"/>
                    </a:ext>
                  </a:extLst>
                </p:cNvPr>
                <p:cNvSpPr/>
                <p:nvPr/>
              </p:nvSpPr>
              <p:spPr>
                <a:xfrm>
                  <a:off x="7610" y="4291"/>
                  <a:ext cx="797" cy="84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3.5</a:t>
                  </a:r>
                </a:p>
              </p:txBody>
            </p:sp>
            <p:sp>
              <p:nvSpPr>
                <p:cNvPr id="25" name="Rectangles 19">
                  <a:extLst>
                    <a:ext uri="{FF2B5EF4-FFF2-40B4-BE49-F238E27FC236}">
                      <a16:creationId xmlns:a16="http://schemas.microsoft.com/office/drawing/2014/main" id="{37E8E993-B257-2410-E177-0644786C40D7}"/>
                    </a:ext>
                  </a:extLst>
                </p:cNvPr>
                <p:cNvSpPr/>
                <p:nvPr/>
              </p:nvSpPr>
              <p:spPr>
                <a:xfrm>
                  <a:off x="6668" y="3975"/>
                  <a:ext cx="797" cy="116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6</a:t>
                  </a:r>
                </a:p>
              </p:txBody>
            </p:sp>
            <p:sp>
              <p:nvSpPr>
                <p:cNvPr id="26" name="Rectangles 20">
                  <a:extLst>
                    <a:ext uri="{FF2B5EF4-FFF2-40B4-BE49-F238E27FC236}">
                      <a16:creationId xmlns:a16="http://schemas.microsoft.com/office/drawing/2014/main" id="{2FAB8318-DC1F-726A-FA1D-69F23F939337}"/>
                    </a:ext>
                  </a:extLst>
                </p:cNvPr>
                <p:cNvSpPr/>
                <p:nvPr/>
              </p:nvSpPr>
              <p:spPr>
                <a:xfrm>
                  <a:off x="8553" y="4401"/>
                  <a:ext cx="797" cy="73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</a:p>
              </p:txBody>
            </p: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BC668-5063-5EE5-0317-47BFB98D6576}"/>
                  </a:ext>
                </a:extLst>
              </p:cNvPr>
              <p:cNvSpPr txBox="1"/>
              <p:nvPr/>
            </p:nvSpPr>
            <p:spPr>
              <a:xfrm>
                <a:off x="3521075" y="5581342"/>
                <a:ext cx="98012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SRPT-k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47F6AFF-A5D0-805E-5293-77E05C469E40}"/>
                  </a:ext>
                </a:extLst>
              </p:cNvPr>
              <p:cNvSpPr txBox="1"/>
              <p:nvPr/>
            </p:nvSpPr>
            <p:spPr>
              <a:xfrm>
                <a:off x="3517742" y="4443709"/>
                <a:ext cx="98012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SMOD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E870328-4B11-F0E1-7383-01C7AD25D66A}"/>
                </a:ext>
              </a:extLst>
            </p:cNvPr>
            <p:cNvGrpSpPr/>
            <p:nvPr/>
          </p:nvGrpSpPr>
          <p:grpSpPr>
            <a:xfrm>
              <a:off x="2377122" y="4302768"/>
              <a:ext cx="1801812" cy="1936107"/>
              <a:chOff x="5406072" y="4236093"/>
              <a:chExt cx="1801812" cy="1936107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7AC85B9-62B5-75A9-B205-3D70FD1AACF2}"/>
                  </a:ext>
                </a:extLst>
              </p:cNvPr>
              <p:cNvSpPr/>
              <p:nvPr/>
            </p:nvSpPr>
            <p:spPr>
              <a:xfrm>
                <a:off x="6617016" y="4476750"/>
                <a:ext cx="590868" cy="1643707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08526CB7-F777-1446-7B81-553FFCA6F648}"/>
                  </a:ext>
                </a:extLst>
              </p:cNvPr>
              <p:cNvSpPr/>
              <p:nvPr/>
            </p:nvSpPr>
            <p:spPr>
              <a:xfrm>
                <a:off x="5406072" y="4236093"/>
                <a:ext cx="590868" cy="1936107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A63AF-3F19-F6A9-C323-DB5E0A246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0DE3D-38FC-D847-E02B-5D831794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65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545B-FF9F-E732-03F4-9CB0DAB5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tweak: SEK-SMOD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41D5F-FC04-6235-231A-70549241D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63251" cy="30950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Great worst-case properties! Lemmas:</a:t>
                </a:r>
              </a:p>
              <a:p>
                <a:pPr marL="457200" indent="-457200"/>
                <a:r>
                  <a:rPr lang="en-US" dirty="0"/>
                  <a:t>Positive part monotonically decreasing</a:t>
                </a:r>
              </a:p>
              <a:p>
                <a:pPr marL="457200" indent="-45720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extra job</a:t>
                </a:r>
              </a:p>
              <a:p>
                <a:pPr marL="457200" indent="-457200"/>
                <a:r>
                  <a:rPr lang="en-US" dirty="0"/>
                  <a:t>Each job is “extra job”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time: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worse per arrival.</a:t>
                </a:r>
              </a:p>
              <a:p>
                <a:pPr marL="457200" indent="-457200"/>
                <a:r>
                  <a:rPr lang="en-US" dirty="0"/>
                  <a:t>Once all divergence jobs complete, never worse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41D5F-FC04-6235-231A-70549241D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63251" cy="3095069"/>
              </a:xfrm>
              <a:blipFill>
                <a:blip r:embed="rId2"/>
                <a:stretch>
                  <a:fillRect l="-1133" t="-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33A157E-02E9-C034-6CB1-E3E062F84B7C}"/>
              </a:ext>
            </a:extLst>
          </p:cNvPr>
          <p:cNvGrpSpPr/>
          <p:nvPr/>
        </p:nvGrpSpPr>
        <p:grpSpPr>
          <a:xfrm>
            <a:off x="8388453" y="276667"/>
            <a:ext cx="3690142" cy="2303949"/>
            <a:chOff x="488792" y="4088923"/>
            <a:chExt cx="3690142" cy="230394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67EADEE-C715-39DE-A7D3-15F58BF83F45}"/>
                </a:ext>
              </a:extLst>
            </p:cNvPr>
            <p:cNvGrpSpPr/>
            <p:nvPr/>
          </p:nvGrpSpPr>
          <p:grpSpPr>
            <a:xfrm>
              <a:off x="488792" y="4088923"/>
              <a:ext cx="3690142" cy="2303949"/>
              <a:chOff x="3517742" y="4022248"/>
              <a:chExt cx="3690142" cy="230394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2A3712F-0AB7-A1FC-1D2B-68D404295A7E}"/>
                  </a:ext>
                </a:extLst>
              </p:cNvPr>
              <p:cNvGrpSpPr/>
              <p:nvPr/>
            </p:nvGrpSpPr>
            <p:grpSpPr>
              <a:xfrm>
                <a:off x="4194492" y="4022248"/>
                <a:ext cx="3006090" cy="1097915"/>
                <a:chOff x="5630" y="3735"/>
                <a:chExt cx="4734" cy="1729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6992D764-27C2-015C-08EC-7AA9D849834D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15" name="Rectangles 8">
                    <a:extLst>
                      <a:ext uri="{FF2B5EF4-FFF2-40B4-BE49-F238E27FC236}">
                        <a16:creationId xmlns:a16="http://schemas.microsoft.com/office/drawing/2014/main" id="{78F50EE7-8927-229F-F735-5A5DA9CBC2EC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Rectangles 9">
                    <a:extLst>
                      <a:ext uri="{FF2B5EF4-FFF2-40B4-BE49-F238E27FC236}">
                        <a16:creationId xmlns:a16="http://schemas.microsoft.com/office/drawing/2014/main" id="{F5B8BF6E-EC74-5E24-ADF1-E936A61AD662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Rectangles 10">
                    <a:extLst>
                      <a:ext uri="{FF2B5EF4-FFF2-40B4-BE49-F238E27FC236}">
                        <a16:creationId xmlns:a16="http://schemas.microsoft.com/office/drawing/2014/main" id="{5327A16B-8219-B47C-C498-2E6AB4601695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Rectangles 11">
                    <a:extLst>
                      <a:ext uri="{FF2B5EF4-FFF2-40B4-BE49-F238E27FC236}">
                        <a16:creationId xmlns:a16="http://schemas.microsoft.com/office/drawing/2014/main" id="{718F18B9-288E-677C-1781-4CB3EC002879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EC4956D5-0566-4D4B-B5B3-66302FCCCBCA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A9E635DD-3BF5-B4E9-A3F8-E71A8973C723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" name="Rectangles 16">
                  <a:extLst>
                    <a:ext uri="{FF2B5EF4-FFF2-40B4-BE49-F238E27FC236}">
                      <a16:creationId xmlns:a16="http://schemas.microsoft.com/office/drawing/2014/main" id="{755DD3E3-CFCF-0F13-EC7E-11206E55BDDF}"/>
                    </a:ext>
                  </a:extLst>
                </p:cNvPr>
                <p:cNvSpPr/>
                <p:nvPr/>
              </p:nvSpPr>
              <p:spPr>
                <a:xfrm>
                  <a:off x="9494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0" name="Rectangles 18">
                  <a:extLst>
                    <a:ext uri="{FF2B5EF4-FFF2-40B4-BE49-F238E27FC236}">
                      <a16:creationId xmlns:a16="http://schemas.microsoft.com/office/drawing/2014/main" id="{898CD802-9740-1281-9FC8-939F7FDFC5E5}"/>
                    </a:ext>
                  </a:extLst>
                </p:cNvPr>
                <p:cNvSpPr/>
                <p:nvPr/>
              </p:nvSpPr>
              <p:spPr>
                <a:xfrm>
                  <a:off x="7610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  <p:sp>
              <p:nvSpPr>
                <p:cNvPr id="11" name="Rectangles 19">
                  <a:extLst>
                    <a:ext uri="{FF2B5EF4-FFF2-40B4-BE49-F238E27FC236}">
                      <a16:creationId xmlns:a16="http://schemas.microsoft.com/office/drawing/2014/main" id="{423BF86C-874A-8599-684F-83EFA9A6EB4C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5</a:t>
                  </a:r>
                </a:p>
              </p:txBody>
            </p:sp>
            <p:sp>
              <p:nvSpPr>
                <p:cNvPr id="12" name="Rectangles 20">
                  <a:extLst>
                    <a:ext uri="{FF2B5EF4-FFF2-40B4-BE49-F238E27FC236}">
                      <a16:creationId xmlns:a16="http://schemas.microsoft.com/office/drawing/2014/main" id="{6B92ADD3-5954-EB31-35A0-B9DC5153E7BB}"/>
                    </a:ext>
                  </a:extLst>
                </p:cNvPr>
                <p:cNvSpPr/>
                <p:nvPr/>
              </p:nvSpPr>
              <p:spPr>
                <a:xfrm>
                  <a:off x="8553" y="4586"/>
                  <a:ext cx="797" cy="55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3451463-8A86-3013-156D-5C8B5C558EFE}"/>
                  </a:ext>
                </a:extLst>
              </p:cNvPr>
              <p:cNvGrpSpPr/>
              <p:nvPr/>
            </p:nvGrpSpPr>
            <p:grpSpPr>
              <a:xfrm>
                <a:off x="4201794" y="5228282"/>
                <a:ext cx="3006090" cy="1097915"/>
                <a:chOff x="5630" y="3735"/>
                <a:chExt cx="4734" cy="1729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520B7C4C-1701-CF53-4CE3-2F74B0B75267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27" name="Rectangles 8">
                    <a:extLst>
                      <a:ext uri="{FF2B5EF4-FFF2-40B4-BE49-F238E27FC236}">
                        <a16:creationId xmlns:a16="http://schemas.microsoft.com/office/drawing/2014/main" id="{BD500C78-C8EB-0254-4BE3-722A81E79D89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Rectangles 9">
                    <a:extLst>
                      <a:ext uri="{FF2B5EF4-FFF2-40B4-BE49-F238E27FC236}">
                        <a16:creationId xmlns:a16="http://schemas.microsoft.com/office/drawing/2014/main" id="{BAAE5A02-09B3-D7C9-17BF-D7679D502C52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Rectangles 10">
                    <a:extLst>
                      <a:ext uri="{FF2B5EF4-FFF2-40B4-BE49-F238E27FC236}">
                        <a16:creationId xmlns:a16="http://schemas.microsoft.com/office/drawing/2014/main" id="{DDF7EF80-3811-05F2-AE7A-070985E548C3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Rectangles 11">
                    <a:extLst>
                      <a:ext uri="{FF2B5EF4-FFF2-40B4-BE49-F238E27FC236}">
                        <a16:creationId xmlns:a16="http://schemas.microsoft.com/office/drawing/2014/main" id="{5AA4DF65-E87E-C2C3-3302-3FB3402020B8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3C979509-230F-C4CE-9DD5-24B6DA196D20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A2526928-78D0-DAE4-CB3D-EBC2606603F4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Rectangles 18">
                  <a:extLst>
                    <a:ext uri="{FF2B5EF4-FFF2-40B4-BE49-F238E27FC236}">
                      <a16:creationId xmlns:a16="http://schemas.microsoft.com/office/drawing/2014/main" id="{E2E81DAA-6A4C-94FD-2750-9165B00CA61F}"/>
                    </a:ext>
                  </a:extLst>
                </p:cNvPr>
                <p:cNvSpPr/>
                <p:nvPr/>
              </p:nvSpPr>
              <p:spPr>
                <a:xfrm>
                  <a:off x="7610" y="4291"/>
                  <a:ext cx="797" cy="84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3.5</a:t>
                  </a:r>
                </a:p>
              </p:txBody>
            </p:sp>
            <p:sp>
              <p:nvSpPr>
                <p:cNvPr id="25" name="Rectangles 19">
                  <a:extLst>
                    <a:ext uri="{FF2B5EF4-FFF2-40B4-BE49-F238E27FC236}">
                      <a16:creationId xmlns:a16="http://schemas.microsoft.com/office/drawing/2014/main" id="{37E8E993-B257-2410-E177-0644786C40D7}"/>
                    </a:ext>
                  </a:extLst>
                </p:cNvPr>
                <p:cNvSpPr/>
                <p:nvPr/>
              </p:nvSpPr>
              <p:spPr>
                <a:xfrm>
                  <a:off x="6668" y="3975"/>
                  <a:ext cx="797" cy="116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6</a:t>
                  </a:r>
                </a:p>
              </p:txBody>
            </p:sp>
            <p:sp>
              <p:nvSpPr>
                <p:cNvPr id="26" name="Rectangles 20">
                  <a:extLst>
                    <a:ext uri="{FF2B5EF4-FFF2-40B4-BE49-F238E27FC236}">
                      <a16:creationId xmlns:a16="http://schemas.microsoft.com/office/drawing/2014/main" id="{2FAB8318-DC1F-726A-FA1D-69F23F939337}"/>
                    </a:ext>
                  </a:extLst>
                </p:cNvPr>
                <p:cNvSpPr/>
                <p:nvPr/>
              </p:nvSpPr>
              <p:spPr>
                <a:xfrm>
                  <a:off x="8553" y="4401"/>
                  <a:ext cx="797" cy="73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</a:p>
              </p:txBody>
            </p: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BC668-5063-5EE5-0317-47BFB98D6576}"/>
                  </a:ext>
                </a:extLst>
              </p:cNvPr>
              <p:cNvSpPr txBox="1"/>
              <p:nvPr/>
            </p:nvSpPr>
            <p:spPr>
              <a:xfrm>
                <a:off x="3521075" y="5581342"/>
                <a:ext cx="98012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SRPT-k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47F6AFF-A5D0-805E-5293-77E05C469E40}"/>
                  </a:ext>
                </a:extLst>
              </p:cNvPr>
              <p:cNvSpPr txBox="1"/>
              <p:nvPr/>
            </p:nvSpPr>
            <p:spPr>
              <a:xfrm>
                <a:off x="3517742" y="4443709"/>
                <a:ext cx="98012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SMOD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E870328-4B11-F0E1-7383-01C7AD25D66A}"/>
                </a:ext>
              </a:extLst>
            </p:cNvPr>
            <p:cNvGrpSpPr/>
            <p:nvPr/>
          </p:nvGrpSpPr>
          <p:grpSpPr>
            <a:xfrm>
              <a:off x="2377122" y="4302768"/>
              <a:ext cx="1801812" cy="1936107"/>
              <a:chOff x="5406072" y="4236093"/>
              <a:chExt cx="1801812" cy="1936107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7AC85B9-62B5-75A9-B205-3D70FD1AACF2}"/>
                  </a:ext>
                </a:extLst>
              </p:cNvPr>
              <p:cNvSpPr/>
              <p:nvPr/>
            </p:nvSpPr>
            <p:spPr>
              <a:xfrm>
                <a:off x="6617016" y="4476750"/>
                <a:ext cx="590868" cy="1643707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08526CB7-F777-1446-7B81-553FFCA6F648}"/>
                  </a:ext>
                </a:extLst>
              </p:cNvPr>
              <p:cNvSpPr/>
              <p:nvPr/>
            </p:nvSpPr>
            <p:spPr>
              <a:xfrm>
                <a:off x="5406072" y="4236093"/>
                <a:ext cx="590868" cy="1936107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A50EC-29E6-AB6A-9160-DD459C315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2EA96-613A-AF61-DE05-260F292F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68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545B-FF9F-E732-03F4-9CB0DAB5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tweak: SEK-SMOD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41D5F-FC04-6235-231A-70549241D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63251" cy="30950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Great worst-case properties! Lemmas:</a:t>
                </a:r>
              </a:p>
              <a:p>
                <a:pPr marL="457200" indent="-457200"/>
                <a:r>
                  <a:rPr lang="en-US" dirty="0"/>
                  <a:t>Positive part monotonically decreasing</a:t>
                </a:r>
              </a:p>
              <a:p>
                <a:pPr marL="457200" indent="-45720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extra job</a:t>
                </a:r>
              </a:p>
              <a:p>
                <a:pPr marL="457200" indent="-457200"/>
                <a:r>
                  <a:rPr lang="en-US" dirty="0"/>
                  <a:t>Each job is “extra job”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time: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worse per arrival.</a:t>
                </a:r>
              </a:p>
              <a:p>
                <a:pPr marL="457200" indent="-457200"/>
                <a:r>
                  <a:rPr lang="en-US" dirty="0"/>
                  <a:t>Once all divergence jobs complete, never worse: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arrivals per divergence.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41D5F-FC04-6235-231A-70549241D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63251" cy="3095069"/>
              </a:xfrm>
              <a:blipFill>
                <a:blip r:embed="rId2"/>
                <a:stretch>
                  <a:fillRect l="-1133" t="-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33A157E-02E9-C034-6CB1-E3E062F84B7C}"/>
              </a:ext>
            </a:extLst>
          </p:cNvPr>
          <p:cNvGrpSpPr/>
          <p:nvPr/>
        </p:nvGrpSpPr>
        <p:grpSpPr>
          <a:xfrm>
            <a:off x="8388453" y="276667"/>
            <a:ext cx="3690142" cy="2303949"/>
            <a:chOff x="488792" y="4088923"/>
            <a:chExt cx="3690142" cy="230394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67EADEE-C715-39DE-A7D3-15F58BF83F45}"/>
                </a:ext>
              </a:extLst>
            </p:cNvPr>
            <p:cNvGrpSpPr/>
            <p:nvPr/>
          </p:nvGrpSpPr>
          <p:grpSpPr>
            <a:xfrm>
              <a:off x="488792" y="4088923"/>
              <a:ext cx="3690142" cy="2303949"/>
              <a:chOff x="3517742" y="4022248"/>
              <a:chExt cx="3690142" cy="230394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2A3712F-0AB7-A1FC-1D2B-68D404295A7E}"/>
                  </a:ext>
                </a:extLst>
              </p:cNvPr>
              <p:cNvGrpSpPr/>
              <p:nvPr/>
            </p:nvGrpSpPr>
            <p:grpSpPr>
              <a:xfrm>
                <a:off x="4194492" y="4022248"/>
                <a:ext cx="3006090" cy="1097915"/>
                <a:chOff x="5630" y="3735"/>
                <a:chExt cx="4734" cy="1729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6992D764-27C2-015C-08EC-7AA9D849834D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15" name="Rectangles 8">
                    <a:extLst>
                      <a:ext uri="{FF2B5EF4-FFF2-40B4-BE49-F238E27FC236}">
                        <a16:creationId xmlns:a16="http://schemas.microsoft.com/office/drawing/2014/main" id="{78F50EE7-8927-229F-F735-5A5DA9CBC2EC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Rectangles 9">
                    <a:extLst>
                      <a:ext uri="{FF2B5EF4-FFF2-40B4-BE49-F238E27FC236}">
                        <a16:creationId xmlns:a16="http://schemas.microsoft.com/office/drawing/2014/main" id="{F5B8BF6E-EC74-5E24-ADF1-E936A61AD662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Rectangles 10">
                    <a:extLst>
                      <a:ext uri="{FF2B5EF4-FFF2-40B4-BE49-F238E27FC236}">
                        <a16:creationId xmlns:a16="http://schemas.microsoft.com/office/drawing/2014/main" id="{5327A16B-8219-B47C-C498-2E6AB4601695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Rectangles 11">
                    <a:extLst>
                      <a:ext uri="{FF2B5EF4-FFF2-40B4-BE49-F238E27FC236}">
                        <a16:creationId xmlns:a16="http://schemas.microsoft.com/office/drawing/2014/main" id="{718F18B9-288E-677C-1781-4CB3EC002879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EC4956D5-0566-4D4B-B5B3-66302FCCCBCA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A9E635DD-3BF5-B4E9-A3F8-E71A8973C723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" name="Rectangles 16">
                  <a:extLst>
                    <a:ext uri="{FF2B5EF4-FFF2-40B4-BE49-F238E27FC236}">
                      <a16:creationId xmlns:a16="http://schemas.microsoft.com/office/drawing/2014/main" id="{755DD3E3-CFCF-0F13-EC7E-11206E55BDDF}"/>
                    </a:ext>
                  </a:extLst>
                </p:cNvPr>
                <p:cNvSpPr/>
                <p:nvPr/>
              </p:nvSpPr>
              <p:spPr>
                <a:xfrm>
                  <a:off x="9494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0" name="Rectangles 18">
                  <a:extLst>
                    <a:ext uri="{FF2B5EF4-FFF2-40B4-BE49-F238E27FC236}">
                      <a16:creationId xmlns:a16="http://schemas.microsoft.com/office/drawing/2014/main" id="{898CD802-9740-1281-9FC8-939F7FDFC5E5}"/>
                    </a:ext>
                  </a:extLst>
                </p:cNvPr>
                <p:cNvSpPr/>
                <p:nvPr/>
              </p:nvSpPr>
              <p:spPr>
                <a:xfrm>
                  <a:off x="7610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  <p:sp>
              <p:nvSpPr>
                <p:cNvPr id="11" name="Rectangles 19">
                  <a:extLst>
                    <a:ext uri="{FF2B5EF4-FFF2-40B4-BE49-F238E27FC236}">
                      <a16:creationId xmlns:a16="http://schemas.microsoft.com/office/drawing/2014/main" id="{423BF86C-874A-8599-684F-83EFA9A6EB4C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5</a:t>
                  </a:r>
                </a:p>
              </p:txBody>
            </p:sp>
            <p:sp>
              <p:nvSpPr>
                <p:cNvPr id="12" name="Rectangles 20">
                  <a:extLst>
                    <a:ext uri="{FF2B5EF4-FFF2-40B4-BE49-F238E27FC236}">
                      <a16:creationId xmlns:a16="http://schemas.microsoft.com/office/drawing/2014/main" id="{6B92ADD3-5954-EB31-35A0-B9DC5153E7BB}"/>
                    </a:ext>
                  </a:extLst>
                </p:cNvPr>
                <p:cNvSpPr/>
                <p:nvPr/>
              </p:nvSpPr>
              <p:spPr>
                <a:xfrm>
                  <a:off x="8553" y="4586"/>
                  <a:ext cx="797" cy="55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3451463-8A86-3013-156D-5C8B5C558EFE}"/>
                  </a:ext>
                </a:extLst>
              </p:cNvPr>
              <p:cNvGrpSpPr/>
              <p:nvPr/>
            </p:nvGrpSpPr>
            <p:grpSpPr>
              <a:xfrm>
                <a:off x="4201794" y="5228282"/>
                <a:ext cx="3006090" cy="1097915"/>
                <a:chOff x="5630" y="3735"/>
                <a:chExt cx="4734" cy="1729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520B7C4C-1701-CF53-4CE3-2F74B0B75267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27" name="Rectangles 8">
                    <a:extLst>
                      <a:ext uri="{FF2B5EF4-FFF2-40B4-BE49-F238E27FC236}">
                        <a16:creationId xmlns:a16="http://schemas.microsoft.com/office/drawing/2014/main" id="{BD500C78-C8EB-0254-4BE3-722A81E79D89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Rectangles 9">
                    <a:extLst>
                      <a:ext uri="{FF2B5EF4-FFF2-40B4-BE49-F238E27FC236}">
                        <a16:creationId xmlns:a16="http://schemas.microsoft.com/office/drawing/2014/main" id="{BAAE5A02-09B3-D7C9-17BF-D7679D502C52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Rectangles 10">
                    <a:extLst>
                      <a:ext uri="{FF2B5EF4-FFF2-40B4-BE49-F238E27FC236}">
                        <a16:creationId xmlns:a16="http://schemas.microsoft.com/office/drawing/2014/main" id="{DDF7EF80-3811-05F2-AE7A-070985E548C3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Rectangles 11">
                    <a:extLst>
                      <a:ext uri="{FF2B5EF4-FFF2-40B4-BE49-F238E27FC236}">
                        <a16:creationId xmlns:a16="http://schemas.microsoft.com/office/drawing/2014/main" id="{5AA4DF65-E87E-C2C3-3302-3FB3402020B8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3C979509-230F-C4CE-9DD5-24B6DA196D20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A2526928-78D0-DAE4-CB3D-EBC2606603F4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Rectangles 18">
                  <a:extLst>
                    <a:ext uri="{FF2B5EF4-FFF2-40B4-BE49-F238E27FC236}">
                      <a16:creationId xmlns:a16="http://schemas.microsoft.com/office/drawing/2014/main" id="{E2E81DAA-6A4C-94FD-2750-9165B00CA61F}"/>
                    </a:ext>
                  </a:extLst>
                </p:cNvPr>
                <p:cNvSpPr/>
                <p:nvPr/>
              </p:nvSpPr>
              <p:spPr>
                <a:xfrm>
                  <a:off x="7610" y="4291"/>
                  <a:ext cx="797" cy="84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3.5</a:t>
                  </a:r>
                </a:p>
              </p:txBody>
            </p:sp>
            <p:sp>
              <p:nvSpPr>
                <p:cNvPr id="25" name="Rectangles 19">
                  <a:extLst>
                    <a:ext uri="{FF2B5EF4-FFF2-40B4-BE49-F238E27FC236}">
                      <a16:creationId xmlns:a16="http://schemas.microsoft.com/office/drawing/2014/main" id="{37E8E993-B257-2410-E177-0644786C40D7}"/>
                    </a:ext>
                  </a:extLst>
                </p:cNvPr>
                <p:cNvSpPr/>
                <p:nvPr/>
              </p:nvSpPr>
              <p:spPr>
                <a:xfrm>
                  <a:off x="6668" y="3975"/>
                  <a:ext cx="797" cy="116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6</a:t>
                  </a:r>
                </a:p>
              </p:txBody>
            </p:sp>
            <p:sp>
              <p:nvSpPr>
                <p:cNvPr id="26" name="Rectangles 20">
                  <a:extLst>
                    <a:ext uri="{FF2B5EF4-FFF2-40B4-BE49-F238E27FC236}">
                      <a16:creationId xmlns:a16="http://schemas.microsoft.com/office/drawing/2014/main" id="{2FAB8318-DC1F-726A-FA1D-69F23F939337}"/>
                    </a:ext>
                  </a:extLst>
                </p:cNvPr>
                <p:cNvSpPr/>
                <p:nvPr/>
              </p:nvSpPr>
              <p:spPr>
                <a:xfrm>
                  <a:off x="8553" y="4401"/>
                  <a:ext cx="797" cy="73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</a:p>
              </p:txBody>
            </p: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BC668-5063-5EE5-0317-47BFB98D6576}"/>
                  </a:ext>
                </a:extLst>
              </p:cNvPr>
              <p:cNvSpPr txBox="1"/>
              <p:nvPr/>
            </p:nvSpPr>
            <p:spPr>
              <a:xfrm>
                <a:off x="3521075" y="5581342"/>
                <a:ext cx="98012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SRPT-k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47F6AFF-A5D0-805E-5293-77E05C469E40}"/>
                  </a:ext>
                </a:extLst>
              </p:cNvPr>
              <p:cNvSpPr txBox="1"/>
              <p:nvPr/>
            </p:nvSpPr>
            <p:spPr>
              <a:xfrm>
                <a:off x="3517742" y="4443709"/>
                <a:ext cx="98012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SMOD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E870328-4B11-F0E1-7383-01C7AD25D66A}"/>
                </a:ext>
              </a:extLst>
            </p:cNvPr>
            <p:cNvGrpSpPr/>
            <p:nvPr/>
          </p:nvGrpSpPr>
          <p:grpSpPr>
            <a:xfrm>
              <a:off x="2377122" y="4302768"/>
              <a:ext cx="1801812" cy="1936107"/>
              <a:chOff x="5406072" y="4236093"/>
              <a:chExt cx="1801812" cy="1936107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7AC85B9-62B5-75A9-B205-3D70FD1AACF2}"/>
                  </a:ext>
                </a:extLst>
              </p:cNvPr>
              <p:cNvSpPr/>
              <p:nvPr/>
            </p:nvSpPr>
            <p:spPr>
              <a:xfrm>
                <a:off x="6617016" y="4476750"/>
                <a:ext cx="590868" cy="1643707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08526CB7-F777-1446-7B81-553FFCA6F648}"/>
                  </a:ext>
                </a:extLst>
              </p:cNvPr>
              <p:cNvSpPr/>
              <p:nvPr/>
            </p:nvSpPr>
            <p:spPr>
              <a:xfrm>
                <a:off x="5406072" y="4236093"/>
                <a:ext cx="590868" cy="1936107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607F13-E953-8B87-D1C4-1AAED9038014}"/>
                  </a:ext>
                </a:extLst>
              </p:cNvPr>
              <p:cNvSpPr txBox="1"/>
              <p:nvPr/>
            </p:nvSpPr>
            <p:spPr>
              <a:xfrm>
                <a:off x="1209674" y="4893693"/>
                <a:ext cx="9801225" cy="961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Lemma: With appropriate parameterization, for every divergence </a:t>
                </a:r>
                <a:br>
                  <a:rPr lang="en-US" sz="2800" dirty="0"/>
                </a:b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𝑆𝐸𝐾</m:t>
                            </m:r>
                            <m:r>
                              <m:rPr>
                                <m:nor/>
                              </m:rPr>
                              <a:rPr lang="en-US" sz="2800" dirty="0"/>
                              <m:t>-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𝑆𝑀𝑂𝐷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𝑆𝑅𝑃𝑇</m:t>
                            </m:r>
                            <m:r>
                              <m:rPr>
                                <m:nor/>
                              </m:rPr>
                              <a:rPr lang="en-US" sz="2800" dirty="0"/>
                              <m:t>-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800" i="1" dirty="0"/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607F13-E953-8B87-D1C4-1AAED9038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674" y="4893693"/>
                <a:ext cx="9801225" cy="961802"/>
              </a:xfrm>
              <a:prstGeom prst="rect">
                <a:avLst/>
              </a:prstGeom>
              <a:blipFill>
                <a:blip r:embed="rId3"/>
                <a:stretch>
                  <a:fillRect t="-6329" r="-1057" b="-17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7E4C5B-13F4-1A33-36A5-E15CF83D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943984-4B0F-9911-30BE-A71F5D3E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2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B1860-0773-D4B5-FBA5-7880EB41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Result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9ECB0-CADC-C6EF-A0AF-63B4932F6E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47342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Theorem: With appropriate parameterization, </a:t>
                </a:r>
                <a:br>
                  <a:rPr lang="en-US" dirty="0"/>
                </a:br>
                <a:r>
                  <a:rPr lang="en-US" dirty="0"/>
                  <a:t>SEK-SMOD always outperforms SRPT-k: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𝑆𝐸𝐾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-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𝑆𝑀𝑂𝐷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𝑆𝑅𝑃𝑇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-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First policy to ever outperform SRPT-k!</a:t>
                </a:r>
              </a:p>
              <a:p>
                <a:pPr marL="0" indent="0">
                  <a:buNone/>
                </a:pPr>
                <a:r>
                  <a:rPr lang="en-US" dirty="0"/>
                  <a:t>High-level intuition: Use more information – global state.</a:t>
                </a:r>
                <a:br>
                  <a:rPr lang="en-US" dirty="0"/>
                </a:br>
                <a:r>
                  <a:rPr lang="en-US" dirty="0"/>
                  <a:t>Find predictable situation – about to complete.</a:t>
                </a:r>
                <a:br>
                  <a:rPr lang="en-US" dirty="0"/>
                </a:br>
                <a:r>
                  <a:rPr lang="en-US" dirty="0"/>
                  <a:t>Consistent benefit.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9ECB0-CADC-C6EF-A0AF-63B4932F6E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47342" cy="4351338"/>
              </a:xfrm>
              <a:blipFill>
                <a:blip r:embed="rId2"/>
                <a:stretch>
                  <a:fillRect l="-11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AFCEF65-AADF-6CA2-FD92-5B020A9DB107}"/>
              </a:ext>
            </a:extLst>
          </p:cNvPr>
          <p:cNvSpPr/>
          <p:nvPr/>
        </p:nvSpPr>
        <p:spPr>
          <a:xfrm>
            <a:off x="2846895" y="1825625"/>
            <a:ext cx="6796726" cy="1231900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6265C-1166-C0CB-4CC9-68EAD7A9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14B7E-3322-D5F3-14BE-634C0275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9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8649-6012-BA9C-7FE9-E1FC88930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outperformance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01DB68-34D4-D9AE-0821-B8125F4657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477732"/>
                <a:ext cx="10719062" cy="187861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Empirically: No complex parameterization needed, no SMOD. Just SEK.</a:t>
                </a:r>
              </a:p>
              <a:p>
                <a:pPr marL="0" indent="0">
                  <a:buNone/>
                </a:pPr>
                <a:r>
                  <a:rPr lang="en-US" dirty="0"/>
                  <a:t>Small vs. large: above &amp; below cutoff.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fine.</a:t>
                </a:r>
              </a:p>
              <a:p>
                <a:pPr marL="0" indent="0">
                  <a:buNone/>
                </a:pPr>
                <a:r>
                  <a:rPr lang="en-US" dirty="0"/>
                  <a:t>Maximum improvement observed: 0.9%</a:t>
                </a:r>
              </a:p>
              <a:p>
                <a:pPr marL="0" indent="0">
                  <a:buNone/>
                </a:pPr>
                <a:r>
                  <a:rPr lang="en-US" dirty="0"/>
                  <a:t>Is this good? Lower-bound paper: Perhaps SEK halfway from SRPT-k to OPT?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01DB68-34D4-D9AE-0821-B8125F4657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477732"/>
                <a:ext cx="10719062" cy="1878617"/>
              </a:xfrm>
              <a:blipFill>
                <a:blip r:embed="rId2"/>
                <a:stretch>
                  <a:fillRect l="-1024" t="-6818" b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3A65620-58E3-202C-634F-DFC8AB3E1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50" y="1333619"/>
            <a:ext cx="11107700" cy="321037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F43DF-3CB1-0653-1B02-2583E9F4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847C0-0696-BA13-A071-5AD53233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3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928E-3C22-3A06-347F-EA02C5EF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servers: More divergences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E8EE5-6A0B-98E0-B0EA-5462ECBACE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4851399"/>
                <a:ext cx="10898171" cy="13255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SEK2: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US" dirty="0"/>
                  <a:t> servers, diverge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dirty="0"/>
                  <a:t> jobs present,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 jobs.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E8EE5-6A0B-98E0-B0EA-5462ECBACE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4851399"/>
                <a:ext cx="10898171" cy="1325563"/>
              </a:xfrm>
              <a:blipFill>
                <a:blip r:embed="rId2"/>
                <a:stretch>
                  <a:fillRect l="-1119" t="-7834" r="-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57E9B7A-46E7-AFE5-257A-823988ACA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047" y="1690688"/>
            <a:ext cx="7201905" cy="302937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B5971-CF24-EDF9-1E40-DF7A83CA1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60AAE-1C71-FF9C-F6A7-76FA8376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0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BEE3-2CD4-7034-1DD8-6FDB971C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Estimates: SEK still helps, if low 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40BB4-8D77-E25D-260D-D0FB8DB272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772452"/>
                <a:ext cx="10515600" cy="6000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 </a:t>
                </a:r>
                <a:r>
                  <a:rPr lang="en-US" dirty="0" err="1"/>
                  <a:t>hyperexponential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≈10</m:t>
                    </m:r>
                  </m:oMath>
                </a14:m>
                <a:r>
                  <a:rPr lang="en-US" dirty="0"/>
                  <a:t>. Estimation error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40BB4-8D77-E25D-260D-D0FB8DB27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772452"/>
                <a:ext cx="10515600" cy="600075"/>
              </a:xfrm>
              <a:blipFill>
                <a:blip r:embed="rId2"/>
                <a:stretch>
                  <a:fillRect l="-1217" t="-17347" b="-9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4AE0E25-BE18-BE6C-213E-784CCE5DC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55" y="1447498"/>
            <a:ext cx="11031489" cy="432495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D7360-D277-581E-FEC1-BF2A2F5F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475EB-F110-5D08-E4EC-34DF63660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6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7E2A-4755-4C5E-0A43-EC1C9EC79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EFD8E-A612-923A-5BA7-D13EED80B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we apply SEK-type ideas on top of other priority-index policies?</a:t>
            </a:r>
            <a:br>
              <a:rPr lang="en-US" dirty="0"/>
            </a:br>
            <a:r>
              <a:rPr lang="en-US" dirty="0"/>
              <a:t>Gittins-k? </a:t>
            </a:r>
            <a:r>
              <a:rPr lang="en-US" dirty="0" err="1"/>
              <a:t>ServerFilling</a:t>
            </a:r>
            <a:r>
              <a:rPr lang="en-US" dirty="0"/>
              <a:t>-SRPT? Guardrails/SRPT?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more jobs are present, does SEK still help?</a:t>
            </a:r>
            <a:br>
              <a:rPr lang="en-US" dirty="0"/>
            </a:br>
            <a:r>
              <a:rPr lang="en-US" dirty="0"/>
              <a:t>Ex: 0.1, 0.1, 1, 100, 100. Should we prioritize the 1?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219A71-F1D3-F85B-053B-9A7211289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011E2-7B08-39B6-5EAA-BC1DE340A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21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93BA7D-4343-DDFC-618C-36587AF5ECB8}"/>
              </a:ext>
            </a:extLst>
          </p:cNvPr>
          <p:cNvGrpSpPr/>
          <p:nvPr/>
        </p:nvGrpSpPr>
        <p:grpSpPr>
          <a:xfrm>
            <a:off x="4794468" y="2886269"/>
            <a:ext cx="2889339" cy="1888593"/>
            <a:chOff x="1637640" y="1372393"/>
            <a:chExt cx="3905885" cy="265112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8B696F-AA4A-1939-6CC0-267667BDC297}"/>
                </a:ext>
              </a:extLst>
            </p:cNvPr>
            <p:cNvGrpSpPr/>
            <p:nvPr/>
          </p:nvGrpSpPr>
          <p:grpSpPr>
            <a:xfrm>
              <a:off x="1637640" y="1372393"/>
              <a:ext cx="3368040" cy="2651125"/>
              <a:chOff x="1637640" y="1372393"/>
              <a:chExt cx="3368040" cy="2651125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960C704-BDB6-DAB5-B26D-E9FB4FCC2A73}"/>
                  </a:ext>
                </a:extLst>
              </p:cNvPr>
              <p:cNvGrpSpPr/>
              <p:nvPr/>
            </p:nvGrpSpPr>
            <p:grpSpPr>
              <a:xfrm>
                <a:off x="1637640" y="1372393"/>
                <a:ext cx="3368040" cy="2651125"/>
                <a:chOff x="10105" y="1748"/>
                <a:chExt cx="5304" cy="4175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A9542B6F-B9F9-8A40-0281-0FF40DF308B4}"/>
                    </a:ext>
                  </a:extLst>
                </p:cNvPr>
                <p:cNvSpPr/>
                <p:nvPr/>
              </p:nvSpPr>
              <p:spPr>
                <a:xfrm>
                  <a:off x="14954" y="5466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6918D85E-8A74-96DC-CBC7-A5B05A0C1108}"/>
                    </a:ext>
                  </a:extLst>
                </p:cNvPr>
                <p:cNvSpPr/>
                <p:nvPr/>
              </p:nvSpPr>
              <p:spPr>
                <a:xfrm>
                  <a:off x="14954" y="3325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979BA0D7-56D8-FA29-1D6C-1FAF527C4C16}"/>
                    </a:ext>
                  </a:extLst>
                </p:cNvPr>
                <p:cNvSpPr/>
                <p:nvPr/>
              </p:nvSpPr>
              <p:spPr>
                <a:xfrm>
                  <a:off x="14954" y="3837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4296578-B82E-F232-DFB6-F3639DE1A5C5}"/>
                    </a:ext>
                  </a:extLst>
                </p:cNvPr>
                <p:cNvSpPr/>
                <p:nvPr/>
              </p:nvSpPr>
              <p:spPr>
                <a:xfrm>
                  <a:off x="14954" y="4367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1410A81-719B-050A-E549-3E8C4F827E3F}"/>
                    </a:ext>
                  </a:extLst>
                </p:cNvPr>
                <p:cNvSpPr/>
                <p:nvPr/>
              </p:nvSpPr>
              <p:spPr>
                <a:xfrm>
                  <a:off x="14954" y="4910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EA312F1-5DE3-9422-518B-54AF36327300}"/>
                    </a:ext>
                  </a:extLst>
                </p:cNvPr>
                <p:cNvSpPr/>
                <p:nvPr/>
              </p:nvSpPr>
              <p:spPr>
                <a:xfrm>
                  <a:off x="14954" y="1748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05CD24D-265A-80E5-CFCD-9E26F75F5FC8}"/>
                    </a:ext>
                  </a:extLst>
                </p:cNvPr>
                <p:cNvSpPr/>
                <p:nvPr/>
              </p:nvSpPr>
              <p:spPr>
                <a:xfrm>
                  <a:off x="14954" y="2278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9DB5D08D-6A28-EBB7-0EC9-B818D4989C42}"/>
                    </a:ext>
                  </a:extLst>
                </p:cNvPr>
                <p:cNvSpPr/>
                <p:nvPr/>
              </p:nvSpPr>
              <p:spPr>
                <a:xfrm>
                  <a:off x="14954" y="2821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E114C283-D857-00E8-F37E-E4E1823ED992}"/>
                    </a:ext>
                  </a:extLst>
                </p:cNvPr>
                <p:cNvGrpSpPr/>
                <p:nvPr/>
              </p:nvGrpSpPr>
              <p:grpSpPr>
                <a:xfrm>
                  <a:off x="10105" y="2989"/>
                  <a:ext cx="4734" cy="1729"/>
                  <a:chOff x="5630" y="3721"/>
                  <a:chExt cx="4734" cy="1729"/>
                </a:xfrm>
              </p:grpSpPr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F75DA233-64BC-62FF-7A0D-3031173C9B06}"/>
                      </a:ext>
                    </a:extLst>
                  </p:cNvPr>
                  <p:cNvGrpSpPr/>
                  <p:nvPr/>
                </p:nvGrpSpPr>
                <p:grpSpPr>
                  <a:xfrm>
                    <a:off x="5630" y="3721"/>
                    <a:ext cx="4734" cy="1729"/>
                    <a:chOff x="5630" y="3721"/>
                    <a:chExt cx="4734" cy="1729"/>
                  </a:xfrm>
                </p:grpSpPr>
                <p:sp>
                  <p:nvSpPr>
                    <p:cNvPr id="36" name="Rectangles 39">
                      <a:extLst>
                        <a:ext uri="{FF2B5EF4-FFF2-40B4-BE49-F238E27FC236}">
                          <a16:creationId xmlns:a16="http://schemas.microsoft.com/office/drawing/2014/main" id="{5A78B8F0-BD5F-724B-CB19-D0CD8922DC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6" y="3735"/>
                      <a:ext cx="942" cy="1714"/>
                    </a:xfrm>
                    <a:prstGeom prst="rect">
                      <a:avLst/>
                    </a:prstGeom>
                    <a:noFill/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7" name="Rectangles 40">
                      <a:extLst>
                        <a:ext uri="{FF2B5EF4-FFF2-40B4-BE49-F238E27FC236}">
                          <a16:creationId xmlns:a16="http://schemas.microsoft.com/office/drawing/2014/main" id="{C54D2C3F-8C0A-FF69-AD88-2B80D2ADA6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8" y="3735"/>
                      <a:ext cx="942" cy="1714"/>
                    </a:xfrm>
                    <a:prstGeom prst="rect">
                      <a:avLst/>
                    </a:prstGeom>
                    <a:noFill/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" name="Rectangles 41">
                      <a:extLst>
                        <a:ext uri="{FF2B5EF4-FFF2-40B4-BE49-F238E27FC236}">
                          <a16:creationId xmlns:a16="http://schemas.microsoft.com/office/drawing/2014/main" id="{DCDF983C-4BCC-4FD5-196F-B78C25400F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0" y="3735"/>
                      <a:ext cx="942" cy="1714"/>
                    </a:xfrm>
                    <a:prstGeom prst="rect">
                      <a:avLst/>
                    </a:prstGeom>
                    <a:noFill/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9" name="Rectangles 42">
                      <a:extLst>
                        <a:ext uri="{FF2B5EF4-FFF2-40B4-BE49-F238E27FC236}">
                          <a16:creationId xmlns:a16="http://schemas.microsoft.com/office/drawing/2014/main" id="{9EABF7C6-EAB2-30C1-89AC-13980E8F4D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22" y="3735"/>
                      <a:ext cx="942" cy="1714"/>
                    </a:xfrm>
                    <a:prstGeom prst="rect">
                      <a:avLst/>
                    </a:prstGeom>
                    <a:noFill/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40" name="Straight Connector 39">
                      <a:extLst>
                        <a:ext uri="{FF2B5EF4-FFF2-40B4-BE49-F238E27FC236}">
                          <a16:creationId xmlns:a16="http://schemas.microsoft.com/office/drawing/2014/main" id="{252CB8B0-0CB8-334E-0768-F04D82F1ED4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3721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Straight Connector 40">
                      <a:extLst>
                        <a:ext uri="{FF2B5EF4-FFF2-40B4-BE49-F238E27FC236}">
                          <a16:creationId xmlns:a16="http://schemas.microsoft.com/office/drawing/2014/main" id="{86F24690-BC73-4DDB-501A-1D73FC43A1E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5435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2" name="Rectangles 46">
                    <a:extLst>
                      <a:ext uri="{FF2B5EF4-FFF2-40B4-BE49-F238E27FC236}">
                        <a16:creationId xmlns:a16="http://schemas.microsoft.com/office/drawing/2014/main" id="{ADFF3F46-A94E-8FB1-6661-40AE91B55EE5}"/>
                      </a:ext>
                    </a:extLst>
                  </p:cNvPr>
                  <p:cNvSpPr/>
                  <p:nvPr/>
                </p:nvSpPr>
                <p:spPr>
                  <a:xfrm>
                    <a:off x="7647" y="4275"/>
                    <a:ext cx="734" cy="865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2</a:t>
                    </a:r>
                  </a:p>
                </p:txBody>
              </p:sp>
              <p:sp>
                <p:nvSpPr>
                  <p:cNvPr id="33" name="Rectangles 47">
                    <a:extLst>
                      <a:ext uri="{FF2B5EF4-FFF2-40B4-BE49-F238E27FC236}">
                        <a16:creationId xmlns:a16="http://schemas.microsoft.com/office/drawing/2014/main" id="{36FF363C-AB50-0008-0B0A-D46B7CB7BCE0}"/>
                      </a:ext>
                    </a:extLst>
                  </p:cNvPr>
                  <p:cNvSpPr/>
                  <p:nvPr/>
                </p:nvSpPr>
                <p:spPr>
                  <a:xfrm>
                    <a:off x="9521" y="4514"/>
                    <a:ext cx="733" cy="626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4" name="Rectangles 48">
                    <a:extLst>
                      <a:ext uri="{FF2B5EF4-FFF2-40B4-BE49-F238E27FC236}">
                        <a16:creationId xmlns:a16="http://schemas.microsoft.com/office/drawing/2014/main" id="{43B5BB11-C3BF-677D-E68D-819C1DA94FFC}"/>
                      </a:ext>
                    </a:extLst>
                  </p:cNvPr>
                  <p:cNvSpPr/>
                  <p:nvPr/>
                </p:nvSpPr>
                <p:spPr>
                  <a:xfrm>
                    <a:off x="6703" y="4177"/>
                    <a:ext cx="727" cy="98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5" name="Rectangles 49">
                    <a:extLst>
                      <a:ext uri="{FF2B5EF4-FFF2-40B4-BE49-F238E27FC236}">
                        <a16:creationId xmlns:a16="http://schemas.microsoft.com/office/drawing/2014/main" id="{6C93A1AB-DD90-A285-1B89-23B85A637069}"/>
                      </a:ext>
                    </a:extLst>
                  </p:cNvPr>
                  <p:cNvSpPr/>
                  <p:nvPr/>
                </p:nvSpPr>
                <p:spPr>
                  <a:xfrm>
                    <a:off x="8590" y="4341"/>
                    <a:ext cx="734" cy="799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4</a:t>
                    </a:r>
                  </a:p>
                </p:txBody>
              </p:sp>
            </p:grp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2123FA9-3219-4064-E8C4-04C48F9EE672}"/>
                  </a:ext>
                </a:extLst>
              </p:cNvPr>
              <p:cNvSpPr txBox="1"/>
              <p:nvPr/>
            </p:nvSpPr>
            <p:spPr>
              <a:xfrm>
                <a:off x="1826228" y="1638972"/>
                <a:ext cx="2654881" cy="51845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ServerFilling</a:t>
                </a:r>
                <a:r>
                  <a:rPr lang="en-US" dirty="0"/>
                  <a:t>-SRPT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BB1C969-B4F2-A3E5-40BD-05460F10D895}"/>
                </a:ext>
              </a:extLst>
            </p:cNvPr>
            <p:cNvGrpSpPr/>
            <p:nvPr/>
          </p:nvGrpSpPr>
          <p:grpSpPr>
            <a:xfrm>
              <a:off x="4840283" y="1522321"/>
              <a:ext cx="703242" cy="2407217"/>
              <a:chOff x="4840283" y="1522321"/>
              <a:chExt cx="703242" cy="2407217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6C6E322-41BA-26DE-3D6B-C3E4C325E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6015" y="1522321"/>
                <a:ext cx="290920" cy="39251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CE3FE50-6536-56DE-77A0-A50F6B9FF2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3665" y="1857770"/>
                <a:ext cx="296409" cy="108417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8A75D47-E884-2243-1343-68A7CC587A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46015" y="2063082"/>
                <a:ext cx="316632" cy="140594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598FD75-A790-5499-D489-5BDE4D673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46015" y="2169318"/>
                <a:ext cx="272005" cy="354398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5A3665B-1CFB-750D-B485-CDCE05962E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3665" y="2843528"/>
                <a:ext cx="251222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80D4D61-5B24-1B66-4679-F9F4EE8776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0283" y="3180555"/>
                <a:ext cx="323172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ECEE679-9CC0-2BD2-7DF4-443FDB5EA7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3665" y="3540598"/>
                <a:ext cx="251222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A75B72F-2124-763B-F96A-E05AD5ADF8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0283" y="3877625"/>
                <a:ext cx="323172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s 60">
                <a:extLst>
                  <a:ext uri="{FF2B5EF4-FFF2-40B4-BE49-F238E27FC236}">
                    <a16:creationId xmlns:a16="http://schemas.microsoft.com/office/drawing/2014/main" id="{9C4E872C-E9CB-2B1D-AC5F-1293E2FCBF2D}"/>
                  </a:ext>
                </a:extLst>
              </p:cNvPr>
              <p:cNvSpPr/>
              <p:nvPr/>
            </p:nvSpPr>
            <p:spPr>
              <a:xfrm>
                <a:off x="5077435" y="2805588"/>
                <a:ext cx="466090" cy="41846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18" name="Rectangles 61">
                <a:extLst>
                  <a:ext uri="{FF2B5EF4-FFF2-40B4-BE49-F238E27FC236}">
                    <a16:creationId xmlns:a16="http://schemas.microsoft.com/office/drawing/2014/main" id="{DC3B8FFA-3207-FA88-8600-21C6B13C62A6}"/>
                  </a:ext>
                </a:extLst>
              </p:cNvPr>
              <p:cNvSpPr/>
              <p:nvPr/>
            </p:nvSpPr>
            <p:spPr>
              <a:xfrm>
                <a:off x="5076165" y="3474878"/>
                <a:ext cx="466090" cy="45466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19" name="Rectangles 75">
                <a:extLst>
                  <a:ext uri="{FF2B5EF4-FFF2-40B4-BE49-F238E27FC236}">
                    <a16:creationId xmlns:a16="http://schemas.microsoft.com/office/drawing/2014/main" id="{01C143CE-D7C7-2897-AEB4-D1CEBD24757B}"/>
                  </a:ext>
                </a:extLst>
              </p:cNvPr>
              <p:cNvSpPr/>
              <p:nvPr/>
            </p:nvSpPr>
            <p:spPr>
              <a:xfrm>
                <a:off x="5076165" y="1832133"/>
                <a:ext cx="466090" cy="37846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45DA17C-2C4B-7A0C-5923-BCCFEBFC8910}"/>
              </a:ext>
            </a:extLst>
          </p:cNvPr>
          <p:cNvGrpSpPr/>
          <p:nvPr/>
        </p:nvGrpSpPr>
        <p:grpSpPr>
          <a:xfrm>
            <a:off x="8004760" y="2660863"/>
            <a:ext cx="3024649" cy="2080820"/>
            <a:chOff x="6016135" y="2519935"/>
            <a:chExt cx="5013022" cy="3057004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1F66724D-92F2-377F-EF87-D73F400AC581}"/>
                </a:ext>
              </a:extLst>
            </p:cNvPr>
            <p:cNvGrpSpPr/>
            <p:nvPr/>
          </p:nvGrpSpPr>
          <p:grpSpPr>
            <a:xfrm>
              <a:off x="6016135" y="2989949"/>
              <a:ext cx="5013022" cy="2586990"/>
              <a:chOff x="3012743" y="1273969"/>
              <a:chExt cx="5013022" cy="2586990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D4239191-2059-6812-554A-1B9D142D7BE8}"/>
                  </a:ext>
                </a:extLst>
              </p:cNvPr>
              <p:cNvGrpSpPr/>
              <p:nvPr/>
            </p:nvGrpSpPr>
            <p:grpSpPr>
              <a:xfrm>
                <a:off x="4123055" y="1273969"/>
                <a:ext cx="3902710" cy="2586990"/>
                <a:chOff x="6337" y="1833"/>
                <a:chExt cx="6146" cy="4074"/>
              </a:xfrm>
            </p:grpSpPr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F1CDB10D-0FF2-4689-5C37-A6FEA9E47DDD}"/>
                    </a:ext>
                  </a:extLst>
                </p:cNvPr>
                <p:cNvGrpSpPr/>
                <p:nvPr/>
              </p:nvGrpSpPr>
              <p:grpSpPr>
                <a:xfrm>
                  <a:off x="7337" y="1833"/>
                  <a:ext cx="5145" cy="1358"/>
                  <a:chOff x="5630" y="3549"/>
                  <a:chExt cx="7073" cy="2086"/>
                </a:xfrm>
              </p:grpSpPr>
              <p:grpSp>
                <p:nvGrpSpPr>
                  <p:cNvPr id="132" name="Group 131">
                    <a:extLst>
                      <a:ext uri="{FF2B5EF4-FFF2-40B4-BE49-F238E27FC236}">
                        <a16:creationId xmlns:a16="http://schemas.microsoft.com/office/drawing/2014/main" id="{24B58449-DE46-3BED-05FD-F92D467BAE59}"/>
                      </a:ext>
                    </a:extLst>
                  </p:cNvPr>
                  <p:cNvGrpSpPr/>
                  <p:nvPr/>
                </p:nvGrpSpPr>
                <p:grpSpPr>
                  <a:xfrm>
                    <a:off x="5630" y="3549"/>
                    <a:ext cx="6736" cy="2086"/>
                    <a:chOff x="5630" y="3549"/>
                    <a:chExt cx="6736" cy="2086"/>
                  </a:xfrm>
                </p:grpSpPr>
                <p:sp>
                  <p:nvSpPr>
                    <p:cNvPr id="139" name="Rectangles 34">
                      <a:extLst>
                        <a:ext uri="{FF2B5EF4-FFF2-40B4-BE49-F238E27FC236}">
                          <a16:creationId xmlns:a16="http://schemas.microsoft.com/office/drawing/2014/main" id="{DC1ACD4D-D11E-42AE-FE84-4A3D7724AC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6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0" name="Rectangles 35">
                      <a:extLst>
                        <a:ext uri="{FF2B5EF4-FFF2-40B4-BE49-F238E27FC236}">
                          <a16:creationId xmlns:a16="http://schemas.microsoft.com/office/drawing/2014/main" id="{CA6FFCF3-FECA-B6A5-1630-992683228F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8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1" name="Rectangles 36">
                      <a:extLst>
                        <a:ext uri="{FF2B5EF4-FFF2-40B4-BE49-F238E27FC236}">
                          <a16:creationId xmlns:a16="http://schemas.microsoft.com/office/drawing/2014/main" id="{8DDED6AB-A23D-1EB5-82F6-91C275FEF8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0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2" name="Rectangles 37">
                      <a:extLst>
                        <a:ext uri="{FF2B5EF4-FFF2-40B4-BE49-F238E27FC236}">
                          <a16:creationId xmlns:a16="http://schemas.microsoft.com/office/drawing/2014/main" id="{0C78C171-8656-5232-9591-F46CE3280C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22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3" name="Oval 142">
                      <a:extLst>
                        <a:ext uri="{FF2B5EF4-FFF2-40B4-BE49-F238E27FC236}">
                          <a16:creationId xmlns:a16="http://schemas.microsoft.com/office/drawing/2014/main" id="{94A73A84-164B-8B82-41C1-912F79328C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64" y="3549"/>
                      <a:ext cx="2002" cy="208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44" name="Straight Connector 143">
                      <a:extLst>
                        <a:ext uri="{FF2B5EF4-FFF2-40B4-BE49-F238E27FC236}">
                          <a16:creationId xmlns:a16="http://schemas.microsoft.com/office/drawing/2014/main" id="{C2555D8E-3433-D7E9-2E57-2915EADCA4B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3735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5" name="Straight Connector 144">
                      <a:extLst>
                        <a:ext uri="{FF2B5EF4-FFF2-40B4-BE49-F238E27FC236}">
                          <a16:creationId xmlns:a16="http://schemas.microsoft.com/office/drawing/2014/main" id="{78458E81-91BA-890A-16FC-7A71172C451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5449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3" name="Rectangles 41">
                    <a:extLst>
                      <a:ext uri="{FF2B5EF4-FFF2-40B4-BE49-F238E27FC236}">
                        <a16:creationId xmlns:a16="http://schemas.microsoft.com/office/drawing/2014/main" id="{D8AED4A4-72C2-5C76-345C-13BFDCBD11BC}"/>
                      </a:ext>
                    </a:extLst>
                  </p:cNvPr>
                  <p:cNvSpPr/>
                  <p:nvPr/>
                </p:nvSpPr>
                <p:spPr>
                  <a:xfrm>
                    <a:off x="7611" y="4275"/>
                    <a:ext cx="797" cy="865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" name="Rectangles 42">
                    <a:extLst>
                      <a:ext uri="{FF2B5EF4-FFF2-40B4-BE49-F238E27FC236}">
                        <a16:creationId xmlns:a16="http://schemas.microsoft.com/office/drawing/2014/main" id="{8FF02EF7-D240-C80F-BAC7-C71320F0D1CE}"/>
                      </a:ext>
                    </a:extLst>
                  </p:cNvPr>
                  <p:cNvSpPr/>
                  <p:nvPr/>
                </p:nvSpPr>
                <p:spPr>
                  <a:xfrm>
                    <a:off x="9496" y="4769"/>
                    <a:ext cx="797" cy="372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" name="Rectangles 43">
                    <a:extLst>
                      <a:ext uri="{FF2B5EF4-FFF2-40B4-BE49-F238E27FC236}">
                        <a16:creationId xmlns:a16="http://schemas.microsoft.com/office/drawing/2014/main" id="{4F34163A-6019-4D7E-4F80-745C83068DA5}"/>
                      </a:ext>
                    </a:extLst>
                  </p:cNvPr>
                  <p:cNvSpPr/>
                  <p:nvPr/>
                </p:nvSpPr>
                <p:spPr>
                  <a:xfrm>
                    <a:off x="6668" y="4160"/>
                    <a:ext cx="797" cy="98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6" name="Rectangles 44">
                    <a:extLst>
                      <a:ext uri="{FF2B5EF4-FFF2-40B4-BE49-F238E27FC236}">
                        <a16:creationId xmlns:a16="http://schemas.microsoft.com/office/drawing/2014/main" id="{C3C4E14D-9616-BB0D-BED7-BC7E32C8C451}"/>
                      </a:ext>
                    </a:extLst>
                  </p:cNvPr>
                  <p:cNvSpPr/>
                  <p:nvPr/>
                </p:nvSpPr>
                <p:spPr>
                  <a:xfrm>
                    <a:off x="8553" y="4483"/>
                    <a:ext cx="797" cy="65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" name="Rectangles 45">
                    <a:extLst>
                      <a:ext uri="{FF2B5EF4-FFF2-40B4-BE49-F238E27FC236}">
                        <a16:creationId xmlns:a16="http://schemas.microsoft.com/office/drawing/2014/main" id="{DC902C24-4E79-A02B-483A-EDEE7DED1D65}"/>
                      </a:ext>
                    </a:extLst>
                  </p:cNvPr>
                  <p:cNvSpPr/>
                  <p:nvPr/>
                </p:nvSpPr>
                <p:spPr>
                  <a:xfrm>
                    <a:off x="10966" y="4885"/>
                    <a:ext cx="797" cy="255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38" name="Straight Arrow Connector 137">
                    <a:extLst>
                      <a:ext uri="{FF2B5EF4-FFF2-40B4-BE49-F238E27FC236}">
                        <a16:creationId xmlns:a16="http://schemas.microsoft.com/office/drawing/2014/main" id="{83C770F5-4A9E-1D78-0267-FC539B1287DA}"/>
                      </a:ext>
                    </a:extLst>
                  </p:cNvPr>
                  <p:cNvCxnSpPr>
                    <a:cxnSpLocks/>
                    <a:stCxn id="143" idx="6"/>
                  </p:cNvCxnSpPr>
                  <p:nvPr/>
                </p:nvCxnSpPr>
                <p:spPr>
                  <a:xfrm flipV="1">
                    <a:off x="12366" y="4585"/>
                    <a:ext cx="337" cy="7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1BA495A9-3A84-2BD7-3434-B46CCA2626DD}"/>
                    </a:ext>
                  </a:extLst>
                </p:cNvPr>
                <p:cNvGrpSpPr/>
                <p:nvPr/>
              </p:nvGrpSpPr>
              <p:grpSpPr>
                <a:xfrm>
                  <a:off x="7338" y="3191"/>
                  <a:ext cx="5145" cy="1358"/>
                  <a:chOff x="5630" y="3549"/>
                  <a:chExt cx="7073" cy="2086"/>
                </a:xfrm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E468E316-A436-37BD-E14A-A448CDFD8007}"/>
                      </a:ext>
                    </a:extLst>
                  </p:cNvPr>
                  <p:cNvGrpSpPr/>
                  <p:nvPr/>
                </p:nvGrpSpPr>
                <p:grpSpPr>
                  <a:xfrm>
                    <a:off x="5630" y="3549"/>
                    <a:ext cx="6736" cy="2086"/>
                    <a:chOff x="5630" y="3549"/>
                    <a:chExt cx="6736" cy="2086"/>
                  </a:xfrm>
                </p:grpSpPr>
                <p:sp>
                  <p:nvSpPr>
                    <p:cNvPr id="125" name="Rectangles 6">
                      <a:extLst>
                        <a:ext uri="{FF2B5EF4-FFF2-40B4-BE49-F238E27FC236}">
                          <a16:creationId xmlns:a16="http://schemas.microsoft.com/office/drawing/2014/main" id="{75BEE4F9-57D0-CD25-9B9F-B0CCDD5153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6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6" name="Rectangles 7">
                      <a:extLst>
                        <a:ext uri="{FF2B5EF4-FFF2-40B4-BE49-F238E27FC236}">
                          <a16:creationId xmlns:a16="http://schemas.microsoft.com/office/drawing/2014/main" id="{76617D50-F31B-8965-8BEB-F4781EA20B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8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7" name="Rectangles 8">
                      <a:extLst>
                        <a:ext uri="{FF2B5EF4-FFF2-40B4-BE49-F238E27FC236}">
                          <a16:creationId xmlns:a16="http://schemas.microsoft.com/office/drawing/2014/main" id="{9769D9CB-AC41-8565-AF2B-CA33CC4843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0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8" name="Rectangles 9">
                      <a:extLst>
                        <a:ext uri="{FF2B5EF4-FFF2-40B4-BE49-F238E27FC236}">
                          <a16:creationId xmlns:a16="http://schemas.microsoft.com/office/drawing/2014/main" id="{480A9122-CF98-1265-584D-F6DB97E57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22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9" name="Oval 128">
                      <a:extLst>
                        <a:ext uri="{FF2B5EF4-FFF2-40B4-BE49-F238E27FC236}">
                          <a16:creationId xmlns:a16="http://schemas.microsoft.com/office/drawing/2014/main" id="{CFE9349C-5447-875C-0EF7-963D36AA9C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64" y="3549"/>
                      <a:ext cx="2002" cy="208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30" name="Straight Connector 129">
                      <a:extLst>
                        <a:ext uri="{FF2B5EF4-FFF2-40B4-BE49-F238E27FC236}">
                          <a16:creationId xmlns:a16="http://schemas.microsoft.com/office/drawing/2014/main" id="{27CFB5FB-E16E-936A-8A95-AF438B40EA0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3735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" name="Straight Connector 130">
                      <a:extLst>
                        <a:ext uri="{FF2B5EF4-FFF2-40B4-BE49-F238E27FC236}">
                          <a16:creationId xmlns:a16="http://schemas.microsoft.com/office/drawing/2014/main" id="{BD8D99B5-5323-D107-29CA-C66B5E56B44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5449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9" name="Rectangles 13">
                    <a:extLst>
                      <a:ext uri="{FF2B5EF4-FFF2-40B4-BE49-F238E27FC236}">
                        <a16:creationId xmlns:a16="http://schemas.microsoft.com/office/drawing/2014/main" id="{E3D699C1-E659-5028-1C5A-9091B18819FD}"/>
                      </a:ext>
                    </a:extLst>
                  </p:cNvPr>
                  <p:cNvSpPr/>
                  <p:nvPr/>
                </p:nvSpPr>
                <p:spPr>
                  <a:xfrm>
                    <a:off x="7611" y="4275"/>
                    <a:ext cx="797" cy="865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" name="Rectangles 14">
                    <a:extLst>
                      <a:ext uri="{FF2B5EF4-FFF2-40B4-BE49-F238E27FC236}">
                        <a16:creationId xmlns:a16="http://schemas.microsoft.com/office/drawing/2014/main" id="{10C57C36-0890-424E-9739-E30D4B51973A}"/>
                      </a:ext>
                    </a:extLst>
                  </p:cNvPr>
                  <p:cNvSpPr/>
                  <p:nvPr/>
                </p:nvSpPr>
                <p:spPr>
                  <a:xfrm>
                    <a:off x="9495" y="4580"/>
                    <a:ext cx="797" cy="5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" name="Rectangles 15">
                    <a:extLst>
                      <a:ext uri="{FF2B5EF4-FFF2-40B4-BE49-F238E27FC236}">
                        <a16:creationId xmlns:a16="http://schemas.microsoft.com/office/drawing/2014/main" id="{7ED024D8-D1BA-A86A-25D8-F0B2222D55F8}"/>
                      </a:ext>
                    </a:extLst>
                  </p:cNvPr>
                  <p:cNvSpPr/>
                  <p:nvPr/>
                </p:nvSpPr>
                <p:spPr>
                  <a:xfrm>
                    <a:off x="6668" y="3935"/>
                    <a:ext cx="797" cy="1206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" name="Rectangles 16">
                    <a:extLst>
                      <a:ext uri="{FF2B5EF4-FFF2-40B4-BE49-F238E27FC236}">
                        <a16:creationId xmlns:a16="http://schemas.microsoft.com/office/drawing/2014/main" id="{34C63BA0-3BEC-D3F0-0C29-A159B69704EB}"/>
                      </a:ext>
                    </a:extLst>
                  </p:cNvPr>
                  <p:cNvSpPr/>
                  <p:nvPr/>
                </p:nvSpPr>
                <p:spPr>
                  <a:xfrm>
                    <a:off x="8553" y="4483"/>
                    <a:ext cx="797" cy="65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" name="Rectangles 17">
                    <a:extLst>
                      <a:ext uri="{FF2B5EF4-FFF2-40B4-BE49-F238E27FC236}">
                        <a16:creationId xmlns:a16="http://schemas.microsoft.com/office/drawing/2014/main" id="{5646BE7B-92BE-CB57-02EF-D17556850949}"/>
                      </a:ext>
                    </a:extLst>
                  </p:cNvPr>
                  <p:cNvSpPr/>
                  <p:nvPr/>
                </p:nvSpPr>
                <p:spPr>
                  <a:xfrm>
                    <a:off x="10966" y="4885"/>
                    <a:ext cx="797" cy="255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24" name="Straight Arrow Connector 123">
                    <a:extLst>
                      <a:ext uri="{FF2B5EF4-FFF2-40B4-BE49-F238E27FC236}">
                        <a16:creationId xmlns:a16="http://schemas.microsoft.com/office/drawing/2014/main" id="{FFC0B6FB-6694-B081-4CBA-9E19D7088FAD}"/>
                      </a:ext>
                    </a:extLst>
                  </p:cNvPr>
                  <p:cNvCxnSpPr>
                    <a:cxnSpLocks/>
                    <a:stCxn id="129" idx="6"/>
                  </p:cNvCxnSpPr>
                  <p:nvPr/>
                </p:nvCxnSpPr>
                <p:spPr>
                  <a:xfrm flipV="1">
                    <a:off x="12366" y="4585"/>
                    <a:ext cx="337" cy="7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C344381B-43C9-A1B6-85C0-43DA7E460FDB}"/>
                    </a:ext>
                  </a:extLst>
                </p:cNvPr>
                <p:cNvGrpSpPr/>
                <p:nvPr/>
              </p:nvGrpSpPr>
              <p:grpSpPr>
                <a:xfrm>
                  <a:off x="7338" y="4549"/>
                  <a:ext cx="5145" cy="1358"/>
                  <a:chOff x="5630" y="3549"/>
                  <a:chExt cx="7073" cy="2086"/>
                </a:xfrm>
              </p:grpSpPr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5BF2536D-A374-9F21-07D0-F9FE1601E210}"/>
                      </a:ext>
                    </a:extLst>
                  </p:cNvPr>
                  <p:cNvGrpSpPr/>
                  <p:nvPr/>
                </p:nvGrpSpPr>
                <p:grpSpPr>
                  <a:xfrm>
                    <a:off x="5630" y="3549"/>
                    <a:ext cx="6736" cy="2086"/>
                    <a:chOff x="5630" y="3549"/>
                    <a:chExt cx="6736" cy="2086"/>
                  </a:xfrm>
                </p:grpSpPr>
                <p:sp>
                  <p:nvSpPr>
                    <p:cNvPr id="111" name="Rectangles 22">
                      <a:extLst>
                        <a:ext uri="{FF2B5EF4-FFF2-40B4-BE49-F238E27FC236}">
                          <a16:creationId xmlns:a16="http://schemas.microsoft.com/office/drawing/2014/main" id="{3576791A-C17C-E543-E89C-31088C0ECE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6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2" name="Rectangles 23">
                      <a:extLst>
                        <a:ext uri="{FF2B5EF4-FFF2-40B4-BE49-F238E27FC236}">
                          <a16:creationId xmlns:a16="http://schemas.microsoft.com/office/drawing/2014/main" id="{DA504EC9-B03D-EAB9-EB89-08FB9EA9EB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8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3" name="Rectangles 24">
                      <a:extLst>
                        <a:ext uri="{FF2B5EF4-FFF2-40B4-BE49-F238E27FC236}">
                          <a16:creationId xmlns:a16="http://schemas.microsoft.com/office/drawing/2014/main" id="{B68B332A-AB28-4AEC-19CD-D41D4F7541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0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4" name="Rectangles 25">
                      <a:extLst>
                        <a:ext uri="{FF2B5EF4-FFF2-40B4-BE49-F238E27FC236}">
                          <a16:creationId xmlns:a16="http://schemas.microsoft.com/office/drawing/2014/main" id="{9FEC34DE-7762-7CC1-0C9F-FCE092EBE4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22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5" name="Oval 114">
                      <a:extLst>
                        <a:ext uri="{FF2B5EF4-FFF2-40B4-BE49-F238E27FC236}">
                          <a16:creationId xmlns:a16="http://schemas.microsoft.com/office/drawing/2014/main" id="{882E3C40-A107-1514-DE77-085E9E7514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64" y="3549"/>
                      <a:ext cx="2002" cy="208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16" name="Straight Connector 115">
                      <a:extLst>
                        <a:ext uri="{FF2B5EF4-FFF2-40B4-BE49-F238E27FC236}">
                          <a16:creationId xmlns:a16="http://schemas.microsoft.com/office/drawing/2014/main" id="{D58FFF2C-2E89-5567-4F54-DA6E97B45C3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3735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" name="Straight Connector 116">
                      <a:extLst>
                        <a:ext uri="{FF2B5EF4-FFF2-40B4-BE49-F238E27FC236}">
                          <a16:creationId xmlns:a16="http://schemas.microsoft.com/office/drawing/2014/main" id="{7C6EE3B8-3E3C-1A06-F7CB-3085D26AD89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5449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4" name="Rectangles 30">
                    <a:extLst>
                      <a:ext uri="{FF2B5EF4-FFF2-40B4-BE49-F238E27FC236}">
                        <a16:creationId xmlns:a16="http://schemas.microsoft.com/office/drawing/2014/main" id="{2C1BB6A6-3A26-437D-2A70-840590D4EA29}"/>
                      </a:ext>
                    </a:extLst>
                  </p:cNvPr>
                  <p:cNvSpPr/>
                  <p:nvPr/>
                </p:nvSpPr>
                <p:spPr>
                  <a:xfrm>
                    <a:off x="7611" y="4275"/>
                    <a:ext cx="797" cy="865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" name="Rectangles 31">
                    <a:extLst>
                      <a:ext uri="{FF2B5EF4-FFF2-40B4-BE49-F238E27FC236}">
                        <a16:creationId xmlns:a16="http://schemas.microsoft.com/office/drawing/2014/main" id="{FDEFC0CA-1F65-4B07-5045-92C2D4E1184F}"/>
                      </a:ext>
                    </a:extLst>
                  </p:cNvPr>
                  <p:cNvSpPr/>
                  <p:nvPr/>
                </p:nvSpPr>
                <p:spPr>
                  <a:xfrm>
                    <a:off x="9495" y="4632"/>
                    <a:ext cx="797" cy="50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" name="Rectangles 32">
                    <a:extLst>
                      <a:ext uri="{FF2B5EF4-FFF2-40B4-BE49-F238E27FC236}">
                        <a16:creationId xmlns:a16="http://schemas.microsoft.com/office/drawing/2014/main" id="{43F558AE-33B7-3039-CB49-3022ED2A3967}"/>
                      </a:ext>
                    </a:extLst>
                  </p:cNvPr>
                  <p:cNvSpPr/>
                  <p:nvPr/>
                </p:nvSpPr>
                <p:spPr>
                  <a:xfrm>
                    <a:off x="6668" y="4160"/>
                    <a:ext cx="797" cy="98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" name="Rectangles 48">
                    <a:extLst>
                      <a:ext uri="{FF2B5EF4-FFF2-40B4-BE49-F238E27FC236}">
                        <a16:creationId xmlns:a16="http://schemas.microsoft.com/office/drawing/2014/main" id="{277C4E3E-1C3A-E4E9-9E9F-37A02CA2D86A}"/>
                      </a:ext>
                    </a:extLst>
                  </p:cNvPr>
                  <p:cNvSpPr/>
                  <p:nvPr/>
                </p:nvSpPr>
                <p:spPr>
                  <a:xfrm>
                    <a:off x="8553" y="4579"/>
                    <a:ext cx="797" cy="561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" name="Rectangles 49">
                    <a:extLst>
                      <a:ext uri="{FF2B5EF4-FFF2-40B4-BE49-F238E27FC236}">
                        <a16:creationId xmlns:a16="http://schemas.microsoft.com/office/drawing/2014/main" id="{52A9CA1F-F649-0468-131C-152715FB8AA7}"/>
                      </a:ext>
                    </a:extLst>
                  </p:cNvPr>
                  <p:cNvSpPr/>
                  <p:nvPr/>
                </p:nvSpPr>
                <p:spPr>
                  <a:xfrm>
                    <a:off x="10966" y="4885"/>
                    <a:ext cx="797" cy="255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9" name="Straight Arrow Connector 108">
                    <a:extLst>
                      <a:ext uri="{FF2B5EF4-FFF2-40B4-BE49-F238E27FC236}">
                        <a16:creationId xmlns:a16="http://schemas.microsoft.com/office/drawing/2014/main" id="{D1B97002-781E-8E29-7455-A597B6ABBDC8}"/>
                      </a:ext>
                    </a:extLst>
                  </p:cNvPr>
                  <p:cNvCxnSpPr>
                    <a:cxnSpLocks/>
                    <a:stCxn id="115" idx="6"/>
                  </p:cNvCxnSpPr>
                  <p:nvPr/>
                </p:nvCxnSpPr>
                <p:spPr>
                  <a:xfrm flipV="1">
                    <a:off x="12366" y="4585"/>
                    <a:ext cx="337" cy="7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00" name="Straight Arrow Connector 99">
                  <a:extLst>
                    <a:ext uri="{FF2B5EF4-FFF2-40B4-BE49-F238E27FC236}">
                      <a16:creationId xmlns:a16="http://schemas.microsoft.com/office/drawing/2014/main" id="{3940E09F-4A9B-802B-6ECE-8A41926E9DCD}"/>
                    </a:ext>
                  </a:extLst>
                </p:cNvPr>
                <p:cNvCxnSpPr/>
                <p:nvPr/>
              </p:nvCxnSpPr>
              <p:spPr>
                <a:xfrm flipV="1">
                  <a:off x="6337" y="2626"/>
                  <a:ext cx="972" cy="1178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Arrow Connector 100">
                  <a:extLst>
                    <a:ext uri="{FF2B5EF4-FFF2-40B4-BE49-F238E27FC236}">
                      <a16:creationId xmlns:a16="http://schemas.microsoft.com/office/drawing/2014/main" id="{D3DAC0D0-069F-63C0-938F-B7161B3FAE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37" y="3860"/>
                  <a:ext cx="955" cy="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8C14FC90-C193-074D-3969-CC7D652E64E6}"/>
                    </a:ext>
                  </a:extLst>
                </p:cNvPr>
                <p:cNvCxnSpPr/>
                <p:nvPr/>
              </p:nvCxnSpPr>
              <p:spPr>
                <a:xfrm>
                  <a:off x="6354" y="4061"/>
                  <a:ext cx="972" cy="119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6" name="Rectangles 61">
                <a:extLst>
                  <a:ext uri="{FF2B5EF4-FFF2-40B4-BE49-F238E27FC236}">
                    <a16:creationId xmlns:a16="http://schemas.microsoft.com/office/drawing/2014/main" id="{C77F90D7-0C38-995F-8F88-D1451D0F6447}"/>
                  </a:ext>
                </a:extLst>
              </p:cNvPr>
              <p:cNvSpPr/>
              <p:nvPr/>
            </p:nvSpPr>
            <p:spPr>
              <a:xfrm>
                <a:off x="3012743" y="2271032"/>
                <a:ext cx="1128261" cy="72136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Guard.</a:t>
                </a:r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54CEE435-9C95-AB6E-D42A-782E54CB5BA1}"/>
                </a:ext>
              </a:extLst>
            </p:cNvPr>
            <p:cNvGrpSpPr/>
            <p:nvPr/>
          </p:nvGrpSpPr>
          <p:grpSpPr>
            <a:xfrm>
              <a:off x="9548386" y="3493504"/>
              <a:ext cx="1048386" cy="1878047"/>
              <a:chOff x="6696191" y="1930704"/>
              <a:chExt cx="1048386" cy="1878047"/>
            </a:xfrm>
            <a:solidFill>
              <a:srgbClr val="FF0000"/>
            </a:solidFill>
          </p:grpSpPr>
          <p:sp>
            <p:nvSpPr>
              <p:cNvPr id="147" name="Rectangles 42">
                <a:extLst>
                  <a:ext uri="{FF2B5EF4-FFF2-40B4-BE49-F238E27FC236}">
                    <a16:creationId xmlns:a16="http://schemas.microsoft.com/office/drawing/2014/main" id="{3C25EB92-970A-9D91-89AE-065D951ADC2D}"/>
                  </a:ext>
                </a:extLst>
              </p:cNvPr>
              <p:cNvSpPr/>
              <p:nvPr/>
            </p:nvSpPr>
            <p:spPr>
              <a:xfrm>
                <a:off x="6696191" y="1930704"/>
                <a:ext cx="368141" cy="15378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s 45">
                <a:extLst>
                  <a:ext uri="{FF2B5EF4-FFF2-40B4-BE49-F238E27FC236}">
                    <a16:creationId xmlns:a16="http://schemas.microsoft.com/office/drawing/2014/main" id="{41DDEACE-8F1D-8CD9-C575-CB0045FD37DC}"/>
                  </a:ext>
                </a:extLst>
              </p:cNvPr>
              <p:cNvSpPr/>
              <p:nvPr/>
            </p:nvSpPr>
            <p:spPr>
              <a:xfrm>
                <a:off x="7375196" y="1978657"/>
                <a:ext cx="368141" cy="1054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s 17">
                <a:extLst>
                  <a:ext uri="{FF2B5EF4-FFF2-40B4-BE49-F238E27FC236}">
                    <a16:creationId xmlns:a16="http://schemas.microsoft.com/office/drawing/2014/main" id="{92B6287C-16E7-11F8-4E88-5AC9BF45A133}"/>
                  </a:ext>
                </a:extLst>
              </p:cNvPr>
              <p:cNvSpPr/>
              <p:nvPr/>
            </p:nvSpPr>
            <p:spPr>
              <a:xfrm>
                <a:off x="7375831" y="2840987"/>
                <a:ext cx="368141" cy="1054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s 49">
                <a:extLst>
                  <a:ext uri="{FF2B5EF4-FFF2-40B4-BE49-F238E27FC236}">
                    <a16:creationId xmlns:a16="http://schemas.microsoft.com/office/drawing/2014/main" id="{5AA7C537-A605-60A7-EEFE-6F1F8EA8C2B1}"/>
                  </a:ext>
                </a:extLst>
              </p:cNvPr>
              <p:cNvSpPr/>
              <p:nvPr/>
            </p:nvSpPr>
            <p:spPr>
              <a:xfrm>
                <a:off x="7376411" y="3703347"/>
                <a:ext cx="368166" cy="10540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390AC5DE-A815-3F76-2837-2A0A7F8B48DE}"/>
                </a:ext>
              </a:extLst>
            </p:cNvPr>
            <p:cNvGrpSpPr/>
            <p:nvPr/>
          </p:nvGrpSpPr>
          <p:grpSpPr>
            <a:xfrm>
              <a:off x="9111430" y="3376055"/>
              <a:ext cx="804453" cy="1996276"/>
              <a:chOff x="6260612" y="1812475"/>
              <a:chExt cx="804453" cy="1996276"/>
            </a:xfrm>
            <a:solidFill>
              <a:srgbClr val="FFFF00"/>
            </a:solidFill>
          </p:grpSpPr>
          <p:sp>
            <p:nvSpPr>
              <p:cNvPr id="152" name="Rectangles 44">
                <a:extLst>
                  <a:ext uri="{FF2B5EF4-FFF2-40B4-BE49-F238E27FC236}">
                    <a16:creationId xmlns:a16="http://schemas.microsoft.com/office/drawing/2014/main" id="{F3426536-2978-F041-D59F-2C2D7723F13E}"/>
                  </a:ext>
                </a:extLst>
              </p:cNvPr>
              <p:cNvSpPr/>
              <p:nvPr/>
            </p:nvSpPr>
            <p:spPr>
              <a:xfrm>
                <a:off x="6260612" y="1812475"/>
                <a:ext cx="368141" cy="27159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s 14">
                <a:extLst>
                  <a:ext uri="{FF2B5EF4-FFF2-40B4-BE49-F238E27FC236}">
                    <a16:creationId xmlns:a16="http://schemas.microsoft.com/office/drawing/2014/main" id="{059D70FE-7C70-3568-127C-4BD22E2FCD28}"/>
                  </a:ext>
                </a:extLst>
              </p:cNvPr>
              <p:cNvSpPr/>
              <p:nvPr/>
            </p:nvSpPr>
            <p:spPr>
              <a:xfrm>
                <a:off x="6696364" y="2714903"/>
                <a:ext cx="368141" cy="23149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s 16">
                <a:extLst>
                  <a:ext uri="{FF2B5EF4-FFF2-40B4-BE49-F238E27FC236}">
                    <a16:creationId xmlns:a16="http://schemas.microsoft.com/office/drawing/2014/main" id="{33D9A7EE-3BAC-5F96-F777-FD983AB2B3FE}"/>
                  </a:ext>
                </a:extLst>
              </p:cNvPr>
              <p:cNvSpPr/>
              <p:nvPr/>
            </p:nvSpPr>
            <p:spPr>
              <a:xfrm>
                <a:off x="6261247" y="2674805"/>
                <a:ext cx="368141" cy="27159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tangles 31">
                <a:extLst>
                  <a:ext uri="{FF2B5EF4-FFF2-40B4-BE49-F238E27FC236}">
                    <a16:creationId xmlns:a16="http://schemas.microsoft.com/office/drawing/2014/main" id="{1C4F4DF9-55DA-B359-E25F-4924C908210E}"/>
                  </a:ext>
                </a:extLst>
              </p:cNvPr>
              <p:cNvSpPr/>
              <p:nvPr/>
            </p:nvSpPr>
            <p:spPr>
              <a:xfrm>
                <a:off x="6696899" y="3598770"/>
                <a:ext cx="368166" cy="20998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tangles 48">
                <a:extLst>
                  <a:ext uri="{FF2B5EF4-FFF2-40B4-BE49-F238E27FC236}">
                    <a16:creationId xmlns:a16="http://schemas.microsoft.com/office/drawing/2014/main" id="{EDC5C724-B31D-F07B-BC9C-3AC38E590873}"/>
                  </a:ext>
                </a:extLst>
              </p:cNvPr>
              <p:cNvSpPr/>
              <p:nvPr/>
            </p:nvSpPr>
            <p:spPr>
              <a:xfrm>
                <a:off x="6261752" y="3576862"/>
                <a:ext cx="368166" cy="2318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FB43F427-D46B-5522-EF62-8955FE290CFA}"/>
                </a:ext>
              </a:extLst>
            </p:cNvPr>
            <p:cNvGrpSpPr/>
            <p:nvPr/>
          </p:nvGrpSpPr>
          <p:grpSpPr>
            <a:xfrm>
              <a:off x="8240445" y="3242530"/>
              <a:ext cx="804856" cy="2129801"/>
              <a:chOff x="5389915" y="1678950"/>
              <a:chExt cx="804856" cy="2129801"/>
            </a:xfrm>
            <a:solidFill>
              <a:srgbClr val="00B050"/>
            </a:solidFill>
          </p:grpSpPr>
          <p:sp>
            <p:nvSpPr>
              <p:cNvPr id="158" name="Rectangles 41">
                <a:extLst>
                  <a:ext uri="{FF2B5EF4-FFF2-40B4-BE49-F238E27FC236}">
                    <a16:creationId xmlns:a16="http://schemas.microsoft.com/office/drawing/2014/main" id="{35A9FFD5-70BE-2514-34FA-D6F4C7EE3F3B}"/>
                  </a:ext>
                </a:extLst>
              </p:cNvPr>
              <p:cNvSpPr/>
              <p:nvPr/>
            </p:nvSpPr>
            <p:spPr>
              <a:xfrm>
                <a:off x="5825495" y="1726490"/>
                <a:ext cx="368141" cy="35758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s 43">
                <a:extLst>
                  <a:ext uri="{FF2B5EF4-FFF2-40B4-BE49-F238E27FC236}">
                    <a16:creationId xmlns:a16="http://schemas.microsoft.com/office/drawing/2014/main" id="{E92C1522-E73A-F3BA-89BD-121B3C895C38}"/>
                  </a:ext>
                </a:extLst>
              </p:cNvPr>
              <p:cNvSpPr/>
              <p:nvPr/>
            </p:nvSpPr>
            <p:spPr>
              <a:xfrm>
                <a:off x="5389915" y="1678950"/>
                <a:ext cx="368141" cy="40512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s 13">
                <a:extLst>
                  <a:ext uri="{FF2B5EF4-FFF2-40B4-BE49-F238E27FC236}">
                    <a16:creationId xmlns:a16="http://schemas.microsoft.com/office/drawing/2014/main" id="{1A49A104-9409-0C0A-6173-0D42DCBB98C6}"/>
                  </a:ext>
                </a:extLst>
              </p:cNvPr>
              <p:cNvSpPr/>
              <p:nvPr/>
            </p:nvSpPr>
            <p:spPr>
              <a:xfrm>
                <a:off x="5826130" y="2588820"/>
                <a:ext cx="368141" cy="35758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s 30">
                <a:extLst>
                  <a:ext uri="{FF2B5EF4-FFF2-40B4-BE49-F238E27FC236}">
                    <a16:creationId xmlns:a16="http://schemas.microsoft.com/office/drawing/2014/main" id="{4B988C79-CC7D-E865-9699-64B5CEBA7D8E}"/>
                  </a:ext>
                </a:extLst>
              </p:cNvPr>
              <p:cNvSpPr/>
              <p:nvPr/>
            </p:nvSpPr>
            <p:spPr>
              <a:xfrm>
                <a:off x="5826605" y="3451204"/>
                <a:ext cx="368166" cy="35754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3" name="Text Box 47">
              <a:extLst>
                <a:ext uri="{FF2B5EF4-FFF2-40B4-BE49-F238E27FC236}">
                  <a16:creationId xmlns:a16="http://schemas.microsoft.com/office/drawing/2014/main" id="{9CD5D284-DC32-AAF7-B915-66CBA8AA8D40}"/>
                </a:ext>
              </a:extLst>
            </p:cNvPr>
            <p:cNvSpPr txBox="1"/>
            <p:nvPr/>
          </p:nvSpPr>
          <p:spPr>
            <a:xfrm>
              <a:off x="9875332" y="2519935"/>
              <a:ext cx="1069340" cy="54229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20202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SRPT</a:t>
              </a: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2D8E078C-1330-B9E1-7B49-C516A2F7E103}"/>
              </a:ext>
            </a:extLst>
          </p:cNvPr>
          <p:cNvGrpSpPr/>
          <p:nvPr/>
        </p:nvGrpSpPr>
        <p:grpSpPr>
          <a:xfrm>
            <a:off x="1144467" y="2868322"/>
            <a:ext cx="3094860" cy="1566114"/>
            <a:chOff x="1144467" y="2868322"/>
            <a:chExt cx="3094860" cy="1566114"/>
          </a:xfrm>
        </p:grpSpPr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91C82111-B184-535A-D85E-3CA4AAA59721}"/>
                </a:ext>
              </a:extLst>
            </p:cNvPr>
            <p:cNvGrpSpPr/>
            <p:nvPr/>
          </p:nvGrpSpPr>
          <p:grpSpPr>
            <a:xfrm>
              <a:off x="1144467" y="3238069"/>
              <a:ext cx="2952378" cy="1196367"/>
              <a:chOff x="838200" y="1643843"/>
              <a:chExt cx="2952378" cy="1196367"/>
            </a:xfrm>
          </p:grpSpPr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E1F310FA-8940-BADF-6D17-D3FF338B9AFC}"/>
                  </a:ext>
                </a:extLst>
              </p:cNvPr>
              <p:cNvGrpSpPr/>
              <p:nvPr/>
            </p:nvGrpSpPr>
            <p:grpSpPr>
              <a:xfrm>
                <a:off x="838200" y="1643843"/>
                <a:ext cx="2943899" cy="992791"/>
                <a:chOff x="541" y="2398"/>
                <a:chExt cx="7291" cy="2391"/>
              </a:xfrm>
            </p:grpSpPr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46E69F73-0851-4D15-C0A0-D44C7A8775E8}"/>
                    </a:ext>
                  </a:extLst>
                </p:cNvPr>
                <p:cNvSpPr/>
                <p:nvPr/>
              </p:nvSpPr>
              <p:spPr>
                <a:xfrm>
                  <a:off x="6344" y="2398"/>
                  <a:ext cx="1488" cy="135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F4052EEB-2063-B757-A0AE-63DF1C05D469}"/>
                    </a:ext>
                  </a:extLst>
                </p:cNvPr>
                <p:cNvGrpSpPr/>
                <p:nvPr/>
              </p:nvGrpSpPr>
              <p:grpSpPr>
                <a:xfrm>
                  <a:off x="541" y="2907"/>
                  <a:ext cx="7023" cy="1882"/>
                  <a:chOff x="4612" y="3581"/>
                  <a:chExt cx="7023" cy="1882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D763191C-B798-B1AA-6A53-A889BDF54FDD}"/>
                      </a:ext>
                    </a:extLst>
                  </p:cNvPr>
                  <p:cNvGrpSpPr/>
                  <p:nvPr/>
                </p:nvGrpSpPr>
                <p:grpSpPr>
                  <a:xfrm>
                    <a:off x="5630" y="3721"/>
                    <a:ext cx="4734" cy="1742"/>
                    <a:chOff x="5630" y="3721"/>
                    <a:chExt cx="4734" cy="1742"/>
                  </a:xfrm>
                </p:grpSpPr>
                <p:sp>
                  <p:nvSpPr>
                    <p:cNvPr id="180" name="Rectangles 8">
                      <a:extLst>
                        <a:ext uri="{FF2B5EF4-FFF2-40B4-BE49-F238E27FC236}">
                          <a16:creationId xmlns:a16="http://schemas.microsoft.com/office/drawing/2014/main" id="{0548BD5C-9828-A420-A7C9-D551B07CD0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6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1" name="Rectangles 9">
                      <a:extLst>
                        <a:ext uri="{FF2B5EF4-FFF2-40B4-BE49-F238E27FC236}">
                          <a16:creationId xmlns:a16="http://schemas.microsoft.com/office/drawing/2014/main" id="{7F511288-D3BF-DD8A-D3E7-19226C9C2F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8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2" name="Rectangles 10">
                      <a:extLst>
                        <a:ext uri="{FF2B5EF4-FFF2-40B4-BE49-F238E27FC236}">
                          <a16:creationId xmlns:a16="http://schemas.microsoft.com/office/drawing/2014/main" id="{D7E4E749-6F8B-6EC2-A139-214C95DC31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0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3" name="Rectangles 11">
                      <a:extLst>
                        <a:ext uri="{FF2B5EF4-FFF2-40B4-BE49-F238E27FC236}">
                          <a16:creationId xmlns:a16="http://schemas.microsoft.com/office/drawing/2014/main" id="{C28948D1-9899-CA96-F4B1-39A2C043EA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22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84" name="Straight Connector 183">
                      <a:extLst>
                        <a:ext uri="{FF2B5EF4-FFF2-40B4-BE49-F238E27FC236}">
                          <a16:creationId xmlns:a16="http://schemas.microsoft.com/office/drawing/2014/main" id="{BEAA6643-DA01-64F2-0D2B-690197EE80E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3721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" name="Straight Connector 184">
                      <a:extLst>
                        <a:ext uri="{FF2B5EF4-FFF2-40B4-BE49-F238E27FC236}">
                          <a16:creationId xmlns:a16="http://schemas.microsoft.com/office/drawing/2014/main" id="{00F4CAA2-D600-CE8A-BBAF-C7B9D588AD4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5448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74" name="Rectangles 16">
                    <a:extLst>
                      <a:ext uri="{FF2B5EF4-FFF2-40B4-BE49-F238E27FC236}">
                        <a16:creationId xmlns:a16="http://schemas.microsoft.com/office/drawing/2014/main" id="{37559DA3-D43D-8D01-47BC-25BC10B95E0C}"/>
                      </a:ext>
                    </a:extLst>
                  </p:cNvPr>
                  <p:cNvSpPr/>
                  <p:nvPr/>
                </p:nvSpPr>
                <p:spPr>
                  <a:xfrm>
                    <a:off x="7611" y="4313"/>
                    <a:ext cx="796" cy="827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50000">
                        <a:srgbClr val="9DB5E0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5" name="Rectangles 18">
                    <a:extLst>
                      <a:ext uri="{FF2B5EF4-FFF2-40B4-BE49-F238E27FC236}">
                        <a16:creationId xmlns:a16="http://schemas.microsoft.com/office/drawing/2014/main" id="{9EAF1569-BF5F-A2E2-FE19-2541132AF6AE}"/>
                      </a:ext>
                    </a:extLst>
                  </p:cNvPr>
                  <p:cNvSpPr/>
                  <p:nvPr/>
                </p:nvSpPr>
                <p:spPr>
                  <a:xfrm>
                    <a:off x="9495" y="4599"/>
                    <a:ext cx="797" cy="541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50000">
                        <a:srgbClr val="9DB5E0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6" name="Rectangles 19">
                    <a:extLst>
                      <a:ext uri="{FF2B5EF4-FFF2-40B4-BE49-F238E27FC236}">
                        <a16:creationId xmlns:a16="http://schemas.microsoft.com/office/drawing/2014/main" id="{083ED774-732D-02C3-7053-23F2DE8CF015}"/>
                      </a:ext>
                    </a:extLst>
                  </p:cNvPr>
                  <p:cNvSpPr/>
                  <p:nvPr/>
                </p:nvSpPr>
                <p:spPr>
                  <a:xfrm>
                    <a:off x="6668" y="4160"/>
                    <a:ext cx="797" cy="980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50000">
                        <a:srgbClr val="9DB5E0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7" name="Rectangles 20">
                    <a:extLst>
                      <a:ext uri="{FF2B5EF4-FFF2-40B4-BE49-F238E27FC236}">
                        <a16:creationId xmlns:a16="http://schemas.microsoft.com/office/drawing/2014/main" id="{D18FF60B-DEDF-B056-5CC0-5B1DA45A4698}"/>
                      </a:ext>
                    </a:extLst>
                  </p:cNvPr>
                  <p:cNvSpPr/>
                  <p:nvPr/>
                </p:nvSpPr>
                <p:spPr>
                  <a:xfrm>
                    <a:off x="8553" y="4483"/>
                    <a:ext cx="797" cy="657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50000">
                        <a:srgbClr val="9DB5E0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8" name="Rectangles 21">
                    <a:extLst>
                      <a:ext uri="{FF2B5EF4-FFF2-40B4-BE49-F238E27FC236}">
                        <a16:creationId xmlns:a16="http://schemas.microsoft.com/office/drawing/2014/main" id="{60A20CD0-A05A-3FEA-91E0-880E724F277D}"/>
                      </a:ext>
                    </a:extLst>
                  </p:cNvPr>
                  <p:cNvSpPr/>
                  <p:nvPr/>
                </p:nvSpPr>
                <p:spPr>
                  <a:xfrm>
                    <a:off x="10726" y="3581"/>
                    <a:ext cx="909" cy="33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50000">
                        <a:srgbClr val="9DB5E0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179" name="Straight Arrow Connector 178">
                    <a:extLst>
                      <a:ext uri="{FF2B5EF4-FFF2-40B4-BE49-F238E27FC236}">
                        <a16:creationId xmlns:a16="http://schemas.microsoft.com/office/drawing/2014/main" id="{455FD076-4B76-B393-61E8-DBB73E36CFB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612" y="4647"/>
                    <a:ext cx="1018" cy="6"/>
                  </a:xfrm>
                  <a:prstGeom prst="straightConnector1">
                    <a:avLst/>
                  </a:prstGeom>
                  <a:ln w="6350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CFEDFD60-2E62-2592-1B3C-C779711928E1}"/>
                  </a:ext>
                </a:extLst>
              </p:cNvPr>
              <p:cNvSpPr/>
              <p:nvPr/>
            </p:nvSpPr>
            <p:spPr>
              <a:xfrm>
                <a:off x="3189766" y="2278002"/>
                <a:ext cx="600812" cy="56220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s 21">
                <a:extLst>
                  <a:ext uri="{FF2B5EF4-FFF2-40B4-BE49-F238E27FC236}">
                    <a16:creationId xmlns:a16="http://schemas.microsoft.com/office/drawing/2014/main" id="{AE3C7932-A837-918B-3BC1-13A306D2A3C3}"/>
                  </a:ext>
                </a:extLst>
              </p:cNvPr>
              <p:cNvSpPr/>
              <p:nvPr/>
            </p:nvSpPr>
            <p:spPr>
              <a:xfrm>
                <a:off x="3306860" y="2502518"/>
                <a:ext cx="367028" cy="18406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0000">
                    <a:srgbClr val="9DB5E0"/>
                  </a:gs>
                  <a:gs pos="100000">
                    <a:schemeClr val="accent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20F02CA-1B39-86B4-8E7C-95F967A951A8}"/>
                </a:ext>
              </a:extLst>
            </p:cNvPr>
            <p:cNvSpPr txBox="1"/>
            <p:nvPr/>
          </p:nvSpPr>
          <p:spPr>
            <a:xfrm>
              <a:off x="3336592" y="2868322"/>
              <a:ext cx="902735" cy="36933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Gittins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427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357CA-8EAA-7983-0D20-14DE02C5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3D275D-7C92-16DE-CC0D-2749172C7E77}"/>
              </a:ext>
            </a:extLst>
          </p:cNvPr>
          <p:cNvGrpSpPr/>
          <p:nvPr/>
        </p:nvGrpSpPr>
        <p:grpSpPr>
          <a:xfrm>
            <a:off x="546380" y="1437640"/>
            <a:ext cx="4594860" cy="1723902"/>
            <a:chOff x="6156865" y="3167097"/>
            <a:chExt cx="4594860" cy="17239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2E0B475-ACC7-1934-55F4-D53364E203EA}"/>
                </a:ext>
              </a:extLst>
            </p:cNvPr>
            <p:cNvGrpSpPr/>
            <p:nvPr/>
          </p:nvGrpSpPr>
          <p:grpSpPr>
            <a:xfrm>
              <a:off x="6156865" y="3167097"/>
              <a:ext cx="4594860" cy="1723902"/>
              <a:chOff x="3630866" y="1755263"/>
              <a:chExt cx="4594860" cy="1723902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EE82E2F-47BB-760D-253A-3A527EDDE43D}"/>
                  </a:ext>
                </a:extLst>
              </p:cNvPr>
              <p:cNvGrpSpPr/>
              <p:nvPr/>
            </p:nvGrpSpPr>
            <p:grpSpPr>
              <a:xfrm>
                <a:off x="3630866" y="2154555"/>
                <a:ext cx="4594860" cy="1324610"/>
                <a:chOff x="3630866" y="2154555"/>
                <a:chExt cx="4594860" cy="132461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B8C73060-3FC0-7E0E-183D-837929323E03}"/>
                    </a:ext>
                  </a:extLst>
                </p:cNvPr>
                <p:cNvGrpSpPr/>
                <p:nvPr/>
              </p:nvGrpSpPr>
              <p:grpSpPr>
                <a:xfrm>
                  <a:off x="3630866" y="2154555"/>
                  <a:ext cx="4594860" cy="1324610"/>
                  <a:chOff x="541" y="3013"/>
                  <a:chExt cx="7236" cy="2086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6B00A6AC-8EE8-18EA-595D-F2F83E67ED8E}"/>
                      </a:ext>
                    </a:extLst>
                  </p:cNvPr>
                  <p:cNvGrpSpPr/>
                  <p:nvPr/>
                </p:nvGrpSpPr>
                <p:grpSpPr>
                  <a:xfrm>
                    <a:off x="541" y="3013"/>
                    <a:ext cx="7236" cy="2086"/>
                    <a:chOff x="541" y="3013"/>
                    <a:chExt cx="7236" cy="2086"/>
                  </a:xfrm>
                </p:grpSpPr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9E7D3E6E-5E50-628F-084E-32B2CD1C89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1" y="3013"/>
                      <a:ext cx="7236" cy="1763"/>
                      <a:chOff x="4612" y="3687"/>
                      <a:chExt cx="7236" cy="1763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6A44EEA5-0B45-BD58-09CC-1EABEBC7B83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687"/>
                        <a:ext cx="5881" cy="1763"/>
                        <a:chOff x="5630" y="3687"/>
                        <a:chExt cx="5881" cy="1763"/>
                      </a:xfrm>
                    </p:grpSpPr>
                    <p:sp>
                      <p:nvSpPr>
                        <p:cNvPr id="21" name="Rectangles 8">
                          <a:extLst>
                            <a:ext uri="{FF2B5EF4-FFF2-40B4-BE49-F238E27FC236}">
                              <a16:creationId xmlns:a16="http://schemas.microsoft.com/office/drawing/2014/main" id="{14F9FCDF-675B-41C7-DA38-B7249A3EDA6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" name="Rectangles 9">
                          <a:extLst>
                            <a:ext uri="{FF2B5EF4-FFF2-40B4-BE49-F238E27FC236}">
                              <a16:creationId xmlns:a16="http://schemas.microsoft.com/office/drawing/2014/main" id="{DDA4DEF5-98C8-29FE-54CF-2246A7C724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" name="Rectangles 10">
                          <a:extLst>
                            <a:ext uri="{FF2B5EF4-FFF2-40B4-BE49-F238E27FC236}">
                              <a16:creationId xmlns:a16="http://schemas.microsoft.com/office/drawing/2014/main" id="{E916B308-D103-6CDE-C6A7-97309E9F32B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" name="Rectangles 11">
                          <a:extLst>
                            <a:ext uri="{FF2B5EF4-FFF2-40B4-BE49-F238E27FC236}">
                              <a16:creationId xmlns:a16="http://schemas.microsoft.com/office/drawing/2014/main" id="{FCE45535-6590-37CA-B66C-A3730BA64A6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" name="Oval 24">
                          <a:extLst>
                            <a:ext uri="{FF2B5EF4-FFF2-40B4-BE49-F238E27FC236}">
                              <a16:creationId xmlns:a16="http://schemas.microsoft.com/office/drawing/2014/main" id="{36BF5A42-75C2-C166-C401-7C9F1FFDD91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4" y="3687"/>
                          <a:ext cx="827" cy="881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26" name="Straight Connector 25">
                          <a:extLst>
                            <a:ext uri="{FF2B5EF4-FFF2-40B4-BE49-F238E27FC236}">
                              <a16:creationId xmlns:a16="http://schemas.microsoft.com/office/drawing/2014/main" id="{FA4F4A69-DE88-E6CC-4E97-E3DED7D74321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" name="Straight Connector 26">
                          <a:extLst>
                            <a:ext uri="{FF2B5EF4-FFF2-40B4-BE49-F238E27FC236}">
                              <a16:creationId xmlns:a16="http://schemas.microsoft.com/office/drawing/2014/main" id="{078398E0-357D-CA3F-5617-4EE3B445E631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9" name="Straight Arrow Connector 18">
                        <a:extLst>
                          <a:ext uri="{FF2B5EF4-FFF2-40B4-BE49-F238E27FC236}">
                            <a16:creationId xmlns:a16="http://schemas.microsoft.com/office/drawing/2014/main" id="{B3033343-3686-3D9E-D857-AD40453A483C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1511" y="4124"/>
                        <a:ext cx="337" cy="7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" name="Straight Arrow Connector 19">
                        <a:extLst>
                          <a:ext uri="{FF2B5EF4-FFF2-40B4-BE49-F238E27FC236}">
                            <a16:creationId xmlns:a16="http://schemas.microsoft.com/office/drawing/2014/main" id="{B9A29425-E7F2-E5AC-B68F-E827C32458F0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4612" y="4647"/>
                        <a:ext cx="1018" cy="6"/>
                      </a:xfrm>
                      <a:prstGeom prst="straightConnector1">
                        <a:avLst/>
                      </a:prstGeom>
                      <a:ln w="63500">
                        <a:solidFill>
                          <a:schemeClr val="tx1"/>
                        </a:solidFill>
                        <a:tailEnd type="arrow" w="lg" len="lg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90405517-A05F-2346-64A7-1917ECF08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3" y="4218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6" name="Straight Arrow Connector 15">
                      <a:extLst>
                        <a:ext uri="{FF2B5EF4-FFF2-40B4-BE49-F238E27FC236}">
                          <a16:creationId xmlns:a16="http://schemas.microsoft.com/office/drawing/2014/main" id="{93DE2F1A-BF82-9245-4F86-2B09E035C03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40" y="4655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Rectangles 17">
                      <a:extLst>
                        <a:ext uri="{FF2B5EF4-FFF2-40B4-BE49-F238E27FC236}">
                          <a16:creationId xmlns:a16="http://schemas.microsoft.com/office/drawing/2014/main" id="{79F3C627-79FF-29E6-EAFD-21D213D2A9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16" y="3312"/>
                      <a:ext cx="665" cy="314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p:txBody>
                </p:sp>
              </p:grp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4AC3AAD2-D4B9-D659-3832-A90824B8A7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08" y="3443"/>
                    <a:ext cx="259" cy="151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86BBABB4-A277-D39C-082E-64B53B286295}"/>
                      </a:ext>
                    </a:extLst>
                  </p:cNvPr>
                  <p:cNvCxnSpPr>
                    <a:cxnSpLocks/>
                    <a:endCxn id="15" idx="2"/>
                  </p:cNvCxnSpPr>
                  <p:nvPr/>
                </p:nvCxnSpPr>
                <p:spPr>
                  <a:xfrm>
                    <a:off x="6308" y="4452"/>
                    <a:ext cx="305" cy="207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Rectangles 16">
                  <a:extLst>
                    <a:ext uri="{FF2B5EF4-FFF2-40B4-BE49-F238E27FC236}">
                      <a16:creationId xmlns:a16="http://schemas.microsoft.com/office/drawing/2014/main" id="{9EC62B56-2D84-3BA5-EDAF-2BA8673FD52F}"/>
                    </a:ext>
                  </a:extLst>
                </p:cNvPr>
                <p:cNvSpPr/>
                <p:nvPr/>
              </p:nvSpPr>
              <p:spPr>
                <a:xfrm>
                  <a:off x="6778561" y="2783649"/>
                  <a:ext cx="411480" cy="24911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58D369-C0CA-6B5E-02FD-D539657E1DAC}"/>
                  </a:ext>
                </a:extLst>
              </p:cNvPr>
              <p:cNvSpPr txBox="1"/>
              <p:nvPr/>
            </p:nvSpPr>
            <p:spPr>
              <a:xfrm>
                <a:off x="6165468" y="1755263"/>
                <a:ext cx="613093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sp>
          <p:nvSpPr>
            <p:cNvPr id="6" name="Rectangles 21">
              <a:extLst>
                <a:ext uri="{FF2B5EF4-FFF2-40B4-BE49-F238E27FC236}">
                  <a16:creationId xmlns:a16="http://schemas.microsoft.com/office/drawing/2014/main" id="{6987A8D4-7B10-262A-807A-FAEA049CE543}"/>
                </a:ext>
              </a:extLst>
            </p:cNvPr>
            <p:cNvSpPr/>
            <p:nvPr/>
          </p:nvSpPr>
          <p:spPr>
            <a:xfrm>
              <a:off x="10019570" y="4134714"/>
              <a:ext cx="503555" cy="61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6277DE-D590-F45A-F3A9-12CE74CE8D3C}"/>
                  </a:ext>
                </a:extLst>
              </p:cNvPr>
              <p:cNvSpPr txBox="1"/>
              <p:nvPr/>
            </p:nvSpPr>
            <p:spPr>
              <a:xfrm>
                <a:off x="393644" y="3939396"/>
                <a:ext cx="6414172" cy="837537"/>
              </a:xfrm>
              <a:prstGeom prst="rect">
                <a:avLst/>
              </a:prstGeom>
              <a:noFill/>
              <a:ln w="38100"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400" dirty="0"/>
                  <a:t>Theorem: SEK-SMOD always outperforms SRPT-k: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𝑆𝐸𝐾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-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𝑆𝑀𝑂𝐷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𝑆𝑅𝑃𝑇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-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6277DE-D590-F45A-F3A9-12CE74CE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44" y="3939396"/>
                <a:ext cx="6414172" cy="837537"/>
              </a:xfrm>
              <a:prstGeom prst="rect">
                <a:avLst/>
              </a:prstGeom>
              <a:blipFill>
                <a:blip r:embed="rId3"/>
                <a:stretch>
                  <a:fillRect l="-284" t="-3472" r="-189"/>
                </a:stretch>
              </a:blipFill>
              <a:ln w="38100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593BADDB-6B0F-AC8B-F1C0-E939007AA3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481" t="495" r="33287" b="1595"/>
          <a:stretch/>
        </p:blipFill>
        <p:spPr>
          <a:xfrm>
            <a:off x="6864161" y="1179071"/>
            <a:ext cx="4582984" cy="3902511"/>
          </a:xfrm>
          <a:prstGeom prst="rect">
            <a:avLst/>
          </a:prstGeom>
        </p:spPr>
      </p:pic>
      <p:sp>
        <p:nvSpPr>
          <p:cNvPr id="72" name="Footer Placeholder 71">
            <a:extLst>
              <a:ext uri="{FF2B5EF4-FFF2-40B4-BE49-F238E27FC236}">
                <a16:creationId xmlns:a16="http://schemas.microsoft.com/office/drawing/2014/main" id="{59B5CC77-6A91-A6D4-674F-CDCAC347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SIGMETRICS, June 10 2026</a:t>
            </a:r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C2E86DA2-B047-2077-E003-DC0EA7C0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3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10945</TotalTime>
  <Words>1745</Words>
  <Application>Microsoft Office PowerPoint</Application>
  <PresentationFormat>Widescreen</PresentationFormat>
  <Paragraphs>301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DejaVu Math TeX Gyre</vt:lpstr>
      <vt:lpstr>Office Theme</vt:lpstr>
      <vt:lpstr>Outperforming Multiserver SRPT at All Loads</vt:lpstr>
      <vt:lpstr>Model: M/G/k Scheduling</vt:lpstr>
      <vt:lpstr>Prior work</vt:lpstr>
      <vt:lpstr>Prior Work: SRPT-k Heavy Traffic Optimality</vt:lpstr>
      <vt:lpstr>SRPT-k’s weak point</vt:lpstr>
      <vt:lpstr>SRPT-k’s weak point</vt:lpstr>
      <vt:lpstr>SRPT-k’s weak point</vt:lpstr>
      <vt:lpstr>SEK Improvement Intuition</vt:lpstr>
      <vt:lpstr>SEK Improvement Intuition</vt:lpstr>
      <vt:lpstr>SEK Improvement Intuition</vt:lpstr>
      <vt:lpstr>Challenge 1: If not early arrival, SEK no worse</vt:lpstr>
      <vt:lpstr>Challenge 2: If early arrival, only O(ϵ) worse</vt:lpstr>
      <vt:lpstr>Final tweak: SEK-SMOD</vt:lpstr>
      <vt:lpstr>Final tweak: SEK-SMOD</vt:lpstr>
      <vt:lpstr>Final tweak: SEK-SMOD</vt:lpstr>
      <vt:lpstr>Final tweak: SEK-SMOD</vt:lpstr>
      <vt:lpstr>Main Result</vt:lpstr>
      <vt:lpstr>Empirical outperformance</vt:lpstr>
      <vt:lpstr>More servers: More divergences</vt:lpstr>
      <vt:lpstr>Estimates: SEK still helps, if low noise</vt:lpstr>
      <vt:lpstr>Future directions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Izzy Grosof</dc:creator>
  <cp:lastModifiedBy>Izzy Grosof</cp:lastModifiedBy>
  <cp:revision>110</cp:revision>
  <dcterms:created xsi:type="dcterms:W3CDTF">2026-03-29T14:40:29Z</dcterms:created>
  <dcterms:modified xsi:type="dcterms:W3CDTF">2026-06-15T04:11:36Z</dcterms:modified>
</cp:coreProperties>
</file>