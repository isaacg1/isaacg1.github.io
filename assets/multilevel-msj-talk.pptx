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90FF"/>
    <a:srgbClr val="007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1E5C-92C3-4398-AACF-74ED73C7366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BD2E1-2B16-4523-AEA3-A983DE6D3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17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75E2-3CBD-C36A-8F1A-DFB8812BB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545C6-4BFA-BF99-1907-036FB317C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5079C-2C0E-0146-4251-D8EA0040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5332-9600-42EC-AA0B-A2D48DB13BE7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4FFCD-63CE-4FB0-E584-C46F6CEB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9CED6-BC39-8CBC-FF2B-F080036C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3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D5B20-BEC7-90BB-6FD3-621934807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17F69-D101-269C-D641-A9C9241A9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4028F-8505-0B88-3E42-F410779C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5C18C-B07C-4658-B427-60DBA891935F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0522A-CE78-4CE2-9169-2C0F3664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5533D-8243-26C8-E28D-54990746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8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7801F-D48B-2C8C-3577-76B69BAB9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C4B4A-F582-28C8-BBEF-315980136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CC6E7-D10C-03C3-B9AD-D69028EF6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251AD-7D6E-4F6F-BFA6-48C1098ECE5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E7F6C-CC8E-7C78-4689-D48820A49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8C5A1-FCA7-0C62-AA8F-850F6819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0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69C18-93F7-C894-B464-8687748EC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14C5-E3EF-02FD-E3A6-EA74B9954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B63E4-13F9-6676-FC0C-1860AE31B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CF573-85DC-4D98-22C1-D4C2177D5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1C0A-19CA-4046-9B2C-65EB79173146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A4CB7-E546-C3A0-4D1C-072010E3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40A71-0B7F-79C8-4126-8EF1C1B4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33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9E3E-56AA-F687-C3E1-6F1C1E62E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7F2C1-D8FF-1845-29A5-273109C06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E16F5-FCEE-3339-B79A-F7A1F6F19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A1EDE-36A5-56A9-A3A4-1C0C92A41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236233-E132-FA31-8072-78DA6E2FD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9745F8-F418-046B-7A36-D3DFC978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2333-F79D-4246-A26D-4C6EF9CBBFB4}" type="datetime1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C863B-8B3C-F714-9DC2-CC335FF5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9AE72-A6F8-0BB6-F14F-67567DFBF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67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8F72-4128-77A7-2865-BA9430792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909DB-6855-DCC7-7BE9-B6E086B87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570B-A072-4E40-B2B1-D258EBF5F0AD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01A0E9-8D7D-7FCE-CEDA-E0B03CEA3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053F3-C995-541F-9563-25558EEF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39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A5DAE-70F4-19CA-68C8-D57F9C90E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0229-7D6A-4051-9FDF-92B5307C79AD}" type="datetime1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6F0CCD-6EAD-5AAE-8BA5-63BE24DC0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32FA7-E75B-6B2A-80B8-396C8479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23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8A1B2-C999-A775-2B5C-5808B3FC2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3D079-6080-7EB1-59BB-BC474F6A4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43854-A7EB-6E1F-15CB-DC43AEDCB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0D51C-D737-E398-6745-2E42F96D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880A-8068-43FD-B906-D511C5A4D135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21976-1113-F63A-6E93-8805E521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23AC0-F9DF-7DE1-7607-34C13130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0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F45B0-AF01-C66D-04E1-396E98497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F688B3-0C12-41C7-9009-6760076D9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93B82-58BB-A631-F03F-0529FAE9F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82808-F7C4-F2CC-B423-33B79EB5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49C5-40C6-4639-8BC3-799E2E5A5FE2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0293D-DE5C-3F14-ADC2-F4389968C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EB120-3A6A-A684-5619-3CF0602FA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6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FA20-B2D3-5149-E95A-E1FAA029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537B6-697E-6657-9431-DFBC5EC85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BF1D5-B377-CB55-1832-5DB27EFA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DF1B-25FA-4576-9C74-A52B4BD2953F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90993-D2C0-445C-E0D1-4DB817D7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3467E-3F24-472A-4E38-C716DA86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61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935034-3E4F-229D-A0B1-9DF783742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2A308-D5D8-BA09-E85E-69ECAF8CE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77586-17EF-3056-697F-D7EA3EFD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9818C-3F1E-420A-B14C-5BD5FC157FA2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A222D-C564-07E7-2387-12DEB1697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9A009-6A9B-89DC-EB15-E497E1A3F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9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DE5B98-57EF-3E0C-EE0F-72686D517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8096D-EC0F-F139-5234-799FA46CD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E46EC-8FDE-686C-E459-2C0CD75FC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664D5-F6D9-45FD-9D41-089663F5F273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0FC53-D976-9B88-DEDF-56FEEAF2E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INFORMS Annual, Oct 29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879F8-FA76-BA0D-0C49-F67DF7A3A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14B8F5EF-1A1B-4994-83E1-AEA59440B2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8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7A2EB-37A9-8045-F539-E18137FF5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905" y="1041400"/>
            <a:ext cx="9978189" cy="2387600"/>
          </a:xfrm>
        </p:spPr>
        <p:txBody>
          <a:bodyPr/>
          <a:lstStyle/>
          <a:p>
            <a:r>
              <a:rPr lang="en-US" dirty="0"/>
              <a:t>Multiserver-job Response Time under Multilevel Scaling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A83C9-0DF5-338E-7CD0-9E7529B42D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Izzy Grosof </a:t>
            </a:r>
            <a:r>
              <a:rPr lang="en-US" dirty="0"/>
              <a:t>– Northwestern IEMS</a:t>
            </a:r>
          </a:p>
          <a:p>
            <a:r>
              <a:rPr lang="en-US" dirty="0" err="1"/>
              <a:t>Hayriye</a:t>
            </a:r>
            <a:r>
              <a:rPr lang="en-US" dirty="0"/>
              <a:t> </a:t>
            </a:r>
            <a:r>
              <a:rPr lang="en-US" dirty="0" err="1"/>
              <a:t>Ayhan</a:t>
            </a:r>
            <a:r>
              <a:rPr lang="en-US" dirty="0"/>
              <a:t> – Georgia Tech </a:t>
            </a:r>
            <a:r>
              <a:rPr lang="en-US" dirty="0" err="1"/>
              <a:t>ISyE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74306-4F70-849F-40FD-546F000C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1B317C-BC3E-DA38-A4AB-BD6D4592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7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F2567-CFE8-C503-4C92-231261BE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Large-scale Datacenters: Varying resources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B9FD565-9893-04C2-CCF3-4222116F74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Modern datacenters: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 processors.</a:t>
                </a:r>
              </a:p>
              <a:p>
                <a:pPr marL="0" indent="0">
                  <a:buNone/>
                </a:pPr>
                <a:r>
                  <a:rPr lang="en-US" dirty="0"/>
                  <a:t>Job requirements: Highly variable.</a:t>
                </a:r>
              </a:p>
              <a:p>
                <a:pPr marL="0" indent="0">
                  <a:buNone/>
                </a:pPr>
                <a:r>
                  <a:rPr lang="en-US" dirty="0"/>
                  <a:t>Scheduling: FCFS-based policies</a:t>
                </a:r>
              </a:p>
              <a:p>
                <a:r>
                  <a:rPr lang="en-US" dirty="0"/>
                  <a:t>Backfilling, time-boost prioritization</a:t>
                </a:r>
              </a:p>
              <a:p>
                <a:r>
                  <a:rPr lang="en-US" dirty="0" err="1"/>
                  <a:t>Nonpreemptive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Regime: load is heavy enough for</a:t>
                </a:r>
                <a:br>
                  <a:rPr lang="en-US" dirty="0"/>
                </a:br>
                <a:r>
                  <a:rPr lang="en-US" dirty="0"/>
                  <a:t>queueing delay</a:t>
                </a:r>
              </a:p>
              <a:p>
                <a:pPr marL="0" indent="0">
                  <a:buNone/>
                </a:pPr>
                <a:r>
                  <a:rPr lang="en-US" dirty="0"/>
                  <a:t>Goal: Analyze multiserver-job FCFS</a:t>
                </a:r>
                <a:br>
                  <a:rPr lang="en-US" dirty="0"/>
                </a:br>
                <a:r>
                  <a:rPr lang="en-US" dirty="0"/>
                  <a:t>in high-load scaling regime.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B9FD565-9893-04C2-CCF3-4222116F74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 descr="A Google datacenter - overhead, fisheye lens.&#10;&#10;Racks as far as the eye can see.&#10;&#10;https://img.youtube.com/vi/XZmGGAbHqa0/0.jpg">
            <a:extLst>
              <a:ext uri="{FF2B5EF4-FFF2-40B4-BE49-F238E27FC236}">
                <a16:creationId xmlns:a16="http://schemas.microsoft.com/office/drawing/2014/main" id="{5D111DB5-41DE-6F88-AE91-375A1EC2A4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34" b="12633"/>
          <a:stretch/>
        </p:blipFill>
        <p:spPr>
          <a:xfrm>
            <a:off x="7397621" y="1464643"/>
            <a:ext cx="4572000" cy="2569464"/>
          </a:xfrm>
          <a:prstGeom prst="rect">
            <a:avLst/>
          </a:prstGeom>
        </p:spPr>
      </p:pic>
      <p:pic>
        <p:nvPicPr>
          <p:cNvPr id="10" name="Picture 9" descr="Histogram of CPU requirements, roughly log-normal.">
            <a:extLst>
              <a:ext uri="{FF2B5EF4-FFF2-40B4-BE49-F238E27FC236}">
                <a16:creationId xmlns:a16="http://schemas.microsoft.com/office/drawing/2014/main" id="{A26FF759-CFE0-CAE3-DF32-FD851422B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088" y="4034107"/>
            <a:ext cx="4715533" cy="250542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756CF-99E5-D9A8-ADFD-FA643CB8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59891-DF43-33BE-3770-6983BFA8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3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BDC7-BDE5-77FE-3DD3-AF96C15DC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MSJ Model: 1-and-n, load-focused scaling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E98B72-B5C5-7A8B-78D9-25A6FC8643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067427"/>
                <a:ext cx="10515600" cy="2109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servers, 1-or-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server need, FCFS.</a:t>
                </a:r>
              </a:p>
              <a:p>
                <a:pPr marL="0" indent="0">
                  <a:buNone/>
                </a:pPr>
                <a:r>
                  <a:rPr lang="en-US" dirty="0"/>
                  <a:t>Throughput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: Boundary of the stability region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. Load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Primary scaling: Scale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 “Load-focused scaling”.</a:t>
                </a:r>
              </a:p>
              <a:p>
                <a:pPr marL="0" indent="0">
                  <a:buNone/>
                </a:pPr>
                <a:r>
                  <a:rPr lang="en-US" dirty="0"/>
                  <a:t>Secondary scaling: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E98B72-B5C5-7A8B-78D9-25A6FC8643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067427"/>
                <a:ext cx="10515600" cy="2109535"/>
              </a:xfrm>
              <a:blipFill>
                <a:blip r:embed="rId2"/>
                <a:stretch>
                  <a:fillRect l="-1217" t="-4624" b="-3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5541A5C-AB57-3EFF-A75C-3400D04610F7}"/>
              </a:ext>
            </a:extLst>
          </p:cNvPr>
          <p:cNvGrpSpPr/>
          <p:nvPr/>
        </p:nvGrpSpPr>
        <p:grpSpPr>
          <a:xfrm>
            <a:off x="3764420" y="1416302"/>
            <a:ext cx="4897120" cy="2651125"/>
            <a:chOff x="3847948" y="1287144"/>
            <a:chExt cx="4897120" cy="2651125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B855DBA-2325-0D57-879B-326A08D30705}"/>
                </a:ext>
              </a:extLst>
            </p:cNvPr>
            <p:cNvCxnSpPr/>
            <p:nvPr/>
          </p:nvCxnSpPr>
          <p:spPr>
            <a:xfrm flipV="1">
              <a:off x="8098638" y="2649374"/>
              <a:ext cx="646430" cy="381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49B7A0F-B4DA-5564-0153-15A73376B84D}"/>
                </a:ext>
              </a:extLst>
            </p:cNvPr>
            <p:cNvGrpSpPr/>
            <p:nvPr/>
          </p:nvGrpSpPr>
          <p:grpSpPr>
            <a:xfrm>
              <a:off x="3847948" y="1287144"/>
              <a:ext cx="4014470" cy="2651125"/>
              <a:chOff x="9087" y="1748"/>
              <a:chExt cx="6322" cy="4175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086F6D1-4FE7-5990-75B4-97C2FF1FC310}"/>
                  </a:ext>
                </a:extLst>
              </p:cNvPr>
              <p:cNvSpPr/>
              <p:nvPr/>
            </p:nvSpPr>
            <p:spPr>
              <a:xfrm>
                <a:off x="14954" y="5466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13E52B-841F-21D3-BA1C-C30138F2846B}"/>
                  </a:ext>
                </a:extLst>
              </p:cNvPr>
              <p:cNvSpPr/>
              <p:nvPr/>
            </p:nvSpPr>
            <p:spPr>
              <a:xfrm>
                <a:off x="14954" y="3325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DC44860-2D6A-F4D2-FCE5-7E26DCCAE69C}"/>
                  </a:ext>
                </a:extLst>
              </p:cNvPr>
              <p:cNvSpPr/>
              <p:nvPr/>
            </p:nvSpPr>
            <p:spPr>
              <a:xfrm>
                <a:off x="14954" y="3837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8844372-2B19-F175-D62D-B7D0C47CB20E}"/>
                  </a:ext>
                </a:extLst>
              </p:cNvPr>
              <p:cNvSpPr/>
              <p:nvPr/>
            </p:nvSpPr>
            <p:spPr>
              <a:xfrm>
                <a:off x="14954" y="4367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7970CBA-DECA-8915-803E-792F109373DE}"/>
                  </a:ext>
                </a:extLst>
              </p:cNvPr>
              <p:cNvSpPr/>
              <p:nvPr/>
            </p:nvSpPr>
            <p:spPr>
              <a:xfrm>
                <a:off x="14954" y="4910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2BC257F-597A-B446-384F-C0823F0A1FD3}"/>
                  </a:ext>
                </a:extLst>
              </p:cNvPr>
              <p:cNvSpPr/>
              <p:nvPr/>
            </p:nvSpPr>
            <p:spPr>
              <a:xfrm>
                <a:off x="14954" y="1748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73FC15E-5CD9-8A2C-F3F4-2898207DD833}"/>
                  </a:ext>
                </a:extLst>
              </p:cNvPr>
              <p:cNvSpPr/>
              <p:nvPr/>
            </p:nvSpPr>
            <p:spPr>
              <a:xfrm>
                <a:off x="14954" y="2278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1BE7B9D-8719-3993-CECB-D2E5245737C2}"/>
                  </a:ext>
                </a:extLst>
              </p:cNvPr>
              <p:cNvSpPr/>
              <p:nvPr/>
            </p:nvSpPr>
            <p:spPr>
              <a:xfrm>
                <a:off x="14954" y="2821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D124435-0162-24B8-B8B0-718D49B5D0A3}"/>
                  </a:ext>
                </a:extLst>
              </p:cNvPr>
              <p:cNvGrpSpPr/>
              <p:nvPr/>
            </p:nvGrpSpPr>
            <p:grpSpPr>
              <a:xfrm>
                <a:off x="9087" y="2989"/>
                <a:ext cx="5752" cy="1729"/>
                <a:chOff x="4612" y="3721"/>
                <a:chExt cx="5752" cy="1729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20261093-5B38-90C2-FB2D-EDC901055CF6}"/>
                    </a:ext>
                  </a:extLst>
                </p:cNvPr>
                <p:cNvGrpSpPr/>
                <p:nvPr/>
              </p:nvGrpSpPr>
              <p:grpSpPr>
                <a:xfrm>
                  <a:off x="5630" y="3721"/>
                  <a:ext cx="4734" cy="1729"/>
                  <a:chOff x="5630" y="3721"/>
                  <a:chExt cx="4734" cy="1729"/>
                </a:xfrm>
              </p:grpSpPr>
              <p:sp>
                <p:nvSpPr>
                  <p:cNvPr id="18" name="Rectangles 39">
                    <a:extLst>
                      <a:ext uri="{FF2B5EF4-FFF2-40B4-BE49-F238E27FC236}">
                        <a16:creationId xmlns:a16="http://schemas.microsoft.com/office/drawing/2014/main" id="{9A41B0C3-D414-2A8B-78A6-C811B22C856B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Rectangles 40">
                    <a:extLst>
                      <a:ext uri="{FF2B5EF4-FFF2-40B4-BE49-F238E27FC236}">
                        <a16:creationId xmlns:a16="http://schemas.microsoft.com/office/drawing/2014/main" id="{67151469-0CCC-FF87-0F2B-4B79E5FE359F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Rectangles 41">
                    <a:extLst>
                      <a:ext uri="{FF2B5EF4-FFF2-40B4-BE49-F238E27FC236}">
                        <a16:creationId xmlns:a16="http://schemas.microsoft.com/office/drawing/2014/main" id="{76697038-2C48-B307-2241-615D10FBCA37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Rectangles 42">
                    <a:extLst>
                      <a:ext uri="{FF2B5EF4-FFF2-40B4-BE49-F238E27FC236}">
                        <a16:creationId xmlns:a16="http://schemas.microsoft.com/office/drawing/2014/main" id="{C68D5B6E-D411-9638-9BF1-7FD14476D5D6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29F96D6-5884-F7E8-1163-B06EAC02B5CD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21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5A103DAF-ACD1-804D-BB62-45EF5819329D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51A45259-6ACE-C149-1DEE-4A089FDACD5C}"/>
                    </a:ext>
                  </a:extLst>
                </p:cNvPr>
                <p:cNvCxnSpPr/>
                <p:nvPr/>
              </p:nvCxnSpPr>
              <p:spPr>
                <a:xfrm flipV="1">
                  <a:off x="4612" y="4647"/>
                  <a:ext cx="1018" cy="6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CFCA264-DB90-0EB6-5D76-0182FCF755A9}"/>
              </a:ext>
            </a:extLst>
          </p:cNvPr>
          <p:cNvGrpSpPr/>
          <p:nvPr/>
        </p:nvGrpSpPr>
        <p:grpSpPr>
          <a:xfrm>
            <a:off x="5674486" y="1420547"/>
            <a:ext cx="2626457" cy="2299486"/>
            <a:chOff x="5758014" y="1291389"/>
            <a:chExt cx="2626457" cy="229948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4CE714-1226-21EC-D072-DF7FAE16BAAF}"/>
                </a:ext>
              </a:extLst>
            </p:cNvPr>
            <p:cNvSpPr/>
            <p:nvPr/>
          </p:nvSpPr>
          <p:spPr>
            <a:xfrm>
              <a:off x="6960083" y="1453784"/>
              <a:ext cx="464845" cy="18853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CA9D37E-D4A2-C58F-E3A7-B3DBBE0AB7E5}"/>
                </a:ext>
              </a:extLst>
            </p:cNvPr>
            <p:cNvGrpSpPr/>
            <p:nvPr/>
          </p:nvGrpSpPr>
          <p:grpSpPr>
            <a:xfrm>
              <a:off x="7715166" y="1291389"/>
              <a:ext cx="669305" cy="2299486"/>
              <a:chOff x="7715166" y="1291389"/>
              <a:chExt cx="669305" cy="2299486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49F40F00-1C3E-AE57-4FF3-91F1002F895A}"/>
                  </a:ext>
                </a:extLst>
              </p:cNvPr>
              <p:cNvGrpSpPr/>
              <p:nvPr/>
            </p:nvGrpSpPr>
            <p:grpSpPr>
              <a:xfrm>
                <a:off x="7715167" y="1291389"/>
                <a:ext cx="669304" cy="1259405"/>
                <a:chOff x="5010345" y="2366127"/>
                <a:chExt cx="669304" cy="1885362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197EAF3F-0385-EDA9-5EA7-CB24E3C0B605}"/>
                    </a:ext>
                  </a:extLst>
                </p:cNvPr>
                <p:cNvSpPr/>
                <p:nvPr/>
              </p:nvSpPr>
              <p:spPr>
                <a:xfrm>
                  <a:off x="5010346" y="2366127"/>
                  <a:ext cx="669303" cy="4053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4291BD0-50BD-9BBD-5BA7-14E6E4A0A3E5}"/>
                    </a:ext>
                  </a:extLst>
                </p:cNvPr>
                <p:cNvSpPr/>
                <p:nvPr/>
              </p:nvSpPr>
              <p:spPr>
                <a:xfrm>
                  <a:off x="5010346" y="2903455"/>
                  <a:ext cx="669303" cy="4053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80909F5B-35A7-5598-DD1D-1D2D2CB9065C}"/>
                    </a:ext>
                  </a:extLst>
                </p:cNvPr>
                <p:cNvSpPr/>
                <p:nvPr/>
              </p:nvSpPr>
              <p:spPr>
                <a:xfrm>
                  <a:off x="5010345" y="3381865"/>
                  <a:ext cx="669303" cy="4053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DF269604-FB77-AD92-BA17-FE5B302EEC1C}"/>
                    </a:ext>
                  </a:extLst>
                </p:cNvPr>
                <p:cNvSpPr/>
                <p:nvPr/>
              </p:nvSpPr>
              <p:spPr>
                <a:xfrm>
                  <a:off x="5010345" y="3883844"/>
                  <a:ext cx="669303" cy="36764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1D85DFA-06DB-1A23-10A9-3DD41253322B}"/>
                  </a:ext>
                </a:extLst>
              </p:cNvPr>
              <p:cNvGrpSpPr/>
              <p:nvPr/>
            </p:nvGrpSpPr>
            <p:grpSpPr>
              <a:xfrm>
                <a:off x="7715166" y="2641599"/>
                <a:ext cx="669304" cy="949276"/>
                <a:chOff x="5010345" y="2366127"/>
                <a:chExt cx="669304" cy="1421091"/>
              </a:xfrm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80B12F85-E527-A81B-F2A6-1613F1CC6C50}"/>
                    </a:ext>
                  </a:extLst>
                </p:cNvPr>
                <p:cNvSpPr/>
                <p:nvPr/>
              </p:nvSpPr>
              <p:spPr>
                <a:xfrm>
                  <a:off x="5010346" y="2366127"/>
                  <a:ext cx="669303" cy="4053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D7319F71-6B65-4207-61B1-C79AA38DE3C0}"/>
                    </a:ext>
                  </a:extLst>
                </p:cNvPr>
                <p:cNvSpPr/>
                <p:nvPr/>
              </p:nvSpPr>
              <p:spPr>
                <a:xfrm>
                  <a:off x="5010346" y="2903455"/>
                  <a:ext cx="669303" cy="4053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91050913-3C7B-F735-7BC2-51D112E51F2D}"/>
                    </a:ext>
                  </a:extLst>
                </p:cNvPr>
                <p:cNvSpPr/>
                <p:nvPr/>
              </p:nvSpPr>
              <p:spPr>
                <a:xfrm>
                  <a:off x="5010345" y="3381865"/>
                  <a:ext cx="669303" cy="4053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</p:grp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9A3C34B-F144-7150-1D17-56013D09EF17}"/>
                </a:ext>
              </a:extLst>
            </p:cNvPr>
            <p:cNvSpPr/>
            <p:nvPr/>
          </p:nvSpPr>
          <p:spPr>
            <a:xfrm>
              <a:off x="6361913" y="2729757"/>
              <a:ext cx="494058" cy="2707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1CB5C2B-0D81-EB78-C57A-9A235AF7848D}"/>
                </a:ext>
              </a:extLst>
            </p:cNvPr>
            <p:cNvSpPr/>
            <p:nvPr/>
          </p:nvSpPr>
          <p:spPr>
            <a:xfrm>
              <a:off x="5758014" y="2729757"/>
              <a:ext cx="494058" cy="2707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651638-556C-436C-8AC0-408AFF85AC74}"/>
                  </a:ext>
                </a:extLst>
              </p:cNvPr>
              <p:cNvSpPr txBox="1"/>
              <p:nvPr/>
            </p:nvSpPr>
            <p:spPr>
              <a:xfrm>
                <a:off x="1597152" y="2548128"/>
                <a:ext cx="2784806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servers,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:1</m:t>
                    </m:r>
                  </m:oMath>
                </a14:m>
                <a:r>
                  <a:rPr lang="en-US" sz="2200" dirty="0"/>
                  <a:t> server,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651638-556C-436C-8AC0-408AFF85A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152" y="2548128"/>
                <a:ext cx="2784806" cy="1107996"/>
              </a:xfrm>
              <a:prstGeom prst="rect">
                <a:avLst/>
              </a:prstGeom>
              <a:blipFill>
                <a:blip r:embed="rId3"/>
                <a:stretch>
                  <a:fillRect l="-219" r="-1313" b="-9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21359316-923C-3FF0-CE3C-598D58BF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96C3EC43-DD5B-A7ED-D6DD-61906DEA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BDC7-BDE5-77FE-3DD3-AF96C15DC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MSJ Model: 1-and-n, load-focused scaling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E98B72-B5C5-7A8B-78D9-25A6FC8643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6686" y="3680607"/>
                <a:ext cx="11775314" cy="317739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Secondary scaling: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 dirty="0"/>
                  <a:t>.  Regimes:</a:t>
                </a:r>
              </a:p>
              <a:p>
                <a:r>
                  <a:rPr lang="en-US" dirty="0"/>
                  <a:t>Load mostly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-server jobs: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Load mostly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-server jobs: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Load balanced: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Goals: Analyze throughput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scaled queue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E98B72-B5C5-7A8B-78D9-25A6FC8643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6686" y="3680607"/>
                <a:ext cx="11775314" cy="3177393"/>
              </a:xfrm>
              <a:blipFill>
                <a:blip r:embed="rId2"/>
                <a:stretch>
                  <a:fillRect l="-1035" t="-3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5541A5C-AB57-3EFF-A75C-3400D04610F7}"/>
              </a:ext>
            </a:extLst>
          </p:cNvPr>
          <p:cNvGrpSpPr/>
          <p:nvPr/>
        </p:nvGrpSpPr>
        <p:grpSpPr>
          <a:xfrm>
            <a:off x="3764420" y="1416302"/>
            <a:ext cx="4897120" cy="2651125"/>
            <a:chOff x="3847948" y="1287144"/>
            <a:chExt cx="4897120" cy="2651125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B855DBA-2325-0D57-879B-326A08D30705}"/>
                </a:ext>
              </a:extLst>
            </p:cNvPr>
            <p:cNvCxnSpPr/>
            <p:nvPr/>
          </p:nvCxnSpPr>
          <p:spPr>
            <a:xfrm flipV="1">
              <a:off x="8098638" y="2649374"/>
              <a:ext cx="646430" cy="381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49B7A0F-B4DA-5564-0153-15A73376B84D}"/>
                </a:ext>
              </a:extLst>
            </p:cNvPr>
            <p:cNvGrpSpPr/>
            <p:nvPr/>
          </p:nvGrpSpPr>
          <p:grpSpPr>
            <a:xfrm>
              <a:off x="3847948" y="1287144"/>
              <a:ext cx="4014470" cy="2651125"/>
              <a:chOff x="9087" y="1748"/>
              <a:chExt cx="6322" cy="4175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086F6D1-4FE7-5990-75B4-97C2FF1FC310}"/>
                  </a:ext>
                </a:extLst>
              </p:cNvPr>
              <p:cNvSpPr/>
              <p:nvPr/>
            </p:nvSpPr>
            <p:spPr>
              <a:xfrm>
                <a:off x="14954" y="5466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13E52B-841F-21D3-BA1C-C30138F2846B}"/>
                  </a:ext>
                </a:extLst>
              </p:cNvPr>
              <p:cNvSpPr/>
              <p:nvPr/>
            </p:nvSpPr>
            <p:spPr>
              <a:xfrm>
                <a:off x="14954" y="3325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DC44860-2D6A-F4D2-FCE5-7E26DCCAE69C}"/>
                  </a:ext>
                </a:extLst>
              </p:cNvPr>
              <p:cNvSpPr/>
              <p:nvPr/>
            </p:nvSpPr>
            <p:spPr>
              <a:xfrm>
                <a:off x="14954" y="3837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8844372-2B19-F175-D62D-B7D0C47CB20E}"/>
                  </a:ext>
                </a:extLst>
              </p:cNvPr>
              <p:cNvSpPr/>
              <p:nvPr/>
            </p:nvSpPr>
            <p:spPr>
              <a:xfrm>
                <a:off x="14954" y="4367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7970CBA-DECA-8915-803E-792F109373DE}"/>
                  </a:ext>
                </a:extLst>
              </p:cNvPr>
              <p:cNvSpPr/>
              <p:nvPr/>
            </p:nvSpPr>
            <p:spPr>
              <a:xfrm>
                <a:off x="14954" y="4910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2BC257F-597A-B446-384F-C0823F0A1FD3}"/>
                  </a:ext>
                </a:extLst>
              </p:cNvPr>
              <p:cNvSpPr/>
              <p:nvPr/>
            </p:nvSpPr>
            <p:spPr>
              <a:xfrm>
                <a:off x="14954" y="1748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73FC15E-5CD9-8A2C-F3F4-2898207DD833}"/>
                  </a:ext>
                </a:extLst>
              </p:cNvPr>
              <p:cNvSpPr/>
              <p:nvPr/>
            </p:nvSpPr>
            <p:spPr>
              <a:xfrm>
                <a:off x="14954" y="2278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1BE7B9D-8719-3993-CECB-D2E5245737C2}"/>
                  </a:ext>
                </a:extLst>
              </p:cNvPr>
              <p:cNvSpPr/>
              <p:nvPr/>
            </p:nvSpPr>
            <p:spPr>
              <a:xfrm>
                <a:off x="14954" y="2821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D124435-0162-24B8-B8B0-718D49B5D0A3}"/>
                  </a:ext>
                </a:extLst>
              </p:cNvPr>
              <p:cNvGrpSpPr/>
              <p:nvPr/>
            </p:nvGrpSpPr>
            <p:grpSpPr>
              <a:xfrm>
                <a:off x="9087" y="2989"/>
                <a:ext cx="5752" cy="1729"/>
                <a:chOff x="4612" y="3721"/>
                <a:chExt cx="5752" cy="1729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20261093-5B38-90C2-FB2D-EDC901055CF6}"/>
                    </a:ext>
                  </a:extLst>
                </p:cNvPr>
                <p:cNvGrpSpPr/>
                <p:nvPr/>
              </p:nvGrpSpPr>
              <p:grpSpPr>
                <a:xfrm>
                  <a:off x="5630" y="3721"/>
                  <a:ext cx="4734" cy="1729"/>
                  <a:chOff x="5630" y="3721"/>
                  <a:chExt cx="4734" cy="1729"/>
                </a:xfrm>
              </p:grpSpPr>
              <p:sp>
                <p:nvSpPr>
                  <p:cNvPr id="18" name="Rectangles 39">
                    <a:extLst>
                      <a:ext uri="{FF2B5EF4-FFF2-40B4-BE49-F238E27FC236}">
                        <a16:creationId xmlns:a16="http://schemas.microsoft.com/office/drawing/2014/main" id="{9A41B0C3-D414-2A8B-78A6-C811B22C856B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Rectangles 40">
                    <a:extLst>
                      <a:ext uri="{FF2B5EF4-FFF2-40B4-BE49-F238E27FC236}">
                        <a16:creationId xmlns:a16="http://schemas.microsoft.com/office/drawing/2014/main" id="{67151469-0CCC-FF87-0F2B-4B79E5FE359F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Rectangles 41">
                    <a:extLst>
                      <a:ext uri="{FF2B5EF4-FFF2-40B4-BE49-F238E27FC236}">
                        <a16:creationId xmlns:a16="http://schemas.microsoft.com/office/drawing/2014/main" id="{76697038-2C48-B307-2241-615D10FBCA37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Rectangles 42">
                    <a:extLst>
                      <a:ext uri="{FF2B5EF4-FFF2-40B4-BE49-F238E27FC236}">
                        <a16:creationId xmlns:a16="http://schemas.microsoft.com/office/drawing/2014/main" id="{C68D5B6E-D411-9638-9BF1-7FD14476D5D6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29F96D6-5884-F7E8-1163-B06EAC02B5CD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21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5A103DAF-ACD1-804D-BB62-45EF5819329D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51A45259-6ACE-C149-1DEE-4A089FDACD5C}"/>
                    </a:ext>
                  </a:extLst>
                </p:cNvPr>
                <p:cNvCxnSpPr/>
                <p:nvPr/>
              </p:nvCxnSpPr>
              <p:spPr>
                <a:xfrm flipV="1">
                  <a:off x="4612" y="4647"/>
                  <a:ext cx="1018" cy="6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CFCA264-DB90-0EB6-5D76-0182FCF755A9}"/>
              </a:ext>
            </a:extLst>
          </p:cNvPr>
          <p:cNvGrpSpPr/>
          <p:nvPr/>
        </p:nvGrpSpPr>
        <p:grpSpPr>
          <a:xfrm>
            <a:off x="5674486" y="1420547"/>
            <a:ext cx="2626457" cy="2299486"/>
            <a:chOff x="5758014" y="1291389"/>
            <a:chExt cx="2626457" cy="229948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4CE714-1226-21EC-D072-DF7FAE16BAAF}"/>
                </a:ext>
              </a:extLst>
            </p:cNvPr>
            <p:cNvSpPr/>
            <p:nvPr/>
          </p:nvSpPr>
          <p:spPr>
            <a:xfrm>
              <a:off x="6960083" y="1453784"/>
              <a:ext cx="464845" cy="18853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CA9D37E-D4A2-C58F-E3A7-B3DBBE0AB7E5}"/>
                </a:ext>
              </a:extLst>
            </p:cNvPr>
            <p:cNvGrpSpPr/>
            <p:nvPr/>
          </p:nvGrpSpPr>
          <p:grpSpPr>
            <a:xfrm>
              <a:off x="7715166" y="1291389"/>
              <a:ext cx="669305" cy="2299486"/>
              <a:chOff x="7715166" y="1291389"/>
              <a:chExt cx="669305" cy="2299486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49F40F00-1C3E-AE57-4FF3-91F1002F895A}"/>
                  </a:ext>
                </a:extLst>
              </p:cNvPr>
              <p:cNvGrpSpPr/>
              <p:nvPr/>
            </p:nvGrpSpPr>
            <p:grpSpPr>
              <a:xfrm>
                <a:off x="7715167" y="1291389"/>
                <a:ext cx="669304" cy="1259405"/>
                <a:chOff x="5010345" y="2366127"/>
                <a:chExt cx="669304" cy="1885362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197EAF3F-0385-EDA9-5EA7-CB24E3C0B605}"/>
                    </a:ext>
                  </a:extLst>
                </p:cNvPr>
                <p:cNvSpPr/>
                <p:nvPr/>
              </p:nvSpPr>
              <p:spPr>
                <a:xfrm>
                  <a:off x="5010346" y="2366127"/>
                  <a:ext cx="669303" cy="4053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4291BD0-50BD-9BBD-5BA7-14E6E4A0A3E5}"/>
                    </a:ext>
                  </a:extLst>
                </p:cNvPr>
                <p:cNvSpPr/>
                <p:nvPr/>
              </p:nvSpPr>
              <p:spPr>
                <a:xfrm>
                  <a:off x="5010346" y="2903455"/>
                  <a:ext cx="669303" cy="4053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80909F5B-35A7-5598-DD1D-1D2D2CB9065C}"/>
                    </a:ext>
                  </a:extLst>
                </p:cNvPr>
                <p:cNvSpPr/>
                <p:nvPr/>
              </p:nvSpPr>
              <p:spPr>
                <a:xfrm>
                  <a:off x="5010345" y="3381865"/>
                  <a:ext cx="669303" cy="4053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DF269604-FB77-AD92-BA17-FE5B302EEC1C}"/>
                    </a:ext>
                  </a:extLst>
                </p:cNvPr>
                <p:cNvSpPr/>
                <p:nvPr/>
              </p:nvSpPr>
              <p:spPr>
                <a:xfrm>
                  <a:off x="5010345" y="3883844"/>
                  <a:ext cx="669303" cy="36764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1D85DFA-06DB-1A23-10A9-3DD41253322B}"/>
                  </a:ext>
                </a:extLst>
              </p:cNvPr>
              <p:cNvGrpSpPr/>
              <p:nvPr/>
            </p:nvGrpSpPr>
            <p:grpSpPr>
              <a:xfrm>
                <a:off x="7715166" y="2641599"/>
                <a:ext cx="669304" cy="949276"/>
                <a:chOff x="5010345" y="2366127"/>
                <a:chExt cx="669304" cy="1421091"/>
              </a:xfrm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80B12F85-E527-A81B-F2A6-1613F1CC6C50}"/>
                    </a:ext>
                  </a:extLst>
                </p:cNvPr>
                <p:cNvSpPr/>
                <p:nvPr/>
              </p:nvSpPr>
              <p:spPr>
                <a:xfrm>
                  <a:off x="5010346" y="2366127"/>
                  <a:ext cx="669303" cy="4053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D7319F71-6B65-4207-61B1-C79AA38DE3C0}"/>
                    </a:ext>
                  </a:extLst>
                </p:cNvPr>
                <p:cNvSpPr/>
                <p:nvPr/>
              </p:nvSpPr>
              <p:spPr>
                <a:xfrm>
                  <a:off x="5010346" y="2903455"/>
                  <a:ext cx="669303" cy="4053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91050913-3C7B-F735-7BC2-51D112E51F2D}"/>
                    </a:ext>
                  </a:extLst>
                </p:cNvPr>
                <p:cNvSpPr/>
                <p:nvPr/>
              </p:nvSpPr>
              <p:spPr>
                <a:xfrm>
                  <a:off x="5010345" y="3381865"/>
                  <a:ext cx="669303" cy="40535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</p:grp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9A3C34B-F144-7150-1D17-56013D09EF17}"/>
                </a:ext>
              </a:extLst>
            </p:cNvPr>
            <p:cNvSpPr/>
            <p:nvPr/>
          </p:nvSpPr>
          <p:spPr>
            <a:xfrm>
              <a:off x="6361913" y="2729757"/>
              <a:ext cx="494058" cy="2707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1CB5C2B-0D81-EB78-C57A-9A235AF7848D}"/>
                </a:ext>
              </a:extLst>
            </p:cNvPr>
            <p:cNvSpPr/>
            <p:nvPr/>
          </p:nvSpPr>
          <p:spPr>
            <a:xfrm>
              <a:off x="5758014" y="2729757"/>
              <a:ext cx="494058" cy="2707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651638-556C-436C-8AC0-408AFF85AC74}"/>
                  </a:ext>
                </a:extLst>
              </p:cNvPr>
              <p:cNvSpPr txBox="1"/>
              <p:nvPr/>
            </p:nvSpPr>
            <p:spPr>
              <a:xfrm>
                <a:off x="1597152" y="2548128"/>
                <a:ext cx="2784806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servers,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:1</m:t>
                    </m:r>
                  </m:oMath>
                </a14:m>
                <a:r>
                  <a:rPr lang="en-US" sz="2200" dirty="0"/>
                  <a:t> server,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651638-556C-436C-8AC0-408AFF85A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152" y="2548128"/>
                <a:ext cx="2784806" cy="1107996"/>
              </a:xfrm>
              <a:prstGeom prst="rect">
                <a:avLst/>
              </a:prstGeom>
              <a:blipFill>
                <a:blip r:embed="rId3"/>
                <a:stretch>
                  <a:fillRect l="-219" r="-1313" b="-9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AA66C16-852D-7DB1-8A26-D0AB0D583227}"/>
                  </a:ext>
                </a:extLst>
              </p:cNvPr>
              <p:cNvSpPr txBox="1"/>
              <p:nvPr/>
            </p:nvSpPr>
            <p:spPr>
              <a:xfrm>
                <a:off x="8830019" y="1459576"/>
                <a:ext cx="284600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Primary scaling: Scale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  <a:endParaRPr lang="en-US" sz="2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AA66C16-852D-7DB1-8A26-D0AB0D583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0019" y="1459576"/>
                <a:ext cx="2846005" cy="830997"/>
              </a:xfrm>
              <a:prstGeom prst="rect">
                <a:avLst/>
              </a:prstGeom>
              <a:blipFill>
                <a:blip r:embed="rId4"/>
                <a:stretch>
                  <a:fillRect l="-3212" t="-5839" r="-5567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548E79D2-33AD-5049-DC6C-8269AA65F85D}"/>
              </a:ext>
            </a:extLst>
          </p:cNvPr>
          <p:cNvSpPr/>
          <p:nvPr/>
        </p:nvSpPr>
        <p:spPr>
          <a:xfrm>
            <a:off x="416686" y="5704286"/>
            <a:ext cx="11607674" cy="540304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6925ADB9-A347-1744-B082-21BE7D06B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D20E26B2-A330-8CF7-D4D8-4EF92836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18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B9F21-7CB0-10BE-8A93-46C46EAD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5E03E-770B-D2F9-5D78-21023AB39B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MSJ FCFS: Scaling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dirty="0"/>
              </a:p>
              <a:p>
                <a:r>
                  <a:rPr lang="en-US" dirty="0"/>
                  <a:t>[WXH ’21]: Light enough load: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[HW ’24]: Medium-light load: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tx1"/>
                    </a:solidFill>
                  </a:rPr>
                  <a:t>MSJ FCFS: Fixed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[RM ’17]: All durations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𝐸𝑥𝑝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Analyzed stability boundary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dirty="0"/>
                  <a:t>[OMBM ’23]: 1-or-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 Explicit stability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dirty="0"/>
                  <a:t>[</a:t>
                </a:r>
                <a:r>
                  <a:rPr lang="en-US" b="1" dirty="0"/>
                  <a:t>G</a:t>
                </a:r>
                <a:r>
                  <a:rPr lang="en-US" dirty="0"/>
                  <a:t>HHS ’23]: Analyzed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in heavy traffic. General </a:t>
                </a:r>
                <a:r>
                  <a:rPr lang="en-US" dirty="0" err="1"/>
                  <a:t>reqs</a:t>
                </a:r>
                <a:r>
                  <a:rPr lang="en-US" dirty="0"/>
                  <a:t>., durations.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7030A0"/>
                    </a:solidFill>
                  </a:rPr>
                  <a:t>Heavy load, scaling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: New!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5E03E-770B-D2F9-5D78-21023AB39B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  <a:blipFill>
                <a:blip r:embed="rId2"/>
                <a:stretch>
                  <a:fillRect l="-1128" t="-2241" r="-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D8C70-6915-FBBC-C995-4A8244DF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0D7BD-C261-35C4-3E76-8F37C44E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6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41EA-A93D-EEC1-3F5C-B16EB39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tool: Saturated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DCCA6-90D9-C19E-327D-C7EDFC4BBE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Saturated: Completions trigger arrivals</a:t>
                </a:r>
              </a:p>
              <a:p>
                <a:pPr marL="0" indent="0">
                  <a:buNone/>
                </a:pPr>
                <a:r>
                  <a:rPr lang="en-US" dirty="0"/>
                  <a:t>[</a:t>
                </a:r>
                <a:r>
                  <a:rPr lang="en-US" b="1" dirty="0"/>
                  <a:t>G</a:t>
                </a:r>
                <a:r>
                  <a:rPr lang="en-US" dirty="0"/>
                  <a:t>HHS ’23]: Saturated system determines</a:t>
                </a:r>
                <a:br>
                  <a:rPr lang="en-US" dirty="0"/>
                </a:br>
                <a:r>
                  <a:rPr lang="en-US" dirty="0"/>
                  <a:t>original system’s throughput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scaled queue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in heavy traffic.</a:t>
                </a:r>
              </a:p>
              <a:p>
                <a:pPr marL="0" indent="0">
                  <a:buNone/>
                </a:pPr>
                <a:r>
                  <a:rPr lang="en-US" dirty="0"/>
                  <a:t>Simplify: Only jobs in service or blocking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DCCA6-90D9-C19E-327D-C7EDFC4BBE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6ED3D1E9-46B2-799C-7765-C460E3514C49}"/>
              </a:ext>
            </a:extLst>
          </p:cNvPr>
          <p:cNvGrpSpPr/>
          <p:nvPr/>
        </p:nvGrpSpPr>
        <p:grpSpPr>
          <a:xfrm>
            <a:off x="7373125" y="681037"/>
            <a:ext cx="3890093" cy="2651125"/>
            <a:chOff x="4410850" y="1416302"/>
            <a:chExt cx="3890093" cy="265112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70DE452-6568-F016-434D-667BF9CF2C7C}"/>
                </a:ext>
              </a:extLst>
            </p:cNvPr>
            <p:cNvGrpSpPr/>
            <p:nvPr/>
          </p:nvGrpSpPr>
          <p:grpSpPr>
            <a:xfrm>
              <a:off x="4410850" y="1416302"/>
              <a:ext cx="3368040" cy="2651125"/>
              <a:chOff x="10105" y="1748"/>
              <a:chExt cx="5304" cy="4175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96EAE05-81FB-E6F0-4357-E0FCD20570C0}"/>
                  </a:ext>
                </a:extLst>
              </p:cNvPr>
              <p:cNvSpPr/>
              <p:nvPr/>
            </p:nvSpPr>
            <p:spPr>
              <a:xfrm>
                <a:off x="14954" y="5466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398C6EC-2255-7242-ADE7-1D98D2D6D575}"/>
                  </a:ext>
                </a:extLst>
              </p:cNvPr>
              <p:cNvSpPr/>
              <p:nvPr/>
            </p:nvSpPr>
            <p:spPr>
              <a:xfrm>
                <a:off x="14954" y="3325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3554F79-C126-F014-41F3-6DEDC3331CE3}"/>
                  </a:ext>
                </a:extLst>
              </p:cNvPr>
              <p:cNvSpPr/>
              <p:nvPr/>
            </p:nvSpPr>
            <p:spPr>
              <a:xfrm>
                <a:off x="14954" y="3837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3FDFD74-0AC4-A53D-8BDA-1F9F89AD3122}"/>
                  </a:ext>
                </a:extLst>
              </p:cNvPr>
              <p:cNvSpPr/>
              <p:nvPr/>
            </p:nvSpPr>
            <p:spPr>
              <a:xfrm>
                <a:off x="14954" y="4367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2E4DB8A-8223-9631-F8FA-E3315EC3F957}"/>
                  </a:ext>
                </a:extLst>
              </p:cNvPr>
              <p:cNvSpPr/>
              <p:nvPr/>
            </p:nvSpPr>
            <p:spPr>
              <a:xfrm>
                <a:off x="14954" y="4910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B0D7347-4D56-176A-13BE-AB6B68250325}"/>
                  </a:ext>
                </a:extLst>
              </p:cNvPr>
              <p:cNvSpPr/>
              <p:nvPr/>
            </p:nvSpPr>
            <p:spPr>
              <a:xfrm>
                <a:off x="14954" y="1748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0CDDEDE-4C7A-19DE-E1D4-4DD46C074143}"/>
                  </a:ext>
                </a:extLst>
              </p:cNvPr>
              <p:cNvSpPr/>
              <p:nvPr/>
            </p:nvSpPr>
            <p:spPr>
              <a:xfrm>
                <a:off x="14954" y="2278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89A8930-29F9-3EFC-4BBB-01EE30F6AEAE}"/>
                  </a:ext>
                </a:extLst>
              </p:cNvPr>
              <p:cNvSpPr/>
              <p:nvPr/>
            </p:nvSpPr>
            <p:spPr>
              <a:xfrm>
                <a:off x="14954" y="2821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E0954B0D-D9A6-859A-7D73-A9D6B7D08CD6}"/>
                  </a:ext>
                </a:extLst>
              </p:cNvPr>
              <p:cNvGrpSpPr/>
              <p:nvPr/>
            </p:nvGrpSpPr>
            <p:grpSpPr>
              <a:xfrm>
                <a:off x="10105" y="2989"/>
                <a:ext cx="4734" cy="1729"/>
                <a:chOff x="5630" y="3721"/>
                <a:chExt cx="4734" cy="1729"/>
              </a:xfrm>
            </p:grpSpPr>
            <p:sp>
              <p:nvSpPr>
                <p:cNvPr id="18" name="Rectangles 39">
                  <a:extLst>
                    <a:ext uri="{FF2B5EF4-FFF2-40B4-BE49-F238E27FC236}">
                      <a16:creationId xmlns:a16="http://schemas.microsoft.com/office/drawing/2014/main" id="{FB2AE863-971E-D9A4-A515-01D193610738}"/>
                    </a:ext>
                  </a:extLst>
                </p:cNvPr>
                <p:cNvSpPr/>
                <p:nvPr/>
              </p:nvSpPr>
              <p:spPr>
                <a:xfrm>
                  <a:off x="6596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s 40">
                  <a:extLst>
                    <a:ext uri="{FF2B5EF4-FFF2-40B4-BE49-F238E27FC236}">
                      <a16:creationId xmlns:a16="http://schemas.microsoft.com/office/drawing/2014/main" id="{7C053F1A-8025-AB64-02B8-FD1714B14B06}"/>
                    </a:ext>
                  </a:extLst>
                </p:cNvPr>
                <p:cNvSpPr/>
                <p:nvPr/>
              </p:nvSpPr>
              <p:spPr>
                <a:xfrm>
                  <a:off x="7538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s 41">
                  <a:extLst>
                    <a:ext uri="{FF2B5EF4-FFF2-40B4-BE49-F238E27FC236}">
                      <a16:creationId xmlns:a16="http://schemas.microsoft.com/office/drawing/2014/main" id="{7E0E7063-AF2F-6AEF-F54B-488D657B7819}"/>
                    </a:ext>
                  </a:extLst>
                </p:cNvPr>
                <p:cNvSpPr/>
                <p:nvPr/>
              </p:nvSpPr>
              <p:spPr>
                <a:xfrm>
                  <a:off x="8480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Rectangles 42">
                  <a:extLst>
                    <a:ext uri="{FF2B5EF4-FFF2-40B4-BE49-F238E27FC236}">
                      <a16:creationId xmlns:a16="http://schemas.microsoft.com/office/drawing/2014/main" id="{2CF969D4-5C33-8C80-171E-4245AAC0BB86}"/>
                    </a:ext>
                  </a:extLst>
                </p:cNvPr>
                <p:cNvSpPr/>
                <p:nvPr/>
              </p:nvSpPr>
              <p:spPr>
                <a:xfrm>
                  <a:off x="9422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F66D6540-8F7D-0D0F-5701-5E6B28F4445A}"/>
                    </a:ext>
                  </a:extLst>
                </p:cNvPr>
                <p:cNvCxnSpPr/>
                <p:nvPr/>
              </p:nvCxnSpPr>
              <p:spPr>
                <a:xfrm>
                  <a:off x="5630" y="3721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3141A058-379B-25F4-BB9C-41EA6F45ABE6}"/>
                    </a:ext>
                  </a:extLst>
                </p:cNvPr>
                <p:cNvCxnSpPr/>
                <p:nvPr/>
              </p:nvCxnSpPr>
              <p:spPr>
                <a:xfrm>
                  <a:off x="5630" y="5435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61068FD-6B9E-6E12-8943-CEAEB768BCF6}"/>
                </a:ext>
              </a:extLst>
            </p:cNvPr>
            <p:cNvGrpSpPr/>
            <p:nvPr/>
          </p:nvGrpSpPr>
          <p:grpSpPr>
            <a:xfrm>
              <a:off x="5674486" y="1420547"/>
              <a:ext cx="2626457" cy="2299486"/>
              <a:chOff x="5758014" y="1291389"/>
              <a:chExt cx="2626457" cy="229948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57CAB07-548E-BC8C-50C8-3D7FD2675D83}"/>
                  </a:ext>
                </a:extLst>
              </p:cNvPr>
              <p:cNvSpPr/>
              <p:nvPr/>
            </p:nvSpPr>
            <p:spPr>
              <a:xfrm>
                <a:off x="6960083" y="1453784"/>
                <a:ext cx="464845" cy="188536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</a:t>
                </a: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9ED43687-482D-B3B1-8DB5-BA3524F5847E}"/>
                  </a:ext>
                </a:extLst>
              </p:cNvPr>
              <p:cNvGrpSpPr/>
              <p:nvPr/>
            </p:nvGrpSpPr>
            <p:grpSpPr>
              <a:xfrm>
                <a:off x="7715166" y="1291389"/>
                <a:ext cx="669305" cy="2299486"/>
                <a:chOff x="7715166" y="1291389"/>
                <a:chExt cx="669305" cy="2299486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60227F0C-AC16-E5A5-E569-E973C8C453CE}"/>
                    </a:ext>
                  </a:extLst>
                </p:cNvPr>
                <p:cNvGrpSpPr/>
                <p:nvPr/>
              </p:nvGrpSpPr>
              <p:grpSpPr>
                <a:xfrm>
                  <a:off x="7715167" y="1291389"/>
                  <a:ext cx="669304" cy="1259405"/>
                  <a:chOff x="5010345" y="2366127"/>
                  <a:chExt cx="669304" cy="1885362"/>
                </a:xfrm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DB405832-014E-7E76-5969-80F25180D7B1}"/>
                      </a:ext>
                    </a:extLst>
                  </p:cNvPr>
                  <p:cNvSpPr/>
                  <p:nvPr/>
                </p:nvSpPr>
                <p:spPr>
                  <a:xfrm>
                    <a:off x="5010346" y="2366127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F0B2FD09-F903-6670-6B10-DBA582EDAB24}"/>
                      </a:ext>
                    </a:extLst>
                  </p:cNvPr>
                  <p:cNvSpPr/>
                  <p:nvPr/>
                </p:nvSpPr>
                <p:spPr>
                  <a:xfrm>
                    <a:off x="5010346" y="290345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EFD00ECA-7E08-ACE8-C075-83127F52441E}"/>
                      </a:ext>
                    </a:extLst>
                  </p:cNvPr>
                  <p:cNvSpPr/>
                  <p:nvPr/>
                </p:nvSpPr>
                <p:spPr>
                  <a:xfrm>
                    <a:off x="5010345" y="338186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522933DE-F5DC-39DC-ED66-5FC00935D25A}"/>
                      </a:ext>
                    </a:extLst>
                  </p:cNvPr>
                  <p:cNvSpPr/>
                  <p:nvPr/>
                </p:nvSpPr>
                <p:spPr>
                  <a:xfrm>
                    <a:off x="5010345" y="3883844"/>
                    <a:ext cx="669303" cy="367645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D9F985A8-8971-9618-CEF4-8A5603A7B09D}"/>
                    </a:ext>
                  </a:extLst>
                </p:cNvPr>
                <p:cNvGrpSpPr/>
                <p:nvPr/>
              </p:nvGrpSpPr>
              <p:grpSpPr>
                <a:xfrm>
                  <a:off x="7715166" y="2641599"/>
                  <a:ext cx="669304" cy="949276"/>
                  <a:chOff x="5010345" y="2366127"/>
                  <a:chExt cx="669304" cy="1421091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7508E46C-B0EA-F4F0-47D6-B5F125B5FEAB}"/>
                      </a:ext>
                    </a:extLst>
                  </p:cNvPr>
                  <p:cNvSpPr/>
                  <p:nvPr/>
                </p:nvSpPr>
                <p:spPr>
                  <a:xfrm>
                    <a:off x="5010346" y="2366127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4D4EA342-46FA-8CBA-FB15-50D486B5081C}"/>
                      </a:ext>
                    </a:extLst>
                  </p:cNvPr>
                  <p:cNvSpPr/>
                  <p:nvPr/>
                </p:nvSpPr>
                <p:spPr>
                  <a:xfrm>
                    <a:off x="5010346" y="290345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06ADFBAD-3720-B986-33C6-CD09536D6209}"/>
                      </a:ext>
                    </a:extLst>
                  </p:cNvPr>
                  <p:cNvSpPr/>
                  <p:nvPr/>
                </p:nvSpPr>
                <p:spPr>
                  <a:xfrm>
                    <a:off x="5010345" y="338186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</p:grp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1E70F64-C3B0-EDB6-05A4-9CD52CC3A7A6}"/>
                  </a:ext>
                </a:extLst>
              </p:cNvPr>
              <p:cNvSpPr/>
              <p:nvPr/>
            </p:nvSpPr>
            <p:spPr>
              <a:xfrm>
                <a:off x="6361913" y="2729757"/>
                <a:ext cx="494058" cy="27077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4113ABA-5CD7-4DB9-73EC-E1F30A3F1C89}"/>
                  </a:ext>
                </a:extLst>
              </p:cNvPr>
              <p:cNvSpPr/>
              <p:nvPr/>
            </p:nvSpPr>
            <p:spPr>
              <a:xfrm>
                <a:off x="5758014" y="2729757"/>
                <a:ext cx="494058" cy="27077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3B49EF8-A6FB-0B37-7B36-97587BCEBBB7}"/>
              </a:ext>
            </a:extLst>
          </p:cNvPr>
          <p:cNvGrpSpPr/>
          <p:nvPr/>
        </p:nvGrpSpPr>
        <p:grpSpPr>
          <a:xfrm>
            <a:off x="7258050" y="2007552"/>
            <a:ext cx="4648200" cy="1720280"/>
            <a:chOff x="4295775" y="2742817"/>
            <a:chExt cx="4648200" cy="1720280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BB5324-CC92-FDCE-C6C0-022AC9131666}"/>
                </a:ext>
              </a:extLst>
            </p:cNvPr>
            <p:cNvCxnSpPr/>
            <p:nvPr/>
          </p:nvCxnSpPr>
          <p:spPr>
            <a:xfrm>
              <a:off x="8467725" y="2742817"/>
              <a:ext cx="47625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1B3DD02-B2A6-1B44-8AAA-FE86888A4ADF}"/>
                </a:ext>
              </a:extLst>
            </p:cNvPr>
            <p:cNvCxnSpPr>
              <a:cxnSpLocks/>
            </p:cNvCxnSpPr>
            <p:nvPr/>
          </p:nvCxnSpPr>
          <p:spPr>
            <a:xfrm>
              <a:off x="8943975" y="2742817"/>
              <a:ext cx="0" cy="17053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3F39115-09BF-4B23-C33A-045617B3E3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5775" y="4448175"/>
              <a:ext cx="46482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6A73D9F-555F-E97B-9375-A3E29B78FA5F}"/>
                </a:ext>
              </a:extLst>
            </p:cNvPr>
            <p:cNvCxnSpPr>
              <a:cxnSpLocks/>
            </p:cNvCxnSpPr>
            <p:nvPr/>
          </p:nvCxnSpPr>
          <p:spPr>
            <a:xfrm>
              <a:off x="4295775" y="2757739"/>
              <a:ext cx="0" cy="17053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AB9A5C8-3BD4-21AC-BDF8-66FBC472C204}"/>
                </a:ext>
              </a:extLst>
            </p:cNvPr>
            <p:cNvCxnSpPr/>
            <p:nvPr/>
          </p:nvCxnSpPr>
          <p:spPr>
            <a:xfrm>
              <a:off x="4295775" y="2742817"/>
              <a:ext cx="476250" cy="0"/>
            </a:xfrm>
            <a:prstGeom prst="line">
              <a:avLst/>
            </a:prstGeom>
            <a:ln w="635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07819-1023-ECD9-4D18-24BC84234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37140-E677-8940-412F-9DD33FB5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2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41EA-A93D-EEC1-3F5C-B16EB39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tool: Saturated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DCCA6-90D9-C19E-327D-C7EDFC4BBE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Saturated: Completions trigger arrivals</a:t>
                </a:r>
              </a:p>
              <a:p>
                <a:pPr marL="0" indent="0">
                  <a:buNone/>
                </a:pPr>
                <a:r>
                  <a:rPr lang="en-US" dirty="0"/>
                  <a:t>[</a:t>
                </a:r>
                <a:r>
                  <a:rPr lang="en-US" b="1" dirty="0"/>
                  <a:t>G</a:t>
                </a:r>
                <a:r>
                  <a:rPr lang="en-US" dirty="0"/>
                  <a:t>HHS ’23]: Saturated system determines</a:t>
                </a:r>
                <a:br>
                  <a:rPr lang="en-US" dirty="0"/>
                </a:br>
                <a:r>
                  <a:rPr lang="en-US" dirty="0"/>
                  <a:t>original system’s throughput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scaled queue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in heavy traffic.</a:t>
                </a:r>
              </a:p>
              <a:p>
                <a:pPr marL="0" indent="0">
                  <a:buNone/>
                </a:pPr>
                <a:r>
                  <a:rPr lang="en-US" dirty="0"/>
                  <a:t>Simplify: Only jobs in service or blocking</a:t>
                </a:r>
              </a:p>
              <a:p>
                <a:pPr marL="0" indent="0">
                  <a:buNone/>
                </a:pPr>
                <a:r>
                  <a:rPr lang="en-US" dirty="0" err="1"/>
                  <a:t>Lem</a:t>
                </a:r>
                <a:r>
                  <a:rPr lang="en-US" dirty="0"/>
                  <a:t>: Exact stationary distribution for any fixed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Lem</a:t>
                </a:r>
                <a:r>
                  <a:rPr lang="en-US" dirty="0"/>
                  <a:t>: Exact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→1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for any fixed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DCCA6-90D9-C19E-327D-C7EDFC4BBE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6ED3D1E9-46B2-799C-7765-C460E3514C49}"/>
              </a:ext>
            </a:extLst>
          </p:cNvPr>
          <p:cNvGrpSpPr/>
          <p:nvPr/>
        </p:nvGrpSpPr>
        <p:grpSpPr>
          <a:xfrm>
            <a:off x="9781045" y="681037"/>
            <a:ext cx="1482173" cy="2651125"/>
            <a:chOff x="6818770" y="1416302"/>
            <a:chExt cx="1482173" cy="265112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70DE452-6568-F016-434D-667BF9CF2C7C}"/>
                </a:ext>
              </a:extLst>
            </p:cNvPr>
            <p:cNvGrpSpPr/>
            <p:nvPr/>
          </p:nvGrpSpPr>
          <p:grpSpPr>
            <a:xfrm>
              <a:off x="6818770" y="1416302"/>
              <a:ext cx="960120" cy="2651125"/>
              <a:chOff x="13897" y="1748"/>
              <a:chExt cx="1512" cy="4175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96EAE05-81FB-E6F0-4357-E0FCD20570C0}"/>
                  </a:ext>
                </a:extLst>
              </p:cNvPr>
              <p:cNvSpPr/>
              <p:nvPr/>
            </p:nvSpPr>
            <p:spPr>
              <a:xfrm>
                <a:off x="14954" y="5466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398C6EC-2255-7242-ADE7-1D98D2D6D575}"/>
                  </a:ext>
                </a:extLst>
              </p:cNvPr>
              <p:cNvSpPr/>
              <p:nvPr/>
            </p:nvSpPr>
            <p:spPr>
              <a:xfrm>
                <a:off x="14954" y="3325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3554F79-C126-F014-41F3-6DEDC3331CE3}"/>
                  </a:ext>
                </a:extLst>
              </p:cNvPr>
              <p:cNvSpPr/>
              <p:nvPr/>
            </p:nvSpPr>
            <p:spPr>
              <a:xfrm>
                <a:off x="14954" y="3837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3FDFD74-0AC4-A53D-8BDA-1F9F89AD3122}"/>
                  </a:ext>
                </a:extLst>
              </p:cNvPr>
              <p:cNvSpPr/>
              <p:nvPr/>
            </p:nvSpPr>
            <p:spPr>
              <a:xfrm>
                <a:off x="14954" y="4367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2E4DB8A-8223-9631-F8FA-E3315EC3F957}"/>
                  </a:ext>
                </a:extLst>
              </p:cNvPr>
              <p:cNvSpPr/>
              <p:nvPr/>
            </p:nvSpPr>
            <p:spPr>
              <a:xfrm>
                <a:off x="14954" y="4910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B0D7347-4D56-176A-13BE-AB6B68250325}"/>
                  </a:ext>
                </a:extLst>
              </p:cNvPr>
              <p:cNvSpPr/>
              <p:nvPr/>
            </p:nvSpPr>
            <p:spPr>
              <a:xfrm>
                <a:off x="14954" y="1748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0CDDEDE-4C7A-19DE-E1D4-4DD46C074143}"/>
                  </a:ext>
                </a:extLst>
              </p:cNvPr>
              <p:cNvSpPr/>
              <p:nvPr/>
            </p:nvSpPr>
            <p:spPr>
              <a:xfrm>
                <a:off x="14954" y="2278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89A8930-29F9-3EFC-4BBB-01EE30F6AEAE}"/>
                  </a:ext>
                </a:extLst>
              </p:cNvPr>
              <p:cNvSpPr/>
              <p:nvPr/>
            </p:nvSpPr>
            <p:spPr>
              <a:xfrm>
                <a:off x="14954" y="2821"/>
                <a:ext cx="455" cy="4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s 42">
                <a:extLst>
                  <a:ext uri="{FF2B5EF4-FFF2-40B4-BE49-F238E27FC236}">
                    <a16:creationId xmlns:a16="http://schemas.microsoft.com/office/drawing/2014/main" id="{2CF969D4-5C33-8C80-171E-4245AAC0BB86}"/>
                  </a:ext>
                </a:extLst>
              </p:cNvPr>
              <p:cNvSpPr/>
              <p:nvPr/>
            </p:nvSpPr>
            <p:spPr>
              <a:xfrm>
                <a:off x="13897" y="3003"/>
                <a:ext cx="942" cy="171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61068FD-6B9E-6E12-8943-CEAEB768BCF6}"/>
                </a:ext>
              </a:extLst>
            </p:cNvPr>
            <p:cNvGrpSpPr/>
            <p:nvPr/>
          </p:nvGrpSpPr>
          <p:grpSpPr>
            <a:xfrm>
              <a:off x="6876555" y="1420547"/>
              <a:ext cx="1424388" cy="2299486"/>
              <a:chOff x="6960083" y="1291389"/>
              <a:chExt cx="1424388" cy="229948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57CAB07-548E-BC8C-50C8-3D7FD2675D83}"/>
                  </a:ext>
                </a:extLst>
              </p:cNvPr>
              <p:cNvSpPr/>
              <p:nvPr/>
            </p:nvSpPr>
            <p:spPr>
              <a:xfrm>
                <a:off x="6960083" y="1453784"/>
                <a:ext cx="464845" cy="188536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</a:t>
                </a: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9ED43687-482D-B3B1-8DB5-BA3524F5847E}"/>
                  </a:ext>
                </a:extLst>
              </p:cNvPr>
              <p:cNvGrpSpPr/>
              <p:nvPr/>
            </p:nvGrpSpPr>
            <p:grpSpPr>
              <a:xfrm>
                <a:off x="7715166" y="1291389"/>
                <a:ext cx="669305" cy="2299486"/>
                <a:chOff x="7715166" y="1291389"/>
                <a:chExt cx="669305" cy="2299486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60227F0C-AC16-E5A5-E569-E973C8C453CE}"/>
                    </a:ext>
                  </a:extLst>
                </p:cNvPr>
                <p:cNvGrpSpPr/>
                <p:nvPr/>
              </p:nvGrpSpPr>
              <p:grpSpPr>
                <a:xfrm>
                  <a:off x="7715167" y="1291389"/>
                  <a:ext cx="669304" cy="1259405"/>
                  <a:chOff x="5010345" y="2366127"/>
                  <a:chExt cx="669304" cy="1885362"/>
                </a:xfrm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DB405832-014E-7E76-5969-80F25180D7B1}"/>
                      </a:ext>
                    </a:extLst>
                  </p:cNvPr>
                  <p:cNvSpPr/>
                  <p:nvPr/>
                </p:nvSpPr>
                <p:spPr>
                  <a:xfrm>
                    <a:off x="5010346" y="2366127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F0B2FD09-F903-6670-6B10-DBA582EDAB24}"/>
                      </a:ext>
                    </a:extLst>
                  </p:cNvPr>
                  <p:cNvSpPr/>
                  <p:nvPr/>
                </p:nvSpPr>
                <p:spPr>
                  <a:xfrm>
                    <a:off x="5010346" y="290345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EFD00ECA-7E08-ACE8-C075-83127F52441E}"/>
                      </a:ext>
                    </a:extLst>
                  </p:cNvPr>
                  <p:cNvSpPr/>
                  <p:nvPr/>
                </p:nvSpPr>
                <p:spPr>
                  <a:xfrm>
                    <a:off x="5010345" y="338186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522933DE-F5DC-39DC-ED66-5FC00935D25A}"/>
                      </a:ext>
                    </a:extLst>
                  </p:cNvPr>
                  <p:cNvSpPr/>
                  <p:nvPr/>
                </p:nvSpPr>
                <p:spPr>
                  <a:xfrm>
                    <a:off x="5010345" y="3883844"/>
                    <a:ext cx="669303" cy="367645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D9F985A8-8971-9618-CEF4-8A5603A7B09D}"/>
                    </a:ext>
                  </a:extLst>
                </p:cNvPr>
                <p:cNvGrpSpPr/>
                <p:nvPr/>
              </p:nvGrpSpPr>
              <p:grpSpPr>
                <a:xfrm>
                  <a:off x="7715166" y="2641599"/>
                  <a:ext cx="669304" cy="949276"/>
                  <a:chOff x="5010345" y="2366127"/>
                  <a:chExt cx="669304" cy="1421091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7508E46C-B0EA-F4F0-47D6-B5F125B5FEAB}"/>
                      </a:ext>
                    </a:extLst>
                  </p:cNvPr>
                  <p:cNvSpPr/>
                  <p:nvPr/>
                </p:nvSpPr>
                <p:spPr>
                  <a:xfrm>
                    <a:off x="5010346" y="2366127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4D4EA342-46FA-8CBA-FB15-50D486B5081C}"/>
                      </a:ext>
                    </a:extLst>
                  </p:cNvPr>
                  <p:cNvSpPr/>
                  <p:nvPr/>
                </p:nvSpPr>
                <p:spPr>
                  <a:xfrm>
                    <a:off x="5010346" y="290345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06ADFBAD-3720-B986-33C6-CD09536D6209}"/>
                      </a:ext>
                    </a:extLst>
                  </p:cNvPr>
                  <p:cNvSpPr/>
                  <p:nvPr/>
                </p:nvSpPr>
                <p:spPr>
                  <a:xfrm>
                    <a:off x="5010345" y="338186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</p:grpSp>
          </p:grp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3B49EF8-A6FB-0B37-7B36-97587BCEBBB7}"/>
              </a:ext>
            </a:extLst>
          </p:cNvPr>
          <p:cNvGrpSpPr/>
          <p:nvPr/>
        </p:nvGrpSpPr>
        <p:grpSpPr>
          <a:xfrm>
            <a:off x="9233154" y="2007552"/>
            <a:ext cx="2673096" cy="1705358"/>
            <a:chOff x="6270879" y="2742817"/>
            <a:chExt cx="2673096" cy="1705358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BB5324-CC92-FDCE-C6C0-022AC9131666}"/>
                </a:ext>
              </a:extLst>
            </p:cNvPr>
            <p:cNvCxnSpPr/>
            <p:nvPr/>
          </p:nvCxnSpPr>
          <p:spPr>
            <a:xfrm>
              <a:off x="8467725" y="2742817"/>
              <a:ext cx="47625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1B3DD02-B2A6-1B44-8AAA-FE86888A4ADF}"/>
                </a:ext>
              </a:extLst>
            </p:cNvPr>
            <p:cNvCxnSpPr>
              <a:cxnSpLocks/>
            </p:cNvCxnSpPr>
            <p:nvPr/>
          </p:nvCxnSpPr>
          <p:spPr>
            <a:xfrm>
              <a:off x="8943975" y="2742817"/>
              <a:ext cx="0" cy="17053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3F39115-09BF-4B23-C33A-045617B3E3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0879" y="4448175"/>
              <a:ext cx="2673096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6A73D9F-555F-E97B-9375-A3E29B78FA5F}"/>
                </a:ext>
              </a:extLst>
            </p:cNvPr>
            <p:cNvCxnSpPr>
              <a:cxnSpLocks/>
            </p:cNvCxnSpPr>
            <p:nvPr/>
          </p:nvCxnSpPr>
          <p:spPr>
            <a:xfrm>
              <a:off x="6270879" y="2742817"/>
              <a:ext cx="0" cy="170535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AB9A5C8-3BD4-21AC-BDF8-66FBC472C204}"/>
                </a:ext>
              </a:extLst>
            </p:cNvPr>
            <p:cNvCxnSpPr/>
            <p:nvPr/>
          </p:nvCxnSpPr>
          <p:spPr>
            <a:xfrm>
              <a:off x="6270879" y="2742817"/>
              <a:ext cx="476250" cy="0"/>
            </a:xfrm>
            <a:prstGeom prst="line">
              <a:avLst/>
            </a:prstGeom>
            <a:ln w="635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9B8D9-5081-7FDD-2E7D-4B82A32C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85850-CB51-017F-566D-C2F6E139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5A6817-8970-B32A-AAFD-CECEF0DDDB1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Results: Mostly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-server load, balanced load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5A6817-8970-B32A-AAFD-CECEF0DDDB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438B0F-759C-0D90-41F6-D12FEFE997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Thm: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throughput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(1/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Scaled queue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→1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∼1/2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438B0F-759C-0D90-41F6-D12FEFE997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24B337-69E4-581A-4941-3ECD59A59D07}"/>
              </a:ext>
            </a:extLst>
          </p:cNvPr>
          <p:cNvSpPr/>
          <p:nvPr/>
        </p:nvSpPr>
        <p:spPr>
          <a:xfrm>
            <a:off x="2464976" y="3429000"/>
            <a:ext cx="101761" cy="18853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A75B24B-65E8-056A-0115-7C8F149B0A6A}"/>
              </a:ext>
            </a:extLst>
          </p:cNvPr>
          <p:cNvGrpSpPr/>
          <p:nvPr/>
        </p:nvGrpSpPr>
        <p:grpSpPr>
          <a:xfrm>
            <a:off x="2649105" y="4430016"/>
            <a:ext cx="2868885" cy="889296"/>
            <a:chOff x="3646666" y="4432663"/>
            <a:chExt cx="1029837" cy="88929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6ED8447-1408-4F8B-7A99-00FEBFA105D4}"/>
                </a:ext>
              </a:extLst>
            </p:cNvPr>
            <p:cNvGrpSpPr/>
            <p:nvPr/>
          </p:nvGrpSpPr>
          <p:grpSpPr>
            <a:xfrm>
              <a:off x="3648891" y="4432663"/>
              <a:ext cx="1027612" cy="818606"/>
              <a:chOff x="3648891" y="4432663"/>
              <a:chExt cx="1027612" cy="818606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3ECA607-C9FD-3F15-7EA1-E446BCFC3175}"/>
                  </a:ext>
                </a:extLst>
              </p:cNvPr>
              <p:cNvSpPr/>
              <p:nvPr/>
            </p:nvSpPr>
            <p:spPr>
              <a:xfrm>
                <a:off x="3648891" y="4432663"/>
                <a:ext cx="1027612" cy="818606"/>
              </a:xfrm>
              <a:custGeom>
                <a:avLst/>
                <a:gdLst>
                  <a:gd name="connsiteX0" fmla="*/ 0 w 1027612"/>
                  <a:gd name="connsiteY0" fmla="*/ 0 h 818606"/>
                  <a:gd name="connsiteX1" fmla="*/ 209006 w 1027612"/>
                  <a:gd name="connsiteY1" fmla="*/ 653143 h 818606"/>
                  <a:gd name="connsiteX2" fmla="*/ 1027612 w 1027612"/>
                  <a:gd name="connsiteY2" fmla="*/ 818606 h 818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27612" h="818606">
                    <a:moveTo>
                      <a:pt x="0" y="0"/>
                    </a:moveTo>
                    <a:cubicBezTo>
                      <a:pt x="18868" y="258354"/>
                      <a:pt x="37737" y="516709"/>
                      <a:pt x="209006" y="653143"/>
                    </a:cubicBezTo>
                    <a:cubicBezTo>
                      <a:pt x="380275" y="789577"/>
                      <a:pt x="703943" y="804091"/>
                      <a:pt x="1027612" y="818606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04BC195-F718-0FAC-05D5-102E1B4F998F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>
                <a:off x="3648891" y="4432663"/>
                <a:ext cx="0" cy="818606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624772C-E431-18D0-ED34-10C955B99783}"/>
                  </a:ext>
                </a:extLst>
              </p:cNvPr>
              <p:cNvCxnSpPr/>
              <p:nvPr/>
            </p:nvCxnSpPr>
            <p:spPr>
              <a:xfrm>
                <a:off x="3648891" y="5251269"/>
                <a:ext cx="1027612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649D77-4DBA-00FD-400A-D1E7EF88C6BC}"/>
                </a:ext>
              </a:extLst>
            </p:cNvPr>
            <p:cNvSpPr txBox="1"/>
            <p:nvPr/>
          </p:nvSpPr>
          <p:spPr>
            <a:xfrm>
              <a:off x="3646666" y="4891072"/>
              <a:ext cx="44958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1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5341232-7D02-FE7B-245E-DBF9CBDA611D}"/>
              </a:ext>
            </a:extLst>
          </p:cNvPr>
          <p:cNvSpPr/>
          <p:nvPr/>
        </p:nvSpPr>
        <p:spPr>
          <a:xfrm>
            <a:off x="5667692" y="3428998"/>
            <a:ext cx="101761" cy="18853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50D2729-221C-46D4-E1DD-B10AABF1E8A0}"/>
              </a:ext>
            </a:extLst>
          </p:cNvPr>
          <p:cNvGrpSpPr/>
          <p:nvPr/>
        </p:nvGrpSpPr>
        <p:grpSpPr>
          <a:xfrm>
            <a:off x="5884810" y="4254761"/>
            <a:ext cx="2450403" cy="1186947"/>
            <a:chOff x="3648891" y="4432663"/>
            <a:chExt cx="1027612" cy="93833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C13FDCA-1CF9-4F7F-B670-4008BB4E6D65}"/>
                </a:ext>
              </a:extLst>
            </p:cNvPr>
            <p:cNvGrpSpPr/>
            <p:nvPr/>
          </p:nvGrpSpPr>
          <p:grpSpPr>
            <a:xfrm>
              <a:off x="3648891" y="4432663"/>
              <a:ext cx="1027612" cy="818606"/>
              <a:chOff x="3648891" y="4432663"/>
              <a:chExt cx="1027612" cy="818606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D65A169-7EC1-0E08-8847-125AF0F36C10}"/>
                  </a:ext>
                </a:extLst>
              </p:cNvPr>
              <p:cNvSpPr/>
              <p:nvPr/>
            </p:nvSpPr>
            <p:spPr>
              <a:xfrm>
                <a:off x="3648891" y="4432663"/>
                <a:ext cx="1027612" cy="818606"/>
              </a:xfrm>
              <a:custGeom>
                <a:avLst/>
                <a:gdLst>
                  <a:gd name="connsiteX0" fmla="*/ 0 w 1027612"/>
                  <a:gd name="connsiteY0" fmla="*/ 0 h 818606"/>
                  <a:gd name="connsiteX1" fmla="*/ 209006 w 1027612"/>
                  <a:gd name="connsiteY1" fmla="*/ 653143 h 818606"/>
                  <a:gd name="connsiteX2" fmla="*/ 1027612 w 1027612"/>
                  <a:gd name="connsiteY2" fmla="*/ 818606 h 818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27612" h="818606">
                    <a:moveTo>
                      <a:pt x="0" y="0"/>
                    </a:moveTo>
                    <a:cubicBezTo>
                      <a:pt x="18868" y="258354"/>
                      <a:pt x="37737" y="516709"/>
                      <a:pt x="209006" y="653143"/>
                    </a:cubicBezTo>
                    <a:cubicBezTo>
                      <a:pt x="380275" y="789577"/>
                      <a:pt x="703943" y="804091"/>
                      <a:pt x="1027612" y="818606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0D20A9C-745C-8676-23E6-73B2BCC79129}"/>
                  </a:ext>
                </a:extLst>
              </p:cNvPr>
              <p:cNvCxnSpPr>
                <a:stCxn id="35" idx="0"/>
              </p:cNvCxnSpPr>
              <p:nvPr/>
            </p:nvCxnSpPr>
            <p:spPr>
              <a:xfrm>
                <a:off x="3648891" y="4432663"/>
                <a:ext cx="0" cy="818606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127E68DF-C6CB-0995-C109-28BE58154580}"/>
                  </a:ext>
                </a:extLst>
              </p:cNvPr>
              <p:cNvCxnSpPr/>
              <p:nvPr/>
            </p:nvCxnSpPr>
            <p:spPr>
              <a:xfrm>
                <a:off x="3648891" y="5251269"/>
                <a:ext cx="1027612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965252E-C8A3-3881-9A80-31F5597A2C33}"/>
                </a:ext>
              </a:extLst>
            </p:cNvPr>
            <p:cNvSpPr txBox="1"/>
            <p:nvPr/>
          </p:nvSpPr>
          <p:spPr>
            <a:xfrm>
              <a:off x="3648891" y="4940113"/>
              <a:ext cx="44958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1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B26ED15-E0F9-07B2-E98A-008A38647331}"/>
              </a:ext>
            </a:extLst>
          </p:cNvPr>
          <p:cNvGrpSpPr/>
          <p:nvPr/>
        </p:nvGrpSpPr>
        <p:grpSpPr>
          <a:xfrm>
            <a:off x="1022569" y="3364495"/>
            <a:ext cx="7736253" cy="2529916"/>
            <a:chOff x="1022570" y="3359307"/>
            <a:chExt cx="7736253" cy="252991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D83FC74-F12B-34C9-E712-2F5DC866F8BD}"/>
                </a:ext>
              </a:extLst>
            </p:cNvPr>
            <p:cNvGrpSpPr/>
            <p:nvPr/>
          </p:nvGrpSpPr>
          <p:grpSpPr>
            <a:xfrm>
              <a:off x="2277157" y="3359307"/>
              <a:ext cx="6481666" cy="2024743"/>
              <a:chOff x="1866122" y="3359020"/>
              <a:chExt cx="6481666" cy="2024743"/>
            </a:xfrm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9F0FB4C2-DCC3-738D-0E08-E18A31B1A2C7}"/>
                  </a:ext>
                </a:extLst>
              </p:cNvPr>
              <p:cNvCxnSpPr/>
              <p:nvPr/>
            </p:nvCxnSpPr>
            <p:spPr>
              <a:xfrm flipV="1">
                <a:off x="1866122" y="3359020"/>
                <a:ext cx="0" cy="2024743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0E40E5A-F606-6C7C-B2A3-0DC3896FC2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66122" y="5383763"/>
                <a:ext cx="6481666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9571294-0B4F-2AB6-198F-737EE93B7780}"/>
                </a:ext>
              </a:extLst>
            </p:cNvPr>
            <p:cNvSpPr txBox="1"/>
            <p:nvPr/>
          </p:nvSpPr>
          <p:spPr>
            <a:xfrm>
              <a:off x="1022570" y="4096551"/>
              <a:ext cx="123915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Servers occupied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67AAB3C-BF18-48EF-3DC8-D82072256959}"/>
                </a:ext>
              </a:extLst>
            </p:cNvPr>
            <p:cNvSpPr txBox="1"/>
            <p:nvPr/>
          </p:nvSpPr>
          <p:spPr>
            <a:xfrm>
              <a:off x="5597594" y="5458336"/>
              <a:ext cx="78527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Time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F09CB34-0CD8-447F-8AE5-982CAA35ABE1}"/>
              </a:ext>
            </a:extLst>
          </p:cNvPr>
          <p:cNvGrpSpPr/>
          <p:nvPr/>
        </p:nvGrpSpPr>
        <p:grpSpPr>
          <a:xfrm>
            <a:off x="2263561" y="4167789"/>
            <a:ext cx="7651282" cy="430887"/>
            <a:chOff x="2263561" y="3928188"/>
            <a:chExt cx="7651282" cy="43088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AA6AA3E-A416-D390-CFDB-63B289B29A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3561" y="4160127"/>
              <a:ext cx="6481666" cy="16992"/>
            </a:xfrm>
            <a:prstGeom prst="line">
              <a:avLst/>
            </a:prstGeom>
            <a:ln w="25400">
              <a:solidFill>
                <a:srgbClr val="007033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F6C2FBF-2E22-2779-ED18-84B64FFFE984}"/>
                    </a:ext>
                  </a:extLst>
                </p:cNvPr>
                <p:cNvSpPr txBox="1"/>
                <p:nvPr/>
              </p:nvSpPr>
              <p:spPr>
                <a:xfrm>
                  <a:off x="8758822" y="3928188"/>
                  <a:ext cx="1156021" cy="430887"/>
                </a:xfrm>
                <a:prstGeom prst="rect">
                  <a:avLst/>
                </a:prstGeom>
                <a:noFill/>
                <a:ln w="38100">
                  <a:solidFill>
                    <a:srgbClr val="007033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∼1/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F6C2FBF-2E22-2779-ED18-84B64FFFE9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8822" y="3928188"/>
                  <a:ext cx="1156021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11842"/>
                  </a:stretch>
                </a:blipFill>
                <a:ln w="38100">
                  <a:solidFill>
                    <a:srgbClr val="007033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17E6EE-57A8-F84A-4194-C14425DCB0F3}"/>
              </a:ext>
            </a:extLst>
          </p:cNvPr>
          <p:cNvGrpSpPr/>
          <p:nvPr/>
        </p:nvGrpSpPr>
        <p:grpSpPr>
          <a:xfrm>
            <a:off x="2649105" y="5397936"/>
            <a:ext cx="2835860" cy="980281"/>
            <a:chOff x="2649105" y="5397936"/>
            <a:chExt cx="2835860" cy="980281"/>
          </a:xfrm>
        </p:grpSpPr>
        <p:sp>
          <p:nvSpPr>
            <p:cNvPr id="46" name="Left Brace 45">
              <a:extLst>
                <a:ext uri="{FF2B5EF4-FFF2-40B4-BE49-F238E27FC236}">
                  <a16:creationId xmlns:a16="http://schemas.microsoft.com/office/drawing/2014/main" id="{9F6C020E-B1F0-ECDD-9F2F-7673CB8285BC}"/>
                </a:ext>
              </a:extLst>
            </p:cNvPr>
            <p:cNvSpPr/>
            <p:nvPr/>
          </p:nvSpPr>
          <p:spPr>
            <a:xfrm rot="16200000">
              <a:off x="3757278" y="4289763"/>
              <a:ext cx="619514" cy="2835860"/>
            </a:xfrm>
            <a:prstGeom prst="leftBrace">
              <a:avLst/>
            </a:prstGeom>
            <a:ln w="38100">
              <a:solidFill>
                <a:srgbClr val="0070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FAFE1D3-70A0-30A8-70BC-112F8DB0EF4A}"/>
                    </a:ext>
                  </a:extLst>
                </p:cNvPr>
                <p:cNvSpPr txBox="1"/>
                <p:nvPr/>
              </p:nvSpPr>
              <p:spPr>
                <a:xfrm>
                  <a:off x="3321536" y="5947330"/>
                  <a:ext cx="1530220" cy="43088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007033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⁡(1/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FAFE1D3-70A0-30A8-70BC-112F8DB0EF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1536" y="5947330"/>
                  <a:ext cx="1530220" cy="430887"/>
                </a:xfrm>
                <a:prstGeom prst="rect">
                  <a:avLst/>
                </a:prstGeom>
                <a:blipFill>
                  <a:blip r:embed="rId5"/>
                  <a:stretch>
                    <a:fillRect r="-778" b="-11842"/>
                  </a:stretch>
                </a:blipFill>
                <a:ln w="38100">
                  <a:solidFill>
                    <a:srgbClr val="007033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7B183D-8EF9-480F-BE91-5047985FE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5E5532-1EA8-4829-F591-EAB22F6F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8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3C00AB-DAA0-A8B5-F690-83C619AD50F7}"/>
              </a:ext>
            </a:extLst>
          </p:cNvPr>
          <p:cNvSpPr/>
          <p:nvPr/>
        </p:nvSpPr>
        <p:spPr>
          <a:xfrm>
            <a:off x="838200" y="1760614"/>
            <a:ext cx="8987101" cy="1256228"/>
          </a:xfrm>
          <a:prstGeom prst="rect">
            <a:avLst/>
          </a:prstGeom>
          <a:noFill/>
          <a:ln w="38100">
            <a:solidFill>
              <a:srgbClr val="099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2B251ED-1130-6E60-CD9F-D6709C1F7638}"/>
              </a:ext>
            </a:extLst>
          </p:cNvPr>
          <p:cNvGrpSpPr/>
          <p:nvPr/>
        </p:nvGrpSpPr>
        <p:grpSpPr>
          <a:xfrm>
            <a:off x="6819900" y="2444089"/>
            <a:ext cx="4737220" cy="769441"/>
            <a:chOff x="6867525" y="2958353"/>
            <a:chExt cx="4737220" cy="76944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ED39DBD-7B9E-3950-2439-AEBCB587D28E}"/>
                    </a:ext>
                  </a:extLst>
                </p:cNvPr>
                <p:cNvSpPr txBox="1"/>
                <p:nvPr/>
              </p:nvSpPr>
              <p:spPr>
                <a:xfrm>
                  <a:off x="10013576" y="2958353"/>
                  <a:ext cx="1591169" cy="769441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Rises from 0 to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200" dirty="0"/>
                    <a:t>.</a:t>
                  </a: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ED39DBD-7B9E-3950-2439-AEBCB587D2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3576" y="2958353"/>
                  <a:ext cx="1591169" cy="769441"/>
                </a:xfrm>
                <a:prstGeom prst="rect">
                  <a:avLst/>
                </a:prstGeom>
                <a:blipFill>
                  <a:blip r:embed="rId6"/>
                  <a:stretch>
                    <a:fillRect l="-3745" t="-3030" r="-6742" b="-12121"/>
                  </a:stretch>
                </a:blipFill>
                <a:ln w="38100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474B83E-B9DB-4AB9-853D-781612D124CD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 flipV="1">
              <a:off x="6867525" y="3078487"/>
              <a:ext cx="3146051" cy="26458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972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28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8739376-5743-638D-6F86-3F99F113C5A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Results: Mostly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-server load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8739376-5743-638D-6F86-3F99F113C5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D3FEB-6BA4-B25E-75C4-F5328BB9B5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8384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Specific case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=1/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Thm</a:t>
                </a:r>
                <a:r>
                  <a:rPr lang="en-US" dirty="0"/>
                  <a:t>: Throughput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Scaled queue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→1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</m:e>
                    </m:func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D3FEB-6BA4-B25E-75C4-F5328BB9B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83845"/>
                <a:ext cx="10515600" cy="4351338"/>
              </a:xfrm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18470BC-5F93-B982-FEDD-7846913B5EBD}"/>
              </a:ext>
            </a:extLst>
          </p:cNvPr>
          <p:cNvSpPr/>
          <p:nvPr/>
        </p:nvSpPr>
        <p:spPr>
          <a:xfrm>
            <a:off x="2513102" y="3711552"/>
            <a:ext cx="101761" cy="18853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E124F77-955B-A40B-1AB9-A030B4B84CBA}"/>
              </a:ext>
            </a:extLst>
          </p:cNvPr>
          <p:cNvGrpSpPr/>
          <p:nvPr/>
        </p:nvGrpSpPr>
        <p:grpSpPr>
          <a:xfrm>
            <a:off x="1070695" y="3609231"/>
            <a:ext cx="7736253" cy="2702669"/>
            <a:chOff x="1022570" y="3359307"/>
            <a:chExt cx="7736253" cy="270266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AD56CFB-3FC5-C67D-AADD-FEC76F35CAB7}"/>
                </a:ext>
              </a:extLst>
            </p:cNvPr>
            <p:cNvGrpSpPr/>
            <p:nvPr/>
          </p:nvGrpSpPr>
          <p:grpSpPr>
            <a:xfrm>
              <a:off x="2277157" y="3359307"/>
              <a:ext cx="6481666" cy="2024743"/>
              <a:chOff x="1866122" y="3359020"/>
              <a:chExt cx="6481666" cy="2024743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142D78E7-AD43-B758-7594-F540B66CE450}"/>
                  </a:ext>
                </a:extLst>
              </p:cNvPr>
              <p:cNvCxnSpPr/>
              <p:nvPr/>
            </p:nvCxnSpPr>
            <p:spPr>
              <a:xfrm flipV="1">
                <a:off x="1866122" y="3359020"/>
                <a:ext cx="0" cy="2024743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02C14225-53F2-96AA-D368-C32BC9C03C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66122" y="5383763"/>
                <a:ext cx="6481666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E4E75D2-6DCC-0FA0-529A-DECF4CAC1349}"/>
                </a:ext>
              </a:extLst>
            </p:cNvPr>
            <p:cNvSpPr txBox="1"/>
            <p:nvPr/>
          </p:nvSpPr>
          <p:spPr>
            <a:xfrm>
              <a:off x="1022570" y="4096551"/>
              <a:ext cx="123915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Servers occupied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B4D4292-9483-4126-F007-7A04F0720460}"/>
                </a:ext>
              </a:extLst>
            </p:cNvPr>
            <p:cNvSpPr txBox="1"/>
            <p:nvPr/>
          </p:nvSpPr>
          <p:spPr>
            <a:xfrm>
              <a:off x="5620215" y="5631089"/>
              <a:ext cx="78527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Time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1B1024-31F2-F2A3-ED67-D1E74A421667}"/>
              </a:ext>
            </a:extLst>
          </p:cNvPr>
          <p:cNvGrpSpPr/>
          <p:nvPr/>
        </p:nvGrpSpPr>
        <p:grpSpPr>
          <a:xfrm>
            <a:off x="2734058" y="3711550"/>
            <a:ext cx="4757202" cy="1876067"/>
            <a:chOff x="3700866" y="3711550"/>
            <a:chExt cx="3790394" cy="187606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4D59AC7-52BD-0204-9524-2E2909B9F2FB}"/>
                </a:ext>
              </a:extLst>
            </p:cNvPr>
            <p:cNvGrpSpPr/>
            <p:nvPr/>
          </p:nvGrpSpPr>
          <p:grpSpPr>
            <a:xfrm>
              <a:off x="3700866" y="3711550"/>
              <a:ext cx="3790394" cy="1876067"/>
              <a:chOff x="1972924" y="3487593"/>
              <a:chExt cx="1650368" cy="187606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3630398-03BD-3BB3-5F7E-9DA701F6D875}"/>
                  </a:ext>
                </a:extLst>
              </p:cNvPr>
              <p:cNvGrpSpPr/>
              <p:nvPr/>
            </p:nvGrpSpPr>
            <p:grpSpPr>
              <a:xfrm>
                <a:off x="1972924" y="3487593"/>
                <a:ext cx="1650368" cy="1876067"/>
                <a:chOff x="1972924" y="3487593"/>
                <a:chExt cx="1650368" cy="1876067"/>
              </a:xfrm>
            </p:grpSpPr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ACBB1E00-F336-9CF7-9620-353A62DB06C7}"/>
                    </a:ext>
                  </a:extLst>
                </p:cNvPr>
                <p:cNvSpPr/>
                <p:nvPr/>
              </p:nvSpPr>
              <p:spPr>
                <a:xfrm>
                  <a:off x="3000537" y="3492038"/>
                  <a:ext cx="622755" cy="1866976"/>
                </a:xfrm>
                <a:custGeom>
                  <a:avLst/>
                  <a:gdLst>
                    <a:gd name="connsiteX0" fmla="*/ 0 w 1027612"/>
                    <a:gd name="connsiteY0" fmla="*/ 0 h 818606"/>
                    <a:gd name="connsiteX1" fmla="*/ 209006 w 1027612"/>
                    <a:gd name="connsiteY1" fmla="*/ 653143 h 818606"/>
                    <a:gd name="connsiteX2" fmla="*/ 1027612 w 1027612"/>
                    <a:gd name="connsiteY2" fmla="*/ 818606 h 818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027612" h="818606">
                      <a:moveTo>
                        <a:pt x="0" y="0"/>
                      </a:moveTo>
                      <a:cubicBezTo>
                        <a:pt x="18868" y="258354"/>
                        <a:pt x="37737" y="516709"/>
                        <a:pt x="209006" y="653143"/>
                      </a:cubicBezTo>
                      <a:cubicBezTo>
                        <a:pt x="380275" y="789577"/>
                        <a:pt x="703943" y="804091"/>
                        <a:pt x="1027612" y="818606"/>
                      </a:cubicBezTo>
                    </a:path>
                  </a:pathLst>
                </a:custGeom>
                <a:no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5D9C6CF0-B757-97AE-6E41-75EEED79D6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72924" y="3487593"/>
                  <a:ext cx="0" cy="187606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26DCB229-772A-EAC9-2594-0F164685BE48}"/>
                    </a:ext>
                  </a:extLst>
                </p:cNvPr>
                <p:cNvCxnSpPr/>
                <p:nvPr/>
              </p:nvCxnSpPr>
              <p:spPr>
                <a:xfrm>
                  <a:off x="1972924" y="3487593"/>
                  <a:ext cx="1027612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203B661B-B0A0-06AC-BFB6-A13DA8960CFB}"/>
                      </a:ext>
                    </a:extLst>
                  </p:cNvPr>
                  <p:cNvSpPr txBox="1"/>
                  <p:nvPr/>
                </p:nvSpPr>
                <p:spPr>
                  <a:xfrm>
                    <a:off x="2278657" y="4019962"/>
                    <a:ext cx="449582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4800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203B661B-B0A0-06AC-BFB6-A13DA8960C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8657" y="4019962"/>
                    <a:ext cx="449582" cy="83099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05C430A-A6D6-82AC-FBBF-83F07D980753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3700866" y="5582971"/>
              <a:ext cx="3790394" cy="46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298C1E48-3412-6835-F5A1-7739423C3AA1}"/>
              </a:ext>
            </a:extLst>
          </p:cNvPr>
          <p:cNvSpPr/>
          <p:nvPr/>
        </p:nvSpPr>
        <p:spPr>
          <a:xfrm>
            <a:off x="7577386" y="3716737"/>
            <a:ext cx="101761" cy="18853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39BE214-5F95-D244-7D9A-302FD92C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9C57AF2-5D2A-77B3-388E-3C09E969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9</a:t>
            </a:fld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C5E2539-430B-9CAE-3613-999C759013EB}"/>
              </a:ext>
            </a:extLst>
          </p:cNvPr>
          <p:cNvGrpSpPr/>
          <p:nvPr/>
        </p:nvGrpSpPr>
        <p:grpSpPr>
          <a:xfrm>
            <a:off x="5696160" y="5660430"/>
            <a:ext cx="1795105" cy="1070757"/>
            <a:chOff x="2762572" y="5397936"/>
            <a:chExt cx="1751808" cy="1070757"/>
          </a:xfrm>
        </p:grpSpPr>
        <p:sp>
          <p:nvSpPr>
            <p:cNvPr id="57" name="Left Brace 56">
              <a:extLst>
                <a:ext uri="{FF2B5EF4-FFF2-40B4-BE49-F238E27FC236}">
                  <a16:creationId xmlns:a16="http://schemas.microsoft.com/office/drawing/2014/main" id="{934F0155-CD59-E5D8-6A0E-8464154F3EA2}"/>
                </a:ext>
              </a:extLst>
            </p:cNvPr>
            <p:cNvSpPr/>
            <p:nvPr/>
          </p:nvSpPr>
          <p:spPr>
            <a:xfrm rot="16200000">
              <a:off x="3328719" y="4831789"/>
              <a:ext cx="619514" cy="1751808"/>
            </a:xfrm>
            <a:prstGeom prst="leftBrace">
              <a:avLst/>
            </a:prstGeom>
            <a:ln w="38100">
              <a:solidFill>
                <a:srgbClr val="0070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025B70D-A56D-F2B9-AB8A-35B081CD690C}"/>
                    </a:ext>
                  </a:extLst>
                </p:cNvPr>
                <p:cNvSpPr txBox="1"/>
                <p:nvPr/>
              </p:nvSpPr>
              <p:spPr>
                <a:xfrm>
                  <a:off x="3224417" y="6037806"/>
                  <a:ext cx="880684" cy="43088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007033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func>
                          <m:func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025B70D-A56D-F2B9-AB8A-35B081CD6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4417" y="6037806"/>
                  <a:ext cx="880684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solidFill>
                    <a:srgbClr val="007033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40373B6-45CB-F3A3-301F-E686B370A608}"/>
              </a:ext>
            </a:extLst>
          </p:cNvPr>
          <p:cNvSpPr/>
          <p:nvPr/>
        </p:nvSpPr>
        <p:spPr>
          <a:xfrm>
            <a:off x="838200" y="2164648"/>
            <a:ext cx="8987101" cy="1337691"/>
          </a:xfrm>
          <a:prstGeom prst="rect">
            <a:avLst/>
          </a:prstGeom>
          <a:noFill/>
          <a:ln w="38100">
            <a:solidFill>
              <a:srgbClr val="099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BE16828-FC8A-07DF-7028-AED03D6FA428}"/>
              </a:ext>
            </a:extLst>
          </p:cNvPr>
          <p:cNvGrpSpPr/>
          <p:nvPr/>
        </p:nvGrpSpPr>
        <p:grpSpPr>
          <a:xfrm>
            <a:off x="7552448" y="3757907"/>
            <a:ext cx="1295924" cy="1876067"/>
            <a:chOff x="3548822" y="3711550"/>
            <a:chExt cx="1032553" cy="187606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9E964BB-7352-77F4-66CD-A71E61B3E5D0}"/>
                </a:ext>
              </a:extLst>
            </p:cNvPr>
            <p:cNvGrpSpPr/>
            <p:nvPr/>
          </p:nvGrpSpPr>
          <p:grpSpPr>
            <a:xfrm>
              <a:off x="3548822" y="3711550"/>
              <a:ext cx="1032553" cy="1876067"/>
              <a:chOff x="1906723" y="3487593"/>
              <a:chExt cx="449582" cy="1876067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258D4CB-0774-A160-1F78-D3F1D11ED61E}"/>
                  </a:ext>
                </a:extLst>
              </p:cNvPr>
              <p:cNvGrpSpPr/>
              <p:nvPr/>
            </p:nvGrpSpPr>
            <p:grpSpPr>
              <a:xfrm>
                <a:off x="1972924" y="3487593"/>
                <a:ext cx="305733" cy="1876067"/>
                <a:chOff x="1972924" y="3487593"/>
                <a:chExt cx="305733" cy="1876067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D91BF8B2-F546-4B7C-4DB6-883934B165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72924" y="3487593"/>
                  <a:ext cx="0" cy="187606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1EB6E9D2-F0FA-989E-0CD1-218FA250A7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72924" y="3487593"/>
                  <a:ext cx="30573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C2649019-3F83-6C8C-6E39-FA90B2DB2215}"/>
                      </a:ext>
                    </a:extLst>
                  </p:cNvPr>
                  <p:cNvSpPr txBox="1"/>
                  <p:nvPr/>
                </p:nvSpPr>
                <p:spPr>
                  <a:xfrm>
                    <a:off x="1906723" y="4014605"/>
                    <a:ext cx="449582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4800" dirty="0"/>
                  </a:p>
                </p:txBody>
              </p:sp>
            </mc:Choice>
            <mc:Fallback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C2649019-3F83-6C8C-6E39-FA90B2DB22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06723" y="4014605"/>
                    <a:ext cx="449582" cy="83099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5564410-3B97-6DB4-CE27-743321EBA6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0866" y="5585295"/>
              <a:ext cx="728467" cy="232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9C17B82-6C7C-46D6-5078-7A6F63FAEC47}"/>
              </a:ext>
            </a:extLst>
          </p:cNvPr>
          <p:cNvGrpSpPr/>
          <p:nvPr/>
        </p:nvGrpSpPr>
        <p:grpSpPr>
          <a:xfrm>
            <a:off x="2734778" y="3715995"/>
            <a:ext cx="2961385" cy="2994837"/>
            <a:chOff x="2734778" y="3715995"/>
            <a:chExt cx="2961385" cy="299483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A386011-1355-7EED-7C6C-088FFEF3BCFE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>
              <a:off x="5696163" y="3715995"/>
              <a:ext cx="0" cy="1941314"/>
            </a:xfrm>
            <a:prstGeom prst="line">
              <a:avLst/>
            </a:prstGeom>
            <a:ln w="25400">
              <a:solidFill>
                <a:srgbClr val="007033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9CAB36F-80C7-F0FA-BB66-ABCB15871903}"/>
                </a:ext>
              </a:extLst>
            </p:cNvPr>
            <p:cNvGrpSpPr/>
            <p:nvPr/>
          </p:nvGrpSpPr>
          <p:grpSpPr>
            <a:xfrm>
              <a:off x="2734778" y="5638620"/>
              <a:ext cx="2961385" cy="1072212"/>
              <a:chOff x="2734778" y="5638620"/>
              <a:chExt cx="2961385" cy="1072212"/>
            </a:xfrm>
          </p:grpSpPr>
          <p:sp>
            <p:nvSpPr>
              <p:cNvPr id="43" name="Left Brace 42">
                <a:extLst>
                  <a:ext uri="{FF2B5EF4-FFF2-40B4-BE49-F238E27FC236}">
                    <a16:creationId xmlns:a16="http://schemas.microsoft.com/office/drawing/2014/main" id="{4E3EF54F-1844-8504-A3EA-1215F4DC6A86}"/>
                  </a:ext>
                </a:extLst>
              </p:cNvPr>
              <p:cNvSpPr/>
              <p:nvPr/>
            </p:nvSpPr>
            <p:spPr>
              <a:xfrm rot="16200000">
                <a:off x="3905714" y="4467684"/>
                <a:ext cx="619514" cy="2961385"/>
              </a:xfrm>
              <a:prstGeom prst="leftBrace">
                <a:avLst/>
              </a:prstGeom>
              <a:ln w="38100">
                <a:solidFill>
                  <a:srgbClr val="007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F4B62AF3-C911-41CF-FD6C-41C5A6163A11}"/>
                      </a:ext>
                    </a:extLst>
                  </p:cNvPr>
                  <p:cNvSpPr txBox="1"/>
                  <p:nvPr/>
                </p:nvSpPr>
                <p:spPr>
                  <a:xfrm>
                    <a:off x="3845414" y="6279945"/>
                    <a:ext cx="785278" cy="430887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007033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oMath>
                      </m:oMathPara>
                    </a14:m>
                    <a:endParaRPr lang="en-US" sz="2200" dirty="0"/>
                  </a:p>
                </p:txBody>
              </p:sp>
            </mc:Choice>
            <mc:Fallback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F4B62AF3-C911-41CF-FD6C-41C5A6163A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45414" y="6279945"/>
                    <a:ext cx="785278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38100">
                    <a:solidFill>
                      <a:srgbClr val="007033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E0FE85D-23B6-205E-94D0-400F4247931A}"/>
              </a:ext>
            </a:extLst>
          </p:cNvPr>
          <p:cNvGrpSpPr/>
          <p:nvPr/>
        </p:nvGrpSpPr>
        <p:grpSpPr>
          <a:xfrm>
            <a:off x="7679147" y="2958353"/>
            <a:ext cx="3925598" cy="769441"/>
            <a:chOff x="7679147" y="2958353"/>
            <a:chExt cx="3925598" cy="76944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1BA8CF7-25C4-B088-EEE2-BAED25B2FCA3}"/>
                    </a:ext>
                  </a:extLst>
                </p:cNvPr>
                <p:cNvSpPr txBox="1"/>
                <p:nvPr/>
              </p:nvSpPr>
              <p:spPr>
                <a:xfrm>
                  <a:off x="10013576" y="2958353"/>
                  <a:ext cx="1591169" cy="769441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Falls from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200" dirty="0"/>
                    <a:t> to 0.</a:t>
                  </a:r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1BA8CF7-25C4-B088-EEE2-BAED25B2FC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3576" y="2958353"/>
                  <a:ext cx="1591169" cy="769441"/>
                </a:xfrm>
                <a:prstGeom prst="rect">
                  <a:avLst/>
                </a:prstGeom>
                <a:blipFill>
                  <a:blip r:embed="rId8"/>
                  <a:stretch>
                    <a:fillRect l="-3745" t="-2256" b="-12030"/>
                  </a:stretch>
                </a:blipFill>
                <a:ln w="38100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EBD79BE2-E1A8-295E-B600-1F2406730BB2}"/>
                </a:ext>
              </a:extLst>
            </p:cNvPr>
            <p:cNvCxnSpPr>
              <a:cxnSpLocks/>
              <a:stCxn id="60" idx="1"/>
            </p:cNvCxnSpPr>
            <p:nvPr/>
          </p:nvCxnSpPr>
          <p:spPr>
            <a:xfrm flipH="1" flipV="1">
              <a:off x="7679147" y="3114675"/>
              <a:ext cx="2334429" cy="22839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710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45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32F92-E51C-7B5D-3BCD-C680BB967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1518EA-4133-4AA5-E944-D2C590F1C8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As load moves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-server jobs to 1-server jobs:</a:t>
                </a:r>
              </a:p>
              <a:p>
                <a:r>
                  <a:rPr lang="en-US" dirty="0"/>
                  <a:t>Throughput rises, from typically blocked to typically full.</a:t>
                </a:r>
              </a:p>
              <a:p>
                <a:r>
                  <a:rPr lang="en-US" dirty="0"/>
                  <a:t>Scaled queue length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→1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(variability) rises, peaks near balanced load, falls again.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1518EA-4133-4AA5-E944-D2C590F1C8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8144D4-6257-BE6B-12F3-9EB5FF8D46D4}"/>
                  </a:ext>
                </a:extLst>
              </p:cNvPr>
              <p:cNvSpPr txBox="1"/>
              <p:nvPr/>
            </p:nvSpPr>
            <p:spPr>
              <a:xfrm>
                <a:off x="1498963" y="4236425"/>
                <a:ext cx="2684418" cy="1747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Numerical evaluation: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∈[0.7,1.7]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8144D4-6257-BE6B-12F3-9EB5FF8D4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963" y="4236425"/>
                <a:ext cx="2684418" cy="1747914"/>
              </a:xfrm>
              <a:prstGeom prst="rect">
                <a:avLst/>
              </a:prstGeom>
              <a:blipFill>
                <a:blip r:embed="rId3"/>
                <a:stretch>
                  <a:fillRect l="-2955" t="-2439" r="-2727" b="-3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phic 9">
            <a:extLst>
              <a:ext uri="{FF2B5EF4-FFF2-40B4-BE49-F238E27FC236}">
                <a16:creationId xmlns:a16="http://schemas.microsoft.com/office/drawing/2014/main" id="{D0C12B8E-794C-5D1A-7E8F-D6C75AE803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54136" y="3847419"/>
            <a:ext cx="7099663" cy="3014206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EA4FCE3-EA59-8B35-3972-256913FA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5BC6B6-39B8-34BE-1057-60B8B851C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7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DF729-46E4-E231-AD4B-4798A6186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Next: Numerically generalizing insights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56322-B0B2-EB61-C48C-6347C369CB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Insights (so far):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Throughput rises when load is mostly small-requirement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Scaled queue length (variability) peaks when load is balanced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Q1: What if large jobs are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/5</m:t>
                    </m:r>
                  </m:oMath>
                </a14:m>
                <a:r>
                  <a:rPr lang="en-US" dirty="0"/>
                  <a:t>, like</a:t>
                </a:r>
                <a:br>
                  <a:rPr lang="en-US" dirty="0"/>
                </a:br>
                <a:r>
                  <a:rPr lang="en-US" dirty="0"/>
                  <a:t>Frontier Supercomputer’s “Leadership-class” jobs?</a:t>
                </a:r>
              </a:p>
              <a:p>
                <a:pPr marL="0" indent="0">
                  <a:buNone/>
                </a:pPr>
                <a:r>
                  <a:rPr lang="en-US" dirty="0"/>
                  <a:t>Q2: What if more complex requirement </a:t>
                </a:r>
                <a:r>
                  <a:rPr lang="en-US" dirty="0" err="1"/>
                  <a:t>dists</a:t>
                </a:r>
                <a:r>
                  <a:rPr lang="en-US" dirty="0"/>
                  <a:t>.?</a:t>
                </a:r>
              </a:p>
              <a:p>
                <a:pPr marL="0" indent="0">
                  <a:buNone/>
                </a:pPr>
                <a:r>
                  <a:rPr lang="en-US" dirty="0"/>
                  <a:t>Q3: What if durations also scale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56322-B0B2-EB61-C48C-6347C369CB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Frontier supercomputer: Racks of computer hardware with blue interconnect wires.&#10;https://lifeboat.com/blog.images/frontier-supercomputer-solves-decade-long-calcium-48-magnetic-puzzle2.jpg">
            <a:extLst>
              <a:ext uri="{FF2B5EF4-FFF2-40B4-BE49-F238E27FC236}">
                <a16:creationId xmlns:a16="http://schemas.microsoft.com/office/drawing/2014/main" id="{ED35DEE0-8D16-C27B-60D1-B9483C163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497" y="3514165"/>
            <a:ext cx="3858849" cy="217253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53B05-39B2-8013-8113-B3A3B42A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ED4D9-5C1A-D4F2-D6EE-0F66AC4C2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6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5193D-BB93-D6EC-62E8-B8C0E44F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 Load-focused MSJ scaling</a:t>
            </a:r>
          </a:p>
        </p:txBody>
      </p:sp>
      <p:pic>
        <p:nvPicPr>
          <p:cNvPr id="41" name="Content Placeholder 40">
            <a:extLst>
              <a:ext uri="{FF2B5EF4-FFF2-40B4-BE49-F238E27FC236}">
                <a16:creationId xmlns:a16="http://schemas.microsoft.com/office/drawing/2014/main" id="{92551FFD-B096-017D-B58C-848A8FCAC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3015" y="1410638"/>
            <a:ext cx="5710518" cy="3539781"/>
          </a:xfr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C795128-9873-AB57-466D-6B0B0B18A3AE}"/>
              </a:ext>
            </a:extLst>
          </p:cNvPr>
          <p:cNvGrpSpPr/>
          <p:nvPr/>
        </p:nvGrpSpPr>
        <p:grpSpPr>
          <a:xfrm>
            <a:off x="838200" y="1690688"/>
            <a:ext cx="4897120" cy="2651125"/>
            <a:chOff x="3764420" y="1416302"/>
            <a:chExt cx="4897120" cy="26511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EBA3B90-8070-C47F-36C4-780BEDA5527A}"/>
                </a:ext>
              </a:extLst>
            </p:cNvPr>
            <p:cNvGrpSpPr/>
            <p:nvPr/>
          </p:nvGrpSpPr>
          <p:grpSpPr>
            <a:xfrm>
              <a:off x="3764420" y="1416302"/>
              <a:ext cx="4897120" cy="2651125"/>
              <a:chOff x="3847948" y="1287144"/>
              <a:chExt cx="4897120" cy="2651125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3F0ABE94-D967-500B-73B1-C5020A92550D}"/>
                  </a:ext>
                </a:extLst>
              </p:cNvPr>
              <p:cNvCxnSpPr/>
              <p:nvPr/>
            </p:nvCxnSpPr>
            <p:spPr>
              <a:xfrm flipV="1">
                <a:off x="8098638" y="2649374"/>
                <a:ext cx="646430" cy="381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7A5C957-6255-8A8A-FC9A-9F0BE9A2F6E4}"/>
                  </a:ext>
                </a:extLst>
              </p:cNvPr>
              <p:cNvGrpSpPr/>
              <p:nvPr/>
            </p:nvGrpSpPr>
            <p:grpSpPr>
              <a:xfrm>
                <a:off x="3847948" y="1287144"/>
                <a:ext cx="4014470" cy="2651125"/>
                <a:chOff x="9087" y="1748"/>
                <a:chExt cx="6322" cy="4175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CD6EDA01-3C33-207C-460C-E0FB63A1965F}"/>
                    </a:ext>
                  </a:extLst>
                </p:cNvPr>
                <p:cNvSpPr/>
                <p:nvPr/>
              </p:nvSpPr>
              <p:spPr>
                <a:xfrm>
                  <a:off x="14954" y="5466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18AB6327-C813-94F1-9499-F0E63CFD7D81}"/>
                    </a:ext>
                  </a:extLst>
                </p:cNvPr>
                <p:cNvSpPr/>
                <p:nvPr/>
              </p:nvSpPr>
              <p:spPr>
                <a:xfrm>
                  <a:off x="14954" y="3325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66C91E1E-2E5E-B78F-2358-A16993D2FCF9}"/>
                    </a:ext>
                  </a:extLst>
                </p:cNvPr>
                <p:cNvSpPr/>
                <p:nvPr/>
              </p:nvSpPr>
              <p:spPr>
                <a:xfrm>
                  <a:off x="14954" y="3837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5586DDE5-470D-01EA-962E-10BE03EEBEE9}"/>
                    </a:ext>
                  </a:extLst>
                </p:cNvPr>
                <p:cNvSpPr/>
                <p:nvPr/>
              </p:nvSpPr>
              <p:spPr>
                <a:xfrm>
                  <a:off x="14954" y="4367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9A749F2D-C1FA-2CF5-9600-860CE927E90D}"/>
                    </a:ext>
                  </a:extLst>
                </p:cNvPr>
                <p:cNvSpPr/>
                <p:nvPr/>
              </p:nvSpPr>
              <p:spPr>
                <a:xfrm>
                  <a:off x="14954" y="4910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B997D6F8-AEA1-B30D-EFBB-8185EB5264B2}"/>
                    </a:ext>
                  </a:extLst>
                </p:cNvPr>
                <p:cNvSpPr/>
                <p:nvPr/>
              </p:nvSpPr>
              <p:spPr>
                <a:xfrm>
                  <a:off x="14954" y="1748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B9631642-40E0-33F8-42E0-D83B618E8318}"/>
                    </a:ext>
                  </a:extLst>
                </p:cNvPr>
                <p:cNvSpPr/>
                <p:nvPr/>
              </p:nvSpPr>
              <p:spPr>
                <a:xfrm>
                  <a:off x="14954" y="2278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BA83763F-F213-31FD-2043-56F6F3FFB7E0}"/>
                    </a:ext>
                  </a:extLst>
                </p:cNvPr>
                <p:cNvSpPr/>
                <p:nvPr/>
              </p:nvSpPr>
              <p:spPr>
                <a:xfrm>
                  <a:off x="14954" y="2821"/>
                  <a:ext cx="455" cy="45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E270DD53-F5DC-1E9D-13CC-5BC11EA28885}"/>
                    </a:ext>
                  </a:extLst>
                </p:cNvPr>
                <p:cNvGrpSpPr/>
                <p:nvPr/>
              </p:nvGrpSpPr>
              <p:grpSpPr>
                <a:xfrm>
                  <a:off x="9087" y="2989"/>
                  <a:ext cx="5752" cy="1729"/>
                  <a:chOff x="4612" y="3721"/>
                  <a:chExt cx="5752" cy="1729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A615D94F-8BCD-7388-3CD0-A6B603D76A2A}"/>
                      </a:ext>
                    </a:extLst>
                  </p:cNvPr>
                  <p:cNvGrpSpPr/>
                  <p:nvPr/>
                </p:nvGrpSpPr>
                <p:grpSpPr>
                  <a:xfrm>
                    <a:off x="5630" y="3721"/>
                    <a:ext cx="4734" cy="1729"/>
                    <a:chOff x="5630" y="3721"/>
                    <a:chExt cx="4734" cy="1729"/>
                  </a:xfrm>
                </p:grpSpPr>
                <p:sp>
                  <p:nvSpPr>
                    <p:cNvPr id="18" name="Rectangles 39">
                      <a:extLst>
                        <a:ext uri="{FF2B5EF4-FFF2-40B4-BE49-F238E27FC236}">
                          <a16:creationId xmlns:a16="http://schemas.microsoft.com/office/drawing/2014/main" id="{E301FC62-D7BA-7145-DA9B-0532BB1973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6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" name="Rectangles 40">
                      <a:extLst>
                        <a:ext uri="{FF2B5EF4-FFF2-40B4-BE49-F238E27FC236}">
                          <a16:creationId xmlns:a16="http://schemas.microsoft.com/office/drawing/2014/main" id="{06834360-E7EB-8CE3-C267-5F2B987131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8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" name="Rectangles 41">
                      <a:extLst>
                        <a:ext uri="{FF2B5EF4-FFF2-40B4-BE49-F238E27FC236}">
                          <a16:creationId xmlns:a16="http://schemas.microsoft.com/office/drawing/2014/main" id="{21DC416A-050E-A8FB-05E7-6B0159E0AD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0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1" name="Rectangles 42">
                      <a:extLst>
                        <a:ext uri="{FF2B5EF4-FFF2-40B4-BE49-F238E27FC236}">
                          <a16:creationId xmlns:a16="http://schemas.microsoft.com/office/drawing/2014/main" id="{6E9ABDFB-9994-B43B-69AE-6A710A366D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22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82111609-3F6C-D9E3-C0C2-2AEC1E3F7AF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3721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3FA10B63-5AFD-0CED-103A-4BB84EE8B09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5435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0E5F3052-7ADA-E1DC-8AED-731C4669C9E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612" y="4647"/>
                    <a:ext cx="1018" cy="6"/>
                  </a:xfrm>
                  <a:prstGeom prst="straightConnector1">
                    <a:avLst/>
                  </a:prstGeom>
                  <a:ln w="6350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5669E3C-67CF-E760-B27E-EDD13DEF3847}"/>
                </a:ext>
              </a:extLst>
            </p:cNvPr>
            <p:cNvGrpSpPr/>
            <p:nvPr/>
          </p:nvGrpSpPr>
          <p:grpSpPr>
            <a:xfrm>
              <a:off x="5674486" y="1420547"/>
              <a:ext cx="2626457" cy="2299486"/>
              <a:chOff x="5758014" y="1291389"/>
              <a:chExt cx="2626457" cy="229948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95B549E-D60C-0B6E-C4FF-F943D5E8C879}"/>
                  </a:ext>
                </a:extLst>
              </p:cNvPr>
              <p:cNvSpPr/>
              <p:nvPr/>
            </p:nvSpPr>
            <p:spPr>
              <a:xfrm>
                <a:off x="6960083" y="1453784"/>
                <a:ext cx="464845" cy="188536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</a:t>
                </a: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639BF32C-F100-5208-98CE-B88280A5FEB1}"/>
                  </a:ext>
                </a:extLst>
              </p:cNvPr>
              <p:cNvGrpSpPr/>
              <p:nvPr/>
            </p:nvGrpSpPr>
            <p:grpSpPr>
              <a:xfrm>
                <a:off x="7715166" y="1291389"/>
                <a:ext cx="669305" cy="2299486"/>
                <a:chOff x="7715166" y="1291389"/>
                <a:chExt cx="669305" cy="2299486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B32692E3-4B2A-0B82-6BC6-8F2CED130A1A}"/>
                    </a:ext>
                  </a:extLst>
                </p:cNvPr>
                <p:cNvGrpSpPr/>
                <p:nvPr/>
              </p:nvGrpSpPr>
              <p:grpSpPr>
                <a:xfrm>
                  <a:off x="7715167" y="1291389"/>
                  <a:ext cx="669304" cy="1259405"/>
                  <a:chOff x="5010345" y="2366127"/>
                  <a:chExt cx="669304" cy="1885362"/>
                </a:xfrm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D0AEABAA-4794-2E9C-6C2E-D2511E3E458F}"/>
                      </a:ext>
                    </a:extLst>
                  </p:cNvPr>
                  <p:cNvSpPr/>
                  <p:nvPr/>
                </p:nvSpPr>
                <p:spPr>
                  <a:xfrm>
                    <a:off x="5010346" y="2366127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3C9D6210-9344-72AF-492E-2FD2AD10E960}"/>
                      </a:ext>
                    </a:extLst>
                  </p:cNvPr>
                  <p:cNvSpPr/>
                  <p:nvPr/>
                </p:nvSpPr>
                <p:spPr>
                  <a:xfrm>
                    <a:off x="5010346" y="290345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978E8B74-8930-885E-7A45-4EF01F9D9586}"/>
                      </a:ext>
                    </a:extLst>
                  </p:cNvPr>
                  <p:cNvSpPr/>
                  <p:nvPr/>
                </p:nvSpPr>
                <p:spPr>
                  <a:xfrm>
                    <a:off x="5010345" y="338186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C2DC2FA9-5751-5034-4C88-F5FA2E7D0B52}"/>
                      </a:ext>
                    </a:extLst>
                  </p:cNvPr>
                  <p:cNvSpPr/>
                  <p:nvPr/>
                </p:nvSpPr>
                <p:spPr>
                  <a:xfrm>
                    <a:off x="5010345" y="3883844"/>
                    <a:ext cx="669303" cy="367645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0BA79B4B-88C2-B611-EDA5-3E7DA23CBEF6}"/>
                    </a:ext>
                  </a:extLst>
                </p:cNvPr>
                <p:cNvGrpSpPr/>
                <p:nvPr/>
              </p:nvGrpSpPr>
              <p:grpSpPr>
                <a:xfrm>
                  <a:off x="7715166" y="2641599"/>
                  <a:ext cx="669304" cy="949276"/>
                  <a:chOff x="5010345" y="2366127"/>
                  <a:chExt cx="669304" cy="1421091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3439E706-754D-959E-49DA-E1BBBA1B19AC}"/>
                      </a:ext>
                    </a:extLst>
                  </p:cNvPr>
                  <p:cNvSpPr/>
                  <p:nvPr/>
                </p:nvSpPr>
                <p:spPr>
                  <a:xfrm>
                    <a:off x="5010346" y="2366127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D9D3166B-5CE1-F113-EDE9-BB5C2E0A3739}"/>
                      </a:ext>
                    </a:extLst>
                  </p:cNvPr>
                  <p:cNvSpPr/>
                  <p:nvPr/>
                </p:nvSpPr>
                <p:spPr>
                  <a:xfrm>
                    <a:off x="5010346" y="290345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2CC04C2D-09E1-A9D7-2FF6-BAE0963F6857}"/>
                      </a:ext>
                    </a:extLst>
                  </p:cNvPr>
                  <p:cNvSpPr/>
                  <p:nvPr/>
                </p:nvSpPr>
                <p:spPr>
                  <a:xfrm>
                    <a:off x="5010345" y="3381865"/>
                    <a:ext cx="669303" cy="405353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</p:grp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E209711-77BF-CA8D-0B5F-3156CB20FB75}"/>
                  </a:ext>
                </a:extLst>
              </p:cNvPr>
              <p:cNvSpPr/>
              <p:nvPr/>
            </p:nvSpPr>
            <p:spPr>
              <a:xfrm>
                <a:off x="6361913" y="2729757"/>
                <a:ext cx="494058" cy="27077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6CA97DD-09C3-3BB6-A2E6-439F81FB9598}"/>
                  </a:ext>
                </a:extLst>
              </p:cNvPr>
              <p:cNvSpPr/>
              <p:nvPr/>
            </p:nvSpPr>
            <p:spPr>
              <a:xfrm>
                <a:off x="5758014" y="2729757"/>
                <a:ext cx="494058" cy="27077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047B28C-548E-EA39-B4F5-B2C3D8884E9D}"/>
              </a:ext>
            </a:extLst>
          </p:cNvPr>
          <p:cNvGrpSpPr/>
          <p:nvPr/>
        </p:nvGrpSpPr>
        <p:grpSpPr>
          <a:xfrm>
            <a:off x="81952" y="4507911"/>
            <a:ext cx="9337749" cy="2259967"/>
            <a:chOff x="441157" y="4374464"/>
            <a:chExt cx="7755871" cy="22599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9FDC533-01F7-7167-0263-C58E509757B7}"/>
                    </a:ext>
                  </a:extLst>
                </p:cNvPr>
                <p:cNvSpPr txBox="1"/>
                <p:nvPr/>
              </p:nvSpPr>
              <p:spPr>
                <a:xfrm>
                  <a:off x="441157" y="4374464"/>
                  <a:ext cx="5913100" cy="1068819"/>
                </a:xfrm>
                <a:prstGeom prst="rect">
                  <a:avLst/>
                </a:prstGeom>
                <a:noFill/>
                <a:ln w="38100">
                  <a:solidFill>
                    <a:srgbClr val="0990FF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200" dirty="0"/>
                    <a:t>Thm: If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r>
                    <a:rPr lang="en-US" sz="2200" dirty="0"/>
                    <a:t> or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sz="2200" dirty="0"/>
                    <a:t> throughput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∼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(1/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a14:m>
                  <a:r>
                    <a:rPr lang="en-US" sz="2200" dirty="0"/>
                    <a:t>, </a:t>
                  </a:r>
                  <a:br>
                    <a:rPr lang="en-US" sz="2200" dirty="0"/>
                  </a:br>
                  <a:r>
                    <a:rPr lang="en-US" sz="2200" dirty="0"/>
                    <a:t>Scaled queue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d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∼1/2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</m:oMath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9FDC533-01F7-7167-0263-C58E50975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157" y="4374464"/>
                  <a:ext cx="5913100" cy="1068819"/>
                </a:xfrm>
                <a:prstGeom prst="rect">
                  <a:avLst/>
                </a:prstGeom>
                <a:blipFill>
                  <a:blip r:embed="rId4"/>
                  <a:stretch>
                    <a:fillRect l="-852"/>
                  </a:stretch>
                </a:blipFill>
                <a:ln w="38100">
                  <a:solidFill>
                    <a:srgbClr val="099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A1E80FA-FAE2-0CD4-C007-7C026552A476}"/>
                    </a:ext>
                  </a:extLst>
                </p:cNvPr>
                <p:cNvSpPr txBox="1"/>
                <p:nvPr/>
              </p:nvSpPr>
              <p:spPr>
                <a:xfrm>
                  <a:off x="441157" y="5451800"/>
                  <a:ext cx="7755871" cy="1182631"/>
                </a:xfrm>
                <a:prstGeom prst="rect">
                  <a:avLst/>
                </a:prstGeom>
                <a:noFill/>
                <a:ln w="38100">
                  <a:solidFill>
                    <a:srgbClr val="0990FF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marL="0" indent="0">
                    <a:buNone/>
                  </a:pPr>
                  <a:r>
                    <a:rPr lang="en-US" sz="2200" dirty="0" err="1"/>
                    <a:t>Thm</a:t>
                  </a:r>
                  <a:r>
                    <a:rPr lang="en-US" sz="2200" dirty="0"/>
                    <a:t>: If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den>
                      </m:f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&gt;1</m:t>
                      </m:r>
                      <m:r>
                        <a:rPr lang="en-US" sz="2200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sz="2200" dirty="0"/>
                    <a:t> throughput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−1+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a14:m>
                  <a:r>
                    <a:rPr lang="en-US" sz="2200" dirty="0"/>
                    <a:t> </a:t>
                  </a:r>
                  <a:br>
                    <a:rPr lang="en-US" sz="2200" dirty="0"/>
                  </a:br>
                  <a:r>
                    <a:rPr lang="en-US" sz="2200" dirty="0"/>
                    <a:t>Scaled queue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d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</m:func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A1E80FA-FAE2-0CD4-C007-7C026552A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157" y="5451800"/>
                  <a:ext cx="7755871" cy="1182631"/>
                </a:xfrm>
                <a:prstGeom prst="rect">
                  <a:avLst/>
                </a:prstGeom>
                <a:blipFill>
                  <a:blip r:embed="rId5"/>
                  <a:stretch>
                    <a:fillRect l="-650"/>
                  </a:stretch>
                </a:blipFill>
                <a:ln w="38100">
                  <a:solidFill>
                    <a:srgbClr val="099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2334F4AF-6F92-55FC-1AE7-38B650686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INFORMS Annual, Oct 29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8C684567-FDE7-2857-265E-E8E897E9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8F5EF-1A1B-4994-83E1-AEA59440B2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6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55609</TotalTime>
  <Words>924</Words>
  <Application>Microsoft Office PowerPoint</Application>
  <PresentationFormat>Widescreen</PresentationFormat>
  <Paragraphs>161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Multiserver-job Response Time under Multilevel Scaling</vt:lpstr>
      <vt:lpstr>Large-scale Datacenters: Varying resources</vt:lpstr>
      <vt:lpstr>MSJ Model: 1-and-n, load-focused scaling</vt:lpstr>
      <vt:lpstr>MSJ Model: 1-and-n, load-focused scaling</vt:lpstr>
      <vt:lpstr>Prior work</vt:lpstr>
      <vt:lpstr>Key tool: Saturated System</vt:lpstr>
      <vt:lpstr>Key tool: Saturated System</vt:lpstr>
      <vt:lpstr>Results: Mostly n-server load, balanced load</vt:lpstr>
      <vt:lpstr>Results: Mostly 1-server load</vt:lpstr>
      <vt:lpstr>Insights</vt:lpstr>
      <vt:lpstr>Next: Numerically generalizing insights</vt:lpstr>
      <vt:lpstr>Conclusion: Load-focused MSJ scaling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Multiserver-job Response Time under Multilevel Scaling</dc:title>
  <dc:creator>Izzy Grosof</dc:creator>
  <cp:lastModifiedBy>Izzy Grosof</cp:lastModifiedBy>
  <cp:revision>48</cp:revision>
  <dcterms:created xsi:type="dcterms:W3CDTF">2025-09-18T15:55:08Z</dcterms:created>
  <dcterms:modified xsi:type="dcterms:W3CDTF">2025-10-28T22:56:54Z</dcterms:modified>
</cp:coreProperties>
</file>