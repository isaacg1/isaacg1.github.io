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73"/>
  </p:normalViewPr>
  <p:slideViewPr>
    <p:cSldViewPr snapToGrid="0">
      <p:cViewPr varScale="1">
        <p:scale>
          <a:sx n="55" d="100"/>
          <a:sy n="55" d="100"/>
        </p:scale>
        <p:origin x="3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9" name="Shape 17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97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K^*: I’ll show you what it is over the course of this talk. Showed up before in previous Markov-modulated results, like my RESET&amp;MARC and MSR papers</a:t>
            </a:r>
          </a:p>
        </p:txBody>
      </p:sp>
    </p:spTree>
    <p:extLst>
      <p:ext uri="{BB962C8B-B14F-4D97-AF65-F5344CB8AC3E}">
        <p14:creationId xmlns:p14="http://schemas.microsoft.com/office/powerpoint/2010/main" val="63343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119382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“Enough arrivals to balance the completion heterogeneity</a:t>
            </a:r>
          </a:p>
          <a:p>
            <a:r>
              <a:rPr lang="en-US" dirty="0"/>
              <a:t>If </a:t>
            </a:r>
            <a:r>
              <a:rPr lang="en-US" dirty="0" err="1"/>
              <a:t>l_i</a:t>
            </a:r>
            <a:r>
              <a:rPr lang="en-US" dirty="0"/>
              <a:t> is smaller, the collapse tightness will depend on mixing time. With this condition, even if mixing time grows with epsilon -&gt; 0, still SSC.</a:t>
            </a:r>
          </a:p>
        </p:txBody>
      </p:sp>
    </p:spTree>
    <p:extLst>
      <p:ext uri="{BB962C8B-B14F-4D97-AF65-F5344CB8AC3E}">
        <p14:creationId xmlns:p14="http://schemas.microsoft.com/office/powerpoint/2010/main" val="1973334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complete!</a:t>
            </a:r>
          </a:p>
        </p:txBody>
      </p:sp>
    </p:spTree>
    <p:extLst>
      <p:ext uri="{BB962C8B-B14F-4D97-AF65-F5344CB8AC3E}">
        <p14:creationId xmlns:p14="http://schemas.microsoft.com/office/powerpoint/2010/main" val="3000940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Daniela’s the expert</a:t>
            </a:r>
          </a:p>
        </p:txBody>
      </p:sp>
    </p:spTree>
    <p:extLst>
      <p:ext uri="{BB962C8B-B14F-4D97-AF65-F5344CB8AC3E}">
        <p14:creationId xmlns:p14="http://schemas.microsoft.com/office/powerpoint/2010/main" val="3367333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Little tutorial</a:t>
            </a:r>
          </a:p>
        </p:txBody>
      </p:sp>
    </p:spTree>
    <p:extLst>
      <p:ext uri="{BB962C8B-B14F-4D97-AF65-F5344CB8AC3E}">
        <p14:creationId xmlns:p14="http://schemas.microsoft.com/office/powerpoint/2010/main" val="3065056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we use SSC! One empty queue means all queues close to empty.</a:t>
            </a:r>
          </a:p>
        </p:txBody>
      </p:sp>
    </p:spTree>
    <p:extLst>
      <p:ext uri="{BB962C8B-B14F-4D97-AF65-F5344CB8AC3E}">
        <p14:creationId xmlns:p14="http://schemas.microsoft.com/office/powerpoint/2010/main" val="358836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 no! A cross term! We don’t know the correlation between </a:t>
            </a:r>
            <a:r>
              <a:rPr lang="en-US" dirty="0" err="1"/>
              <a:t>q_sum</a:t>
            </a:r>
            <a:r>
              <a:rPr lang="en-US" dirty="0"/>
              <a:t> and </a:t>
            </a:r>
            <a:r>
              <a:rPr lang="en-US" dirty="0" err="1"/>
              <a:t>i</a:t>
            </a:r>
            <a:r>
              <a:rPr lang="en-US" dirty="0"/>
              <a:t>! So we use the Poisson equation</a:t>
            </a:r>
          </a:p>
        </p:txBody>
      </p:sp>
    </p:spTree>
    <p:extLst>
      <p:ext uri="{BB962C8B-B14F-4D97-AF65-F5344CB8AC3E}">
        <p14:creationId xmlns:p14="http://schemas.microsoft.com/office/powerpoint/2010/main" val="325231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Covariance of q term and I term! Leading order term involves Poisson equation</a:t>
            </a:r>
          </a:p>
        </p:txBody>
      </p:sp>
    </p:spTree>
    <p:extLst>
      <p:ext uri="{BB962C8B-B14F-4D97-AF65-F5344CB8AC3E}">
        <p14:creationId xmlns:p14="http://schemas.microsoft.com/office/powerpoint/2010/main" val="3107255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51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320" y="13072535"/>
            <a:ext cx="467361" cy="4737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>
            <a:spLocks noGrp="1"/>
          </p:cNvSpPr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Hot-air balloons viewed from below against a blue sky"/>
          <p:cNvSpPr>
            <a:spLocks noGrp="1"/>
          </p:cNvSpPr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>
            <a:spLocks noGrp="1"/>
          </p:cNvSpPr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Close-up of the top of a hot-air balloon viewed from above"/>
          <p:cNvSpPr>
            <a:spLocks noGrp="1"/>
          </p:cNvSpPr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Hot-air balloons viewed from below against a blue sky"/>
          <p:cNvSpPr>
            <a:spLocks noGrp="1"/>
          </p:cNvSpPr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7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>
                  <a:lumOff val="-13575"/>
                </a:schemeClr>
              </a:buClr>
            </a:lvl1pPr>
            <a:lvl2pPr>
              <a:buClr>
                <a:schemeClr val="accent1">
                  <a:lumOff val="-13575"/>
                </a:schemeClr>
              </a:buClr>
            </a:lvl2pPr>
            <a:lvl3pPr>
              <a:buClr>
                <a:schemeClr val="accent1">
                  <a:lumOff val="-13575"/>
                </a:schemeClr>
              </a:buClr>
            </a:lvl3pPr>
            <a:lvl4pPr>
              <a:buClr>
                <a:schemeClr val="accent1">
                  <a:lumOff val="-13575"/>
                </a:schemeClr>
              </a:buClr>
            </a:lvl4pPr>
            <a:lvl5pPr>
              <a:buClr>
                <a:schemeClr val="accent1">
                  <a:lumOff val="-13575"/>
                </a:schemeClr>
              </a:buCl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39699" y="13068300"/>
            <a:ext cx="467361" cy="4737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5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6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28.png"/><Relationship Id="rId10" Type="http://schemas.openxmlformats.org/officeDocument/2006/relationships/image" Target="../media/image40.png"/><Relationship Id="rId19" Type="http://schemas.openxmlformats.org/officeDocument/2006/relationships/image" Target="../media/image47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2.png"/><Relationship Id="rId18" Type="http://schemas.openxmlformats.org/officeDocument/2006/relationships/image" Target="../media/image31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51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9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50.png"/><Relationship Id="rId5" Type="http://schemas.openxmlformats.org/officeDocument/2006/relationships/image" Target="../media/image17.png"/><Relationship Id="rId15" Type="http://schemas.openxmlformats.org/officeDocument/2006/relationships/image" Target="../media/image28.png"/><Relationship Id="rId10" Type="http://schemas.openxmlformats.org/officeDocument/2006/relationships/image" Target="../media/image49.png"/><Relationship Id="rId19" Type="http://schemas.openxmlformats.org/officeDocument/2006/relationships/image" Target="../media/image32.png"/><Relationship Id="rId4" Type="http://schemas.openxmlformats.org/officeDocument/2006/relationships/image" Target="../media/image48.png"/><Relationship Id="rId9" Type="http://schemas.openxmlformats.org/officeDocument/2006/relationships/image" Target="../media/image21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3" Type="http://schemas.openxmlformats.org/officeDocument/2006/relationships/image" Target="../media/image79.png"/><Relationship Id="rId7" Type="http://schemas.openxmlformats.org/officeDocument/2006/relationships/image" Target="../media/image33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2.png"/><Relationship Id="rId11" Type="http://schemas.openxmlformats.org/officeDocument/2006/relationships/image" Target="../media/image84.png"/><Relationship Id="rId5" Type="http://schemas.openxmlformats.org/officeDocument/2006/relationships/image" Target="../media/image81.png"/><Relationship Id="rId15" Type="http://schemas.openxmlformats.org/officeDocument/2006/relationships/image" Target="../media/image88.png"/><Relationship Id="rId10" Type="http://schemas.openxmlformats.org/officeDocument/2006/relationships/image" Target="../media/image36.png"/><Relationship Id="rId19" Type="http://schemas.openxmlformats.org/officeDocument/2006/relationships/image" Target="../media/image92.png"/><Relationship Id="rId4" Type="http://schemas.openxmlformats.org/officeDocument/2006/relationships/image" Target="../media/image80.png"/><Relationship Id="rId9" Type="http://schemas.openxmlformats.org/officeDocument/2006/relationships/image" Target="../media/image83.png"/><Relationship Id="rId1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94.png"/><Relationship Id="rId21" Type="http://schemas.openxmlformats.org/officeDocument/2006/relationships/image" Target="../media/image93.png"/><Relationship Id="rId7" Type="http://schemas.openxmlformats.org/officeDocument/2006/relationships/image" Target="../media/image98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7.png"/><Relationship Id="rId11" Type="http://schemas.openxmlformats.org/officeDocument/2006/relationships/image" Target="../media/image36.png"/><Relationship Id="rId5" Type="http://schemas.openxmlformats.org/officeDocument/2006/relationships/image" Target="../media/image96.png"/><Relationship Id="rId15" Type="http://schemas.openxmlformats.org/officeDocument/2006/relationships/image" Target="../media/image87.png"/><Relationship Id="rId10" Type="http://schemas.openxmlformats.org/officeDocument/2006/relationships/image" Target="../media/image83.png"/><Relationship Id="rId19" Type="http://schemas.openxmlformats.org/officeDocument/2006/relationships/image" Target="../media/image91.png"/><Relationship Id="rId4" Type="http://schemas.openxmlformats.org/officeDocument/2006/relationships/image" Target="../media/image95.png"/><Relationship Id="rId9" Type="http://schemas.openxmlformats.org/officeDocument/2006/relationships/image" Target="../media/image34.png"/><Relationship Id="rId14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2.png"/><Relationship Id="rId3" Type="http://schemas.openxmlformats.org/officeDocument/2006/relationships/image" Target="../media/image1080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19" Type="http://schemas.openxmlformats.org/officeDocument/2006/relationships/image" Target="../media/image123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APS 2025 — July 1st, 2025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rPr dirty="0"/>
              <a:t>A</a:t>
            </a:r>
            <a:r>
              <a:rPr lang="en-US" dirty="0"/>
              <a:t>llerton</a:t>
            </a:r>
            <a:r>
              <a:rPr dirty="0"/>
              <a:t> 2025 — </a:t>
            </a:r>
            <a:r>
              <a:rPr lang="en-US" dirty="0"/>
              <a:t>September 18th</a:t>
            </a:r>
            <a:r>
              <a:rPr dirty="0"/>
              <a:t>, 2025</a:t>
            </a:r>
          </a:p>
        </p:txBody>
      </p:sp>
      <p:sp>
        <p:nvSpPr>
          <p:cNvPr id="182" name="Transform Method for  Markov-Modulated Queue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 Method for </a:t>
            </a:r>
            <a:br/>
            <a:r>
              <a:t>Markov-Modulated Queues</a:t>
            </a:r>
          </a:p>
        </p:txBody>
      </p:sp>
      <p:sp>
        <p:nvSpPr>
          <p:cNvPr id="183" name="Daniela Hurtado-Lange (Kellogg) and Izzy Grosof (IEMS) Northwestern University"/>
          <p:cNvSpPr txBox="1">
            <a:spLocks noGrp="1"/>
          </p:cNvSpPr>
          <p:nvPr>
            <p:ph type="subTitle" sz="quarter" idx="1"/>
          </p:nvPr>
        </p:nvSpPr>
        <p:spPr>
          <a:xfrm>
            <a:off x="1206500" y="9700485"/>
            <a:ext cx="21971000" cy="1905001"/>
          </a:xfrm>
          <a:prstGeom prst="rect">
            <a:avLst/>
          </a:prstGeom>
        </p:spPr>
        <p:txBody>
          <a:bodyPr/>
          <a:lstStyle/>
          <a:p>
            <a:r>
              <a:rPr dirty="0"/>
              <a:t>Izzy </a:t>
            </a:r>
            <a:r>
              <a:rPr dirty="0" err="1"/>
              <a:t>Grosof</a:t>
            </a:r>
            <a:r>
              <a:rPr b="0" dirty="0"/>
              <a:t> (IEMS)</a:t>
            </a:r>
            <a:r>
              <a:rPr lang="en-US" b="0" dirty="0"/>
              <a:t> and Daniela Hurtado-Lange</a:t>
            </a:r>
            <a:r>
              <a:rPr lang="en-US" dirty="0"/>
              <a:t> </a:t>
            </a:r>
            <a:r>
              <a:rPr lang="en-US" b="0" dirty="0"/>
              <a:t>(Kellogg)</a:t>
            </a:r>
            <a:br>
              <a:rPr b="0" dirty="0"/>
            </a:br>
            <a:r>
              <a:rPr b="0" dirty="0"/>
              <a:t>Northwestern University </a:t>
            </a:r>
          </a:p>
        </p:txBody>
      </p:sp>
      <p:sp>
        <p:nvSpPr>
          <p:cNvPr id="1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585" y="13072535"/>
            <a:ext cx="290831" cy="4737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JSQ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JSQ Model</a:t>
            </a:r>
          </a:p>
        </p:txBody>
      </p:sp>
      <p:sp>
        <p:nvSpPr>
          <p:cNvPr id="212" name="Load balancing under Join-the-Shortest-Queue (JSQ)…"/>
          <p:cNvSpPr txBox="1">
            <a:spLocks noGrp="1"/>
          </p:cNvSpPr>
          <p:nvPr>
            <p:ph type="body" sz="quarter" idx="1"/>
          </p:nvPr>
        </p:nvSpPr>
        <p:spPr>
          <a:xfrm>
            <a:off x="1251907" y="3600370"/>
            <a:ext cx="12946197" cy="4446177"/>
          </a:xfrm>
          <a:prstGeom prst="rect">
            <a:avLst/>
          </a:prstGeom>
        </p:spPr>
        <p:txBody>
          <a:bodyPr/>
          <a:lstStyle/>
          <a:p>
            <a:pPr>
              <a:buClr>
                <a:schemeClr val="accent1">
                  <a:hueOff val="114395"/>
                  <a:lumOff val="-24975"/>
                </a:schemeClr>
              </a:buClr>
              <a:defRPr sz="4000"/>
            </a:pPr>
            <a:r>
              <a:rPr dirty="0"/>
              <a:t>Load balancing under Join-the-Shortest-Queue (JSQ)</a:t>
            </a:r>
          </a:p>
          <a:p>
            <a:pPr>
              <a:buClr>
                <a:schemeClr val="accent1">
                  <a:hueOff val="114395"/>
                  <a:lumOff val="-24975"/>
                </a:schemeClr>
              </a:buClr>
              <a:defRPr sz="4000"/>
            </a:pPr>
            <a:r>
              <a:rPr dirty="0"/>
              <a:t>Exponential inter-arrival and service times</a:t>
            </a:r>
          </a:p>
          <a:p>
            <a:pPr>
              <a:buClr>
                <a:schemeClr val="accent1">
                  <a:hueOff val="114395"/>
                  <a:lumOff val="-24975"/>
                </a:schemeClr>
              </a:buClr>
              <a:defRPr sz="4000"/>
            </a:pPr>
            <a:r>
              <a:rPr dirty="0"/>
              <a:t>Heterogeneous servers</a:t>
            </a:r>
          </a:p>
          <a:p>
            <a:pPr>
              <a:buClr>
                <a:schemeClr val="accent1">
                  <a:hueOff val="114395"/>
                  <a:lumOff val="-24975"/>
                </a:schemeClr>
              </a:buClr>
              <a:defRPr sz="4000"/>
            </a:pPr>
            <a:r>
              <a:rPr dirty="0"/>
              <a:t>Arrival and service rate are </a:t>
            </a:r>
            <a:r>
              <a:rPr dirty="0">
                <a:solidFill>
                  <a:schemeClr val="accent5"/>
                </a:solidFill>
              </a:rPr>
              <a:t>Markov-Modulated</a:t>
            </a:r>
          </a:p>
        </p:txBody>
      </p:sp>
      <p:grpSp>
        <p:nvGrpSpPr>
          <p:cNvPr id="255" name="Group"/>
          <p:cNvGrpSpPr/>
          <p:nvPr/>
        </p:nvGrpSpPr>
        <p:grpSpPr>
          <a:xfrm>
            <a:off x="14749272" y="3600034"/>
            <a:ext cx="8830706" cy="4788156"/>
            <a:chOff x="-1" y="0"/>
            <a:chExt cx="8830704" cy="4788154"/>
          </a:xfrm>
        </p:grpSpPr>
        <p:grpSp>
          <p:nvGrpSpPr>
            <p:cNvPr id="251" name="Group"/>
            <p:cNvGrpSpPr/>
            <p:nvPr/>
          </p:nvGrpSpPr>
          <p:grpSpPr>
            <a:xfrm>
              <a:off x="-1" y="0"/>
              <a:ext cx="8830704" cy="4788154"/>
              <a:chOff x="0" y="0"/>
              <a:chExt cx="8830702" cy="4788153"/>
            </a:xfrm>
          </p:grpSpPr>
          <p:grpSp>
            <p:nvGrpSpPr>
              <p:cNvPr id="249" name="Group"/>
              <p:cNvGrpSpPr/>
              <p:nvPr/>
            </p:nvGrpSpPr>
            <p:grpSpPr>
              <a:xfrm>
                <a:off x="-1" y="0"/>
                <a:ext cx="8830704" cy="4788154"/>
                <a:chOff x="0" y="0"/>
                <a:chExt cx="8830702" cy="4788153"/>
              </a:xfrm>
            </p:grpSpPr>
            <p:grpSp>
              <p:nvGrpSpPr>
                <p:cNvPr id="241" name="Group"/>
                <p:cNvGrpSpPr/>
                <p:nvPr/>
              </p:nvGrpSpPr>
              <p:grpSpPr>
                <a:xfrm>
                  <a:off x="4310949" y="0"/>
                  <a:ext cx="4519754" cy="4788154"/>
                  <a:chOff x="0" y="0"/>
                  <a:chExt cx="4519753" cy="4788153"/>
                </a:xfrm>
              </p:grpSpPr>
              <p:grpSp>
                <p:nvGrpSpPr>
                  <p:cNvPr id="221" name="Group"/>
                  <p:cNvGrpSpPr/>
                  <p:nvPr/>
                </p:nvGrpSpPr>
                <p:grpSpPr>
                  <a:xfrm>
                    <a:off x="0" y="0"/>
                    <a:ext cx="4519754" cy="1920792"/>
                    <a:chOff x="0" y="0"/>
                    <a:chExt cx="4519753" cy="1920791"/>
                  </a:xfrm>
                </p:grpSpPr>
                <p:grpSp>
                  <p:nvGrpSpPr>
                    <p:cNvPr id="216" name="Group"/>
                    <p:cNvGrpSpPr/>
                    <p:nvPr/>
                  </p:nvGrpSpPr>
                  <p:grpSpPr>
                    <a:xfrm>
                      <a:off x="0" y="57767"/>
                      <a:ext cx="1951112" cy="703951"/>
                      <a:chOff x="0" y="0"/>
                      <a:chExt cx="1951111" cy="703950"/>
                    </a:xfrm>
                  </p:grpSpPr>
                  <p:sp>
                    <p:nvSpPr>
                      <p:cNvPr id="213" name="Line"/>
                      <p:cNvSpPr/>
                      <p:nvPr/>
                    </p:nvSpPr>
                    <p:spPr>
                      <a:xfrm>
                        <a:off x="0" y="14758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214" name="Line"/>
                      <p:cNvSpPr/>
                      <p:nvPr/>
                    </p:nvSpPr>
                    <p:spPr>
                      <a:xfrm>
                        <a:off x="0" y="689710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215" name="Line"/>
                      <p:cNvSpPr/>
                      <p:nvPr/>
                    </p:nvSpPr>
                    <p:spPr>
                      <a:xfrm flipH="1">
                        <a:off x="1951111" y="0"/>
                        <a:ext cx="1" cy="70395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</p:grpSp>
                <p:sp>
                  <p:nvSpPr>
                    <p:cNvPr id="217" name="1"/>
                    <p:cNvSpPr/>
                    <p:nvPr/>
                  </p:nvSpPr>
                  <p:spPr>
                    <a:xfrm>
                      <a:off x="2124135" y="0"/>
                      <a:ext cx="799167" cy="799944"/>
                    </a:xfrm>
                    <a:prstGeom prst="ellips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2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1</a:t>
                      </a:r>
                    </a:p>
                  </p:txBody>
                </p:sp>
                <p:grpSp>
                  <p:nvGrpSpPr>
                    <p:cNvPr id="220" name="Group"/>
                    <p:cNvGrpSpPr/>
                    <p:nvPr/>
                  </p:nvGrpSpPr>
                  <p:grpSpPr>
                    <a:xfrm>
                      <a:off x="2912296" y="385492"/>
                      <a:ext cx="1607458" cy="1535300"/>
                      <a:chOff x="0" y="138830"/>
                      <a:chExt cx="1607456" cy="1535298"/>
                    </a:xfrm>
                  </p:grpSpPr>
                  <p:sp>
                    <p:nvSpPr>
                      <p:cNvPr id="218" name="Line"/>
                      <p:cNvSpPr/>
                      <p:nvPr/>
                    </p:nvSpPr>
                    <p:spPr>
                      <a:xfrm>
                        <a:off x="0" y="138830"/>
                        <a:ext cx="1072909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  <a:tailEnd type="arrow" w="med" len="med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19" name="Text"/>
                          <p:cNvSpPr/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noFill/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none" lIns="50800" tIns="50800" rIns="50800" bIns="50800" numCol="1" anchor="ctr">
                            <a:spAutoFit/>
                          </a:bodyPr>
                          <a:lstStyle>
                            <a:lvl1pPr>
                              <a:defRPr sz="3500">
                                <a:solidFill>
                                  <a:schemeClr val="accent5"/>
                                </a:solidFill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>
                              <a:solidFill>
                                <a:srgbClr val="FF644E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19" name="Text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blipFill>
                            <a:blip r:embed="rId2"/>
                            <a:stretch>
                              <a:fillRect l="-13861" t="-14851"/>
                            </a:stretch>
                          </a:blipFill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grpSp>
                <p:nvGrpSpPr>
                  <p:cNvPr id="230" name="Group"/>
                  <p:cNvGrpSpPr/>
                  <p:nvPr/>
                </p:nvGrpSpPr>
                <p:grpSpPr>
                  <a:xfrm>
                    <a:off x="0" y="1167915"/>
                    <a:ext cx="4519754" cy="1920792"/>
                    <a:chOff x="0" y="0"/>
                    <a:chExt cx="4519753" cy="1920791"/>
                  </a:xfrm>
                </p:grpSpPr>
                <p:grpSp>
                  <p:nvGrpSpPr>
                    <p:cNvPr id="225" name="Group"/>
                    <p:cNvGrpSpPr/>
                    <p:nvPr/>
                  </p:nvGrpSpPr>
                  <p:grpSpPr>
                    <a:xfrm>
                      <a:off x="0" y="57767"/>
                      <a:ext cx="1951112" cy="703951"/>
                      <a:chOff x="0" y="0"/>
                      <a:chExt cx="1951111" cy="703950"/>
                    </a:xfrm>
                  </p:grpSpPr>
                  <p:sp>
                    <p:nvSpPr>
                      <p:cNvPr id="222" name="Line"/>
                      <p:cNvSpPr/>
                      <p:nvPr/>
                    </p:nvSpPr>
                    <p:spPr>
                      <a:xfrm>
                        <a:off x="0" y="14758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223" name="Line"/>
                      <p:cNvSpPr/>
                      <p:nvPr/>
                    </p:nvSpPr>
                    <p:spPr>
                      <a:xfrm>
                        <a:off x="0" y="689710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224" name="Line"/>
                      <p:cNvSpPr/>
                      <p:nvPr/>
                    </p:nvSpPr>
                    <p:spPr>
                      <a:xfrm flipH="1">
                        <a:off x="1951111" y="0"/>
                        <a:ext cx="1" cy="70395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</p:grpSp>
                <p:sp>
                  <p:nvSpPr>
                    <p:cNvPr id="226" name="2"/>
                    <p:cNvSpPr/>
                    <p:nvPr/>
                  </p:nvSpPr>
                  <p:spPr>
                    <a:xfrm>
                      <a:off x="2124135" y="0"/>
                      <a:ext cx="799167" cy="799944"/>
                    </a:xfrm>
                    <a:prstGeom prst="ellips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2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2</a:t>
                      </a:r>
                    </a:p>
                  </p:txBody>
                </p:sp>
                <p:grpSp>
                  <p:nvGrpSpPr>
                    <p:cNvPr id="229" name="Group"/>
                    <p:cNvGrpSpPr/>
                    <p:nvPr/>
                  </p:nvGrpSpPr>
                  <p:grpSpPr>
                    <a:xfrm>
                      <a:off x="2912296" y="385492"/>
                      <a:ext cx="1607458" cy="1535300"/>
                      <a:chOff x="0" y="138830"/>
                      <a:chExt cx="1607456" cy="1535298"/>
                    </a:xfrm>
                  </p:grpSpPr>
                  <p:sp>
                    <p:nvSpPr>
                      <p:cNvPr id="227" name="Line"/>
                      <p:cNvSpPr/>
                      <p:nvPr/>
                    </p:nvSpPr>
                    <p:spPr>
                      <a:xfrm>
                        <a:off x="0" y="138830"/>
                        <a:ext cx="1072909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  <a:tailEnd type="arrow" w="med" len="med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28" name="Text"/>
                          <p:cNvSpPr/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noFill/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none" lIns="50800" tIns="50800" rIns="50800" bIns="50800" numCol="1" anchor="ctr">
                            <a:spAutoFit/>
                          </a:bodyPr>
                          <a:lstStyle>
                            <a:lvl1pPr>
                              <a:defRPr sz="3500">
                                <a:solidFill>
                                  <a:schemeClr val="accent5"/>
                                </a:solidFill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>
                              <a:solidFill>
                                <a:srgbClr val="FF644E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28" name="Text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blipFill>
                            <a:blip r:embed="rId3"/>
                            <a:stretch>
                              <a:fillRect l="-13861" t="-14851"/>
                            </a:stretch>
                          </a:blipFill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grpSp>
                <p:nvGrpSpPr>
                  <p:cNvPr id="239" name="Group"/>
                  <p:cNvGrpSpPr/>
                  <p:nvPr/>
                </p:nvGrpSpPr>
                <p:grpSpPr>
                  <a:xfrm>
                    <a:off x="0" y="2867362"/>
                    <a:ext cx="4519754" cy="1920792"/>
                    <a:chOff x="0" y="0"/>
                    <a:chExt cx="4519753" cy="1920791"/>
                  </a:xfrm>
                </p:grpSpPr>
                <p:grpSp>
                  <p:nvGrpSpPr>
                    <p:cNvPr id="234" name="Group"/>
                    <p:cNvGrpSpPr/>
                    <p:nvPr/>
                  </p:nvGrpSpPr>
                  <p:grpSpPr>
                    <a:xfrm>
                      <a:off x="0" y="57767"/>
                      <a:ext cx="1951112" cy="703951"/>
                      <a:chOff x="0" y="0"/>
                      <a:chExt cx="1951111" cy="703950"/>
                    </a:xfrm>
                  </p:grpSpPr>
                  <p:sp>
                    <p:nvSpPr>
                      <p:cNvPr id="231" name="Line"/>
                      <p:cNvSpPr/>
                      <p:nvPr/>
                    </p:nvSpPr>
                    <p:spPr>
                      <a:xfrm>
                        <a:off x="0" y="14758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232" name="Line"/>
                      <p:cNvSpPr/>
                      <p:nvPr/>
                    </p:nvSpPr>
                    <p:spPr>
                      <a:xfrm>
                        <a:off x="0" y="689710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233" name="Line"/>
                      <p:cNvSpPr/>
                      <p:nvPr/>
                    </p:nvSpPr>
                    <p:spPr>
                      <a:xfrm flipH="1">
                        <a:off x="1951111" y="0"/>
                        <a:ext cx="1" cy="70395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35" name="Circle"/>
                        <p:cNvSpPr/>
                        <p:nvPr/>
                      </p:nvSpPr>
                      <p:spPr>
                        <a:xfrm>
                          <a:off x="2124135" y="0"/>
                          <a:ext cx="799167" cy="799944"/>
                        </a:xfrm>
                        <a:prstGeom prst="ellips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  <a:extLst>
                          <a:ext uri="{C572A759-6A51-4108-AA02-DFA0A04FC94B}">
                            <ma14:wrappingTextBoxFlag xmlns:ma14="http://schemas.microsoft.com/office/mac/drawingml/2011/main" xmlns:m="http://schemas.openxmlformats.org/officeDocument/2006/math" xmlns="" val="1"/>
                          </a:ext>
                        </a:extLst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>
                          <a:lvl1pPr algn="ctr" defTabSz="82550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defRPr sz="3000">
                              <a:latin typeface="Helvetica Neue Medium"/>
                              <a:ea typeface="Helvetica Neue Medium"/>
                              <a:cs typeface="Helvetica Neue Medium"/>
                              <a:sym typeface="Helvetica Neue Medium"/>
                            </a:defRPr>
                          </a:lvl1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/>
                        </a:p>
                      </p:txBody>
                    </p:sp>
                  </mc:Choice>
                  <mc:Fallback xmlns="">
                    <p:sp>
                      <p:nvSpPr>
                        <p:cNvPr id="235" name="Circle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124135" y="0"/>
                          <a:ext cx="799167" cy="799944"/>
                        </a:xfrm>
                        <a:prstGeom prst="ellipse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  <a:extLst>
                          <a:ext uri="{C572A759-6A51-4108-AA02-DFA0A04FC94B}">
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</a:ext>
                        </a:ex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238" name="Group"/>
                    <p:cNvGrpSpPr/>
                    <p:nvPr/>
                  </p:nvGrpSpPr>
                  <p:grpSpPr>
                    <a:xfrm>
                      <a:off x="2912296" y="385492"/>
                      <a:ext cx="1607458" cy="1535300"/>
                      <a:chOff x="0" y="138830"/>
                      <a:chExt cx="1607456" cy="1535298"/>
                    </a:xfrm>
                  </p:grpSpPr>
                  <p:sp>
                    <p:nvSpPr>
                      <p:cNvPr id="236" name="Line"/>
                      <p:cNvSpPr/>
                      <p:nvPr/>
                    </p:nvSpPr>
                    <p:spPr>
                      <a:xfrm>
                        <a:off x="0" y="138830"/>
                        <a:ext cx="1072909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  <a:tailEnd type="arrow" w="med" len="med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37" name="Text"/>
                          <p:cNvSpPr/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noFill/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none" lIns="50800" tIns="50800" rIns="50800" bIns="50800" numCol="1" anchor="ctr">
                            <a:spAutoFit/>
                          </a:bodyPr>
                          <a:lstStyle>
                            <a:lvl1pPr>
                              <a:defRPr sz="3500">
                                <a:solidFill>
                                  <a:schemeClr val="accent5"/>
                                </a:solidFill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>
                              <a:solidFill>
                                <a:srgbClr val="FF644E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37" name="Text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blipFill>
                            <a:blip r:embed="rId5"/>
                            <a:stretch>
                              <a:fillRect l="-13861" t="-14851"/>
                            </a:stretch>
                          </a:blipFill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sp>
                <p:nvSpPr>
                  <p:cNvPr id="240" name="…"/>
                  <p:cNvSpPr/>
                  <p:nvPr/>
                </p:nvSpPr>
                <p:spPr>
                  <a:xfrm flipV="1">
                    <a:off x="1086498" y="1492365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vert="vert" wrap="none" lIns="50800" tIns="50800" rIns="50800" bIns="50800" numCol="1" anchor="ctr">
                    <a:spAutoFit/>
                  </a:bodyPr>
                  <a:lstStyle/>
                  <a:p>
                    <a:r>
                      <a:rPr dirty="0"/>
                      <a:t>…</a:t>
                    </a:r>
                  </a:p>
                </p:txBody>
              </p:sp>
            </p:grpSp>
            <p:grpSp>
              <p:nvGrpSpPr>
                <p:cNvPr id="247" name="Group"/>
                <p:cNvGrpSpPr/>
                <p:nvPr/>
              </p:nvGrpSpPr>
              <p:grpSpPr>
                <a:xfrm>
                  <a:off x="1346012" y="516200"/>
                  <a:ext cx="3408500" cy="2819352"/>
                  <a:chOff x="0" y="0"/>
                  <a:chExt cx="3408498" cy="2819351"/>
                </a:xfrm>
              </p:grpSpPr>
              <p:sp>
                <p:nvSpPr>
                  <p:cNvPr id="242" name="JSQ"/>
                  <p:cNvSpPr/>
                  <p:nvPr/>
                </p:nvSpPr>
                <p:spPr>
                  <a:xfrm>
                    <a:off x="0" y="448496"/>
                    <a:ext cx="1422401" cy="14224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10800"/>
                        </a:moveTo>
                        <a:lnTo>
                          <a:pt x="10800" y="21600"/>
                        </a:lnTo>
                        <a:lnTo>
                          <a:pt x="21600" y="10800"/>
                        </a:lnTo>
                        <a:lnTo>
                          <a:pt x="10800" y="0"/>
                        </a:lnTo>
                        <a:close/>
                      </a:path>
                    </a:pathLst>
                  </a:cu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30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r>
                      <a:t>JSQ</a:t>
                    </a:r>
                  </a:p>
                </p:txBody>
              </p:sp>
              <p:sp>
                <p:nvSpPr>
                  <p:cNvPr id="243" name="Line"/>
                  <p:cNvSpPr/>
                  <p:nvPr/>
                </p:nvSpPr>
                <p:spPr>
                  <a:xfrm flipV="1">
                    <a:off x="1407697" y="-1"/>
                    <a:ext cx="1472888" cy="1172398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44" name="Line"/>
                  <p:cNvSpPr/>
                  <p:nvPr/>
                </p:nvSpPr>
                <p:spPr>
                  <a:xfrm>
                    <a:off x="1417521" y="1166578"/>
                    <a:ext cx="1468645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45" name="Line"/>
                  <p:cNvSpPr/>
                  <p:nvPr/>
                </p:nvSpPr>
                <p:spPr>
                  <a:xfrm>
                    <a:off x="1413574" y="1168551"/>
                    <a:ext cx="1473866" cy="165080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46" name="…"/>
                  <p:cNvSpPr/>
                  <p:nvPr/>
                </p:nvSpPr>
                <p:spPr>
                  <a:xfrm flipV="1">
                    <a:off x="2138498" y="73606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vert="vert" wrap="none" lIns="50800" tIns="50800" rIns="50800" bIns="50800" numCol="1" anchor="ctr">
                    <a:spAutoFit/>
                  </a:bodyPr>
                  <a:lstStyle/>
                  <a:p>
                    <a:r>
                      <a:rPr dirty="0"/>
                      <a:t>…</a:t>
                    </a:r>
                  </a:p>
                </p:txBody>
              </p:sp>
            </p:grpSp>
            <p:sp>
              <p:nvSpPr>
                <p:cNvPr id="248" name="Group"/>
                <p:cNvSpPr/>
                <p:nvPr/>
              </p:nvSpPr>
              <p:spPr>
                <a:xfrm rot="10800000" flipH="1">
                  <a:off x="-1" y="1680177"/>
                  <a:ext cx="1223401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0" name="Text"/>
                  <p:cNvSpPr/>
                  <p:nvPr/>
                </p:nvSpPr>
                <p:spPr>
                  <a:xfrm>
                    <a:off x="510824" y="1941663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>
                        <a:solidFill>
                          <a:schemeClr val="accent5"/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0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824" y="1941663"/>
                    <a:ext cx="1270001" cy="1270001"/>
                  </a:xfrm>
                  <a:prstGeom prst="line">
                    <a:avLst/>
                  </a:prstGeom>
                  <a:blipFill>
                    <a:blip r:embed="rId6"/>
                    <a:stretch>
                      <a:fillRect l="-12871" t="-19802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Equation"/>
                <p:cNvSpPr txBox="1"/>
                <p:nvPr/>
              </p:nvSpPr>
              <p:spPr>
                <a:xfrm>
                  <a:off x="5056240" y="149881"/>
                  <a:ext cx="319865" cy="3071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500" dirty="0"/>
                </a:p>
              </p:txBody>
            </p:sp>
          </mc:Choice>
          <mc:Fallback xmlns="">
            <p:sp>
              <p:nvSpPr>
                <p:cNvPr id="25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240" y="149881"/>
                  <a:ext cx="319865" cy="307150"/>
                </a:xfrm>
                <a:prstGeom prst="rect">
                  <a:avLst/>
                </a:prstGeom>
                <a:blipFill>
                  <a:blip r:embed="rId7"/>
                  <a:stretch>
                    <a:fillRect l="-46154" r="-57692" b="-116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Equation"/>
                <p:cNvSpPr txBox="1"/>
                <p:nvPr/>
              </p:nvSpPr>
              <p:spPr>
                <a:xfrm>
                  <a:off x="5056240" y="1319822"/>
                  <a:ext cx="345113" cy="3071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500" dirty="0"/>
                </a:p>
              </p:txBody>
            </p:sp>
          </mc:Choice>
          <mc:Fallback xmlns="">
            <p:sp>
              <p:nvSpPr>
                <p:cNvPr id="25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240" y="1319822"/>
                  <a:ext cx="345113" cy="307150"/>
                </a:xfrm>
                <a:prstGeom prst="rect">
                  <a:avLst/>
                </a:prstGeom>
                <a:blipFill>
                  <a:blip r:embed="rId8"/>
                  <a:stretch>
                    <a:fillRect l="-42857" r="-50000" b="-116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Equation"/>
                <p:cNvSpPr txBox="1"/>
                <p:nvPr/>
              </p:nvSpPr>
              <p:spPr>
                <a:xfrm>
                  <a:off x="5056240" y="3027599"/>
                  <a:ext cx="345113" cy="30999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sz="3500" dirty="0"/>
                </a:p>
              </p:txBody>
            </p:sp>
          </mc:Choice>
          <mc:Fallback xmlns="">
            <p:sp>
              <p:nvSpPr>
                <p:cNvPr id="25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240" y="3027599"/>
                  <a:ext cx="345113" cy="309991"/>
                </a:xfrm>
                <a:prstGeom prst="rect">
                  <a:avLst/>
                </a:prstGeom>
                <a:blipFill>
                  <a:blip r:embed="rId9"/>
                  <a:stretch>
                    <a:fillRect l="-42857" r="-53571" b="-11153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64" y="13068300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0EA9110-9720-3600-A289-022C0EA38156}"/>
                  </a:ext>
                </a:extLst>
              </p:cNvPr>
              <p:cNvSpPr/>
              <p:nvPr/>
            </p:nvSpPr>
            <p:spPr>
              <a:xfrm>
                <a:off x="3169517" y="8587360"/>
                <a:ext cx="8146473" cy="2831544"/>
              </a:xfrm>
              <a:custGeom>
                <a:avLst/>
                <a:gdLst>
                  <a:gd name="connsiteX0" fmla="*/ 0 w 8146473"/>
                  <a:gd name="connsiteY0" fmla="*/ 0 h 2831544"/>
                  <a:gd name="connsiteX1" fmla="*/ 597408 w 8146473"/>
                  <a:gd name="connsiteY1" fmla="*/ 0 h 2831544"/>
                  <a:gd name="connsiteX2" fmla="*/ 1031887 w 8146473"/>
                  <a:gd name="connsiteY2" fmla="*/ 0 h 2831544"/>
                  <a:gd name="connsiteX3" fmla="*/ 1873689 w 8146473"/>
                  <a:gd name="connsiteY3" fmla="*/ 0 h 2831544"/>
                  <a:gd name="connsiteX4" fmla="*/ 2471097 w 8146473"/>
                  <a:gd name="connsiteY4" fmla="*/ 0 h 2831544"/>
                  <a:gd name="connsiteX5" fmla="*/ 3068505 w 8146473"/>
                  <a:gd name="connsiteY5" fmla="*/ 0 h 2831544"/>
                  <a:gd name="connsiteX6" fmla="*/ 3910307 w 8146473"/>
                  <a:gd name="connsiteY6" fmla="*/ 0 h 2831544"/>
                  <a:gd name="connsiteX7" fmla="*/ 4426250 w 8146473"/>
                  <a:gd name="connsiteY7" fmla="*/ 0 h 2831544"/>
                  <a:gd name="connsiteX8" fmla="*/ 5268053 w 8146473"/>
                  <a:gd name="connsiteY8" fmla="*/ 0 h 2831544"/>
                  <a:gd name="connsiteX9" fmla="*/ 6109855 w 8146473"/>
                  <a:gd name="connsiteY9" fmla="*/ 0 h 2831544"/>
                  <a:gd name="connsiteX10" fmla="*/ 6788728 w 8146473"/>
                  <a:gd name="connsiteY10" fmla="*/ 0 h 2831544"/>
                  <a:gd name="connsiteX11" fmla="*/ 8146473 w 8146473"/>
                  <a:gd name="connsiteY11" fmla="*/ 0 h 2831544"/>
                  <a:gd name="connsiteX12" fmla="*/ 8146473 w 8146473"/>
                  <a:gd name="connsiteY12" fmla="*/ 537993 h 2831544"/>
                  <a:gd name="connsiteX13" fmla="*/ 8146473 w 8146473"/>
                  <a:gd name="connsiteY13" fmla="*/ 1019356 h 2831544"/>
                  <a:gd name="connsiteX14" fmla="*/ 8146473 w 8146473"/>
                  <a:gd name="connsiteY14" fmla="*/ 1585665 h 2831544"/>
                  <a:gd name="connsiteX15" fmla="*/ 8146473 w 8146473"/>
                  <a:gd name="connsiteY15" fmla="*/ 2151973 h 2831544"/>
                  <a:gd name="connsiteX16" fmla="*/ 8146473 w 8146473"/>
                  <a:gd name="connsiteY16" fmla="*/ 2831544 h 2831544"/>
                  <a:gd name="connsiteX17" fmla="*/ 7386136 w 8146473"/>
                  <a:gd name="connsiteY17" fmla="*/ 2831544 h 2831544"/>
                  <a:gd name="connsiteX18" fmla="*/ 6707263 w 8146473"/>
                  <a:gd name="connsiteY18" fmla="*/ 2831544 h 2831544"/>
                  <a:gd name="connsiteX19" fmla="*/ 6272784 w 8146473"/>
                  <a:gd name="connsiteY19" fmla="*/ 2831544 h 2831544"/>
                  <a:gd name="connsiteX20" fmla="*/ 5756841 w 8146473"/>
                  <a:gd name="connsiteY20" fmla="*/ 2831544 h 2831544"/>
                  <a:gd name="connsiteX21" fmla="*/ 4915039 w 8146473"/>
                  <a:gd name="connsiteY21" fmla="*/ 2831544 h 2831544"/>
                  <a:gd name="connsiteX22" fmla="*/ 4236166 w 8146473"/>
                  <a:gd name="connsiteY22" fmla="*/ 2831544 h 2831544"/>
                  <a:gd name="connsiteX23" fmla="*/ 3720223 w 8146473"/>
                  <a:gd name="connsiteY23" fmla="*/ 2831544 h 2831544"/>
                  <a:gd name="connsiteX24" fmla="*/ 3041350 w 8146473"/>
                  <a:gd name="connsiteY24" fmla="*/ 2831544 h 2831544"/>
                  <a:gd name="connsiteX25" fmla="*/ 2606871 w 8146473"/>
                  <a:gd name="connsiteY25" fmla="*/ 2831544 h 2831544"/>
                  <a:gd name="connsiteX26" fmla="*/ 2172393 w 8146473"/>
                  <a:gd name="connsiteY26" fmla="*/ 2831544 h 2831544"/>
                  <a:gd name="connsiteX27" fmla="*/ 1493520 w 8146473"/>
                  <a:gd name="connsiteY27" fmla="*/ 2831544 h 2831544"/>
                  <a:gd name="connsiteX28" fmla="*/ 977577 w 8146473"/>
                  <a:gd name="connsiteY28" fmla="*/ 2831544 h 2831544"/>
                  <a:gd name="connsiteX29" fmla="*/ 0 w 8146473"/>
                  <a:gd name="connsiteY29" fmla="*/ 2831544 h 2831544"/>
                  <a:gd name="connsiteX30" fmla="*/ 0 w 8146473"/>
                  <a:gd name="connsiteY30" fmla="*/ 2321866 h 2831544"/>
                  <a:gd name="connsiteX31" fmla="*/ 0 w 8146473"/>
                  <a:gd name="connsiteY31" fmla="*/ 1840504 h 2831544"/>
                  <a:gd name="connsiteX32" fmla="*/ 0 w 8146473"/>
                  <a:gd name="connsiteY32" fmla="*/ 1245879 h 2831544"/>
                  <a:gd name="connsiteX33" fmla="*/ 0 w 8146473"/>
                  <a:gd name="connsiteY33" fmla="*/ 736201 h 2831544"/>
                  <a:gd name="connsiteX34" fmla="*/ 0 w 8146473"/>
                  <a:gd name="connsiteY34" fmla="*/ 0 h 2831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8146473" h="2831544" extrusionOk="0">
                    <a:moveTo>
                      <a:pt x="0" y="0"/>
                    </a:moveTo>
                    <a:cubicBezTo>
                      <a:pt x="294039" y="15553"/>
                      <a:pt x="436637" y="14325"/>
                      <a:pt x="597408" y="0"/>
                    </a:cubicBezTo>
                    <a:cubicBezTo>
                      <a:pt x="758179" y="-14325"/>
                      <a:pt x="933737" y="-12914"/>
                      <a:pt x="1031887" y="0"/>
                    </a:cubicBezTo>
                    <a:cubicBezTo>
                      <a:pt x="1130037" y="12914"/>
                      <a:pt x="1513550" y="15045"/>
                      <a:pt x="1873689" y="0"/>
                    </a:cubicBezTo>
                    <a:cubicBezTo>
                      <a:pt x="2233828" y="-15045"/>
                      <a:pt x="2275960" y="26080"/>
                      <a:pt x="2471097" y="0"/>
                    </a:cubicBezTo>
                    <a:cubicBezTo>
                      <a:pt x="2666234" y="-26080"/>
                      <a:pt x="2932388" y="25494"/>
                      <a:pt x="3068505" y="0"/>
                    </a:cubicBezTo>
                    <a:cubicBezTo>
                      <a:pt x="3204622" y="-25494"/>
                      <a:pt x="3509118" y="-21715"/>
                      <a:pt x="3910307" y="0"/>
                    </a:cubicBezTo>
                    <a:cubicBezTo>
                      <a:pt x="4311496" y="21715"/>
                      <a:pt x="4244338" y="-9557"/>
                      <a:pt x="4426250" y="0"/>
                    </a:cubicBezTo>
                    <a:cubicBezTo>
                      <a:pt x="4608162" y="9557"/>
                      <a:pt x="4944977" y="28448"/>
                      <a:pt x="5268053" y="0"/>
                    </a:cubicBezTo>
                    <a:cubicBezTo>
                      <a:pt x="5591129" y="-28448"/>
                      <a:pt x="5745305" y="-6233"/>
                      <a:pt x="6109855" y="0"/>
                    </a:cubicBezTo>
                    <a:cubicBezTo>
                      <a:pt x="6474405" y="6233"/>
                      <a:pt x="6638281" y="-11236"/>
                      <a:pt x="6788728" y="0"/>
                    </a:cubicBezTo>
                    <a:cubicBezTo>
                      <a:pt x="6939175" y="11236"/>
                      <a:pt x="7654431" y="40541"/>
                      <a:pt x="8146473" y="0"/>
                    </a:cubicBezTo>
                    <a:cubicBezTo>
                      <a:pt x="8147685" y="170400"/>
                      <a:pt x="8161773" y="390254"/>
                      <a:pt x="8146473" y="537993"/>
                    </a:cubicBezTo>
                    <a:cubicBezTo>
                      <a:pt x="8131173" y="685732"/>
                      <a:pt x="8149880" y="826731"/>
                      <a:pt x="8146473" y="1019356"/>
                    </a:cubicBezTo>
                    <a:cubicBezTo>
                      <a:pt x="8143066" y="1211981"/>
                      <a:pt x="8156375" y="1442552"/>
                      <a:pt x="8146473" y="1585665"/>
                    </a:cubicBezTo>
                    <a:cubicBezTo>
                      <a:pt x="8136571" y="1728778"/>
                      <a:pt x="8137220" y="1976659"/>
                      <a:pt x="8146473" y="2151973"/>
                    </a:cubicBezTo>
                    <a:cubicBezTo>
                      <a:pt x="8155726" y="2327287"/>
                      <a:pt x="8154747" y="2521749"/>
                      <a:pt x="8146473" y="2831544"/>
                    </a:cubicBezTo>
                    <a:cubicBezTo>
                      <a:pt x="7782960" y="2806369"/>
                      <a:pt x="7690467" y="2798118"/>
                      <a:pt x="7386136" y="2831544"/>
                    </a:cubicBezTo>
                    <a:cubicBezTo>
                      <a:pt x="7081805" y="2864970"/>
                      <a:pt x="7015113" y="2845589"/>
                      <a:pt x="6707263" y="2831544"/>
                    </a:cubicBezTo>
                    <a:cubicBezTo>
                      <a:pt x="6399413" y="2817499"/>
                      <a:pt x="6377697" y="2838358"/>
                      <a:pt x="6272784" y="2831544"/>
                    </a:cubicBezTo>
                    <a:cubicBezTo>
                      <a:pt x="6167871" y="2824730"/>
                      <a:pt x="5864629" y="2813945"/>
                      <a:pt x="5756841" y="2831544"/>
                    </a:cubicBezTo>
                    <a:cubicBezTo>
                      <a:pt x="5649053" y="2849143"/>
                      <a:pt x="5263907" y="2811953"/>
                      <a:pt x="4915039" y="2831544"/>
                    </a:cubicBezTo>
                    <a:cubicBezTo>
                      <a:pt x="4566171" y="2851135"/>
                      <a:pt x="4431043" y="2807074"/>
                      <a:pt x="4236166" y="2831544"/>
                    </a:cubicBezTo>
                    <a:cubicBezTo>
                      <a:pt x="4041289" y="2856014"/>
                      <a:pt x="3853221" y="2838201"/>
                      <a:pt x="3720223" y="2831544"/>
                    </a:cubicBezTo>
                    <a:cubicBezTo>
                      <a:pt x="3587225" y="2824887"/>
                      <a:pt x="3355101" y="2808133"/>
                      <a:pt x="3041350" y="2831544"/>
                    </a:cubicBezTo>
                    <a:cubicBezTo>
                      <a:pt x="2727599" y="2854955"/>
                      <a:pt x="2797766" y="2823972"/>
                      <a:pt x="2606871" y="2831544"/>
                    </a:cubicBezTo>
                    <a:cubicBezTo>
                      <a:pt x="2415976" y="2839116"/>
                      <a:pt x="2343772" y="2849579"/>
                      <a:pt x="2172393" y="2831544"/>
                    </a:cubicBezTo>
                    <a:cubicBezTo>
                      <a:pt x="2001014" y="2813509"/>
                      <a:pt x="1783016" y="2830787"/>
                      <a:pt x="1493520" y="2831544"/>
                    </a:cubicBezTo>
                    <a:cubicBezTo>
                      <a:pt x="1204024" y="2832301"/>
                      <a:pt x="1151039" y="2847662"/>
                      <a:pt x="977577" y="2831544"/>
                    </a:cubicBezTo>
                    <a:cubicBezTo>
                      <a:pt x="804115" y="2815426"/>
                      <a:pt x="458518" y="2842536"/>
                      <a:pt x="0" y="2831544"/>
                    </a:cubicBezTo>
                    <a:cubicBezTo>
                      <a:pt x="-22302" y="2647222"/>
                      <a:pt x="6409" y="2433737"/>
                      <a:pt x="0" y="2321866"/>
                    </a:cubicBezTo>
                    <a:cubicBezTo>
                      <a:pt x="-6409" y="2209995"/>
                      <a:pt x="10252" y="2015609"/>
                      <a:pt x="0" y="1840504"/>
                    </a:cubicBezTo>
                    <a:cubicBezTo>
                      <a:pt x="-10252" y="1665399"/>
                      <a:pt x="25520" y="1400764"/>
                      <a:pt x="0" y="1245879"/>
                    </a:cubicBezTo>
                    <a:cubicBezTo>
                      <a:pt x="-25520" y="1090994"/>
                      <a:pt x="-24472" y="926717"/>
                      <a:pt x="0" y="736201"/>
                    </a:cubicBezTo>
                    <a:cubicBezTo>
                      <a:pt x="24472" y="545685"/>
                      <a:pt x="9032" y="366538"/>
                      <a:pt x="0" y="0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FF644E"/>
                </a:solidFill>
                <a:miter lim="400000"/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rgbClr val="FF644E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Assumptions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644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36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644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 Medium"/>
                                <a:cs typeface="Helvetica Neue Medium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36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644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 Medium"/>
                                <a:cs typeface="Helvetica Neue Medium"/>
                                <a:sym typeface="Helvetica Neue Medium"/>
                              </a:rPr>
                              <m:t>𝒁</m:t>
                            </m:r>
                            <m:d>
                              <m:dPr>
                                <m:ctrlPr>
                                  <a:rPr kumimoji="0" lang="en-US" sz="3600" b="1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644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dPr>
                              <m:e>
                                <m:r>
                                  <a:rPr kumimoji="0" lang="en-US" sz="3600" b="1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644E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𝒕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kumimoji="0" lang="en-US" sz="36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644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𝒕</m:t>
                        </m:r>
                      </m:sub>
                    </m:sSub>
                  </m:oMath>
                </a14:m>
                <a:endParaRPr kumimoji="0" lang="en-US" sz="3600" b="1" i="0" u="none" strike="noStrike" cap="none" spc="0" normalizeH="0" baseline="0" dirty="0">
                  <a:ln>
                    <a:noFill/>
                  </a:ln>
                  <a:solidFill>
                    <a:srgbClr val="FF644E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457200" marR="0" indent="-457200" defTabSz="825500" rtl="0" fontAlgn="auto" latinLnBrk="0" hangingPunct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644E"/>
                  </a:buClr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3600" dirty="0">
                    <a:solidFill>
                      <a:schemeClr val="tx1"/>
                    </a:solidFill>
                    <a:ea typeface="Helvetica Neue Medium"/>
                    <a:cs typeface="Helvetica Neue Medium"/>
                    <a:sym typeface="Helvetica Neue Medium"/>
                  </a:rPr>
                  <a:t>Countable state space</a:t>
                </a:r>
              </a:p>
              <a:p>
                <a:pPr marL="457200" marR="0" indent="-457200" defTabSz="825500" rtl="0" fontAlgn="auto" latinLnBrk="0" hangingPunct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644E"/>
                  </a:buClr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Stationary distribution exists</a:t>
                </a:r>
              </a:p>
              <a:p>
                <a:pPr marL="457200" marR="0" indent="-457200" defTabSz="825500" rtl="0" fontAlgn="auto" latinLnBrk="0" hangingPunct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644E"/>
                  </a:buClr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3600" dirty="0">
                    <a:solidFill>
                      <a:schemeClr val="tx1"/>
                    </a:solidFill>
                    <a:ea typeface="Helvetica Neue Medium"/>
                    <a:cs typeface="Helvetica Neue Medium"/>
                    <a:sym typeface="Helvetica Neue Medium"/>
                  </a:rPr>
                  <a:t>Bounded: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𝜆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𝑚𝑎𝑥</m:t>
                        </m:r>
                      </m:sub>
                    </m:sSub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&lt;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∞</m:t>
                    </m:r>
                  </m:oMath>
                </a14:m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𝜇</m:t>
                        </m:r>
                      </m:e>
                      <m:sub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𝑚𝑎𝑥</m:t>
                        </m:r>
                      </m:sub>
                    </m:sSub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&lt;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∞</m:t>
                    </m:r>
                  </m:oMath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0EA9110-9720-3600-A289-022C0EA38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517" y="8587360"/>
                <a:ext cx="8146473" cy="2831544"/>
              </a:xfrm>
              <a:prstGeom prst="rect">
                <a:avLst/>
              </a:prstGeom>
              <a:blipFill>
                <a:blip r:embed="rId10"/>
                <a:stretch>
                  <a:fillRect l="-2006" b="-5652"/>
                </a:stretch>
              </a:blipFill>
              <a:ln w="38100" cap="flat">
                <a:solidFill>
                  <a:srgbClr val="FF644E"/>
                </a:solidFill>
                <a:miter lim="400000"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146473"/>
                          <a:gd name="connsiteY0" fmla="*/ 0 h 2831544"/>
                          <a:gd name="connsiteX1" fmla="*/ 597408 w 8146473"/>
                          <a:gd name="connsiteY1" fmla="*/ 0 h 2831544"/>
                          <a:gd name="connsiteX2" fmla="*/ 1031887 w 8146473"/>
                          <a:gd name="connsiteY2" fmla="*/ 0 h 2831544"/>
                          <a:gd name="connsiteX3" fmla="*/ 1873689 w 8146473"/>
                          <a:gd name="connsiteY3" fmla="*/ 0 h 2831544"/>
                          <a:gd name="connsiteX4" fmla="*/ 2471097 w 8146473"/>
                          <a:gd name="connsiteY4" fmla="*/ 0 h 2831544"/>
                          <a:gd name="connsiteX5" fmla="*/ 3068505 w 8146473"/>
                          <a:gd name="connsiteY5" fmla="*/ 0 h 2831544"/>
                          <a:gd name="connsiteX6" fmla="*/ 3910307 w 8146473"/>
                          <a:gd name="connsiteY6" fmla="*/ 0 h 2831544"/>
                          <a:gd name="connsiteX7" fmla="*/ 4426250 w 8146473"/>
                          <a:gd name="connsiteY7" fmla="*/ 0 h 2831544"/>
                          <a:gd name="connsiteX8" fmla="*/ 5268053 w 8146473"/>
                          <a:gd name="connsiteY8" fmla="*/ 0 h 2831544"/>
                          <a:gd name="connsiteX9" fmla="*/ 6109855 w 8146473"/>
                          <a:gd name="connsiteY9" fmla="*/ 0 h 2831544"/>
                          <a:gd name="connsiteX10" fmla="*/ 6788728 w 8146473"/>
                          <a:gd name="connsiteY10" fmla="*/ 0 h 2831544"/>
                          <a:gd name="connsiteX11" fmla="*/ 8146473 w 8146473"/>
                          <a:gd name="connsiteY11" fmla="*/ 0 h 2831544"/>
                          <a:gd name="connsiteX12" fmla="*/ 8146473 w 8146473"/>
                          <a:gd name="connsiteY12" fmla="*/ 537993 h 2831544"/>
                          <a:gd name="connsiteX13" fmla="*/ 8146473 w 8146473"/>
                          <a:gd name="connsiteY13" fmla="*/ 1019356 h 2831544"/>
                          <a:gd name="connsiteX14" fmla="*/ 8146473 w 8146473"/>
                          <a:gd name="connsiteY14" fmla="*/ 1585665 h 2831544"/>
                          <a:gd name="connsiteX15" fmla="*/ 8146473 w 8146473"/>
                          <a:gd name="connsiteY15" fmla="*/ 2151973 h 2831544"/>
                          <a:gd name="connsiteX16" fmla="*/ 8146473 w 8146473"/>
                          <a:gd name="connsiteY16" fmla="*/ 2831544 h 2831544"/>
                          <a:gd name="connsiteX17" fmla="*/ 7386136 w 8146473"/>
                          <a:gd name="connsiteY17" fmla="*/ 2831544 h 2831544"/>
                          <a:gd name="connsiteX18" fmla="*/ 6707263 w 8146473"/>
                          <a:gd name="connsiteY18" fmla="*/ 2831544 h 2831544"/>
                          <a:gd name="connsiteX19" fmla="*/ 6272784 w 8146473"/>
                          <a:gd name="connsiteY19" fmla="*/ 2831544 h 2831544"/>
                          <a:gd name="connsiteX20" fmla="*/ 5756841 w 8146473"/>
                          <a:gd name="connsiteY20" fmla="*/ 2831544 h 2831544"/>
                          <a:gd name="connsiteX21" fmla="*/ 4915039 w 8146473"/>
                          <a:gd name="connsiteY21" fmla="*/ 2831544 h 2831544"/>
                          <a:gd name="connsiteX22" fmla="*/ 4236166 w 8146473"/>
                          <a:gd name="connsiteY22" fmla="*/ 2831544 h 2831544"/>
                          <a:gd name="connsiteX23" fmla="*/ 3720223 w 8146473"/>
                          <a:gd name="connsiteY23" fmla="*/ 2831544 h 2831544"/>
                          <a:gd name="connsiteX24" fmla="*/ 3041350 w 8146473"/>
                          <a:gd name="connsiteY24" fmla="*/ 2831544 h 2831544"/>
                          <a:gd name="connsiteX25" fmla="*/ 2606871 w 8146473"/>
                          <a:gd name="connsiteY25" fmla="*/ 2831544 h 2831544"/>
                          <a:gd name="connsiteX26" fmla="*/ 2172393 w 8146473"/>
                          <a:gd name="connsiteY26" fmla="*/ 2831544 h 2831544"/>
                          <a:gd name="connsiteX27" fmla="*/ 1493520 w 8146473"/>
                          <a:gd name="connsiteY27" fmla="*/ 2831544 h 2831544"/>
                          <a:gd name="connsiteX28" fmla="*/ 977577 w 8146473"/>
                          <a:gd name="connsiteY28" fmla="*/ 2831544 h 2831544"/>
                          <a:gd name="connsiteX29" fmla="*/ 0 w 8146473"/>
                          <a:gd name="connsiteY29" fmla="*/ 2831544 h 2831544"/>
                          <a:gd name="connsiteX30" fmla="*/ 0 w 8146473"/>
                          <a:gd name="connsiteY30" fmla="*/ 2321866 h 2831544"/>
                          <a:gd name="connsiteX31" fmla="*/ 0 w 8146473"/>
                          <a:gd name="connsiteY31" fmla="*/ 1840504 h 2831544"/>
                          <a:gd name="connsiteX32" fmla="*/ 0 w 8146473"/>
                          <a:gd name="connsiteY32" fmla="*/ 1245879 h 2831544"/>
                          <a:gd name="connsiteX33" fmla="*/ 0 w 8146473"/>
                          <a:gd name="connsiteY33" fmla="*/ 736201 h 2831544"/>
                          <a:gd name="connsiteX34" fmla="*/ 0 w 8146473"/>
                          <a:gd name="connsiteY34" fmla="*/ 0 h 283154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</a:cxnLst>
                        <a:rect l="l" t="t" r="r" b="b"/>
                        <a:pathLst>
                          <a:path w="8146473" h="2831544" extrusionOk="0">
                            <a:moveTo>
                              <a:pt x="0" y="0"/>
                            </a:moveTo>
                            <a:cubicBezTo>
                              <a:pt x="294039" y="15553"/>
                              <a:pt x="436637" y="14325"/>
                              <a:pt x="597408" y="0"/>
                            </a:cubicBezTo>
                            <a:cubicBezTo>
                              <a:pt x="758179" y="-14325"/>
                              <a:pt x="933737" y="-12914"/>
                              <a:pt x="1031887" y="0"/>
                            </a:cubicBezTo>
                            <a:cubicBezTo>
                              <a:pt x="1130037" y="12914"/>
                              <a:pt x="1513550" y="15045"/>
                              <a:pt x="1873689" y="0"/>
                            </a:cubicBezTo>
                            <a:cubicBezTo>
                              <a:pt x="2233828" y="-15045"/>
                              <a:pt x="2275960" y="26080"/>
                              <a:pt x="2471097" y="0"/>
                            </a:cubicBezTo>
                            <a:cubicBezTo>
                              <a:pt x="2666234" y="-26080"/>
                              <a:pt x="2932388" y="25494"/>
                              <a:pt x="3068505" y="0"/>
                            </a:cubicBezTo>
                            <a:cubicBezTo>
                              <a:pt x="3204622" y="-25494"/>
                              <a:pt x="3509118" y="-21715"/>
                              <a:pt x="3910307" y="0"/>
                            </a:cubicBezTo>
                            <a:cubicBezTo>
                              <a:pt x="4311496" y="21715"/>
                              <a:pt x="4244338" y="-9557"/>
                              <a:pt x="4426250" y="0"/>
                            </a:cubicBezTo>
                            <a:cubicBezTo>
                              <a:pt x="4608162" y="9557"/>
                              <a:pt x="4944977" y="28448"/>
                              <a:pt x="5268053" y="0"/>
                            </a:cubicBezTo>
                            <a:cubicBezTo>
                              <a:pt x="5591129" y="-28448"/>
                              <a:pt x="5745305" y="-6233"/>
                              <a:pt x="6109855" y="0"/>
                            </a:cubicBezTo>
                            <a:cubicBezTo>
                              <a:pt x="6474405" y="6233"/>
                              <a:pt x="6638281" y="-11236"/>
                              <a:pt x="6788728" y="0"/>
                            </a:cubicBezTo>
                            <a:cubicBezTo>
                              <a:pt x="6939175" y="11236"/>
                              <a:pt x="7654431" y="40541"/>
                              <a:pt x="8146473" y="0"/>
                            </a:cubicBezTo>
                            <a:cubicBezTo>
                              <a:pt x="8147685" y="170400"/>
                              <a:pt x="8161773" y="390254"/>
                              <a:pt x="8146473" y="537993"/>
                            </a:cubicBezTo>
                            <a:cubicBezTo>
                              <a:pt x="8131173" y="685732"/>
                              <a:pt x="8149880" y="826731"/>
                              <a:pt x="8146473" y="1019356"/>
                            </a:cubicBezTo>
                            <a:cubicBezTo>
                              <a:pt x="8143066" y="1211981"/>
                              <a:pt x="8156375" y="1442552"/>
                              <a:pt x="8146473" y="1585665"/>
                            </a:cubicBezTo>
                            <a:cubicBezTo>
                              <a:pt x="8136571" y="1728778"/>
                              <a:pt x="8137220" y="1976659"/>
                              <a:pt x="8146473" y="2151973"/>
                            </a:cubicBezTo>
                            <a:cubicBezTo>
                              <a:pt x="8155726" y="2327287"/>
                              <a:pt x="8154747" y="2521749"/>
                              <a:pt x="8146473" y="2831544"/>
                            </a:cubicBezTo>
                            <a:cubicBezTo>
                              <a:pt x="7782960" y="2806369"/>
                              <a:pt x="7690467" y="2798118"/>
                              <a:pt x="7386136" y="2831544"/>
                            </a:cubicBezTo>
                            <a:cubicBezTo>
                              <a:pt x="7081805" y="2864970"/>
                              <a:pt x="7015113" y="2845589"/>
                              <a:pt x="6707263" y="2831544"/>
                            </a:cubicBezTo>
                            <a:cubicBezTo>
                              <a:pt x="6399413" y="2817499"/>
                              <a:pt x="6377697" y="2838358"/>
                              <a:pt x="6272784" y="2831544"/>
                            </a:cubicBezTo>
                            <a:cubicBezTo>
                              <a:pt x="6167871" y="2824730"/>
                              <a:pt x="5864629" y="2813945"/>
                              <a:pt x="5756841" y="2831544"/>
                            </a:cubicBezTo>
                            <a:cubicBezTo>
                              <a:pt x="5649053" y="2849143"/>
                              <a:pt x="5263907" y="2811953"/>
                              <a:pt x="4915039" y="2831544"/>
                            </a:cubicBezTo>
                            <a:cubicBezTo>
                              <a:pt x="4566171" y="2851135"/>
                              <a:pt x="4431043" y="2807074"/>
                              <a:pt x="4236166" y="2831544"/>
                            </a:cubicBezTo>
                            <a:cubicBezTo>
                              <a:pt x="4041289" y="2856014"/>
                              <a:pt x="3853221" y="2838201"/>
                              <a:pt x="3720223" y="2831544"/>
                            </a:cubicBezTo>
                            <a:cubicBezTo>
                              <a:pt x="3587225" y="2824887"/>
                              <a:pt x="3355101" y="2808133"/>
                              <a:pt x="3041350" y="2831544"/>
                            </a:cubicBezTo>
                            <a:cubicBezTo>
                              <a:pt x="2727599" y="2854955"/>
                              <a:pt x="2797766" y="2823972"/>
                              <a:pt x="2606871" y="2831544"/>
                            </a:cubicBezTo>
                            <a:cubicBezTo>
                              <a:pt x="2415976" y="2839116"/>
                              <a:pt x="2343772" y="2849579"/>
                              <a:pt x="2172393" y="2831544"/>
                            </a:cubicBezTo>
                            <a:cubicBezTo>
                              <a:pt x="2001014" y="2813509"/>
                              <a:pt x="1783016" y="2830787"/>
                              <a:pt x="1493520" y="2831544"/>
                            </a:cubicBezTo>
                            <a:cubicBezTo>
                              <a:pt x="1204024" y="2832301"/>
                              <a:pt x="1151039" y="2847662"/>
                              <a:pt x="977577" y="2831544"/>
                            </a:cubicBezTo>
                            <a:cubicBezTo>
                              <a:pt x="804115" y="2815426"/>
                              <a:pt x="458518" y="2842536"/>
                              <a:pt x="0" y="2831544"/>
                            </a:cubicBezTo>
                            <a:cubicBezTo>
                              <a:pt x="-22302" y="2647222"/>
                              <a:pt x="6409" y="2433737"/>
                              <a:pt x="0" y="2321866"/>
                            </a:cubicBezTo>
                            <a:cubicBezTo>
                              <a:pt x="-6409" y="2209995"/>
                              <a:pt x="10252" y="2015609"/>
                              <a:pt x="0" y="1840504"/>
                            </a:cubicBezTo>
                            <a:cubicBezTo>
                              <a:pt x="-10252" y="1665399"/>
                              <a:pt x="25520" y="1400764"/>
                              <a:pt x="0" y="1245879"/>
                            </a:cubicBezTo>
                            <a:cubicBezTo>
                              <a:pt x="-25520" y="1090994"/>
                              <a:pt x="-24472" y="926717"/>
                              <a:pt x="0" y="736201"/>
                            </a:cubicBezTo>
                            <a:cubicBezTo>
                              <a:pt x="24472" y="545685"/>
                              <a:pt x="9032" y="366538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3ABC74D-5D82-BD90-FA25-49D2A6A53413}"/>
              </a:ext>
            </a:extLst>
          </p:cNvPr>
          <p:cNvGrpSpPr/>
          <p:nvPr/>
        </p:nvGrpSpPr>
        <p:grpSpPr>
          <a:xfrm>
            <a:off x="14358249" y="7881076"/>
            <a:ext cx="7479942" cy="5245624"/>
            <a:chOff x="14358249" y="7881076"/>
            <a:chExt cx="7479942" cy="52456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Markov chain"/>
                <p:cNvSpPr txBox="1"/>
                <p:nvPr/>
              </p:nvSpPr>
              <p:spPr>
                <a:xfrm>
                  <a:off x="14358249" y="7881076"/>
                  <a:ext cx="4368078" cy="6377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>
                    <a:defRPr sz="3000">
                      <a:solidFill>
                        <a:schemeClr val="accent5"/>
                      </a:solidFill>
                    </a:defRPr>
                  </a:pPr>
                  <a14:m>
                    <m:oMath xmlns:m="http://schemas.openxmlformats.org/officeDocument/2006/math"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</m:oMath>
                  </a14:m>
                  <a:r>
                    <a:rPr dirty="0"/>
                    <a:t>Markov chain</a:t>
                  </a:r>
                  <a:endParaRPr dirty="0">
                    <a:solidFill>
                      <a:srgbClr val="FF644E"/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Markov chai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58249" y="7881076"/>
                  <a:ext cx="4368078" cy="637762"/>
                </a:xfrm>
                <a:prstGeom prst="rect">
                  <a:avLst/>
                </a:prstGeom>
                <a:blipFill>
                  <a:blip r:embed="rId11"/>
                  <a:stretch>
                    <a:fillRect l="-2319" t="-3922" r="-6087" b="-23529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,"/>
                <p:cNvSpPr txBox="1"/>
                <p:nvPr/>
              </p:nvSpPr>
              <p:spPr>
                <a:xfrm>
                  <a:off x="15260354" y="11747036"/>
                  <a:ext cx="6552877" cy="13796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>
                    <a:spcBef>
                      <a:spcPts val="1500"/>
                    </a:spcBef>
                    <a:defRPr sz="3000">
                      <a:solidFill>
                        <a:schemeClr val="accent5"/>
                      </a:solidFill>
                    </a:defRP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a14:m>
                  <a:r>
                    <a:t>,    </a:t>
                  </a:r>
                  <a14:m>
                    <m:oMath xmlns:m="http://schemas.openxmlformats.org/officeDocument/2006/math"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a14:m>
                  <a:r>
                    <a:t> </a:t>
                  </a:r>
                  <a:endParaRPr>
                    <a:solidFill>
                      <a:srgbClr val="FF644E"/>
                    </a:solidFill>
                  </a:endParaRPr>
                </a:p>
              </p:txBody>
            </p:sp>
          </mc:Choice>
          <mc:Fallback xmlns="">
            <p:sp>
              <p:nvSpPr>
                <p:cNvPr id="210" name=",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0354" y="11747036"/>
                  <a:ext cx="6552877" cy="1379664"/>
                </a:xfrm>
                <a:prstGeom prst="rect">
                  <a:avLst/>
                </a:prstGeom>
                <a:blipFill>
                  <a:blip r:embed="rId12"/>
                  <a:stretch>
                    <a:fillRect l="-1741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81D7AE75-8622-6025-C0C3-F22EC9CB628E}"/>
                </a:ext>
              </a:extLst>
            </p:cNvPr>
            <p:cNvGrpSpPr/>
            <p:nvPr/>
          </p:nvGrpSpPr>
          <p:grpSpPr>
            <a:xfrm>
              <a:off x="15235395" y="8914400"/>
              <a:ext cx="6602796" cy="2177465"/>
              <a:chOff x="15235395" y="8914400"/>
              <a:chExt cx="6602796" cy="2177465"/>
            </a:xfrm>
          </p:grpSpPr>
          <p:sp>
            <p:nvSpPr>
              <p:cNvPr id="187" name="Circle"/>
              <p:cNvSpPr/>
              <p:nvPr/>
            </p:nvSpPr>
            <p:spPr>
              <a:xfrm>
                <a:off x="15235395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8" name="Circle"/>
              <p:cNvSpPr/>
              <p:nvPr/>
            </p:nvSpPr>
            <p:spPr>
              <a:xfrm>
                <a:off x="16663474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9" name="Circle"/>
              <p:cNvSpPr/>
              <p:nvPr/>
            </p:nvSpPr>
            <p:spPr>
              <a:xfrm>
                <a:off x="18091553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0" name="Circle"/>
              <p:cNvSpPr/>
              <p:nvPr/>
            </p:nvSpPr>
            <p:spPr>
              <a:xfrm>
                <a:off x="15923204" y="10207884"/>
                <a:ext cx="890479" cy="883981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1" name="Circle"/>
              <p:cNvSpPr/>
              <p:nvPr/>
            </p:nvSpPr>
            <p:spPr>
              <a:xfrm>
                <a:off x="18772119" y="10207884"/>
                <a:ext cx="890479" cy="883981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2" name="Circle"/>
              <p:cNvSpPr/>
              <p:nvPr/>
            </p:nvSpPr>
            <p:spPr>
              <a:xfrm>
                <a:off x="19519633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3" name="Circle"/>
              <p:cNvSpPr/>
              <p:nvPr/>
            </p:nvSpPr>
            <p:spPr>
              <a:xfrm>
                <a:off x="20947712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cxnSp>
            <p:nvCxnSpPr>
              <p:cNvPr id="5" name="Curved Connector 4">
                <a:extLst>
                  <a:ext uri="{FF2B5EF4-FFF2-40B4-BE49-F238E27FC236}">
                    <a16:creationId xmlns:a16="http://schemas.microsoft.com/office/drawing/2014/main" id="{790FA21E-C08B-AC08-B99D-8E90AA0A0726}"/>
                  </a:ext>
                </a:extLst>
              </p:cNvPr>
              <p:cNvCxnSpPr>
                <a:cxnSpLocks/>
                <a:stCxn id="187" idx="7"/>
                <a:endCxn id="188" idx="1"/>
              </p:cNvCxnSpPr>
              <p:nvPr/>
            </p:nvCxnSpPr>
            <p:spPr>
              <a:xfrm rot="5400000" flipH="1" flipV="1">
                <a:off x="16394674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" name="Curved Connector 8">
                <a:extLst>
                  <a:ext uri="{FF2B5EF4-FFF2-40B4-BE49-F238E27FC236}">
                    <a16:creationId xmlns:a16="http://schemas.microsoft.com/office/drawing/2014/main" id="{B7FF53D8-E02A-D431-7DD1-F3F3BA9BB87E}"/>
                  </a:ext>
                </a:extLst>
              </p:cNvPr>
              <p:cNvCxnSpPr>
                <a:cxnSpLocks/>
                <a:stCxn id="188" idx="3"/>
                <a:endCxn id="187" idx="5"/>
              </p:cNvCxnSpPr>
              <p:nvPr/>
            </p:nvCxnSpPr>
            <p:spPr>
              <a:xfrm rot="5400000">
                <a:off x="16394674" y="9269716"/>
                <a:ext cx="12700" cy="798416"/>
              </a:xfrm>
              <a:prstGeom prst="curvedConnector3">
                <a:avLst>
                  <a:gd name="adj1" fmla="val 11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" name="Curved Connector 17">
                <a:extLst>
                  <a:ext uri="{FF2B5EF4-FFF2-40B4-BE49-F238E27FC236}">
                    <a16:creationId xmlns:a16="http://schemas.microsoft.com/office/drawing/2014/main" id="{80266D5B-D33A-8346-4C7B-495E54D8AD4D}"/>
                  </a:ext>
                </a:extLst>
              </p:cNvPr>
              <p:cNvCxnSpPr>
                <a:cxnSpLocks/>
                <a:stCxn id="188" idx="7"/>
                <a:endCxn id="189" idx="1"/>
              </p:cNvCxnSpPr>
              <p:nvPr/>
            </p:nvCxnSpPr>
            <p:spPr>
              <a:xfrm rot="5400000" flipH="1" flipV="1">
                <a:off x="17822753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2" name="Curved Connector 21">
                <a:extLst>
                  <a:ext uri="{FF2B5EF4-FFF2-40B4-BE49-F238E27FC236}">
                    <a16:creationId xmlns:a16="http://schemas.microsoft.com/office/drawing/2014/main" id="{421CDC58-49CF-EC2F-9202-F955159DE10C}"/>
                  </a:ext>
                </a:extLst>
              </p:cNvPr>
              <p:cNvCxnSpPr>
                <a:cxnSpLocks/>
                <a:stCxn id="189" idx="3"/>
                <a:endCxn id="188" idx="5"/>
              </p:cNvCxnSpPr>
              <p:nvPr/>
            </p:nvCxnSpPr>
            <p:spPr>
              <a:xfrm rot="5400000">
                <a:off x="17822753" y="9269716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6" name="Curved Connector 25">
                <a:extLst>
                  <a:ext uri="{FF2B5EF4-FFF2-40B4-BE49-F238E27FC236}">
                    <a16:creationId xmlns:a16="http://schemas.microsoft.com/office/drawing/2014/main" id="{3E189367-6A98-508C-FB47-AFB293D5A2F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0700535" y="86319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7" name="Curved Connector 26">
                <a:extLst>
                  <a:ext uri="{FF2B5EF4-FFF2-40B4-BE49-F238E27FC236}">
                    <a16:creationId xmlns:a16="http://schemas.microsoft.com/office/drawing/2014/main" id="{2B561780-1E1D-EDB6-7208-FF66FA241D1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19261644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8" name="Curved Connector 27">
                <a:extLst>
                  <a:ext uri="{FF2B5EF4-FFF2-40B4-BE49-F238E27FC236}">
                    <a16:creationId xmlns:a16="http://schemas.microsoft.com/office/drawing/2014/main" id="{74E5A632-EB52-A131-F44D-3F07EC7A6E30}"/>
                  </a:ext>
                </a:extLst>
              </p:cNvPr>
              <p:cNvCxnSpPr>
                <a:cxnSpLocks/>
                <a:stCxn id="192" idx="3"/>
                <a:endCxn id="189" idx="5"/>
              </p:cNvCxnSpPr>
              <p:nvPr/>
            </p:nvCxnSpPr>
            <p:spPr>
              <a:xfrm rot="5400000">
                <a:off x="19250833" y="9269716"/>
                <a:ext cx="12700" cy="798417"/>
              </a:xfrm>
              <a:prstGeom prst="curvedConnector3">
                <a:avLst>
                  <a:gd name="adj1" fmla="val 819323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Curved Connector 31">
                <a:extLst>
                  <a:ext uri="{FF2B5EF4-FFF2-40B4-BE49-F238E27FC236}">
                    <a16:creationId xmlns:a16="http://schemas.microsoft.com/office/drawing/2014/main" id="{0EEB0C57-1EB2-A8BA-CB03-740009CD84BE}"/>
                  </a:ext>
                </a:extLst>
              </p:cNvPr>
              <p:cNvCxnSpPr>
                <a:cxnSpLocks/>
                <a:stCxn id="191" idx="3"/>
                <a:endCxn id="190" idx="5"/>
              </p:cNvCxnSpPr>
              <p:nvPr/>
            </p:nvCxnSpPr>
            <p:spPr>
              <a:xfrm rot="5400000">
                <a:off x="17792901" y="9852783"/>
                <a:ext cx="12700" cy="2219252"/>
              </a:xfrm>
              <a:prstGeom prst="curvedConnector3">
                <a:avLst>
                  <a:gd name="adj1" fmla="val 28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9" name="Curved Connector 38">
                <a:extLst>
                  <a:ext uri="{FF2B5EF4-FFF2-40B4-BE49-F238E27FC236}">
                    <a16:creationId xmlns:a16="http://schemas.microsoft.com/office/drawing/2014/main" id="{D335FAA5-359E-38EC-3680-1C00BE8800F7}"/>
                  </a:ext>
                </a:extLst>
              </p:cNvPr>
              <p:cNvCxnSpPr>
                <a:cxnSpLocks/>
                <a:stCxn id="192" idx="4"/>
                <a:endCxn id="191" idx="7"/>
              </p:cNvCxnSpPr>
              <p:nvPr/>
            </p:nvCxnSpPr>
            <p:spPr>
              <a:xfrm rot="5400000">
                <a:off x="19479052" y="9851519"/>
                <a:ext cx="538960" cy="432683"/>
              </a:xfrm>
              <a:prstGeom prst="curvedConnector3">
                <a:avLst>
                  <a:gd name="adj1" fmla="val 38217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4" name="Curved Connector 43">
                <a:extLst>
                  <a:ext uri="{FF2B5EF4-FFF2-40B4-BE49-F238E27FC236}">
                    <a16:creationId xmlns:a16="http://schemas.microsoft.com/office/drawing/2014/main" id="{86A472F7-B575-C57E-EE53-93064E5FEA32}"/>
                  </a:ext>
                </a:extLst>
              </p:cNvPr>
              <p:cNvCxnSpPr>
                <a:cxnSpLocks/>
                <a:stCxn id="191" idx="6"/>
                <a:endCxn id="193" idx="4"/>
              </p:cNvCxnSpPr>
              <p:nvPr/>
            </p:nvCxnSpPr>
            <p:spPr>
              <a:xfrm flipV="1">
                <a:off x="19662598" y="9798380"/>
                <a:ext cx="1730354" cy="851495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2" name="Curved Connector 51">
                <a:extLst>
                  <a:ext uri="{FF2B5EF4-FFF2-40B4-BE49-F238E27FC236}">
                    <a16:creationId xmlns:a16="http://schemas.microsoft.com/office/drawing/2014/main" id="{1FEAABA0-9FB0-D02E-295B-B8F427834D0A}"/>
                  </a:ext>
                </a:extLst>
              </p:cNvPr>
              <p:cNvCxnSpPr>
                <a:cxnSpLocks/>
                <a:stCxn id="193" idx="3"/>
              </p:cNvCxnSpPr>
              <p:nvPr/>
            </p:nvCxnSpPr>
            <p:spPr>
              <a:xfrm rot="5400000">
                <a:off x="19967646" y="9312974"/>
                <a:ext cx="754525" cy="1466425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6" name="Curved Connector 55">
                <a:extLst>
                  <a:ext uri="{FF2B5EF4-FFF2-40B4-BE49-F238E27FC236}">
                    <a16:creationId xmlns:a16="http://schemas.microsoft.com/office/drawing/2014/main" id="{8E52A6D9-CE6C-032C-5246-F2F28460394C}"/>
                  </a:ext>
                </a:extLst>
              </p:cNvPr>
              <p:cNvCxnSpPr>
                <a:cxnSpLocks/>
                <a:stCxn id="190" idx="1"/>
                <a:endCxn id="187" idx="4"/>
              </p:cNvCxnSpPr>
              <p:nvPr/>
            </p:nvCxnSpPr>
            <p:spPr>
              <a:xfrm rot="16200000" flipV="1">
                <a:off x="15597644" y="9881371"/>
                <a:ext cx="538960" cy="372977"/>
              </a:xfrm>
              <a:prstGeom prst="curvedConnector3">
                <a:avLst>
                  <a:gd name="adj1" fmla="val 50000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9" name="Curved Connector 58">
                <a:extLst>
                  <a:ext uri="{FF2B5EF4-FFF2-40B4-BE49-F238E27FC236}">
                    <a16:creationId xmlns:a16="http://schemas.microsoft.com/office/drawing/2014/main" id="{CF8EDC00-8105-DFD8-D667-0B15F2F90770}"/>
                  </a:ext>
                </a:extLst>
              </p:cNvPr>
              <p:cNvCxnSpPr>
                <a:cxnSpLocks/>
                <a:stCxn id="187" idx="3"/>
                <a:endCxn id="190" idx="2"/>
              </p:cNvCxnSpPr>
              <p:nvPr/>
            </p:nvCxnSpPr>
            <p:spPr>
              <a:xfrm rot="16200000" flipH="1">
                <a:off x="15154028" y="9880698"/>
                <a:ext cx="980951" cy="557401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1" name="Curved Connector 130">
                <a:extLst>
                  <a:ext uri="{FF2B5EF4-FFF2-40B4-BE49-F238E27FC236}">
                    <a16:creationId xmlns:a16="http://schemas.microsoft.com/office/drawing/2014/main" id="{28350FD0-9673-39EB-0A8D-46A33ED076DA}"/>
                  </a:ext>
                </a:extLst>
              </p:cNvPr>
              <p:cNvCxnSpPr>
                <a:cxnSpLocks/>
                <a:stCxn id="190" idx="7"/>
                <a:endCxn id="191" idx="1"/>
              </p:cNvCxnSpPr>
              <p:nvPr/>
            </p:nvCxnSpPr>
            <p:spPr>
              <a:xfrm rot="5400000" flipH="1" flipV="1">
                <a:off x="17792901" y="9227714"/>
                <a:ext cx="12700" cy="2219252"/>
              </a:xfrm>
              <a:prstGeom prst="curvedConnector3">
                <a:avLst>
                  <a:gd name="adj1" fmla="val 12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1" uiExpand="1" build="p" bldLvl="5" animBg="1" advAuto="0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Asymptotic Distribution of Queue Length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Asymptotic Distribution of Queue Lengths</a:t>
            </a:r>
          </a:p>
        </p:txBody>
      </p:sp>
      <p:sp>
        <p:nvSpPr>
          <p:cNvPr id="3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64" y="13068300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2" name="Group">
            <a:extLst>
              <a:ext uri="{FF2B5EF4-FFF2-40B4-BE49-F238E27FC236}">
                <a16:creationId xmlns:a16="http://schemas.microsoft.com/office/drawing/2014/main" id="{1FFD45BA-B5AF-95D3-9AD2-7FA02EEDBA93}"/>
              </a:ext>
            </a:extLst>
          </p:cNvPr>
          <p:cNvGrpSpPr/>
          <p:nvPr/>
        </p:nvGrpSpPr>
        <p:grpSpPr>
          <a:xfrm>
            <a:off x="14749272" y="3600034"/>
            <a:ext cx="8830706" cy="4788156"/>
            <a:chOff x="-1" y="0"/>
            <a:chExt cx="8830704" cy="4788154"/>
          </a:xfrm>
        </p:grpSpPr>
        <p:grpSp>
          <p:nvGrpSpPr>
            <p:cNvPr id="3" name="Group">
              <a:extLst>
                <a:ext uri="{FF2B5EF4-FFF2-40B4-BE49-F238E27FC236}">
                  <a16:creationId xmlns:a16="http://schemas.microsoft.com/office/drawing/2014/main" id="{AAA926F3-840A-0DDD-636C-7A76E303511B}"/>
                </a:ext>
              </a:extLst>
            </p:cNvPr>
            <p:cNvGrpSpPr/>
            <p:nvPr/>
          </p:nvGrpSpPr>
          <p:grpSpPr>
            <a:xfrm>
              <a:off x="-1" y="0"/>
              <a:ext cx="8830704" cy="4788154"/>
              <a:chOff x="0" y="0"/>
              <a:chExt cx="8830702" cy="4788153"/>
            </a:xfrm>
          </p:grpSpPr>
          <p:grpSp>
            <p:nvGrpSpPr>
              <p:cNvPr id="7" name="Group">
                <a:extLst>
                  <a:ext uri="{FF2B5EF4-FFF2-40B4-BE49-F238E27FC236}">
                    <a16:creationId xmlns:a16="http://schemas.microsoft.com/office/drawing/2014/main" id="{4DF35D7D-2516-2AF1-BA8E-D1F21F1CCE4C}"/>
                  </a:ext>
                </a:extLst>
              </p:cNvPr>
              <p:cNvGrpSpPr/>
              <p:nvPr/>
            </p:nvGrpSpPr>
            <p:grpSpPr>
              <a:xfrm>
                <a:off x="-1" y="0"/>
                <a:ext cx="8830704" cy="4788154"/>
                <a:chOff x="0" y="0"/>
                <a:chExt cx="8830702" cy="4788153"/>
              </a:xfrm>
            </p:grpSpPr>
            <p:grpSp>
              <p:nvGrpSpPr>
                <p:cNvPr id="9" name="Group">
                  <a:extLst>
                    <a:ext uri="{FF2B5EF4-FFF2-40B4-BE49-F238E27FC236}">
                      <a16:creationId xmlns:a16="http://schemas.microsoft.com/office/drawing/2014/main" id="{8ED1FAA9-E2E4-D904-FCA4-6B1DA64C973B}"/>
                    </a:ext>
                  </a:extLst>
                </p:cNvPr>
                <p:cNvGrpSpPr/>
                <p:nvPr/>
              </p:nvGrpSpPr>
              <p:grpSpPr>
                <a:xfrm>
                  <a:off x="4310949" y="0"/>
                  <a:ext cx="4519754" cy="4788154"/>
                  <a:chOff x="0" y="0"/>
                  <a:chExt cx="4519753" cy="4788153"/>
                </a:xfrm>
              </p:grpSpPr>
              <p:grpSp>
                <p:nvGrpSpPr>
                  <p:cNvPr id="17" name="Group">
                    <a:extLst>
                      <a:ext uri="{FF2B5EF4-FFF2-40B4-BE49-F238E27FC236}">
                        <a16:creationId xmlns:a16="http://schemas.microsoft.com/office/drawing/2014/main" id="{CC2C1010-61BC-E0A7-F230-96BE3AC4B2C1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0"/>
                    <a:ext cx="4519754" cy="1920792"/>
                    <a:chOff x="0" y="0"/>
                    <a:chExt cx="4519753" cy="1920791"/>
                  </a:xfrm>
                </p:grpSpPr>
                <p:grpSp>
                  <p:nvGrpSpPr>
                    <p:cNvPr id="37" name="Group">
                      <a:extLst>
                        <a:ext uri="{FF2B5EF4-FFF2-40B4-BE49-F238E27FC236}">
                          <a16:creationId xmlns:a16="http://schemas.microsoft.com/office/drawing/2014/main" id="{D5E3AC34-FA70-4B81-C9AC-1B1602FE72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57767"/>
                      <a:ext cx="1951112" cy="703951"/>
                      <a:chOff x="0" y="0"/>
                      <a:chExt cx="1951111" cy="703950"/>
                    </a:xfrm>
                  </p:grpSpPr>
                  <p:sp>
                    <p:nvSpPr>
                      <p:cNvPr id="42" name="Line">
                        <a:extLst>
                          <a:ext uri="{FF2B5EF4-FFF2-40B4-BE49-F238E27FC236}">
                            <a16:creationId xmlns:a16="http://schemas.microsoft.com/office/drawing/2014/main" id="{BA079DB0-B81F-627F-93ED-79CC148121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4758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43" name="Line">
                        <a:extLst>
                          <a:ext uri="{FF2B5EF4-FFF2-40B4-BE49-F238E27FC236}">
                            <a16:creationId xmlns:a16="http://schemas.microsoft.com/office/drawing/2014/main" id="{EC9D726A-1249-8746-C43E-E0DF29F86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689710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44" name="Line">
                        <a:extLst>
                          <a:ext uri="{FF2B5EF4-FFF2-40B4-BE49-F238E27FC236}">
                            <a16:creationId xmlns:a16="http://schemas.microsoft.com/office/drawing/2014/main" id="{900B1C3C-F0CE-EDF4-CE36-1CCBB5A52C93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1951111" y="0"/>
                        <a:ext cx="1" cy="70395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</p:grpSp>
                <p:sp>
                  <p:nvSpPr>
                    <p:cNvPr id="38" name="1">
                      <a:extLst>
                        <a:ext uri="{FF2B5EF4-FFF2-40B4-BE49-F238E27FC236}">
                          <a16:creationId xmlns:a16="http://schemas.microsoft.com/office/drawing/2014/main" id="{FB8931C2-C4C5-1712-B02F-43074BEB04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24135" y="0"/>
                      <a:ext cx="799167" cy="799944"/>
                    </a:xfrm>
                    <a:prstGeom prst="ellips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2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1</a:t>
                      </a:r>
                    </a:p>
                  </p:txBody>
                </p:sp>
                <p:grpSp>
                  <p:nvGrpSpPr>
                    <p:cNvPr id="39" name="Group">
                      <a:extLst>
                        <a:ext uri="{FF2B5EF4-FFF2-40B4-BE49-F238E27FC236}">
                          <a16:creationId xmlns:a16="http://schemas.microsoft.com/office/drawing/2014/main" id="{E49BCF95-EC9E-AAC7-3E1C-2AE058337A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2296" y="385492"/>
                      <a:ext cx="1607458" cy="1535300"/>
                      <a:chOff x="0" y="138830"/>
                      <a:chExt cx="1607456" cy="1535298"/>
                    </a:xfrm>
                  </p:grpSpPr>
                  <p:sp>
                    <p:nvSpPr>
                      <p:cNvPr id="40" name="Line">
                        <a:extLst>
                          <a:ext uri="{FF2B5EF4-FFF2-40B4-BE49-F238E27FC236}">
                            <a16:creationId xmlns:a16="http://schemas.microsoft.com/office/drawing/2014/main" id="{8FDC4B84-FB68-888E-3258-6DE29664D1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38830"/>
                        <a:ext cx="1072909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  <a:tailEnd type="arrow" w="med" len="med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1" name="Text">
                            <a:extLst>
                              <a:ext uri="{FF2B5EF4-FFF2-40B4-BE49-F238E27FC236}">
                                <a16:creationId xmlns:a16="http://schemas.microsoft.com/office/drawing/2014/main" id="{40F4C527-B012-2D38-66CA-0003600091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noFill/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none" lIns="50800" tIns="50800" rIns="50800" bIns="50800" numCol="1" anchor="ctr">
                            <a:spAutoFit/>
                          </a:bodyPr>
                          <a:lstStyle>
                            <a:lvl1pPr>
                              <a:defRPr sz="3500">
                                <a:solidFill>
                                  <a:schemeClr val="accent5"/>
                                </a:solidFill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>
                              <a:solidFill>
                                <a:srgbClr val="FF644E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41" name="Text">
                            <a:extLst>
                              <a:ext uri="{FF2B5EF4-FFF2-40B4-BE49-F238E27FC236}">
                                <a16:creationId xmlns:a16="http://schemas.microsoft.com/office/drawing/2014/main" id="{40F4C527-B012-2D38-66CA-00036000916D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blipFill>
                            <a:blip r:embed="rId3"/>
                            <a:stretch>
                              <a:fillRect l="-13861" t="-14851"/>
                            </a:stretch>
                          </a:blipFill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grpSp>
                <p:nvGrpSpPr>
                  <p:cNvPr id="18" name="Group">
                    <a:extLst>
                      <a:ext uri="{FF2B5EF4-FFF2-40B4-BE49-F238E27FC236}">
                        <a16:creationId xmlns:a16="http://schemas.microsoft.com/office/drawing/2014/main" id="{7E3F211E-5DE4-358D-3D61-B37E89CD3AE0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1167915"/>
                    <a:ext cx="4519754" cy="1920792"/>
                    <a:chOff x="0" y="0"/>
                    <a:chExt cx="4519753" cy="1920791"/>
                  </a:xfrm>
                </p:grpSpPr>
                <p:grpSp>
                  <p:nvGrpSpPr>
                    <p:cNvPr id="29" name="Group">
                      <a:extLst>
                        <a:ext uri="{FF2B5EF4-FFF2-40B4-BE49-F238E27FC236}">
                          <a16:creationId xmlns:a16="http://schemas.microsoft.com/office/drawing/2014/main" id="{5A0972EF-F522-A235-1CE8-EEE13BB583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57767"/>
                      <a:ext cx="1951112" cy="703951"/>
                      <a:chOff x="0" y="0"/>
                      <a:chExt cx="1951111" cy="703950"/>
                    </a:xfrm>
                  </p:grpSpPr>
                  <p:sp>
                    <p:nvSpPr>
                      <p:cNvPr id="34" name="Line">
                        <a:extLst>
                          <a:ext uri="{FF2B5EF4-FFF2-40B4-BE49-F238E27FC236}">
                            <a16:creationId xmlns:a16="http://schemas.microsoft.com/office/drawing/2014/main" id="{317232CD-3333-2FBE-030A-F79E416D65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4758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35" name="Line">
                        <a:extLst>
                          <a:ext uri="{FF2B5EF4-FFF2-40B4-BE49-F238E27FC236}">
                            <a16:creationId xmlns:a16="http://schemas.microsoft.com/office/drawing/2014/main" id="{859525A3-EDB4-DF16-790F-182A190018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689710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36" name="Line">
                        <a:extLst>
                          <a:ext uri="{FF2B5EF4-FFF2-40B4-BE49-F238E27FC236}">
                            <a16:creationId xmlns:a16="http://schemas.microsoft.com/office/drawing/2014/main" id="{6F382B1A-C375-A444-CA6B-BF8DDDEDE53B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1951111" y="0"/>
                        <a:ext cx="1" cy="70395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</p:grpSp>
                <p:sp>
                  <p:nvSpPr>
                    <p:cNvPr id="30" name="2">
                      <a:extLst>
                        <a:ext uri="{FF2B5EF4-FFF2-40B4-BE49-F238E27FC236}">
                          <a16:creationId xmlns:a16="http://schemas.microsoft.com/office/drawing/2014/main" id="{8A21842F-4123-32EA-B6CD-3FFCFAFAE9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24135" y="0"/>
                      <a:ext cx="799167" cy="799944"/>
                    </a:xfrm>
                    <a:prstGeom prst="ellips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2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2</a:t>
                      </a:r>
                    </a:p>
                  </p:txBody>
                </p:sp>
                <p:grpSp>
                  <p:nvGrpSpPr>
                    <p:cNvPr id="31" name="Group">
                      <a:extLst>
                        <a:ext uri="{FF2B5EF4-FFF2-40B4-BE49-F238E27FC236}">
                          <a16:creationId xmlns:a16="http://schemas.microsoft.com/office/drawing/2014/main" id="{4DB2153D-6B0A-AF7C-977D-F9C5BB0275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2296" y="385492"/>
                      <a:ext cx="1607458" cy="1535300"/>
                      <a:chOff x="0" y="138830"/>
                      <a:chExt cx="1607456" cy="1535298"/>
                    </a:xfrm>
                  </p:grpSpPr>
                  <p:sp>
                    <p:nvSpPr>
                      <p:cNvPr id="32" name="Line">
                        <a:extLst>
                          <a:ext uri="{FF2B5EF4-FFF2-40B4-BE49-F238E27FC236}">
                            <a16:creationId xmlns:a16="http://schemas.microsoft.com/office/drawing/2014/main" id="{9964645C-90DB-62BB-16AC-A87595D2FD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38830"/>
                        <a:ext cx="1072909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  <a:tailEnd type="arrow" w="med" len="med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3" name="Text">
                            <a:extLst>
                              <a:ext uri="{FF2B5EF4-FFF2-40B4-BE49-F238E27FC236}">
                                <a16:creationId xmlns:a16="http://schemas.microsoft.com/office/drawing/2014/main" id="{6B214CFD-F426-8950-F2BE-F044B58414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noFill/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none" lIns="50800" tIns="50800" rIns="50800" bIns="50800" numCol="1" anchor="ctr">
                            <a:spAutoFit/>
                          </a:bodyPr>
                          <a:lstStyle>
                            <a:lvl1pPr>
                              <a:defRPr sz="3500">
                                <a:solidFill>
                                  <a:schemeClr val="accent5"/>
                                </a:solidFill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>
                              <a:solidFill>
                                <a:srgbClr val="FF644E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3" name="Text">
                            <a:extLst>
                              <a:ext uri="{FF2B5EF4-FFF2-40B4-BE49-F238E27FC236}">
                                <a16:creationId xmlns:a16="http://schemas.microsoft.com/office/drawing/2014/main" id="{6B214CFD-F426-8950-F2BE-F044B58414B4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blipFill>
                            <a:blip r:embed="rId4"/>
                            <a:stretch>
                              <a:fillRect l="-13861" t="-14851"/>
                            </a:stretch>
                          </a:blipFill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grpSp>
                <p:nvGrpSpPr>
                  <p:cNvPr id="19" name="Group">
                    <a:extLst>
                      <a:ext uri="{FF2B5EF4-FFF2-40B4-BE49-F238E27FC236}">
                        <a16:creationId xmlns:a16="http://schemas.microsoft.com/office/drawing/2014/main" id="{0CDEC7AD-EF7E-276B-2058-33D89DD497AD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2867362"/>
                    <a:ext cx="4519754" cy="1920792"/>
                    <a:chOff x="0" y="0"/>
                    <a:chExt cx="4519753" cy="1920791"/>
                  </a:xfrm>
                </p:grpSpPr>
                <p:grpSp>
                  <p:nvGrpSpPr>
                    <p:cNvPr id="21" name="Group">
                      <a:extLst>
                        <a:ext uri="{FF2B5EF4-FFF2-40B4-BE49-F238E27FC236}">
                          <a16:creationId xmlns:a16="http://schemas.microsoft.com/office/drawing/2014/main" id="{1B582796-64DA-854C-067E-ED86BF501B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57767"/>
                      <a:ext cx="1951112" cy="703951"/>
                      <a:chOff x="0" y="0"/>
                      <a:chExt cx="1951111" cy="703950"/>
                    </a:xfrm>
                  </p:grpSpPr>
                  <p:sp>
                    <p:nvSpPr>
                      <p:cNvPr id="26" name="Line">
                        <a:extLst>
                          <a:ext uri="{FF2B5EF4-FFF2-40B4-BE49-F238E27FC236}">
                            <a16:creationId xmlns:a16="http://schemas.microsoft.com/office/drawing/2014/main" id="{C7B1E2B0-0B9C-09FD-3421-4921C2B00C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4758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27" name="Line">
                        <a:extLst>
                          <a:ext uri="{FF2B5EF4-FFF2-40B4-BE49-F238E27FC236}">
                            <a16:creationId xmlns:a16="http://schemas.microsoft.com/office/drawing/2014/main" id="{003E5A8C-9FE7-0704-72AA-C74CD70C77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689710"/>
                        <a:ext cx="1949314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28" name="Line">
                        <a:extLst>
                          <a:ext uri="{FF2B5EF4-FFF2-40B4-BE49-F238E27FC236}">
                            <a16:creationId xmlns:a16="http://schemas.microsoft.com/office/drawing/2014/main" id="{FCDF32ED-9D34-641E-61B8-F2FEF8A0A7E0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1951111" y="0"/>
                        <a:ext cx="1" cy="70395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2" name="Circle">
                          <a:extLst>
                            <a:ext uri="{FF2B5EF4-FFF2-40B4-BE49-F238E27FC236}">
                              <a16:creationId xmlns:a16="http://schemas.microsoft.com/office/drawing/2014/main" id="{EF013BA2-1A69-6C18-DC12-25923B45AC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124135" y="0"/>
                          <a:ext cx="799167" cy="799944"/>
                        </a:xfrm>
                        <a:prstGeom prst="ellips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  <a:extLst>
                          <a:ext uri="{C572A759-6A51-4108-AA02-DFA0A04FC94B}">
                            <ma14:wrappingTextBoxFlag xmlns:ma14="http://schemas.microsoft.com/office/mac/drawingml/2011/main" xmlns:m="http://schemas.openxmlformats.org/officeDocument/2006/math" xmlns="" val="1"/>
                          </a:ext>
                        </a:extLst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>
                          <a:lvl1pPr algn="ctr" defTabSz="82550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defRPr sz="3000">
                              <a:latin typeface="Helvetica Neue Medium"/>
                              <a:ea typeface="Helvetica Neue Medium"/>
                              <a:cs typeface="Helvetica Neue Medium"/>
                              <a:sym typeface="Helvetica Neue Medium"/>
                            </a:defRPr>
                          </a:lvl1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/>
                        </a:p>
                      </p:txBody>
                    </p:sp>
                  </mc:Choice>
                  <mc:Fallback xmlns="">
                    <p:sp>
                      <p:nvSpPr>
                        <p:cNvPr id="22" name="Circle">
                          <a:extLst>
                            <a:ext uri="{FF2B5EF4-FFF2-40B4-BE49-F238E27FC236}">
                              <a16:creationId xmlns:a16="http://schemas.microsoft.com/office/drawing/2014/main" id="{EF013BA2-1A69-6C18-DC12-25923B45AC60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124135" y="0"/>
                          <a:ext cx="799167" cy="799944"/>
                        </a:xfrm>
                        <a:prstGeom prst="ellipse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  <a:extLst>
                          <a:ext uri="{C572A759-6A51-4108-AA02-DFA0A04FC94B}">
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</a:ext>
                        </a:extLst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23" name="Group">
                      <a:extLst>
                        <a:ext uri="{FF2B5EF4-FFF2-40B4-BE49-F238E27FC236}">
                          <a16:creationId xmlns:a16="http://schemas.microsoft.com/office/drawing/2014/main" id="{3CECD029-028B-76D8-AAB1-83CA1619C0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2296" y="385492"/>
                      <a:ext cx="1607458" cy="1535300"/>
                      <a:chOff x="0" y="138830"/>
                      <a:chExt cx="1607456" cy="1535298"/>
                    </a:xfrm>
                  </p:grpSpPr>
                  <p:sp>
                    <p:nvSpPr>
                      <p:cNvPr id="24" name="Line">
                        <a:extLst>
                          <a:ext uri="{FF2B5EF4-FFF2-40B4-BE49-F238E27FC236}">
                            <a16:creationId xmlns:a16="http://schemas.microsoft.com/office/drawing/2014/main" id="{9D2E78E7-1507-0E5C-5C38-E48DD94139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38830"/>
                        <a:ext cx="1072909" cy="1"/>
                      </a:xfrm>
                      <a:prstGeom prst="lin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  <a:tailEnd type="arrow" w="med" len="med"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5" name="Text">
                            <a:extLst>
                              <a:ext uri="{FF2B5EF4-FFF2-40B4-BE49-F238E27FC236}">
                                <a16:creationId xmlns:a16="http://schemas.microsoft.com/office/drawing/2014/main" id="{D8700BB9-F439-2E97-6101-499F9D794EE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noFill/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none" lIns="50800" tIns="50800" rIns="50800" bIns="50800" numCol="1" anchor="ctr">
                            <a:spAutoFit/>
                          </a:bodyPr>
                          <a:lstStyle>
                            <a:lvl1pPr>
                              <a:defRPr sz="3500">
                                <a:solidFill>
                                  <a:schemeClr val="accent5"/>
                                </a:solidFill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sz="4200" i="1">
                                          <a:solidFill>
                                            <a:srgbClr val="FE634D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>
                              <a:solidFill>
                                <a:srgbClr val="FF644E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5" name="Text">
                            <a:extLst>
                              <a:ext uri="{FF2B5EF4-FFF2-40B4-BE49-F238E27FC236}">
                                <a16:creationId xmlns:a16="http://schemas.microsoft.com/office/drawing/2014/main" id="{D8700BB9-F439-2E97-6101-499F9D794EE3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37456" y="404129"/>
                            <a:ext cx="1270001" cy="1270001"/>
                          </a:xfrm>
                          <a:prstGeom prst="line">
                            <a:avLst/>
                          </a:prstGeom>
                          <a:blipFill>
                            <a:blip r:embed="rId6"/>
                            <a:stretch>
                              <a:fillRect l="-13861" t="-14851"/>
                            </a:stretch>
                          </a:blipFill>
                          <a:ln w="12700" cap="flat">
                            <a:noFill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sp>
                <p:nvSpPr>
                  <p:cNvPr id="20" name="…">
                    <a:extLst>
                      <a:ext uri="{FF2B5EF4-FFF2-40B4-BE49-F238E27FC236}">
                        <a16:creationId xmlns:a16="http://schemas.microsoft.com/office/drawing/2014/main" id="{BB8FC183-6344-7E1E-F73A-964EC440792E}"/>
                      </a:ext>
                    </a:extLst>
                  </p:cNvPr>
                  <p:cNvSpPr/>
                  <p:nvPr/>
                </p:nvSpPr>
                <p:spPr>
                  <a:xfrm flipV="1">
                    <a:off x="1086498" y="1492365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vert="vert" wrap="none" lIns="50800" tIns="50800" rIns="50800" bIns="50800" numCol="1" anchor="ctr">
                    <a:spAutoFit/>
                  </a:bodyPr>
                  <a:lstStyle/>
                  <a:p>
                    <a:r>
                      <a:rPr dirty="0"/>
                      <a:t>…</a:t>
                    </a:r>
                  </a:p>
                </p:txBody>
              </p:sp>
            </p:grpSp>
            <p:grpSp>
              <p:nvGrpSpPr>
                <p:cNvPr id="10" name="Group">
                  <a:extLst>
                    <a:ext uri="{FF2B5EF4-FFF2-40B4-BE49-F238E27FC236}">
                      <a16:creationId xmlns:a16="http://schemas.microsoft.com/office/drawing/2014/main" id="{2702BC9A-A9E6-42B8-6C33-6F1436DF0BAB}"/>
                    </a:ext>
                  </a:extLst>
                </p:cNvPr>
                <p:cNvGrpSpPr/>
                <p:nvPr/>
              </p:nvGrpSpPr>
              <p:grpSpPr>
                <a:xfrm>
                  <a:off x="1346012" y="516200"/>
                  <a:ext cx="3408500" cy="2819352"/>
                  <a:chOff x="0" y="0"/>
                  <a:chExt cx="3408498" cy="2819351"/>
                </a:xfrm>
              </p:grpSpPr>
              <p:sp>
                <p:nvSpPr>
                  <p:cNvPr id="12" name="JSQ">
                    <a:extLst>
                      <a:ext uri="{FF2B5EF4-FFF2-40B4-BE49-F238E27FC236}">
                        <a16:creationId xmlns:a16="http://schemas.microsoft.com/office/drawing/2014/main" id="{2500D8C1-8BBB-F0F7-4551-2E0448546B76}"/>
                      </a:ext>
                    </a:extLst>
                  </p:cNvPr>
                  <p:cNvSpPr/>
                  <p:nvPr/>
                </p:nvSpPr>
                <p:spPr>
                  <a:xfrm>
                    <a:off x="0" y="448496"/>
                    <a:ext cx="1422401" cy="14224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10800"/>
                        </a:moveTo>
                        <a:lnTo>
                          <a:pt x="10800" y="21600"/>
                        </a:lnTo>
                        <a:lnTo>
                          <a:pt x="21600" y="10800"/>
                        </a:lnTo>
                        <a:lnTo>
                          <a:pt x="10800" y="0"/>
                        </a:lnTo>
                        <a:close/>
                      </a:path>
                    </a:pathLst>
                  </a:cu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square" lIns="50800" tIns="50800" rIns="50800" bIns="50800" numCol="1" anchor="ctr">
                    <a:noAutofit/>
                  </a:bodyPr>
                  <a:lstStyle>
                    <a:lvl1pPr algn="ctr" defTabSz="825500">
                      <a:lnSpc>
                        <a:spcPct val="100000"/>
                      </a:lnSpc>
                      <a:spcBef>
                        <a:spcPts val="0"/>
                      </a:spcBef>
                      <a:defRPr sz="3000"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defRPr>
                    </a:lvl1pPr>
                  </a:lstStyle>
                  <a:p>
                    <a:r>
                      <a:t>JSQ</a:t>
                    </a:r>
                  </a:p>
                </p:txBody>
              </p:sp>
              <p:sp>
                <p:nvSpPr>
                  <p:cNvPr id="13" name="Line">
                    <a:extLst>
                      <a:ext uri="{FF2B5EF4-FFF2-40B4-BE49-F238E27FC236}">
                        <a16:creationId xmlns:a16="http://schemas.microsoft.com/office/drawing/2014/main" id="{F861B8B4-00BB-AB59-C975-145CD13F346A}"/>
                      </a:ext>
                    </a:extLst>
                  </p:cNvPr>
                  <p:cNvSpPr/>
                  <p:nvPr/>
                </p:nvSpPr>
                <p:spPr>
                  <a:xfrm flipV="1">
                    <a:off x="1407697" y="-1"/>
                    <a:ext cx="1472888" cy="1172398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4" name="Line">
                    <a:extLst>
                      <a:ext uri="{FF2B5EF4-FFF2-40B4-BE49-F238E27FC236}">
                        <a16:creationId xmlns:a16="http://schemas.microsoft.com/office/drawing/2014/main" id="{ADC0D86A-EE8A-8B1E-7682-E7ED6CE1B7DE}"/>
                      </a:ext>
                    </a:extLst>
                  </p:cNvPr>
                  <p:cNvSpPr/>
                  <p:nvPr/>
                </p:nvSpPr>
                <p:spPr>
                  <a:xfrm>
                    <a:off x="1417521" y="1166578"/>
                    <a:ext cx="1468645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5" name="Line">
                    <a:extLst>
                      <a:ext uri="{FF2B5EF4-FFF2-40B4-BE49-F238E27FC236}">
                        <a16:creationId xmlns:a16="http://schemas.microsoft.com/office/drawing/2014/main" id="{5F76D3D1-B0C5-A114-7DFD-6360AA766311}"/>
                      </a:ext>
                    </a:extLst>
                  </p:cNvPr>
                  <p:cNvSpPr/>
                  <p:nvPr/>
                </p:nvSpPr>
                <p:spPr>
                  <a:xfrm>
                    <a:off x="1413574" y="1168551"/>
                    <a:ext cx="1473866" cy="165080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6" name="…">
                    <a:extLst>
                      <a:ext uri="{FF2B5EF4-FFF2-40B4-BE49-F238E27FC236}">
                        <a16:creationId xmlns:a16="http://schemas.microsoft.com/office/drawing/2014/main" id="{758CDF0F-5864-6797-A822-A0D89CAFB1EF}"/>
                      </a:ext>
                    </a:extLst>
                  </p:cNvPr>
                  <p:cNvSpPr/>
                  <p:nvPr/>
                </p:nvSpPr>
                <p:spPr>
                  <a:xfrm flipV="1">
                    <a:off x="2138498" y="73606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vert="vert" wrap="none" lIns="50800" tIns="50800" rIns="50800" bIns="50800" numCol="1" anchor="ctr">
                    <a:spAutoFit/>
                  </a:bodyPr>
                  <a:lstStyle/>
                  <a:p>
                    <a:r>
                      <a:rPr dirty="0"/>
                      <a:t>…</a:t>
                    </a:r>
                  </a:p>
                </p:txBody>
              </p:sp>
            </p:grpSp>
            <p:sp>
              <p:nvSpPr>
                <p:cNvPr id="11" name="Group">
                  <a:extLst>
                    <a:ext uri="{FF2B5EF4-FFF2-40B4-BE49-F238E27FC236}">
                      <a16:creationId xmlns:a16="http://schemas.microsoft.com/office/drawing/2014/main" id="{85258579-F957-16EB-BD49-D204818ECF2B}"/>
                    </a:ext>
                  </a:extLst>
                </p:cNvPr>
                <p:cNvSpPr/>
                <p:nvPr/>
              </p:nvSpPr>
              <p:spPr>
                <a:xfrm rot="10800000" flipH="1">
                  <a:off x="-1" y="1680177"/>
                  <a:ext cx="1223401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">
                    <a:extLst>
                      <a:ext uri="{FF2B5EF4-FFF2-40B4-BE49-F238E27FC236}">
                        <a16:creationId xmlns:a16="http://schemas.microsoft.com/office/drawing/2014/main" id="{E73C6DA7-F9A9-9371-DFA0-239ECF5751E5}"/>
                      </a:ext>
                    </a:extLst>
                  </p:cNvPr>
                  <p:cNvSpPr/>
                  <p:nvPr/>
                </p:nvSpPr>
                <p:spPr>
                  <a:xfrm>
                    <a:off x="510824" y="1941663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>
                        <a:solidFill>
                          <a:schemeClr val="accent5"/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">
                    <a:extLst>
                      <a:ext uri="{FF2B5EF4-FFF2-40B4-BE49-F238E27FC236}">
                        <a16:creationId xmlns:a16="http://schemas.microsoft.com/office/drawing/2014/main" id="{E73C6DA7-F9A9-9371-DFA0-239ECF5751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824" y="1941663"/>
                    <a:ext cx="1270001" cy="1270001"/>
                  </a:xfrm>
                  <a:prstGeom prst="line">
                    <a:avLst/>
                  </a:prstGeom>
                  <a:blipFill>
                    <a:blip r:embed="rId7"/>
                    <a:stretch>
                      <a:fillRect l="-12871" t="-19802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Equation">
                  <a:extLst>
                    <a:ext uri="{FF2B5EF4-FFF2-40B4-BE49-F238E27FC236}">
                      <a16:creationId xmlns:a16="http://schemas.microsoft.com/office/drawing/2014/main" id="{9CF71AE4-3DDD-A14B-E34A-BA22E6488834}"/>
                    </a:ext>
                  </a:extLst>
                </p:cNvPr>
                <p:cNvSpPr txBox="1"/>
                <p:nvPr/>
              </p:nvSpPr>
              <p:spPr>
                <a:xfrm>
                  <a:off x="5056240" y="149881"/>
                  <a:ext cx="319865" cy="3071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500" dirty="0"/>
                </a:p>
              </p:txBody>
            </p:sp>
          </mc:Choice>
          <mc:Fallback xmlns="">
            <p:sp>
              <p:nvSpPr>
                <p:cNvPr id="4" name="Equation">
                  <a:extLst>
                    <a:ext uri="{FF2B5EF4-FFF2-40B4-BE49-F238E27FC236}">
                      <a16:creationId xmlns:a16="http://schemas.microsoft.com/office/drawing/2014/main" id="{9CF71AE4-3DDD-A14B-E34A-BA22E6488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240" y="149881"/>
                  <a:ext cx="319865" cy="307150"/>
                </a:xfrm>
                <a:prstGeom prst="rect">
                  <a:avLst/>
                </a:prstGeom>
                <a:blipFill>
                  <a:blip r:embed="rId8"/>
                  <a:stretch>
                    <a:fillRect l="-46154" r="-57692" b="-116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Equation">
                  <a:extLst>
                    <a:ext uri="{FF2B5EF4-FFF2-40B4-BE49-F238E27FC236}">
                      <a16:creationId xmlns:a16="http://schemas.microsoft.com/office/drawing/2014/main" id="{C147339A-84C2-9012-0966-D92BF92F06C2}"/>
                    </a:ext>
                  </a:extLst>
                </p:cNvPr>
                <p:cNvSpPr txBox="1"/>
                <p:nvPr/>
              </p:nvSpPr>
              <p:spPr>
                <a:xfrm>
                  <a:off x="5056240" y="1319822"/>
                  <a:ext cx="345113" cy="3071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500" dirty="0"/>
                </a:p>
              </p:txBody>
            </p:sp>
          </mc:Choice>
          <mc:Fallback xmlns="">
            <p:sp>
              <p:nvSpPr>
                <p:cNvPr id="5" name="Equation">
                  <a:extLst>
                    <a:ext uri="{FF2B5EF4-FFF2-40B4-BE49-F238E27FC236}">
                      <a16:creationId xmlns:a16="http://schemas.microsoft.com/office/drawing/2014/main" id="{C147339A-84C2-9012-0966-D92BF92F0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240" y="1319822"/>
                  <a:ext cx="345113" cy="307150"/>
                </a:xfrm>
                <a:prstGeom prst="rect">
                  <a:avLst/>
                </a:prstGeom>
                <a:blipFill>
                  <a:blip r:embed="rId9"/>
                  <a:stretch>
                    <a:fillRect l="-42857" r="-50000" b="-116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Equation">
                  <a:extLst>
                    <a:ext uri="{FF2B5EF4-FFF2-40B4-BE49-F238E27FC236}">
                      <a16:creationId xmlns:a16="http://schemas.microsoft.com/office/drawing/2014/main" id="{FC65B3B1-4C06-30A9-4968-6DB136DBABD8}"/>
                    </a:ext>
                  </a:extLst>
                </p:cNvPr>
                <p:cNvSpPr txBox="1"/>
                <p:nvPr/>
              </p:nvSpPr>
              <p:spPr>
                <a:xfrm>
                  <a:off x="5056240" y="3027599"/>
                  <a:ext cx="345113" cy="30999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sz="3500" dirty="0"/>
                </a:p>
              </p:txBody>
            </p:sp>
          </mc:Choice>
          <mc:Fallback xmlns="">
            <p:sp>
              <p:nvSpPr>
                <p:cNvPr id="6" name="Equation">
                  <a:extLst>
                    <a:ext uri="{FF2B5EF4-FFF2-40B4-BE49-F238E27FC236}">
                      <a16:creationId xmlns:a16="http://schemas.microsoft.com/office/drawing/2014/main" id="{FC65B3B1-4C06-30A9-4968-6DB136DBAB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240" y="3027599"/>
                  <a:ext cx="345113" cy="309991"/>
                </a:xfrm>
                <a:prstGeom prst="rect">
                  <a:avLst/>
                </a:prstGeom>
                <a:blipFill>
                  <a:blip r:embed="rId10"/>
                  <a:stretch>
                    <a:fillRect l="-42857" r="-53571" b="-11153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D1C8187-7735-B1BE-4C0B-9DFDDC842629}"/>
                  </a:ext>
                </a:extLst>
              </p:cNvPr>
              <p:cNvSpPr/>
              <p:nvPr/>
            </p:nvSpPr>
            <p:spPr>
              <a:xfrm>
                <a:off x="1287496" y="3828797"/>
                <a:ext cx="11547251" cy="374315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Theorem [Hurtado-Lange, G ‘25]:</a:t>
                </a: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𝜆</m:t>
                        </m:r>
                      </m:e>
                      <m:sub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</m:sub>
                    </m:sSub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&gt;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0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is large enough for each</a:t>
                </a:r>
                <a:r>
                  <a:rPr kumimoji="0" lang="en-US" sz="4000" i="0" u="none" strike="noStrike" cap="none" spc="0" normalizeH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, then as 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𝜖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↓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0</m:t>
                    </m:r>
                  </m:oMath>
                </a14:m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𝜖</m:t>
                    </m:r>
                    <m:r>
                      <a:rPr kumimoji="0" lang="en-US" sz="4000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𝒒</m:t>
                    </m:r>
                    <m:r>
                      <a:rPr kumimoji="0" lang="en-US" sz="4000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⟹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𝐸𝑥𝑝</m:t>
                    </m:r>
                    <m:d>
                      <m:d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dPr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𝑀𝑒𝑎𝑛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=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1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+</m:t>
                        </m:r>
                        <m:f>
                          <m:fPr>
                            <m:ctrlPr>
                              <a:rPr kumimoji="0" lang="en-US" sz="4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 Medium"/>
                                <a:cs typeface="Helvetica Neue Medium"/>
                                <a:sym typeface="Helvetica Neue Medium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sSupPr>
                              <m:e>
                                <m: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naryPr>
                              <m:sub>
                                <m: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𝜋</m:t>
                                    </m:r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,</m:t>
                                    </m:r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e>
                    </m:d>
                  </m:oMath>
                </a14:m>
                <a:r>
                  <a:rPr lang="en-US" sz="4000" b="1" dirty="0">
                    <a:solidFill>
                      <a:schemeClr val="accent1">
                        <a:lumMod val="75000"/>
                      </a:schemeClr>
                    </a:solidFill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𝟏</m:t>
                    </m:r>
                  </m:oMath>
                </a14:m>
                <a:endParaRPr kumimoji="0" lang="en-US" sz="40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2D1C8187-7735-B1BE-4C0B-9DFDDC842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496" y="3828797"/>
                <a:ext cx="11547251" cy="3743152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2" name="Group"/>
          <p:cNvGrpSpPr/>
          <p:nvPr/>
        </p:nvGrpSpPr>
        <p:grpSpPr>
          <a:xfrm>
            <a:off x="9647683" y="5685091"/>
            <a:ext cx="4199868" cy="3607239"/>
            <a:chOff x="7891780" y="2368550"/>
            <a:chExt cx="4199868" cy="36072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Variance of arrival and service times in steady state"/>
                <p:cNvSpPr/>
                <p:nvPr/>
              </p:nvSpPr>
              <p:spPr>
                <a:xfrm>
                  <a:off x="8225169" y="5975787"/>
                  <a:ext cx="3866479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/>
                <a:p>
                  <a:pPr>
                    <a:defRPr sz="3000">
                      <a:solidFill>
                        <a:schemeClr val="accent5"/>
                      </a:solidFill>
                    </a:defRPr>
                  </a:pPr>
                  <a14:m>
                    <m:oMath xmlns:m="http://schemas.openxmlformats.org/officeDocument/2006/math"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dirty="0"/>
                    <a:t> Variance of arrival and service times in steady state</a:t>
                  </a:r>
                  <a:endParaRPr dirty="0">
                    <a:solidFill>
                      <a:srgbClr val="FF644E"/>
                    </a:solidFill>
                  </a:endParaRPr>
                </a:p>
              </p:txBody>
            </p:sp>
          </mc:Choice>
          <mc:Fallback xmlns="">
            <p:sp>
              <p:nvSpPr>
                <p:cNvPr id="290" name="Variance of arrival and service times in steady stat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5169" y="5975787"/>
                  <a:ext cx="3866479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2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7" name="Connection Line"/>
            <p:cNvSpPr/>
            <p:nvPr/>
          </p:nvSpPr>
          <p:spPr>
            <a:xfrm>
              <a:off x="7891780" y="2368550"/>
              <a:ext cx="2265680" cy="3606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27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noFill/>
            <a:ln w="50800" cap="flat">
              <a:solidFill>
                <a:schemeClr val="accent5">
                  <a:hueOff val="-152895"/>
                  <a:lumOff val="12368"/>
                </a:schemeClr>
              </a:solidFill>
              <a:custDash>
                <a:ds d="200000" sp="200000"/>
              </a:custDash>
              <a:miter lim="400000"/>
              <a:tailEnd type="arrow" w="med" len="med"/>
            </a:ln>
            <a:effectLst/>
          </p:spPr>
          <p:txBody>
            <a:bodyPr/>
            <a:lstStyle/>
            <a:p>
              <a:endParaRPr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A229C3B-0DF2-34DE-6C81-267ECE9100D9}"/>
              </a:ext>
            </a:extLst>
          </p:cNvPr>
          <p:cNvGrpSpPr/>
          <p:nvPr/>
        </p:nvGrpSpPr>
        <p:grpSpPr>
          <a:xfrm>
            <a:off x="14358249" y="7905100"/>
            <a:ext cx="7479942" cy="5221600"/>
            <a:chOff x="14358249" y="7905100"/>
            <a:chExt cx="7479942" cy="5221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Markov chain">
                  <a:extLst>
                    <a:ext uri="{FF2B5EF4-FFF2-40B4-BE49-F238E27FC236}">
                      <a16:creationId xmlns:a16="http://schemas.microsoft.com/office/drawing/2014/main" id="{590D5C20-B535-86E9-6F79-C6E877F07D10}"/>
                    </a:ext>
                  </a:extLst>
                </p:cNvPr>
                <p:cNvSpPr txBox="1"/>
                <p:nvPr/>
              </p:nvSpPr>
              <p:spPr>
                <a:xfrm>
                  <a:off x="14358249" y="7905100"/>
                  <a:ext cx="3036344" cy="58971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>
                    <a:defRPr sz="3000">
                      <a:solidFill>
                        <a:schemeClr val="accent5"/>
                      </a:solidFill>
                    </a:defRPr>
                  </a:pPr>
                  <a14:m>
                    <m:oMath xmlns:m="http://schemas.openxmlformats.org/officeDocument/2006/math"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</m:oMath>
                  </a14:m>
                  <a:r>
                    <a:rPr dirty="0"/>
                    <a:t>Markov chain</a:t>
                  </a:r>
                  <a:endParaRPr dirty="0">
                    <a:solidFill>
                      <a:srgbClr val="FF644E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Markov chain">
                  <a:extLst>
                    <a:ext uri="{FF2B5EF4-FFF2-40B4-BE49-F238E27FC236}">
                      <a16:creationId xmlns:a16="http://schemas.microsoft.com/office/drawing/2014/main" id="{590D5C20-B535-86E9-6F79-C6E877F07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58249" y="7905100"/>
                  <a:ext cx="3036344" cy="589713"/>
                </a:xfrm>
                <a:prstGeom prst="rect">
                  <a:avLst/>
                </a:prstGeom>
                <a:blipFill>
                  <a:blip r:embed="rId13"/>
                  <a:stretch>
                    <a:fillRect l="-3333" t="-8333" r="-5000" b="-2708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,">
                  <a:extLst>
                    <a:ext uri="{FF2B5EF4-FFF2-40B4-BE49-F238E27FC236}">
                      <a16:creationId xmlns:a16="http://schemas.microsoft.com/office/drawing/2014/main" id="{BB0041F1-5E41-E1B4-CF20-DB71D40B4CFA}"/>
                    </a:ext>
                  </a:extLst>
                </p:cNvPr>
                <p:cNvSpPr txBox="1"/>
                <p:nvPr/>
              </p:nvSpPr>
              <p:spPr>
                <a:xfrm>
                  <a:off x="15260354" y="11747036"/>
                  <a:ext cx="6552877" cy="13796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>
                    <a:spcBef>
                      <a:spcPts val="1500"/>
                    </a:spcBef>
                    <a:defRPr sz="3000">
                      <a:solidFill>
                        <a:schemeClr val="accent5"/>
                      </a:solidFill>
                    </a:defRP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a14:m>
                  <a:r>
                    <a:t>,    </a:t>
                  </a:r>
                  <a14:m>
                    <m:oMath xmlns:m="http://schemas.openxmlformats.org/officeDocument/2006/math"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3600" i="1">
                          <a:solidFill>
                            <a:srgbClr val="FE634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a14:m>
                  <a:r>
                    <a:t> </a:t>
                  </a:r>
                  <a:endParaRPr>
                    <a:solidFill>
                      <a:srgbClr val="FF644E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,">
                  <a:extLst>
                    <a:ext uri="{FF2B5EF4-FFF2-40B4-BE49-F238E27FC236}">
                      <a16:creationId xmlns:a16="http://schemas.microsoft.com/office/drawing/2014/main" id="{BB0041F1-5E41-E1B4-CF20-DB71D40B4C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0354" y="11747036"/>
                  <a:ext cx="6552877" cy="1379664"/>
                </a:xfrm>
                <a:prstGeom prst="rect">
                  <a:avLst/>
                </a:prstGeom>
                <a:blipFill>
                  <a:blip r:embed="rId14"/>
                  <a:stretch>
                    <a:fillRect l="-1741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27AA6A0-1071-85B6-A74D-F5400E42EE51}"/>
                </a:ext>
              </a:extLst>
            </p:cNvPr>
            <p:cNvGrpSpPr/>
            <p:nvPr/>
          </p:nvGrpSpPr>
          <p:grpSpPr>
            <a:xfrm>
              <a:off x="15235395" y="8914400"/>
              <a:ext cx="6602796" cy="2177465"/>
              <a:chOff x="15235395" y="8914400"/>
              <a:chExt cx="6602796" cy="2177465"/>
            </a:xfrm>
          </p:grpSpPr>
          <p:sp>
            <p:nvSpPr>
              <p:cNvPr id="50" name="Circle">
                <a:extLst>
                  <a:ext uri="{FF2B5EF4-FFF2-40B4-BE49-F238E27FC236}">
                    <a16:creationId xmlns:a16="http://schemas.microsoft.com/office/drawing/2014/main" id="{0812B28D-EC4D-8BF3-EF6D-7865F13D0D44}"/>
                  </a:ext>
                </a:extLst>
              </p:cNvPr>
              <p:cNvSpPr/>
              <p:nvPr/>
            </p:nvSpPr>
            <p:spPr>
              <a:xfrm>
                <a:off x="15235395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1" name="Circle">
                <a:extLst>
                  <a:ext uri="{FF2B5EF4-FFF2-40B4-BE49-F238E27FC236}">
                    <a16:creationId xmlns:a16="http://schemas.microsoft.com/office/drawing/2014/main" id="{38E85274-96EB-477D-B14D-8577358DE0B7}"/>
                  </a:ext>
                </a:extLst>
              </p:cNvPr>
              <p:cNvSpPr/>
              <p:nvPr/>
            </p:nvSpPr>
            <p:spPr>
              <a:xfrm>
                <a:off x="16663474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2" name="Circle">
                <a:extLst>
                  <a:ext uri="{FF2B5EF4-FFF2-40B4-BE49-F238E27FC236}">
                    <a16:creationId xmlns:a16="http://schemas.microsoft.com/office/drawing/2014/main" id="{F527C485-ED2A-D798-3715-BABF171DA018}"/>
                  </a:ext>
                </a:extLst>
              </p:cNvPr>
              <p:cNvSpPr/>
              <p:nvPr/>
            </p:nvSpPr>
            <p:spPr>
              <a:xfrm>
                <a:off x="18091553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3" name="Circle">
                <a:extLst>
                  <a:ext uri="{FF2B5EF4-FFF2-40B4-BE49-F238E27FC236}">
                    <a16:creationId xmlns:a16="http://schemas.microsoft.com/office/drawing/2014/main" id="{BA98F0A9-30A6-27A7-58FD-9D621FF9034A}"/>
                  </a:ext>
                </a:extLst>
              </p:cNvPr>
              <p:cNvSpPr/>
              <p:nvPr/>
            </p:nvSpPr>
            <p:spPr>
              <a:xfrm>
                <a:off x="15923204" y="10207884"/>
                <a:ext cx="890479" cy="883981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4" name="Circle">
                <a:extLst>
                  <a:ext uri="{FF2B5EF4-FFF2-40B4-BE49-F238E27FC236}">
                    <a16:creationId xmlns:a16="http://schemas.microsoft.com/office/drawing/2014/main" id="{71E48368-5C43-8088-28BA-C321D48E6279}"/>
                  </a:ext>
                </a:extLst>
              </p:cNvPr>
              <p:cNvSpPr/>
              <p:nvPr/>
            </p:nvSpPr>
            <p:spPr>
              <a:xfrm>
                <a:off x="18772119" y="10207884"/>
                <a:ext cx="890479" cy="883981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5" name="Circle">
                <a:extLst>
                  <a:ext uri="{FF2B5EF4-FFF2-40B4-BE49-F238E27FC236}">
                    <a16:creationId xmlns:a16="http://schemas.microsoft.com/office/drawing/2014/main" id="{EDEE5034-5D2A-A996-59D5-8C34BAF03374}"/>
                  </a:ext>
                </a:extLst>
              </p:cNvPr>
              <p:cNvSpPr/>
              <p:nvPr/>
            </p:nvSpPr>
            <p:spPr>
              <a:xfrm>
                <a:off x="19519633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6" name="Circle">
                <a:extLst>
                  <a:ext uri="{FF2B5EF4-FFF2-40B4-BE49-F238E27FC236}">
                    <a16:creationId xmlns:a16="http://schemas.microsoft.com/office/drawing/2014/main" id="{97FC9313-AC47-F2C5-780B-2B71F8A6038D}"/>
                  </a:ext>
                </a:extLst>
              </p:cNvPr>
              <p:cNvSpPr/>
              <p:nvPr/>
            </p:nvSpPr>
            <p:spPr>
              <a:xfrm>
                <a:off x="20947712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cxnSp>
            <p:nvCxnSpPr>
              <p:cNvPr id="57" name="Curved Connector 56">
                <a:extLst>
                  <a:ext uri="{FF2B5EF4-FFF2-40B4-BE49-F238E27FC236}">
                    <a16:creationId xmlns:a16="http://schemas.microsoft.com/office/drawing/2014/main" id="{8EDF1E29-79C6-922C-CEE6-22BE5DE9123D}"/>
                  </a:ext>
                </a:extLst>
              </p:cNvPr>
              <p:cNvCxnSpPr>
                <a:cxnSpLocks/>
                <a:stCxn id="50" idx="7"/>
                <a:endCxn id="51" idx="1"/>
              </p:cNvCxnSpPr>
              <p:nvPr/>
            </p:nvCxnSpPr>
            <p:spPr>
              <a:xfrm rot="5400000" flipH="1" flipV="1">
                <a:off x="16394674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8" name="Curved Connector 57">
                <a:extLst>
                  <a:ext uri="{FF2B5EF4-FFF2-40B4-BE49-F238E27FC236}">
                    <a16:creationId xmlns:a16="http://schemas.microsoft.com/office/drawing/2014/main" id="{7C7DF5CE-EF8C-EBCA-106D-6FDD9F5F7705}"/>
                  </a:ext>
                </a:extLst>
              </p:cNvPr>
              <p:cNvCxnSpPr>
                <a:cxnSpLocks/>
                <a:stCxn id="51" idx="3"/>
                <a:endCxn id="50" idx="5"/>
              </p:cNvCxnSpPr>
              <p:nvPr/>
            </p:nvCxnSpPr>
            <p:spPr>
              <a:xfrm rot="5400000">
                <a:off x="16394674" y="9269716"/>
                <a:ext cx="12700" cy="798416"/>
              </a:xfrm>
              <a:prstGeom prst="curvedConnector3">
                <a:avLst>
                  <a:gd name="adj1" fmla="val 11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9" name="Curved Connector 58">
                <a:extLst>
                  <a:ext uri="{FF2B5EF4-FFF2-40B4-BE49-F238E27FC236}">
                    <a16:creationId xmlns:a16="http://schemas.microsoft.com/office/drawing/2014/main" id="{B2AD62AA-470D-9A03-C655-0D68A26DB714}"/>
                  </a:ext>
                </a:extLst>
              </p:cNvPr>
              <p:cNvCxnSpPr>
                <a:cxnSpLocks/>
                <a:stCxn id="51" idx="7"/>
                <a:endCxn id="52" idx="1"/>
              </p:cNvCxnSpPr>
              <p:nvPr/>
            </p:nvCxnSpPr>
            <p:spPr>
              <a:xfrm rot="5400000" flipH="1" flipV="1">
                <a:off x="17822753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0" name="Curved Connector 59">
                <a:extLst>
                  <a:ext uri="{FF2B5EF4-FFF2-40B4-BE49-F238E27FC236}">
                    <a16:creationId xmlns:a16="http://schemas.microsoft.com/office/drawing/2014/main" id="{E6D842A6-5DFD-AD20-D193-6B66865677C0}"/>
                  </a:ext>
                </a:extLst>
              </p:cNvPr>
              <p:cNvCxnSpPr>
                <a:cxnSpLocks/>
                <a:stCxn id="52" idx="3"/>
                <a:endCxn id="51" idx="5"/>
              </p:cNvCxnSpPr>
              <p:nvPr/>
            </p:nvCxnSpPr>
            <p:spPr>
              <a:xfrm rot="5400000">
                <a:off x="17822753" y="9269716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1" name="Curved Connector 60">
                <a:extLst>
                  <a:ext uri="{FF2B5EF4-FFF2-40B4-BE49-F238E27FC236}">
                    <a16:creationId xmlns:a16="http://schemas.microsoft.com/office/drawing/2014/main" id="{0DAF56CE-5A4B-337E-9C2A-CA5E52524EC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0700535" y="86319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2" name="Curved Connector 61">
                <a:extLst>
                  <a:ext uri="{FF2B5EF4-FFF2-40B4-BE49-F238E27FC236}">
                    <a16:creationId xmlns:a16="http://schemas.microsoft.com/office/drawing/2014/main" id="{5D978CBC-56FD-D5B4-771A-75E3BD036C9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19261644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3" name="Curved Connector 62">
                <a:extLst>
                  <a:ext uri="{FF2B5EF4-FFF2-40B4-BE49-F238E27FC236}">
                    <a16:creationId xmlns:a16="http://schemas.microsoft.com/office/drawing/2014/main" id="{C73C2C4B-49E3-2652-3A7F-52647122AB06}"/>
                  </a:ext>
                </a:extLst>
              </p:cNvPr>
              <p:cNvCxnSpPr>
                <a:cxnSpLocks/>
                <a:stCxn id="55" idx="3"/>
                <a:endCxn id="52" idx="5"/>
              </p:cNvCxnSpPr>
              <p:nvPr/>
            </p:nvCxnSpPr>
            <p:spPr>
              <a:xfrm rot="5400000">
                <a:off x="19250833" y="9269716"/>
                <a:ext cx="12700" cy="798417"/>
              </a:xfrm>
              <a:prstGeom prst="curvedConnector3">
                <a:avLst>
                  <a:gd name="adj1" fmla="val 819323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56" name="Curved Connector 255">
                <a:extLst>
                  <a:ext uri="{FF2B5EF4-FFF2-40B4-BE49-F238E27FC236}">
                    <a16:creationId xmlns:a16="http://schemas.microsoft.com/office/drawing/2014/main" id="{0E533989-5164-6EA4-6697-2EF8622D2F1D}"/>
                  </a:ext>
                </a:extLst>
              </p:cNvPr>
              <p:cNvCxnSpPr>
                <a:cxnSpLocks/>
                <a:stCxn id="54" idx="3"/>
                <a:endCxn id="53" idx="5"/>
              </p:cNvCxnSpPr>
              <p:nvPr/>
            </p:nvCxnSpPr>
            <p:spPr>
              <a:xfrm rot="5400000">
                <a:off x="17792901" y="9852783"/>
                <a:ext cx="12700" cy="2219252"/>
              </a:xfrm>
              <a:prstGeom prst="curvedConnector3">
                <a:avLst>
                  <a:gd name="adj1" fmla="val 28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57" name="Curved Connector 256">
                <a:extLst>
                  <a:ext uri="{FF2B5EF4-FFF2-40B4-BE49-F238E27FC236}">
                    <a16:creationId xmlns:a16="http://schemas.microsoft.com/office/drawing/2014/main" id="{0CAFD12B-59E5-5002-A504-7F6F7E586FC2}"/>
                  </a:ext>
                </a:extLst>
              </p:cNvPr>
              <p:cNvCxnSpPr>
                <a:cxnSpLocks/>
                <a:stCxn id="55" idx="4"/>
                <a:endCxn id="54" idx="7"/>
              </p:cNvCxnSpPr>
              <p:nvPr/>
            </p:nvCxnSpPr>
            <p:spPr>
              <a:xfrm rot="5400000">
                <a:off x="19479052" y="9851519"/>
                <a:ext cx="538960" cy="432683"/>
              </a:xfrm>
              <a:prstGeom prst="curvedConnector3">
                <a:avLst>
                  <a:gd name="adj1" fmla="val 38217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58" name="Curved Connector 257">
                <a:extLst>
                  <a:ext uri="{FF2B5EF4-FFF2-40B4-BE49-F238E27FC236}">
                    <a16:creationId xmlns:a16="http://schemas.microsoft.com/office/drawing/2014/main" id="{B612C25A-FAE3-6A52-5108-C78FCCABB69F}"/>
                  </a:ext>
                </a:extLst>
              </p:cNvPr>
              <p:cNvCxnSpPr>
                <a:cxnSpLocks/>
                <a:stCxn id="54" idx="6"/>
                <a:endCxn id="56" idx="4"/>
              </p:cNvCxnSpPr>
              <p:nvPr/>
            </p:nvCxnSpPr>
            <p:spPr>
              <a:xfrm flipV="1">
                <a:off x="19662598" y="9798380"/>
                <a:ext cx="1730354" cy="851495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59" name="Curved Connector 258">
                <a:extLst>
                  <a:ext uri="{FF2B5EF4-FFF2-40B4-BE49-F238E27FC236}">
                    <a16:creationId xmlns:a16="http://schemas.microsoft.com/office/drawing/2014/main" id="{60C37908-7DF3-41D8-F6E3-05410609212D}"/>
                  </a:ext>
                </a:extLst>
              </p:cNvPr>
              <p:cNvCxnSpPr>
                <a:cxnSpLocks/>
                <a:stCxn id="56" idx="3"/>
              </p:cNvCxnSpPr>
              <p:nvPr/>
            </p:nvCxnSpPr>
            <p:spPr>
              <a:xfrm rot="5400000">
                <a:off x="19967646" y="9312974"/>
                <a:ext cx="754525" cy="1466425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60" name="Curved Connector 259">
                <a:extLst>
                  <a:ext uri="{FF2B5EF4-FFF2-40B4-BE49-F238E27FC236}">
                    <a16:creationId xmlns:a16="http://schemas.microsoft.com/office/drawing/2014/main" id="{4249CC6E-7F32-89C4-CE2B-B635454EFFB1}"/>
                  </a:ext>
                </a:extLst>
              </p:cNvPr>
              <p:cNvCxnSpPr>
                <a:cxnSpLocks/>
                <a:stCxn id="53" idx="1"/>
                <a:endCxn id="50" idx="4"/>
              </p:cNvCxnSpPr>
              <p:nvPr/>
            </p:nvCxnSpPr>
            <p:spPr>
              <a:xfrm rot="16200000" flipV="1">
                <a:off x="15597644" y="9881371"/>
                <a:ext cx="538960" cy="372977"/>
              </a:xfrm>
              <a:prstGeom prst="curvedConnector3">
                <a:avLst>
                  <a:gd name="adj1" fmla="val 50000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91" name="Curved Connector 290">
                <a:extLst>
                  <a:ext uri="{FF2B5EF4-FFF2-40B4-BE49-F238E27FC236}">
                    <a16:creationId xmlns:a16="http://schemas.microsoft.com/office/drawing/2014/main" id="{9294E15E-5EF3-401E-A825-D959EEFBD3EF}"/>
                  </a:ext>
                </a:extLst>
              </p:cNvPr>
              <p:cNvCxnSpPr>
                <a:cxnSpLocks/>
                <a:stCxn id="50" idx="3"/>
                <a:endCxn id="53" idx="2"/>
              </p:cNvCxnSpPr>
              <p:nvPr/>
            </p:nvCxnSpPr>
            <p:spPr>
              <a:xfrm rot="16200000" flipH="1">
                <a:off x="15154028" y="9880698"/>
                <a:ext cx="980951" cy="557401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38" name="Curved Connector 337">
                <a:extLst>
                  <a:ext uri="{FF2B5EF4-FFF2-40B4-BE49-F238E27FC236}">
                    <a16:creationId xmlns:a16="http://schemas.microsoft.com/office/drawing/2014/main" id="{D634AA0D-C294-5496-DCF7-65B92A60CB0B}"/>
                  </a:ext>
                </a:extLst>
              </p:cNvPr>
              <p:cNvCxnSpPr>
                <a:cxnSpLocks/>
                <a:stCxn id="53" idx="7"/>
                <a:endCxn id="54" idx="1"/>
              </p:cNvCxnSpPr>
              <p:nvPr/>
            </p:nvCxnSpPr>
            <p:spPr>
              <a:xfrm rot="5400000" flipH="1" flipV="1">
                <a:off x="17792901" y="9227714"/>
                <a:ext cx="12700" cy="2219252"/>
              </a:xfrm>
              <a:prstGeom prst="curvedConnector3">
                <a:avLst>
                  <a:gd name="adj1" fmla="val 12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" grpId="2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roof Sketc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Proof Sketch</a:t>
            </a:r>
          </a:p>
        </p:txBody>
      </p:sp>
      <p:sp>
        <p:nvSpPr>
          <p:cNvPr id="4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64" y="13068300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433" name="Group"/>
          <p:cNvGrpSpPr/>
          <p:nvPr/>
        </p:nvGrpSpPr>
        <p:grpSpPr>
          <a:xfrm>
            <a:off x="1162716" y="8282785"/>
            <a:ext cx="11152156" cy="5269865"/>
            <a:chOff x="-50800" y="-50800"/>
            <a:chExt cx="11152154" cy="5269863"/>
          </a:xfrm>
        </p:grpSpPr>
        <p:grpSp>
          <p:nvGrpSpPr>
            <p:cNvPr id="430" name="Group"/>
            <p:cNvGrpSpPr/>
            <p:nvPr/>
          </p:nvGrpSpPr>
          <p:grpSpPr>
            <a:xfrm>
              <a:off x="151880" y="423698"/>
              <a:ext cx="9262145" cy="4795366"/>
              <a:chOff x="0" y="317403"/>
              <a:chExt cx="9262143" cy="4795364"/>
            </a:xfrm>
          </p:grpSpPr>
          <p:grpSp>
            <p:nvGrpSpPr>
              <p:cNvPr id="427" name="Group"/>
              <p:cNvGrpSpPr/>
              <p:nvPr/>
            </p:nvGrpSpPr>
            <p:grpSpPr>
              <a:xfrm>
                <a:off x="1107226" y="2595825"/>
                <a:ext cx="8154918" cy="2516943"/>
                <a:chOff x="0" y="0"/>
                <a:chExt cx="8154916" cy="2516942"/>
              </a:xfrm>
            </p:grpSpPr>
            <p:grpSp>
              <p:nvGrpSpPr>
                <p:cNvPr id="420" name="Group"/>
                <p:cNvGrpSpPr/>
                <p:nvPr/>
              </p:nvGrpSpPr>
              <p:grpSpPr>
                <a:xfrm>
                  <a:off x="1678523" y="95867"/>
                  <a:ext cx="3348372" cy="1079501"/>
                  <a:chOff x="0" y="0"/>
                  <a:chExt cx="3348370" cy="1079500"/>
                </a:xfrm>
              </p:grpSpPr>
              <p:sp>
                <p:nvSpPr>
                  <p:cNvPr id="417" name="Line"/>
                  <p:cNvSpPr/>
                  <p:nvPr/>
                </p:nvSpPr>
                <p:spPr>
                  <a:xfrm>
                    <a:off x="0" y="22631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418" name="Line"/>
                  <p:cNvSpPr/>
                  <p:nvPr/>
                </p:nvSpPr>
                <p:spPr>
                  <a:xfrm>
                    <a:off x="0" y="1057664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419" name="Line"/>
                  <p:cNvSpPr/>
                  <p:nvPr/>
                </p:nvSpPr>
                <p:spPr>
                  <a:xfrm>
                    <a:off x="3348370" y="0"/>
                    <a:ext cx="1" cy="107950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421" name="Circle"/>
                <p:cNvSpPr/>
                <p:nvPr/>
              </p:nvSpPr>
              <p:spPr>
                <a:xfrm>
                  <a:off x="5199919" y="0"/>
                  <a:ext cx="1270001" cy="1271235"/>
                </a:xfrm>
                <a:prstGeom prst="ellips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422" name="Line"/>
                <p:cNvSpPr/>
                <p:nvPr/>
              </p:nvSpPr>
              <p:spPr>
                <a:xfrm>
                  <a:off x="0" y="716292"/>
                  <a:ext cx="1393483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3" name="Text"/>
                    <p:cNvSpPr/>
                    <p:nvPr/>
                  </p:nvSpPr>
                  <p:spPr>
                    <a:xfrm>
                      <a:off x="533564" y="10680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23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3564" y="1068065"/>
                      <a:ext cx="1270001" cy="1270001"/>
                    </a:xfrm>
                    <a:prstGeom prst="line">
                      <a:avLst/>
                    </a:prstGeom>
                    <a:blipFill>
                      <a:blip r:embed="rId3"/>
                      <a:stretch>
                        <a:fillRect l="-11881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24" name="Line"/>
                <p:cNvSpPr/>
                <p:nvPr/>
              </p:nvSpPr>
              <p:spPr>
                <a:xfrm>
                  <a:off x="6497463" y="635617"/>
                  <a:ext cx="1657454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5" name="Total service            rate in state"/>
                    <p:cNvSpPr/>
                    <p:nvPr/>
                  </p:nvSpPr>
                  <p:spPr>
                    <a:xfrm>
                      <a:off x="6642944" y="1246942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/>
                    <a:p>
                      <a:pPr>
                        <a:defRPr sz="3000">
                          <a:solidFill>
                            <a:schemeClr val="accent5"/>
                          </a:solidFill>
                        </a:defRPr>
                      </a:pP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a14:m>
                      <a:r>
                        <a:rPr sz="2500"/>
                        <a:t>Total service </a:t>
                      </a:r>
                      <a:br>
                        <a:rPr sz="2500"/>
                      </a:br>
                      <a:r>
                        <a:rPr sz="2500"/>
                        <a:t>          rate in state </a:t>
                      </a:r>
                      <a14:m>
                        <m:oMath xmlns:m="http://schemas.openxmlformats.org/officeDocument/2006/math">
                          <m:r>
                            <a:rPr sz="30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a14:m>
                      <a:endParaRPr sz="2500"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25" name="Total service            rate in state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42944" y="1246942"/>
                      <a:ext cx="1270001" cy="1270001"/>
                    </a:xfrm>
                    <a:prstGeom prst="line">
                      <a:avLst/>
                    </a:prstGeom>
                    <a:blipFill>
                      <a:blip r:embed="rId4"/>
                      <a:stretch>
                        <a:fillRect l="-11881" t="-37624" r="-145545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6" name="Total queue                  length"/>
                    <p:cNvSpPr/>
                    <p:nvPr/>
                  </p:nvSpPr>
                  <p:spPr>
                    <a:xfrm>
                      <a:off x="1874013" y="63561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/>
                    <a:p>
                      <a:pPr>
                        <a:defRPr sz="3000"/>
                      </a:pP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a14:m>
                      <a:r>
                        <a:rPr sz="2500"/>
                        <a:t>Total queue </a:t>
                      </a:r>
                      <a:br>
                        <a:rPr sz="2500"/>
                      </a:br>
                      <a:r>
                        <a:rPr sz="2500"/>
                        <a:t>                length</a:t>
                      </a:r>
                    </a:p>
                  </p:txBody>
                </p:sp>
              </mc:Choice>
              <mc:Fallback xmlns="">
                <p:sp>
                  <p:nvSpPr>
                    <p:cNvPr id="426" name="Total queue                  length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4013" y="635617"/>
                      <a:ext cx="1270001" cy="1270001"/>
                    </a:xfrm>
                    <a:prstGeom prst="line">
                      <a:avLst/>
                    </a:prstGeom>
                    <a:blipFill>
                      <a:blip r:embed="rId5"/>
                      <a:stretch>
                        <a:fillRect l="-12871" t="-35644" r="-12574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28" name="Step 1: State Space Collapse (SSC)"/>
              <p:cNvSpPr/>
              <p:nvPr/>
            </p:nvSpPr>
            <p:spPr>
              <a:xfrm>
                <a:off x="0" y="31740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3500">
                    <a:solidFill>
                      <a:srgbClr val="5E5E5E"/>
                    </a:solidFill>
                  </a:defRPr>
                </a:pPr>
                <a:r>
                  <a:rPr b="1"/>
                  <a:t>Step 1:</a:t>
                </a:r>
                <a:r>
                  <a:t> State Space Collapse (SSC)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9" name=", so study the following single-server queue:"/>
                  <p:cNvSpPr/>
                  <p:nvPr/>
                </p:nvSpPr>
                <p:spPr>
                  <a:xfrm>
                    <a:off x="101668" y="169455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/>
                  <a:p>
                    <a:pPr>
                      <a:defRPr sz="3000">
                        <a:solidFill>
                          <a:srgbClr val="5E5E5E"/>
                        </a:solidFill>
                      </a:defRPr>
                    </a:pPr>
                    <a14:m>
                      <m:oMath xmlns:m="http://schemas.openxmlformats.org/officeDocument/2006/math">
                        <m:r>
                          <a:rPr sz="36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sz="36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ctrlPr>
                              <a:rPr sz="36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sz="3600" i="1">
                                    <a:solidFill>
                                      <a:srgbClr val="5E5E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sz="3600" i="1">
                                        <a:solidFill>
                                          <a:srgbClr val="5E5E5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600" i="1">
                                        <a:solidFill>
                                          <a:srgbClr val="5E5E5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sz="3600" i="1">
                                        <a:solidFill>
                                          <a:srgbClr val="5E5E5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sz="3600" i="1">
                                    <a:solidFill>
                                      <a:srgbClr val="5E5E5E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a:rPr sz="36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a14:m>
                    <a:r>
                      <a:t>, so study the following single-server queue:</a:t>
                    </a:r>
                  </a:p>
                </p:txBody>
              </p:sp>
            </mc:Choice>
            <mc:Fallback xmlns="">
              <p:sp>
                <p:nvSpPr>
                  <p:cNvPr id="429" name=", so study the following single-server queue: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68" y="1694557"/>
                    <a:ext cx="1270001" cy="1270001"/>
                  </a:xfrm>
                  <a:prstGeom prst="line">
                    <a:avLst/>
                  </a:prstGeom>
                  <a:blipFill>
                    <a:blip r:embed="rId6"/>
                    <a:stretch>
                      <a:fillRect l="-12871" t="-28431" r="-664356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431" name="Rectangle Rectangle" descr="Rectangle Rectangl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50800" y="-50800"/>
              <a:ext cx="11152155" cy="4844085"/>
            </a:xfrm>
            <a:prstGeom prst="rect">
              <a:avLst/>
            </a:prstGeom>
            <a:effectLst/>
          </p:spPr>
        </p:pic>
      </p:grpSp>
      <p:grpSp>
        <p:nvGrpSpPr>
          <p:cNvPr id="436" name="Step 2: Asymptotic distribution…"/>
          <p:cNvGrpSpPr/>
          <p:nvPr/>
        </p:nvGrpSpPr>
        <p:grpSpPr>
          <a:xfrm>
            <a:off x="14085944" y="8282785"/>
            <a:ext cx="7613058" cy="4844086"/>
            <a:chOff x="0" y="0"/>
            <a:chExt cx="7613056" cy="48440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5" name="Step 2: Asymptotic distribution…"/>
                <p:cNvSpPr/>
                <p:nvPr/>
              </p:nvSpPr>
              <p:spPr>
                <a:xfrm>
                  <a:off x="50800" y="50800"/>
                  <a:ext cx="7511457" cy="47424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127000" tIns="127000" rIns="127000" bIns="127000" numCol="1" anchor="t">
                  <a:noAutofit/>
                </a:bodyPr>
                <a:lstStyle/>
                <a:p>
                  <a:pPr defTabSz="825500">
                    <a:lnSpc>
                      <a:spcPct val="100000"/>
                    </a:lnSpc>
                    <a:spcBef>
                      <a:spcPts val="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r>
                    <a:rPr b="1">
                      <a:latin typeface="+mn-lt"/>
                      <a:ea typeface="+mn-ea"/>
                      <a:cs typeface="+mn-cs"/>
                      <a:sym typeface="Helvetica Neue"/>
                    </a:rPr>
                    <a:t>Step 2:</a:t>
                  </a:r>
                  <a:r>
                    <a:t> </a:t>
                  </a:r>
                  <a:r>
                    <a:rPr>
                      <a:latin typeface="+mn-lt"/>
                      <a:ea typeface="+mn-ea"/>
                      <a:cs typeface="+mn-cs"/>
                      <a:sym typeface="Helvetica Neue"/>
                    </a:rPr>
                    <a:t>Asymptotic distribution</a:t>
                  </a:r>
                </a:p>
                <a:p>
                  <a:pPr defTabSz="825500">
                    <a:lnSpc>
                      <a:spcPct val="100000"/>
                    </a:lnSpc>
                    <a:spcBef>
                      <a:spcPts val="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>
                    <a:latin typeface="+mn-lt"/>
                    <a:ea typeface="+mn-ea"/>
                    <a:cs typeface="+mn-cs"/>
                    <a:sym typeface="Helvetica Neue"/>
                  </a:endParaRPr>
                </a:p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∼?</m:t>
                        </m:r>
                      </m:oMath>
                    </m:oMathPara>
                  </a14:m>
                  <a:endParaRPr>
                    <a:latin typeface="+mn-lt"/>
                    <a:ea typeface="+mn-ea"/>
                    <a:cs typeface="+mn-cs"/>
                    <a:sym typeface="Helvetica Neue"/>
                  </a:endParaRPr>
                </a:p>
                <a:p>
                  <a:pPr defTabSz="825500">
                    <a:lnSpc>
                      <a:spcPct val="100000"/>
                    </a:lnSpc>
                    <a:spcBef>
                      <a:spcPts val="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>
                    <a:latin typeface="+mn-lt"/>
                    <a:ea typeface="+mn-ea"/>
                    <a:cs typeface="+mn-cs"/>
                    <a:sym typeface="Helvetica Neue"/>
                  </a:endParaRPr>
                </a:p>
                <a:p>
                  <a:pPr defTabSz="825500">
                    <a:lnSpc>
                      <a:spcPct val="100000"/>
                    </a:lnSpc>
                    <a:spcBef>
                      <a:spcPts val="100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r>
                    <a:rPr>
                      <a:latin typeface="+mn-lt"/>
                      <a:ea typeface="+mn-ea"/>
                      <a:cs typeface="+mn-cs"/>
                      <a:sym typeface="Helvetica Neue"/>
                    </a:rPr>
                    <a:t>We use:</a:t>
                  </a:r>
                </a:p>
                <a:p>
                  <a:pPr marL="444500" indent="-444500" defTabSz="825500">
                    <a:lnSpc>
                      <a:spcPct val="100000"/>
                    </a:lnSpc>
                    <a:spcBef>
                      <a:spcPts val="1000"/>
                    </a:spcBef>
                    <a:buSzPct val="123000"/>
                    <a:buChar char="•"/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r>
                    <a:rPr>
                      <a:latin typeface="+mn-lt"/>
                      <a:ea typeface="+mn-ea"/>
                      <a:cs typeface="+mn-cs"/>
                      <a:sym typeface="Helvetica Neue"/>
                    </a:rPr>
                    <a:t>Transform Method</a:t>
                  </a:r>
                </a:p>
                <a:p>
                  <a:pPr marL="444500" indent="-444500" defTabSz="825500">
                    <a:lnSpc>
                      <a:spcPct val="100000"/>
                    </a:lnSpc>
                    <a:spcBef>
                      <a:spcPts val="1000"/>
                    </a:spcBef>
                    <a:buSzPct val="123000"/>
                    <a:buChar char="•"/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r>
                    <a:rPr>
                      <a:latin typeface="+mn-lt"/>
                      <a:ea typeface="+mn-ea"/>
                      <a:cs typeface="+mn-cs"/>
                      <a:sym typeface="Helvetica Neue"/>
                    </a:rPr>
                    <a:t>Poisson Equation</a:t>
                  </a:r>
                </a:p>
              </p:txBody>
            </p:sp>
          </mc:Choice>
          <mc:Fallback xmlns="">
            <p:sp>
              <p:nvSpPr>
                <p:cNvPr id="435" name="Step 2: Asymptotic distribution…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00" y="50800"/>
                  <a:ext cx="7511457" cy="4742485"/>
                </a:xfrm>
                <a:prstGeom prst="rect">
                  <a:avLst/>
                </a:prstGeom>
                <a:blipFill>
                  <a:blip r:embed="rId8"/>
                  <a:stretch>
                    <a:fillRect l="-2703" t="-267"/>
                  </a:stretch>
                </a:blipFill>
                <a:ln>
                  <a:noFill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34" name="Step 2: Asymptotic distribution… Step 2: Asymptotic distribution Equation We use:Transform MethodPoisson Equation" descr="Step 2: Asymptotic distribution… Step 2: Asymptotic distribution Equation We use:Transform MethodPoisson Equation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7613057" cy="4844085"/>
            </a:xfrm>
            <a:prstGeom prst="rect">
              <a:avLst/>
            </a:prstGeom>
            <a:effectLst/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4733BBD-CBA0-F600-19C2-F502D84B5852}"/>
                  </a:ext>
                </a:extLst>
              </p:cNvPr>
              <p:cNvSpPr/>
              <p:nvPr/>
            </p:nvSpPr>
            <p:spPr>
              <a:xfrm>
                <a:off x="1331256" y="2664847"/>
                <a:ext cx="11547251" cy="374315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Theorem [Hurtado-Lange, G ‘25]:</a:t>
                </a: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𝜆</m:t>
                        </m:r>
                      </m:e>
                      <m:sub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</m:sub>
                    </m:sSub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&gt;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0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is large enough for each</a:t>
                </a:r>
                <a:r>
                  <a:rPr kumimoji="0" lang="en-US" sz="4000" i="0" u="none" strike="noStrike" cap="none" spc="0" normalizeH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, then as 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𝜖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↓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0</m:t>
                    </m:r>
                  </m:oMath>
                </a14:m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𝜖</m:t>
                    </m:r>
                    <m:r>
                      <a:rPr kumimoji="0" lang="en-US" sz="4000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𝒒</m:t>
                    </m:r>
                    <m:r>
                      <a:rPr kumimoji="0" lang="en-US" sz="4000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⟹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𝐸𝑥𝑝</m:t>
                    </m:r>
                    <m:d>
                      <m:d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dPr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𝑀𝑒𝑎𝑛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=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1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+</m:t>
                        </m:r>
                        <m:f>
                          <m:fPr>
                            <m:ctrlPr>
                              <a:rPr kumimoji="0" lang="en-US" sz="4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 Medium"/>
                                <a:cs typeface="Helvetica Neue Medium"/>
                                <a:sym typeface="Helvetica Neue Medium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sSupPr>
                              <m:e>
                                <m: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naryPr>
                              <m:sub>
                                <m: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𝜋</m:t>
                                    </m:r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,</m:t>
                                    </m:r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e>
                    </m:d>
                  </m:oMath>
                </a14:m>
                <a:r>
                  <a:rPr lang="en-US" sz="4000" b="1" dirty="0">
                    <a:solidFill>
                      <a:schemeClr val="accent1">
                        <a:lumMod val="75000"/>
                      </a:schemeClr>
                    </a:solidFill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𝟏</m:t>
                    </m:r>
                  </m:oMath>
                </a14:m>
                <a:endParaRPr kumimoji="0" lang="en-US" sz="40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4733BBD-CBA0-F600-19C2-F502D84B5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256" y="2664847"/>
                <a:ext cx="11547251" cy="3743152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9" name="Group 328">
            <a:extLst>
              <a:ext uri="{FF2B5EF4-FFF2-40B4-BE49-F238E27FC236}">
                <a16:creationId xmlns:a16="http://schemas.microsoft.com/office/drawing/2014/main" id="{5AB2E4C9-5415-6CDE-90AF-76865C17C7CD}"/>
              </a:ext>
            </a:extLst>
          </p:cNvPr>
          <p:cNvGrpSpPr/>
          <p:nvPr/>
        </p:nvGrpSpPr>
        <p:grpSpPr>
          <a:xfrm>
            <a:off x="13563561" y="3072441"/>
            <a:ext cx="11148074" cy="4858562"/>
            <a:chOff x="13563561" y="3072441"/>
            <a:chExt cx="11148074" cy="4858562"/>
          </a:xfrm>
        </p:grpSpPr>
        <p:grpSp>
          <p:nvGrpSpPr>
            <p:cNvPr id="388" name="Group"/>
            <p:cNvGrpSpPr/>
            <p:nvPr/>
          </p:nvGrpSpPr>
          <p:grpSpPr>
            <a:xfrm>
              <a:off x="15880925" y="3072441"/>
              <a:ext cx="8830710" cy="4788158"/>
              <a:chOff x="-1" y="0"/>
              <a:chExt cx="8830704" cy="4788154"/>
            </a:xfrm>
          </p:grpSpPr>
          <p:grpSp>
            <p:nvGrpSpPr>
              <p:cNvPr id="384" name="Group"/>
              <p:cNvGrpSpPr/>
              <p:nvPr/>
            </p:nvGrpSpPr>
            <p:grpSpPr>
              <a:xfrm>
                <a:off x="-1" y="0"/>
                <a:ext cx="8830704" cy="4788154"/>
                <a:chOff x="0" y="0"/>
                <a:chExt cx="8830702" cy="4788153"/>
              </a:xfrm>
            </p:grpSpPr>
            <p:grpSp>
              <p:nvGrpSpPr>
                <p:cNvPr id="382" name="Group"/>
                <p:cNvGrpSpPr/>
                <p:nvPr/>
              </p:nvGrpSpPr>
              <p:grpSpPr>
                <a:xfrm>
                  <a:off x="-1" y="0"/>
                  <a:ext cx="8830704" cy="4788154"/>
                  <a:chOff x="0" y="0"/>
                  <a:chExt cx="8830702" cy="4788153"/>
                </a:xfrm>
              </p:grpSpPr>
              <p:grpSp>
                <p:nvGrpSpPr>
                  <p:cNvPr id="374" name="Group"/>
                  <p:cNvGrpSpPr/>
                  <p:nvPr/>
                </p:nvGrpSpPr>
                <p:grpSpPr>
                  <a:xfrm>
                    <a:off x="4310949" y="0"/>
                    <a:ext cx="4519754" cy="4788154"/>
                    <a:chOff x="0" y="0"/>
                    <a:chExt cx="4519753" cy="4788153"/>
                  </a:xfrm>
                </p:grpSpPr>
                <p:grpSp>
                  <p:nvGrpSpPr>
                    <p:cNvPr id="354" name="Group"/>
                    <p:cNvGrpSpPr/>
                    <p:nvPr/>
                  </p:nvGrpSpPr>
                  <p:grpSpPr>
                    <a:xfrm>
                      <a:off x="0" y="0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349" name="Group"/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346" name="Line"/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347" name="Line"/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348" name="Line"/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350" name="1"/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1</a:t>
                        </a:r>
                      </a:p>
                    </p:txBody>
                  </p:sp>
                  <p:grpSp>
                    <p:nvGrpSpPr>
                      <p:cNvPr id="353" name="Group"/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351" name="Line"/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352" name="Text"/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352" name="Text"/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1"/>
                              <a:stretch>
                                <a:fillRect l="-13861" t="-1485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363" name="Group"/>
                    <p:cNvGrpSpPr/>
                    <p:nvPr/>
                  </p:nvGrpSpPr>
                  <p:grpSpPr>
                    <a:xfrm>
                      <a:off x="0" y="1167915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358" name="Group"/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355" name="Line"/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356" name="Line"/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357" name="Line"/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359" name="2"/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2</a:t>
                        </a:r>
                      </a:p>
                    </p:txBody>
                  </p:sp>
                  <p:grpSp>
                    <p:nvGrpSpPr>
                      <p:cNvPr id="362" name="Group"/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360" name="Line"/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361" name="Text"/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361" name="Text"/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2"/>
                              <a:stretch>
                                <a:fillRect l="-13861" t="-13725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372" name="Group"/>
                    <p:cNvGrpSpPr/>
                    <p:nvPr/>
                  </p:nvGrpSpPr>
                  <p:grpSpPr>
                    <a:xfrm>
                      <a:off x="0" y="2867362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367" name="Group"/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364" name="Line"/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365" name="Line"/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366" name="Line"/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68" name="Circle"/>
                          <p:cNvSpPr/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noFill/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square" lIns="50800" tIns="50800" rIns="50800" bIns="50800" numCol="1" anchor="ctr">
                            <a:noAutofit/>
                          </a:bodyPr>
                          <a:lstStyle>
                            <a:lvl1pPr algn="ctr" defTabSz="82550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defRPr sz="3000">
                                <a:latin typeface="Helvetica Neue Medium"/>
                                <a:ea typeface="Helvetica Neue Medium"/>
                                <a:cs typeface="Helvetica Neue Medium"/>
                                <a:sym typeface="Helvetica Neue Medium"/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oMath>
                              </m:oMathPara>
                            </a14:m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68" name="Circle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blipFill>
                            <a:blip r:embed="rId13"/>
                            <a:stretch>
                              <a:fillRect/>
                            </a:stretch>
                          </a:blipFill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371" name="Group"/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369" name="Line"/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370" name="Text"/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370" name="Text"/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4"/>
                              <a:stretch>
                                <a:fillRect l="-13861" t="-1386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sp>
                  <p:nvSpPr>
                    <p:cNvPr id="373" name="…"/>
                    <p:cNvSpPr/>
                    <p:nvPr/>
                  </p:nvSpPr>
                  <p:spPr>
                    <a:xfrm flipV="1">
                      <a:off x="1086498" y="14923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grpSp>
                <p:nvGrpSpPr>
                  <p:cNvPr id="380" name="Group"/>
                  <p:cNvGrpSpPr/>
                  <p:nvPr/>
                </p:nvGrpSpPr>
                <p:grpSpPr>
                  <a:xfrm>
                    <a:off x="1346012" y="516200"/>
                    <a:ext cx="3408500" cy="2819352"/>
                    <a:chOff x="0" y="0"/>
                    <a:chExt cx="3408498" cy="2819351"/>
                  </a:xfrm>
                </p:grpSpPr>
                <p:sp>
                  <p:nvSpPr>
                    <p:cNvPr id="375" name="JSQ"/>
                    <p:cNvSpPr/>
                    <p:nvPr/>
                  </p:nvSpPr>
                  <p:spPr>
                    <a:xfrm>
                      <a:off x="0" y="448496"/>
                      <a:ext cx="1422401" cy="14224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10800"/>
                          </a:moveTo>
                          <a:lnTo>
                            <a:pt x="10800" y="21600"/>
                          </a:lnTo>
                          <a:lnTo>
                            <a:pt x="21600" y="10800"/>
                          </a:lnTo>
                          <a:lnTo>
                            <a:pt x="10800" y="0"/>
                          </a:lnTo>
                          <a:close/>
                        </a:path>
                      </a:pathLst>
                    </a:cu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0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JSQ</a:t>
                      </a:r>
                    </a:p>
                  </p:txBody>
                </p:sp>
                <p:sp>
                  <p:nvSpPr>
                    <p:cNvPr id="376" name="Line"/>
                    <p:cNvSpPr/>
                    <p:nvPr/>
                  </p:nvSpPr>
                  <p:spPr>
                    <a:xfrm flipV="1">
                      <a:off x="1407697" y="-1"/>
                      <a:ext cx="1472888" cy="1172398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377" name="Line"/>
                    <p:cNvSpPr/>
                    <p:nvPr/>
                  </p:nvSpPr>
                  <p:spPr>
                    <a:xfrm>
                      <a:off x="1417521" y="1166578"/>
                      <a:ext cx="1468645" cy="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378" name="Line"/>
                    <p:cNvSpPr/>
                    <p:nvPr/>
                  </p:nvSpPr>
                  <p:spPr>
                    <a:xfrm>
                      <a:off x="1413574" y="1168551"/>
                      <a:ext cx="1473866" cy="165080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379" name="…"/>
                    <p:cNvSpPr/>
                    <p:nvPr/>
                  </p:nvSpPr>
                  <p:spPr>
                    <a:xfrm flipV="1">
                      <a:off x="2138498" y="73606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sp>
                <p:nvSpPr>
                  <p:cNvPr id="381" name="Group"/>
                  <p:cNvSpPr/>
                  <p:nvPr/>
                </p:nvSpPr>
                <p:spPr>
                  <a:xfrm rot="10800000" flipH="1">
                    <a:off x="-1" y="1680177"/>
                    <a:ext cx="1223401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3" name="Text"/>
                    <p:cNvSpPr/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3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blipFill>
                      <a:blip r:embed="rId15"/>
                      <a:stretch>
                        <a:fillRect l="-12871" t="-21000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5" name="Equation"/>
                  <p:cNvSpPr txBox="1"/>
                  <p:nvPr/>
                </p:nvSpPr>
                <p:spPr>
                  <a:xfrm>
                    <a:off x="5056240" y="111217"/>
                    <a:ext cx="319865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385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11217"/>
                    <a:ext cx="319865" cy="30715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6154" r="-61538" b="-107692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6" name="Equation"/>
                  <p:cNvSpPr txBox="1"/>
                  <p:nvPr/>
                </p:nvSpPr>
                <p:spPr>
                  <a:xfrm>
                    <a:off x="5056240" y="1259893"/>
                    <a:ext cx="345113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386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259893"/>
                    <a:ext cx="345113" cy="30715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42857" r="-50000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7" name="Equation"/>
                  <p:cNvSpPr txBox="1"/>
                  <p:nvPr/>
                </p:nvSpPr>
                <p:spPr>
                  <a:xfrm>
                    <a:off x="5056240" y="2988936"/>
                    <a:ext cx="345113" cy="30999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sz="3500"/>
                  </a:p>
                </p:txBody>
              </p:sp>
            </mc:Choice>
            <mc:Fallback xmlns="">
              <p:sp>
                <p:nvSpPr>
                  <p:cNvPr id="387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2988936"/>
                    <a:ext cx="345113" cy="30999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42857" r="-53571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4" name="Text"/>
                <p:cNvSpPr/>
                <p:nvPr/>
              </p:nvSpPr>
              <p:spPr>
                <a:xfrm>
                  <a:off x="14949611" y="3231168"/>
                  <a:ext cx="1270000" cy="1270002"/>
                </a:xfrm>
                <a:prstGeom prst="line">
                  <a:avLst/>
                </a:prstGeom>
                <a:solidFill>
                  <a:schemeClr val="accent1">
                    <a:lumOff val="16847"/>
                    <a:alpha val="30000"/>
                  </a:schemeClr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∼?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414" name="Tex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9611" y="3231168"/>
                  <a:ext cx="1270000" cy="1270002"/>
                </a:xfrm>
                <a:prstGeom prst="line">
                  <a:avLst/>
                </a:prstGeom>
                <a:blipFill>
                  <a:blip r:embed="rId19"/>
                  <a:stretch>
                    <a:fillRect l="-19608" t="-30693" r="-60784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F9A40E28-FE33-9F06-0429-1223CB117B85}"/>
                </a:ext>
              </a:extLst>
            </p:cNvPr>
            <p:cNvGrpSpPr/>
            <p:nvPr/>
          </p:nvGrpSpPr>
          <p:grpSpPr>
            <a:xfrm>
              <a:off x="13563561" y="5770180"/>
              <a:ext cx="5862886" cy="2160823"/>
              <a:chOff x="13563561" y="5770180"/>
              <a:chExt cx="5862886" cy="21608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Markov chain">
                    <a:extLst>
                      <a:ext uri="{FF2B5EF4-FFF2-40B4-BE49-F238E27FC236}">
                        <a16:creationId xmlns:a16="http://schemas.microsoft.com/office/drawing/2014/main" id="{6C704AB6-5093-4AA7-7A4E-CAAE32FE3931}"/>
                      </a:ext>
                    </a:extLst>
                  </p:cNvPr>
                  <p:cNvSpPr txBox="1"/>
                  <p:nvPr/>
                </p:nvSpPr>
                <p:spPr>
                  <a:xfrm>
                    <a:off x="13563561" y="5770180"/>
                    <a:ext cx="1260538" cy="60119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/>
                  <a:p>
                    <a:pPr>
                      <a:defRPr sz="3000">
                        <a:solidFill>
                          <a:schemeClr val="accent5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3600" b="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dirty="0"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Markov chain">
                    <a:extLst>
                      <a:ext uri="{FF2B5EF4-FFF2-40B4-BE49-F238E27FC236}">
                        <a16:creationId xmlns:a16="http://schemas.microsoft.com/office/drawing/2014/main" id="{6C704AB6-5093-4AA7-7A4E-CAAE32FE39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63561" y="5770180"/>
                    <a:ext cx="1260538" cy="60119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000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C7B8C75-F89B-5C30-FB27-0AF1FA64A07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435471" y="6285083"/>
                <a:ext cx="4990976" cy="1645920"/>
                <a:chOff x="15235395" y="8914400"/>
                <a:chExt cx="6602796" cy="2177465"/>
              </a:xfrm>
            </p:grpSpPr>
            <p:sp>
              <p:nvSpPr>
                <p:cNvPr id="50" name="Circle">
                  <a:extLst>
                    <a:ext uri="{FF2B5EF4-FFF2-40B4-BE49-F238E27FC236}">
                      <a16:creationId xmlns:a16="http://schemas.microsoft.com/office/drawing/2014/main" id="{52A93B5C-57FD-964B-101B-1DC6D16C49FF}"/>
                    </a:ext>
                  </a:extLst>
                </p:cNvPr>
                <p:cNvSpPr/>
                <p:nvPr/>
              </p:nvSpPr>
              <p:spPr>
                <a:xfrm>
                  <a:off x="15235395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1" name="Circle">
                  <a:extLst>
                    <a:ext uri="{FF2B5EF4-FFF2-40B4-BE49-F238E27FC236}">
                      <a16:creationId xmlns:a16="http://schemas.microsoft.com/office/drawing/2014/main" id="{C5FC9D98-89E5-BD95-EF7A-E6497B0DDEA3}"/>
                    </a:ext>
                  </a:extLst>
                </p:cNvPr>
                <p:cNvSpPr/>
                <p:nvPr/>
              </p:nvSpPr>
              <p:spPr>
                <a:xfrm>
                  <a:off x="16663474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2" name="Circle">
                  <a:extLst>
                    <a:ext uri="{FF2B5EF4-FFF2-40B4-BE49-F238E27FC236}">
                      <a16:creationId xmlns:a16="http://schemas.microsoft.com/office/drawing/2014/main" id="{FBA91A71-0792-D2E3-D8EE-4819E2AB05C8}"/>
                    </a:ext>
                  </a:extLst>
                </p:cNvPr>
                <p:cNvSpPr/>
                <p:nvPr/>
              </p:nvSpPr>
              <p:spPr>
                <a:xfrm>
                  <a:off x="1809155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3" name="Circle">
                  <a:extLst>
                    <a:ext uri="{FF2B5EF4-FFF2-40B4-BE49-F238E27FC236}">
                      <a16:creationId xmlns:a16="http://schemas.microsoft.com/office/drawing/2014/main" id="{9828179E-F86D-E8E6-E188-CC1D312BE18E}"/>
                    </a:ext>
                  </a:extLst>
                </p:cNvPr>
                <p:cNvSpPr/>
                <p:nvPr/>
              </p:nvSpPr>
              <p:spPr>
                <a:xfrm>
                  <a:off x="15923204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4" name="Circle">
                  <a:extLst>
                    <a:ext uri="{FF2B5EF4-FFF2-40B4-BE49-F238E27FC236}">
                      <a16:creationId xmlns:a16="http://schemas.microsoft.com/office/drawing/2014/main" id="{E20F5B45-917B-8AAA-962D-15BE6E2BFD09}"/>
                    </a:ext>
                  </a:extLst>
                </p:cNvPr>
                <p:cNvSpPr/>
                <p:nvPr/>
              </p:nvSpPr>
              <p:spPr>
                <a:xfrm>
                  <a:off x="18772119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5" name="Circle">
                  <a:extLst>
                    <a:ext uri="{FF2B5EF4-FFF2-40B4-BE49-F238E27FC236}">
                      <a16:creationId xmlns:a16="http://schemas.microsoft.com/office/drawing/2014/main" id="{9FCF8300-39AE-2DEF-3D70-4EDFBB6B96FD}"/>
                    </a:ext>
                  </a:extLst>
                </p:cNvPr>
                <p:cNvSpPr/>
                <p:nvPr/>
              </p:nvSpPr>
              <p:spPr>
                <a:xfrm>
                  <a:off x="1951963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6" name="Circle">
                  <a:extLst>
                    <a:ext uri="{FF2B5EF4-FFF2-40B4-BE49-F238E27FC236}">
                      <a16:creationId xmlns:a16="http://schemas.microsoft.com/office/drawing/2014/main" id="{3AC410B4-57E6-F98E-C217-0DE216C5917B}"/>
                    </a:ext>
                  </a:extLst>
                </p:cNvPr>
                <p:cNvSpPr/>
                <p:nvPr/>
              </p:nvSpPr>
              <p:spPr>
                <a:xfrm>
                  <a:off x="20947712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cxnSp>
              <p:nvCxnSpPr>
                <p:cNvPr id="57" name="Curved Connector 56">
                  <a:extLst>
                    <a:ext uri="{FF2B5EF4-FFF2-40B4-BE49-F238E27FC236}">
                      <a16:creationId xmlns:a16="http://schemas.microsoft.com/office/drawing/2014/main" id="{781A2479-BB0A-EF51-F5A1-1E8DCBC89BBC}"/>
                    </a:ext>
                  </a:extLst>
                </p:cNvPr>
                <p:cNvCxnSpPr>
                  <a:cxnSpLocks/>
                  <a:stCxn id="50" idx="7"/>
                  <a:endCxn id="51" idx="1"/>
                </p:cNvCxnSpPr>
                <p:nvPr/>
              </p:nvCxnSpPr>
              <p:spPr>
                <a:xfrm rot="5400000" flipH="1" flipV="1">
                  <a:off x="1639467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8" name="Curved Connector 57">
                  <a:extLst>
                    <a:ext uri="{FF2B5EF4-FFF2-40B4-BE49-F238E27FC236}">
                      <a16:creationId xmlns:a16="http://schemas.microsoft.com/office/drawing/2014/main" id="{BC3B559B-8643-40FB-6BC2-48713507AFD3}"/>
                    </a:ext>
                  </a:extLst>
                </p:cNvPr>
                <p:cNvCxnSpPr>
                  <a:cxnSpLocks/>
                  <a:stCxn id="51" idx="3"/>
                  <a:endCxn id="50" idx="5"/>
                </p:cNvCxnSpPr>
                <p:nvPr/>
              </p:nvCxnSpPr>
              <p:spPr>
                <a:xfrm rot="5400000">
                  <a:off x="16394674" y="9269716"/>
                  <a:ext cx="12700" cy="798416"/>
                </a:xfrm>
                <a:prstGeom prst="curvedConnector3">
                  <a:avLst>
                    <a:gd name="adj1" fmla="val 11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9" name="Curved Connector 58">
                  <a:extLst>
                    <a:ext uri="{FF2B5EF4-FFF2-40B4-BE49-F238E27FC236}">
                      <a16:creationId xmlns:a16="http://schemas.microsoft.com/office/drawing/2014/main" id="{4548CB4F-6693-FDB2-5400-A32CB13128B1}"/>
                    </a:ext>
                  </a:extLst>
                </p:cNvPr>
                <p:cNvCxnSpPr>
                  <a:cxnSpLocks/>
                  <a:stCxn id="51" idx="7"/>
                  <a:endCxn id="52" idx="1"/>
                </p:cNvCxnSpPr>
                <p:nvPr/>
              </p:nvCxnSpPr>
              <p:spPr>
                <a:xfrm rot="5400000" flipH="1" flipV="1">
                  <a:off x="17822753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0" name="Curved Connector 59">
                  <a:extLst>
                    <a:ext uri="{FF2B5EF4-FFF2-40B4-BE49-F238E27FC236}">
                      <a16:creationId xmlns:a16="http://schemas.microsoft.com/office/drawing/2014/main" id="{4E62657F-319A-7B6E-27D5-C4004BC31895}"/>
                    </a:ext>
                  </a:extLst>
                </p:cNvPr>
                <p:cNvCxnSpPr>
                  <a:cxnSpLocks/>
                  <a:stCxn id="52" idx="3"/>
                  <a:endCxn id="51" idx="5"/>
                </p:cNvCxnSpPr>
                <p:nvPr/>
              </p:nvCxnSpPr>
              <p:spPr>
                <a:xfrm rot="5400000">
                  <a:off x="17822753" y="9269716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1" name="Curved Connector 60">
                  <a:extLst>
                    <a:ext uri="{FF2B5EF4-FFF2-40B4-BE49-F238E27FC236}">
                      <a16:creationId xmlns:a16="http://schemas.microsoft.com/office/drawing/2014/main" id="{0B2E856B-D74E-A1CD-D464-B15DD9B8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0700535" y="86319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2" name="Curved Connector 61">
                  <a:extLst>
                    <a:ext uri="{FF2B5EF4-FFF2-40B4-BE49-F238E27FC236}">
                      <a16:creationId xmlns:a16="http://schemas.microsoft.com/office/drawing/2014/main" id="{76977E19-E07C-7DBA-F386-ADAF6FB3E9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926164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63" name="Curved Connector 62">
                  <a:extLst>
                    <a:ext uri="{FF2B5EF4-FFF2-40B4-BE49-F238E27FC236}">
                      <a16:creationId xmlns:a16="http://schemas.microsoft.com/office/drawing/2014/main" id="{D9CF32B8-1913-52F0-3159-5BF7259BE0D1}"/>
                    </a:ext>
                  </a:extLst>
                </p:cNvPr>
                <p:cNvCxnSpPr>
                  <a:cxnSpLocks/>
                  <a:stCxn id="55" idx="3"/>
                  <a:endCxn id="52" idx="5"/>
                </p:cNvCxnSpPr>
                <p:nvPr/>
              </p:nvCxnSpPr>
              <p:spPr>
                <a:xfrm rot="5400000">
                  <a:off x="19250833" y="9269716"/>
                  <a:ext cx="12700" cy="798417"/>
                </a:xfrm>
                <a:prstGeom prst="curvedConnector3">
                  <a:avLst>
                    <a:gd name="adj1" fmla="val 819323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0" name="Curved Connector 319">
                  <a:extLst>
                    <a:ext uri="{FF2B5EF4-FFF2-40B4-BE49-F238E27FC236}">
                      <a16:creationId xmlns:a16="http://schemas.microsoft.com/office/drawing/2014/main" id="{644F227F-6EE1-0A60-4419-2FDDD2D4EC50}"/>
                    </a:ext>
                  </a:extLst>
                </p:cNvPr>
                <p:cNvCxnSpPr>
                  <a:cxnSpLocks/>
                  <a:stCxn id="54" idx="3"/>
                  <a:endCxn id="53" idx="5"/>
                </p:cNvCxnSpPr>
                <p:nvPr/>
              </p:nvCxnSpPr>
              <p:spPr>
                <a:xfrm rot="5400000">
                  <a:off x="17792901" y="9852783"/>
                  <a:ext cx="12700" cy="2219252"/>
                </a:xfrm>
                <a:prstGeom prst="curvedConnector3">
                  <a:avLst>
                    <a:gd name="adj1" fmla="val 28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1" name="Curved Connector 320">
                  <a:extLst>
                    <a:ext uri="{FF2B5EF4-FFF2-40B4-BE49-F238E27FC236}">
                      <a16:creationId xmlns:a16="http://schemas.microsoft.com/office/drawing/2014/main" id="{44978B05-5456-67F7-4B38-87A19544C25D}"/>
                    </a:ext>
                  </a:extLst>
                </p:cNvPr>
                <p:cNvCxnSpPr>
                  <a:cxnSpLocks/>
                  <a:stCxn id="55" idx="4"/>
                  <a:endCxn id="54" idx="7"/>
                </p:cNvCxnSpPr>
                <p:nvPr/>
              </p:nvCxnSpPr>
              <p:spPr>
                <a:xfrm rot="5400000">
                  <a:off x="19479052" y="9851519"/>
                  <a:ext cx="538960" cy="432683"/>
                </a:xfrm>
                <a:prstGeom prst="curvedConnector3">
                  <a:avLst>
                    <a:gd name="adj1" fmla="val 38217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2" name="Curved Connector 321">
                  <a:extLst>
                    <a:ext uri="{FF2B5EF4-FFF2-40B4-BE49-F238E27FC236}">
                      <a16:creationId xmlns:a16="http://schemas.microsoft.com/office/drawing/2014/main" id="{62EB8266-3ED1-DE5A-FB7D-5C5B4EAACDD7}"/>
                    </a:ext>
                  </a:extLst>
                </p:cNvPr>
                <p:cNvCxnSpPr>
                  <a:cxnSpLocks/>
                  <a:stCxn id="54" idx="6"/>
                  <a:endCxn id="56" idx="4"/>
                </p:cNvCxnSpPr>
                <p:nvPr/>
              </p:nvCxnSpPr>
              <p:spPr>
                <a:xfrm flipV="1">
                  <a:off x="19662598" y="9798380"/>
                  <a:ext cx="1730354" cy="85149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3" name="Curved Connector 322">
                  <a:extLst>
                    <a:ext uri="{FF2B5EF4-FFF2-40B4-BE49-F238E27FC236}">
                      <a16:creationId xmlns:a16="http://schemas.microsoft.com/office/drawing/2014/main" id="{2A4A6846-F36B-F288-AE75-2873B3AE4F61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 rot="5400000">
                  <a:off x="19967646" y="9312974"/>
                  <a:ext cx="754525" cy="146642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4" name="Curved Connector 323">
                  <a:extLst>
                    <a:ext uri="{FF2B5EF4-FFF2-40B4-BE49-F238E27FC236}">
                      <a16:creationId xmlns:a16="http://schemas.microsoft.com/office/drawing/2014/main" id="{4E023940-4109-AE77-D178-12FFFCF74563}"/>
                    </a:ext>
                  </a:extLst>
                </p:cNvPr>
                <p:cNvCxnSpPr>
                  <a:cxnSpLocks/>
                  <a:stCxn id="53" idx="1"/>
                  <a:endCxn id="50" idx="4"/>
                </p:cNvCxnSpPr>
                <p:nvPr/>
              </p:nvCxnSpPr>
              <p:spPr>
                <a:xfrm rot="16200000" flipV="1">
                  <a:off x="15597644" y="9881371"/>
                  <a:ext cx="538960" cy="372977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5" name="Curved Connector 324">
                  <a:extLst>
                    <a:ext uri="{FF2B5EF4-FFF2-40B4-BE49-F238E27FC236}">
                      <a16:creationId xmlns:a16="http://schemas.microsoft.com/office/drawing/2014/main" id="{5AD3AEDC-B551-5EC8-366B-86F496A0B0B7}"/>
                    </a:ext>
                  </a:extLst>
                </p:cNvPr>
                <p:cNvCxnSpPr>
                  <a:cxnSpLocks/>
                  <a:stCxn id="50" idx="3"/>
                  <a:endCxn id="53" idx="2"/>
                </p:cNvCxnSpPr>
                <p:nvPr/>
              </p:nvCxnSpPr>
              <p:spPr>
                <a:xfrm rot="16200000" flipH="1">
                  <a:off x="15154028" y="9880698"/>
                  <a:ext cx="980951" cy="557401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26" name="Curved Connector 325">
                  <a:extLst>
                    <a:ext uri="{FF2B5EF4-FFF2-40B4-BE49-F238E27FC236}">
                      <a16:creationId xmlns:a16="http://schemas.microsoft.com/office/drawing/2014/main" id="{3047FDC6-2335-87F3-1359-60C27CF698B8}"/>
                    </a:ext>
                  </a:extLst>
                </p:cNvPr>
                <p:cNvCxnSpPr>
                  <a:cxnSpLocks/>
                  <a:stCxn id="53" idx="7"/>
                  <a:endCxn id="54" idx="1"/>
                </p:cNvCxnSpPr>
                <p:nvPr/>
              </p:nvCxnSpPr>
              <p:spPr>
                <a:xfrm rot="5400000" flipH="1" flipV="1">
                  <a:off x="17792901" y="9227714"/>
                  <a:ext cx="12700" cy="2219252"/>
                </a:xfrm>
                <a:prstGeom prst="curvedConnector3">
                  <a:avLst>
                    <a:gd name="adj1" fmla="val 12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" grpId="2" animBg="1" advAuto="0"/>
      <p:bldP spid="436" grpId="3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tate Space Collapse (SSC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State Space Collapse (SSC)</a:t>
            </a:r>
          </a:p>
        </p:txBody>
      </p:sp>
      <p:grpSp>
        <p:nvGrpSpPr>
          <p:cNvPr id="454" name="Group"/>
          <p:cNvGrpSpPr/>
          <p:nvPr/>
        </p:nvGrpSpPr>
        <p:grpSpPr>
          <a:xfrm>
            <a:off x="16249570" y="7010855"/>
            <a:ext cx="7862818" cy="5630429"/>
            <a:chOff x="0" y="0"/>
            <a:chExt cx="7862816" cy="5630427"/>
          </a:xfrm>
        </p:grpSpPr>
        <p:grpSp>
          <p:nvGrpSpPr>
            <p:cNvPr id="442" name="Group"/>
            <p:cNvGrpSpPr/>
            <p:nvPr/>
          </p:nvGrpSpPr>
          <p:grpSpPr>
            <a:xfrm>
              <a:off x="2130327" y="-1"/>
              <a:ext cx="2598227" cy="2850358"/>
              <a:chOff x="0" y="0"/>
              <a:chExt cx="2598226" cy="2850356"/>
            </a:xfrm>
          </p:grpSpPr>
          <p:sp>
            <p:nvSpPr>
              <p:cNvPr id="440" name="Arrow"/>
              <p:cNvSpPr/>
              <p:nvPr/>
            </p:nvSpPr>
            <p:spPr>
              <a:xfrm rot="5400000">
                <a:off x="-126066" y="126065"/>
                <a:ext cx="2850358" cy="2598227"/>
              </a:xfrm>
              <a:prstGeom prst="rightArrow">
                <a:avLst>
                  <a:gd name="adj1" fmla="val 55886"/>
                  <a:gd name="adj2" fmla="val 46251"/>
                </a:avLst>
              </a:prstGeom>
              <a:solidFill>
                <a:schemeClr val="accent1">
                  <a:alpha val="49759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1" name="SSC"/>
                  <p:cNvSpPr/>
                  <p:nvPr/>
                </p:nvSpPr>
                <p:spPr>
                  <a:xfrm>
                    <a:off x="188555" y="1111174"/>
                    <a:ext cx="2221117" cy="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/>
                  <a:p>
                    <a:pPr algn="ctr">
                      <a:defRPr sz="3000">
                        <a:solidFill>
                          <a:schemeClr val="accent1">
                            <a:hueOff val="114395"/>
                            <a:lumOff val="-24975"/>
                          </a:schemeClr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sz="3600" i="1">
                              <a:solidFill>
                                <a:srgbClr val="004C7F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sz="3600" i="1">
                              <a:solidFill>
                                <a:srgbClr val="004C7F"/>
                              </a:solidFill>
                              <a:latin typeface="Cambria Math" panose="02040503050406030204" pitchFamily="18" charset="0"/>
                            </a:rPr>
                            <m:t>↓</m:t>
                          </m:r>
                          <m:r>
                            <a:rPr sz="3600" i="1">
                              <a:solidFill>
                                <a:srgbClr val="004C7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/>
                  </a:p>
                  <a:p>
                    <a:pPr algn="ctr">
                      <a:spcBef>
                        <a:spcPts val="0"/>
                      </a:spcBef>
                      <a:defRPr sz="3000" b="1">
                        <a:solidFill>
                          <a:schemeClr val="accent1">
                            <a:hueOff val="114395"/>
                            <a:lumOff val="-24975"/>
                          </a:schemeClr>
                        </a:solidFill>
                      </a:defRPr>
                    </a:pPr>
                    <a:r>
                      <a:t>SSC</a:t>
                    </a:r>
                  </a:p>
                </p:txBody>
              </p:sp>
            </mc:Choice>
            <mc:Fallback xmlns="">
              <p:sp>
                <p:nvSpPr>
                  <p:cNvPr id="441" name="SSC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555" y="1111174"/>
                    <a:ext cx="2221117" cy="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53" name="Group"/>
            <p:cNvGrpSpPr/>
            <p:nvPr/>
          </p:nvGrpSpPr>
          <p:grpSpPr>
            <a:xfrm>
              <a:off x="-1" y="3023672"/>
              <a:ext cx="7862818" cy="2606756"/>
              <a:chOff x="0" y="0"/>
              <a:chExt cx="7862816" cy="2606754"/>
            </a:xfrm>
          </p:grpSpPr>
          <p:grpSp>
            <p:nvGrpSpPr>
              <p:cNvPr id="446" name="Group"/>
              <p:cNvGrpSpPr/>
              <p:nvPr/>
            </p:nvGrpSpPr>
            <p:grpSpPr>
              <a:xfrm>
                <a:off x="1386423" y="95867"/>
                <a:ext cx="3348372" cy="1079501"/>
                <a:chOff x="0" y="0"/>
                <a:chExt cx="3348370" cy="1079500"/>
              </a:xfrm>
            </p:grpSpPr>
            <p:sp>
              <p:nvSpPr>
                <p:cNvPr id="443" name="Line"/>
                <p:cNvSpPr/>
                <p:nvPr/>
              </p:nvSpPr>
              <p:spPr>
                <a:xfrm>
                  <a:off x="0" y="22631"/>
                  <a:ext cx="3345286" cy="1"/>
                </a:xfrm>
                <a:prstGeom prst="lin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444" name="Line"/>
                <p:cNvSpPr/>
                <p:nvPr/>
              </p:nvSpPr>
              <p:spPr>
                <a:xfrm>
                  <a:off x="0" y="1057664"/>
                  <a:ext cx="3345286" cy="1"/>
                </a:xfrm>
                <a:prstGeom prst="lin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445" name="Line"/>
                <p:cNvSpPr/>
                <p:nvPr/>
              </p:nvSpPr>
              <p:spPr>
                <a:xfrm>
                  <a:off x="3348370" y="0"/>
                  <a:ext cx="1" cy="1079501"/>
                </a:xfrm>
                <a:prstGeom prst="lin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447" name="Circle"/>
              <p:cNvSpPr/>
              <p:nvPr/>
            </p:nvSpPr>
            <p:spPr>
              <a:xfrm>
                <a:off x="4907819" y="0"/>
                <a:ext cx="1270001" cy="1271235"/>
              </a:xfrm>
              <a:prstGeom prst="ellipse">
                <a:avLst/>
              </a:prstGeom>
              <a:noFill/>
              <a:ln w="50800" cap="flat">
                <a:solidFill>
                  <a:schemeClr val="accent1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48" name="Line"/>
              <p:cNvSpPr/>
              <p:nvPr/>
            </p:nvSpPr>
            <p:spPr>
              <a:xfrm>
                <a:off x="0" y="716292"/>
                <a:ext cx="1393483" cy="1"/>
              </a:xfrm>
              <a:prstGeom prst="line">
                <a:avLst/>
              </a:prstGeom>
              <a:noFill/>
              <a:ln w="50800" cap="flat">
                <a:solidFill>
                  <a:schemeClr val="accent1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9" name="Text"/>
                  <p:cNvSpPr/>
                  <p:nvPr/>
                </p:nvSpPr>
                <p:spPr>
                  <a:xfrm>
                    <a:off x="533564" y="1068065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>
                        <a:solidFill>
                          <a:schemeClr val="accent5"/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9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564" y="1068065"/>
                    <a:ext cx="1270001" cy="1270001"/>
                  </a:xfrm>
                  <a:prstGeom prst="line">
                    <a:avLst/>
                  </a:prstGeom>
                  <a:blipFill>
                    <a:blip r:embed="rId4"/>
                    <a:stretch>
                      <a:fillRect l="-12871" t="-19802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0" name="Line"/>
              <p:cNvSpPr/>
              <p:nvPr/>
            </p:nvSpPr>
            <p:spPr>
              <a:xfrm>
                <a:off x="6205363" y="635617"/>
                <a:ext cx="1657454" cy="1"/>
              </a:xfrm>
              <a:prstGeom prst="line">
                <a:avLst/>
              </a:prstGeom>
              <a:noFill/>
              <a:ln w="50800" cap="flat">
                <a:solidFill>
                  <a:schemeClr val="accent1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1" name="Text"/>
                  <p:cNvSpPr/>
                  <p:nvPr/>
                </p:nvSpPr>
                <p:spPr>
                  <a:xfrm>
                    <a:off x="6374360" y="1336754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>
                        <a:solidFill>
                          <a:schemeClr val="accent5"/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1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4360" y="1336754"/>
                    <a:ext cx="1270001" cy="1270001"/>
                  </a:xfrm>
                  <a:prstGeom prst="line">
                    <a:avLst/>
                  </a:prstGeom>
                  <a:blipFill>
                    <a:blip r:embed="rId5"/>
                    <a:stretch>
                      <a:fillRect l="-11881" t="-11881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2" name="Text"/>
                  <p:cNvSpPr/>
                  <p:nvPr/>
                </p:nvSpPr>
                <p:spPr>
                  <a:xfrm>
                    <a:off x="2572157" y="6356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4000">
                        <a:solidFill>
                          <a:schemeClr val="accent1"/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800" i="1">
                                  <a:solidFill>
                                    <a:srgbClr val="00A1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800" i="1">
                                  <a:solidFill>
                                    <a:srgbClr val="00A1FE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4800" i="1">
                                  <a:solidFill>
                                    <a:srgbClr val="00A1FE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00A2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2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72157" y="635617"/>
                    <a:ext cx="1270001" cy="1270001"/>
                  </a:xfrm>
                  <a:prstGeom prst="line">
                    <a:avLst/>
                  </a:prstGeom>
                  <a:blipFill>
                    <a:blip r:embed="rId6"/>
                    <a:stretch>
                      <a:fillRect l="-16832" t="-16832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6" name="What is   large enough?"/>
              <p:cNvSpPr txBox="1"/>
              <p:nvPr/>
            </p:nvSpPr>
            <p:spPr>
              <a:xfrm>
                <a:off x="1025600" y="9188271"/>
                <a:ext cx="5452390" cy="14977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>
                  <a:defRPr sz="3500" b="1"/>
                </a:pPr>
                <a:r>
                  <a:rPr lang="en-US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large enough?</a:t>
                </a:r>
              </a:p>
              <a:p>
                <a:pPr>
                  <a:defRPr sz="3500" b="1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 sz="4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lim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lim>
                      </m:limLow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6" name="What is   large enough?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600" y="9188271"/>
                <a:ext cx="5452390" cy="1497718"/>
              </a:xfrm>
              <a:prstGeom prst="rect">
                <a:avLst/>
              </a:prstGeom>
              <a:blipFill>
                <a:blip r:embed="rId7"/>
                <a:stretch>
                  <a:fillRect l="-3944" t="-4202" r="-3016" b="-924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7" name="For homogeneous servers,   is enough…"/>
              <p:cNvSpPr txBox="1"/>
              <p:nvPr/>
            </p:nvSpPr>
            <p:spPr>
              <a:xfrm>
                <a:off x="7033442" y="8765766"/>
                <a:ext cx="7149179" cy="369994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/>
              <a:p>
                <a:pPr marL="571500" indent="-571500">
                  <a:spcBef>
                    <a:spcPts val="1500"/>
                  </a:spcBef>
                  <a:buClr>
                    <a:schemeClr val="accent3">
                      <a:hueOff val="362282"/>
                      <a:satOff val="31803"/>
                      <a:lumOff val="-18242"/>
                    </a:schemeClr>
                  </a:buClr>
                  <a:buSzPct val="123000"/>
                  <a:buChar char="✓"/>
                  <a:defRPr sz="3000"/>
                </a:pPr>
                <a:r>
                  <a:rPr dirty="0"/>
                  <a:t>For homogeneous servers,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 is enough</a:t>
                </a:r>
              </a:p>
              <a:p>
                <a:pPr marL="571500" indent="-571500">
                  <a:spcBef>
                    <a:spcPts val="1500"/>
                  </a:spcBef>
                  <a:buClr>
                    <a:schemeClr val="accent3">
                      <a:hueOff val="362282"/>
                      <a:satOff val="31803"/>
                      <a:lumOff val="-18242"/>
                    </a:schemeClr>
                  </a:buClr>
                  <a:buSzPct val="123000"/>
                  <a:buChar char="✓"/>
                  <a:defRPr sz="3000"/>
                </a:pPr>
                <a:r>
                  <a:rPr dirty="0"/>
                  <a:t>“Enough” depends on heterogeneity of servers</a:t>
                </a:r>
              </a:p>
              <a:p>
                <a:pPr marL="571500" indent="-571500">
                  <a:spcBef>
                    <a:spcPts val="1500"/>
                  </a:spcBef>
                  <a:buClr>
                    <a:schemeClr val="accent3">
                      <a:hueOff val="362282"/>
                      <a:satOff val="31803"/>
                      <a:lumOff val="-18242"/>
                    </a:schemeClr>
                  </a:buClr>
                  <a:buSzPct val="123000"/>
                  <a:buChar char="✓"/>
                  <a:defRPr sz="3000"/>
                </a:pPr>
                <a:r>
                  <a:rPr dirty="0"/>
                  <a:t>Arrivals need to cover range of service rates</a:t>
                </a:r>
              </a:p>
              <a:p>
                <a:pPr marL="571500" indent="-571500">
                  <a:spcBef>
                    <a:spcPts val="1500"/>
                  </a:spcBef>
                  <a:buClr>
                    <a:schemeClr val="accent3">
                      <a:hueOff val="362282"/>
                      <a:satOff val="31803"/>
                      <a:lumOff val="-18242"/>
                    </a:schemeClr>
                  </a:buClr>
                  <a:buSzPct val="123000"/>
                  <a:buChar char="✓"/>
                  <a:defRPr sz="3000"/>
                </a:pPr>
                <a:r>
                  <a:rPr dirty="0"/>
                  <a:t>Condition independent of mixing time</a:t>
                </a:r>
              </a:p>
            </p:txBody>
          </p:sp>
        </mc:Choice>
        <mc:Fallback xmlns="">
          <p:sp>
            <p:nvSpPr>
              <p:cNvPr id="527" name="For homogeneous servers,   is enough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442" y="8765766"/>
                <a:ext cx="7149179" cy="3699941"/>
              </a:xfrm>
              <a:prstGeom prst="rect">
                <a:avLst/>
              </a:prstGeom>
              <a:blipFill>
                <a:blip r:embed="rId8"/>
                <a:stretch>
                  <a:fillRect l="-3546" t="-5479" r="-1418" b="-68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8" name="When does JSQ balance the queue lengths?"/>
          <p:cNvSpPr/>
          <p:nvPr/>
        </p:nvSpPr>
        <p:spPr>
          <a:xfrm>
            <a:off x="820901" y="11475635"/>
            <a:ext cx="5268821" cy="1270001"/>
          </a:xfrm>
          <a:prstGeom prst="roundRect">
            <a:avLst>
              <a:gd name="adj" fmla="val 15000"/>
            </a:avLst>
          </a:prstGeom>
          <a:solidFill>
            <a:schemeClr val="accent1">
              <a:lumOff val="16847"/>
              <a:alpha val="3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accent1">
                    <a:lumOff val="-135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When does JSQ balance the queue lengths?</a:t>
            </a:r>
          </a:p>
        </p:txBody>
      </p:sp>
      <p:sp>
        <p:nvSpPr>
          <p:cNvPr id="5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64" y="13068300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530" name="Proof: Drift analysis"/>
          <p:cNvSpPr txBox="1"/>
          <p:nvPr/>
        </p:nvSpPr>
        <p:spPr>
          <a:xfrm>
            <a:off x="1382472" y="7279978"/>
            <a:ext cx="3423286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t>Proof: Drift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" name="Rounded Rectangle 538">
                <a:extLst>
                  <a:ext uri="{FF2B5EF4-FFF2-40B4-BE49-F238E27FC236}">
                    <a16:creationId xmlns:a16="http://schemas.microsoft.com/office/drawing/2014/main" id="{A6598F72-EAE7-9DF6-F532-4CB01CC579FA}"/>
                  </a:ext>
                </a:extLst>
              </p:cNvPr>
              <p:cNvSpPr/>
              <p:nvPr/>
            </p:nvSpPr>
            <p:spPr>
              <a:xfrm>
                <a:off x="876658" y="2488344"/>
                <a:ext cx="11547251" cy="46546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4000" b="1" dirty="0">
                    <a:solidFill>
                      <a:schemeClr val="accent1">
                        <a:lumMod val="75000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Proposition</a:t>
                </a:r>
                <a:r>
                  <a:rPr kumimoji="0" lang="en-US" sz="4000" b="1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[Hurtado-Lange, G ‘25]: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𝒒</m:t>
                        </m:r>
                      </m:e>
                      <m:sub>
                        <m: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∥</m:t>
                        </m:r>
                      </m:sub>
                    </m:sSub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:= projection of </a:t>
                </a:r>
                <a14:m>
                  <m:oMath xmlns:m="http://schemas.openxmlformats.org/officeDocument/2006/math">
                    <m:r>
                      <a:rPr kumimoji="0" lang="en-US" sz="4000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𝒒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on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𝟏</m:t>
                    </m:r>
                  </m:oMath>
                </a14:m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40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𝒒</m:t>
                        </m:r>
                      </m:e>
                      <m:sub>
                        <m:r>
                          <a:rPr lang="en-US" sz="4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⊥</m:t>
                        </m:r>
                      </m:sub>
                    </m:sSub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:=</a:t>
                </a:r>
                <a:r>
                  <a:rPr kumimoji="0" lang="en-US" sz="4000" i="0" u="none" strike="noStrike" cap="none" spc="0" normalizeH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𝒒</m:t>
                    </m:r>
                    <m:r>
                      <a:rPr lang="en-US" sz="4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</m:t>
                    </m:r>
                    <m:sSub>
                      <m:sSubPr>
                        <m:ctrlPr>
                          <a:rPr lang="en-US" sz="4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40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𝒒</m:t>
                        </m:r>
                      </m:e>
                      <m:sub>
                        <m:r>
                          <a:rPr lang="en-US" sz="4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∥</m:t>
                        </m:r>
                      </m:sub>
                    </m:sSub>
                  </m:oMath>
                </a14:m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en-US" sz="4000" dirty="0">
                    <a:solidFill>
                      <a:schemeClr val="accent1">
                        <a:lumMod val="75000"/>
                      </a:schemeClr>
                    </a:solidFill>
                    <a:ea typeface="Helvetica Neue Medium"/>
                    <a:cs typeface="Helvetica Neue Medium"/>
                    <a:sym typeface="Helvetica Neue Medium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𝜆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&gt;</m:t>
                    </m:r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0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is large enough for each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, then for each 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𝑚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∈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ℕ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, we have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40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400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kumimoji="0" lang="en-US" sz="40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4000" b="1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4000" b="1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kumimoji="0" lang="en-US" sz="4000" b="1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  <m:t>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≤</m:t>
                      </m:r>
                      <m:sSub>
                        <m:sSubPr>
                          <m:ctrlP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sSubPr>
                        <m:e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𝑀</m:t>
                          </m:r>
                        </m:e>
                        <m:sub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539" name="Rounded Rectangle 538">
                <a:extLst>
                  <a:ext uri="{FF2B5EF4-FFF2-40B4-BE49-F238E27FC236}">
                    <a16:creationId xmlns:a16="http://schemas.microsoft.com/office/drawing/2014/main" id="{A6598F72-EAE7-9DF6-F532-4CB01CC57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58" y="2488344"/>
                <a:ext cx="11547251" cy="4654608"/>
              </a:xfrm>
              <a:prstGeom prst="roundRect">
                <a:avLst/>
              </a:prstGeom>
              <a:blipFill>
                <a:blip r:embed="rId9"/>
                <a:stretch>
                  <a:fillRect l="-110"/>
                </a:stretch>
              </a:blip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0" name="Group 539">
            <a:extLst>
              <a:ext uri="{FF2B5EF4-FFF2-40B4-BE49-F238E27FC236}">
                <a16:creationId xmlns:a16="http://schemas.microsoft.com/office/drawing/2014/main" id="{D64FEA3B-7B9F-4EAE-AAAD-1BE5E26EB037}"/>
              </a:ext>
            </a:extLst>
          </p:cNvPr>
          <p:cNvGrpSpPr/>
          <p:nvPr/>
        </p:nvGrpSpPr>
        <p:grpSpPr>
          <a:xfrm>
            <a:off x="12994416" y="3045853"/>
            <a:ext cx="11148074" cy="4858562"/>
            <a:chOff x="13563561" y="3072441"/>
            <a:chExt cx="11148074" cy="4858562"/>
          </a:xfrm>
        </p:grpSpPr>
        <p:grpSp>
          <p:nvGrpSpPr>
            <p:cNvPr id="541" name="Group">
              <a:extLst>
                <a:ext uri="{FF2B5EF4-FFF2-40B4-BE49-F238E27FC236}">
                  <a16:creationId xmlns:a16="http://schemas.microsoft.com/office/drawing/2014/main" id="{D9B1ECC2-BF59-633D-BB65-F39D630F682C}"/>
                </a:ext>
              </a:extLst>
            </p:cNvPr>
            <p:cNvGrpSpPr/>
            <p:nvPr/>
          </p:nvGrpSpPr>
          <p:grpSpPr>
            <a:xfrm>
              <a:off x="15880925" y="3072441"/>
              <a:ext cx="8830710" cy="4788158"/>
              <a:chOff x="-1" y="0"/>
              <a:chExt cx="8830704" cy="4788154"/>
            </a:xfrm>
          </p:grpSpPr>
          <p:grpSp>
            <p:nvGrpSpPr>
              <p:cNvPr id="567" name="Group">
                <a:extLst>
                  <a:ext uri="{FF2B5EF4-FFF2-40B4-BE49-F238E27FC236}">
                    <a16:creationId xmlns:a16="http://schemas.microsoft.com/office/drawing/2014/main" id="{A8F42882-EA2E-29F6-1521-858CC1914F6A}"/>
                  </a:ext>
                </a:extLst>
              </p:cNvPr>
              <p:cNvGrpSpPr/>
              <p:nvPr/>
            </p:nvGrpSpPr>
            <p:grpSpPr>
              <a:xfrm>
                <a:off x="-1" y="0"/>
                <a:ext cx="8830704" cy="4788154"/>
                <a:chOff x="0" y="0"/>
                <a:chExt cx="8830702" cy="4788153"/>
              </a:xfrm>
            </p:grpSpPr>
            <p:grpSp>
              <p:nvGrpSpPr>
                <p:cNvPr id="571" name="Group">
                  <a:extLst>
                    <a:ext uri="{FF2B5EF4-FFF2-40B4-BE49-F238E27FC236}">
                      <a16:creationId xmlns:a16="http://schemas.microsoft.com/office/drawing/2014/main" id="{2D147533-F8CB-DD69-BD98-EF6CD3EC8635}"/>
                    </a:ext>
                  </a:extLst>
                </p:cNvPr>
                <p:cNvGrpSpPr/>
                <p:nvPr/>
              </p:nvGrpSpPr>
              <p:grpSpPr>
                <a:xfrm>
                  <a:off x="-1" y="0"/>
                  <a:ext cx="8830704" cy="4788154"/>
                  <a:chOff x="0" y="0"/>
                  <a:chExt cx="8830702" cy="4788153"/>
                </a:xfrm>
              </p:grpSpPr>
              <p:grpSp>
                <p:nvGrpSpPr>
                  <p:cNvPr id="573" name="Group">
                    <a:extLst>
                      <a:ext uri="{FF2B5EF4-FFF2-40B4-BE49-F238E27FC236}">
                        <a16:creationId xmlns:a16="http://schemas.microsoft.com/office/drawing/2014/main" id="{D3A53062-4DCC-C1E9-D88E-65A91AEA4173}"/>
                      </a:ext>
                    </a:extLst>
                  </p:cNvPr>
                  <p:cNvGrpSpPr/>
                  <p:nvPr/>
                </p:nvGrpSpPr>
                <p:grpSpPr>
                  <a:xfrm>
                    <a:off x="4310949" y="0"/>
                    <a:ext cx="4519754" cy="4788154"/>
                    <a:chOff x="0" y="0"/>
                    <a:chExt cx="4519753" cy="4788153"/>
                  </a:xfrm>
                </p:grpSpPr>
                <p:grpSp>
                  <p:nvGrpSpPr>
                    <p:cNvPr id="389" name="Group">
                      <a:extLst>
                        <a:ext uri="{FF2B5EF4-FFF2-40B4-BE49-F238E27FC236}">
                          <a16:creationId xmlns:a16="http://schemas.microsoft.com/office/drawing/2014/main" id="{B5BD166F-C46B-705B-94D2-1118FE1C89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409" name="Group">
                        <a:extLst>
                          <a:ext uri="{FF2B5EF4-FFF2-40B4-BE49-F238E27FC236}">
                            <a16:creationId xmlns:a16="http://schemas.microsoft.com/office/drawing/2014/main" id="{98BDFB1E-F440-754E-2FC0-2D370FE7E5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414" name="Line">
                          <a:extLst>
                            <a:ext uri="{FF2B5EF4-FFF2-40B4-BE49-F238E27FC236}">
                              <a16:creationId xmlns:a16="http://schemas.microsoft.com/office/drawing/2014/main" id="{46D43576-2EAD-E871-4A29-64130BC929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415" name="Line">
                          <a:extLst>
                            <a:ext uri="{FF2B5EF4-FFF2-40B4-BE49-F238E27FC236}">
                              <a16:creationId xmlns:a16="http://schemas.microsoft.com/office/drawing/2014/main" id="{9AE83793-5E91-005E-232E-8A0D7EE1EE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416" name="Line">
                          <a:extLst>
                            <a:ext uri="{FF2B5EF4-FFF2-40B4-BE49-F238E27FC236}">
                              <a16:creationId xmlns:a16="http://schemas.microsoft.com/office/drawing/2014/main" id="{D5A5E368-4676-39E1-875C-CD0D309DF3D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410" name="1">
                        <a:extLst>
                          <a:ext uri="{FF2B5EF4-FFF2-40B4-BE49-F238E27FC236}">
                            <a16:creationId xmlns:a16="http://schemas.microsoft.com/office/drawing/2014/main" id="{1B14F21B-359A-8F6F-C0D9-88147DCE05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1</a:t>
                        </a:r>
                      </a:p>
                    </p:txBody>
                  </p:sp>
                  <p:grpSp>
                    <p:nvGrpSpPr>
                      <p:cNvPr id="411" name="Group">
                        <a:extLst>
                          <a:ext uri="{FF2B5EF4-FFF2-40B4-BE49-F238E27FC236}">
                            <a16:creationId xmlns:a16="http://schemas.microsoft.com/office/drawing/2014/main" id="{256A528C-B44E-A70E-C6F1-461FA777D8E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412" name="Line">
                          <a:extLst>
                            <a:ext uri="{FF2B5EF4-FFF2-40B4-BE49-F238E27FC236}">
                              <a16:creationId xmlns:a16="http://schemas.microsoft.com/office/drawing/2014/main" id="{1A743691-0599-5EB0-24D5-1D8612D906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413" name="Text">
                              <a:extLst>
                                <a:ext uri="{FF2B5EF4-FFF2-40B4-BE49-F238E27FC236}">
                                  <a16:creationId xmlns:a16="http://schemas.microsoft.com/office/drawing/2014/main" id="{41BBEFF2-F482-7E04-5FD9-4A02FE6F95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413" name="Text">
                              <a:extLst>
                                <a:ext uri="{FF2B5EF4-FFF2-40B4-BE49-F238E27FC236}">
                                  <a16:creationId xmlns:a16="http://schemas.microsoft.com/office/drawing/2014/main" id="{41BBEFF2-F482-7E04-5FD9-4A02FE6F952C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0"/>
                              <a:stretch>
                                <a:fillRect l="-13861" t="-13725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390" name="Group">
                      <a:extLst>
                        <a:ext uri="{FF2B5EF4-FFF2-40B4-BE49-F238E27FC236}">
                          <a16:creationId xmlns:a16="http://schemas.microsoft.com/office/drawing/2014/main" id="{F079CEB0-A11E-0933-3F62-C9E7C2052D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1167915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401" name="Group">
                        <a:extLst>
                          <a:ext uri="{FF2B5EF4-FFF2-40B4-BE49-F238E27FC236}">
                            <a16:creationId xmlns:a16="http://schemas.microsoft.com/office/drawing/2014/main" id="{6F51EDA2-8E0E-674E-D065-2968B3554AE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406" name="Line">
                          <a:extLst>
                            <a:ext uri="{FF2B5EF4-FFF2-40B4-BE49-F238E27FC236}">
                              <a16:creationId xmlns:a16="http://schemas.microsoft.com/office/drawing/2014/main" id="{2881E0EE-EE2C-82EC-CAA2-F2E6B4E28C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407" name="Line">
                          <a:extLst>
                            <a:ext uri="{FF2B5EF4-FFF2-40B4-BE49-F238E27FC236}">
                              <a16:creationId xmlns:a16="http://schemas.microsoft.com/office/drawing/2014/main" id="{B73EF3C8-4BD9-8A76-9B4B-D9BBF20677B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408" name="Line">
                          <a:extLst>
                            <a:ext uri="{FF2B5EF4-FFF2-40B4-BE49-F238E27FC236}">
                              <a16:creationId xmlns:a16="http://schemas.microsoft.com/office/drawing/2014/main" id="{88CF1C68-C940-93C9-4C40-70B2F2CD56A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402" name="2">
                        <a:extLst>
                          <a:ext uri="{FF2B5EF4-FFF2-40B4-BE49-F238E27FC236}">
                            <a16:creationId xmlns:a16="http://schemas.microsoft.com/office/drawing/2014/main" id="{D49DA5D4-891D-51A8-298C-43B0927469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2</a:t>
                        </a:r>
                      </a:p>
                    </p:txBody>
                  </p:sp>
                  <p:grpSp>
                    <p:nvGrpSpPr>
                      <p:cNvPr id="403" name="Group">
                        <a:extLst>
                          <a:ext uri="{FF2B5EF4-FFF2-40B4-BE49-F238E27FC236}">
                            <a16:creationId xmlns:a16="http://schemas.microsoft.com/office/drawing/2014/main" id="{D14B9076-6C41-4CC9-F199-F2759EF9D09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404" name="Line">
                          <a:extLst>
                            <a:ext uri="{FF2B5EF4-FFF2-40B4-BE49-F238E27FC236}">
                              <a16:creationId xmlns:a16="http://schemas.microsoft.com/office/drawing/2014/main" id="{F7788F5E-8F7D-6A70-B2DF-9A26EAD94BC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405" name="Text">
                              <a:extLst>
                                <a:ext uri="{FF2B5EF4-FFF2-40B4-BE49-F238E27FC236}">
                                  <a16:creationId xmlns:a16="http://schemas.microsoft.com/office/drawing/2014/main" id="{813EA669-56CA-133C-E54C-2F054FB8030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405" name="Text">
                              <a:extLst>
                                <a:ext uri="{FF2B5EF4-FFF2-40B4-BE49-F238E27FC236}">
                                  <a16:creationId xmlns:a16="http://schemas.microsoft.com/office/drawing/2014/main" id="{813EA669-56CA-133C-E54C-2F054FB80304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1"/>
                              <a:stretch>
                                <a:fillRect l="-13861" t="-15000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391" name="Group">
                      <a:extLst>
                        <a:ext uri="{FF2B5EF4-FFF2-40B4-BE49-F238E27FC236}">
                          <a16:creationId xmlns:a16="http://schemas.microsoft.com/office/drawing/2014/main" id="{EEFF5127-4FAE-B31F-F768-92AA0096D0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867362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393" name="Group">
                        <a:extLst>
                          <a:ext uri="{FF2B5EF4-FFF2-40B4-BE49-F238E27FC236}">
                            <a16:creationId xmlns:a16="http://schemas.microsoft.com/office/drawing/2014/main" id="{730F019F-FC32-782C-8B97-FF935D3C17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398" name="Line">
                          <a:extLst>
                            <a:ext uri="{FF2B5EF4-FFF2-40B4-BE49-F238E27FC236}">
                              <a16:creationId xmlns:a16="http://schemas.microsoft.com/office/drawing/2014/main" id="{8AC64207-94E3-B11C-B346-F21A2769673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399" name="Line">
                          <a:extLst>
                            <a:ext uri="{FF2B5EF4-FFF2-40B4-BE49-F238E27FC236}">
                              <a16:creationId xmlns:a16="http://schemas.microsoft.com/office/drawing/2014/main" id="{A6A87B35-9138-2D75-FD7B-E91AB4521B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400" name="Line">
                          <a:extLst>
                            <a:ext uri="{FF2B5EF4-FFF2-40B4-BE49-F238E27FC236}">
                              <a16:creationId xmlns:a16="http://schemas.microsoft.com/office/drawing/2014/main" id="{850ECFBA-B79C-714C-6625-DC34D9621E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94" name="Circle">
                            <a:extLst>
                              <a:ext uri="{FF2B5EF4-FFF2-40B4-BE49-F238E27FC236}">
                                <a16:creationId xmlns:a16="http://schemas.microsoft.com/office/drawing/2014/main" id="{1538695C-DDAB-0022-046A-E34D555B54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noFill/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square" lIns="50800" tIns="50800" rIns="50800" bIns="50800" numCol="1" anchor="ctr">
                            <a:noAutofit/>
                          </a:bodyPr>
                          <a:lstStyle>
                            <a:lvl1pPr algn="ctr" defTabSz="82550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defRPr sz="3000">
                                <a:latin typeface="Helvetica Neue Medium"/>
                                <a:ea typeface="Helvetica Neue Medium"/>
                                <a:cs typeface="Helvetica Neue Medium"/>
                                <a:sym typeface="Helvetica Neue Medium"/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oMath>
                              </m:oMathPara>
                            </a14:m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94" name="Circle">
                            <a:extLst>
                              <a:ext uri="{FF2B5EF4-FFF2-40B4-BE49-F238E27FC236}">
                                <a16:creationId xmlns:a16="http://schemas.microsoft.com/office/drawing/2014/main" id="{1538695C-DDAB-0022-046A-E34D555B54C8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blipFill>
                            <a:blip r:embed="rId12"/>
                            <a:stretch>
                              <a:fillRect/>
                            </a:stretch>
                          </a:blipFill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395" name="Group">
                        <a:extLst>
                          <a:ext uri="{FF2B5EF4-FFF2-40B4-BE49-F238E27FC236}">
                            <a16:creationId xmlns:a16="http://schemas.microsoft.com/office/drawing/2014/main" id="{43E1DA1A-542E-2687-9388-4865DAC865A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396" name="Line">
                          <a:extLst>
                            <a:ext uri="{FF2B5EF4-FFF2-40B4-BE49-F238E27FC236}">
                              <a16:creationId xmlns:a16="http://schemas.microsoft.com/office/drawing/2014/main" id="{7025E879-4D90-7034-4901-1765D40917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397" name="Text">
                              <a:extLst>
                                <a:ext uri="{FF2B5EF4-FFF2-40B4-BE49-F238E27FC236}">
                                  <a16:creationId xmlns:a16="http://schemas.microsoft.com/office/drawing/2014/main" id="{AC630039-50AA-EAE6-1404-7050ED6B17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397" name="Text">
                              <a:extLst>
                                <a:ext uri="{FF2B5EF4-FFF2-40B4-BE49-F238E27FC236}">
                                  <a16:creationId xmlns:a16="http://schemas.microsoft.com/office/drawing/2014/main" id="{AC630039-50AA-EAE6-1404-7050ED6B17CA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3"/>
                              <a:stretch>
                                <a:fillRect l="-13861" t="-1386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sp>
                  <p:nvSpPr>
                    <p:cNvPr id="392" name="…">
                      <a:extLst>
                        <a:ext uri="{FF2B5EF4-FFF2-40B4-BE49-F238E27FC236}">
                          <a16:creationId xmlns:a16="http://schemas.microsoft.com/office/drawing/2014/main" id="{197C262F-E9B2-4E10-FD0E-7DCDE813B25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86498" y="14923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grpSp>
                <p:nvGrpSpPr>
                  <p:cNvPr id="574" name="Group">
                    <a:extLst>
                      <a:ext uri="{FF2B5EF4-FFF2-40B4-BE49-F238E27FC236}">
                        <a16:creationId xmlns:a16="http://schemas.microsoft.com/office/drawing/2014/main" id="{1105D9DE-C1B4-4842-2B0A-82CB3B12D313}"/>
                      </a:ext>
                    </a:extLst>
                  </p:cNvPr>
                  <p:cNvGrpSpPr/>
                  <p:nvPr/>
                </p:nvGrpSpPr>
                <p:grpSpPr>
                  <a:xfrm>
                    <a:off x="1346012" y="516200"/>
                    <a:ext cx="3408500" cy="2819352"/>
                    <a:chOff x="0" y="0"/>
                    <a:chExt cx="3408498" cy="2819351"/>
                  </a:xfrm>
                </p:grpSpPr>
                <p:sp>
                  <p:nvSpPr>
                    <p:cNvPr id="384" name="JSQ">
                      <a:extLst>
                        <a:ext uri="{FF2B5EF4-FFF2-40B4-BE49-F238E27FC236}">
                          <a16:creationId xmlns:a16="http://schemas.microsoft.com/office/drawing/2014/main" id="{50BCC450-B2E3-B0F2-79C7-687E22BFA8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448496"/>
                      <a:ext cx="1422401" cy="14224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10800"/>
                          </a:moveTo>
                          <a:lnTo>
                            <a:pt x="10800" y="21600"/>
                          </a:lnTo>
                          <a:lnTo>
                            <a:pt x="21600" y="10800"/>
                          </a:lnTo>
                          <a:lnTo>
                            <a:pt x="10800" y="0"/>
                          </a:lnTo>
                          <a:close/>
                        </a:path>
                      </a:pathLst>
                    </a:cu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0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JSQ</a:t>
                      </a:r>
                    </a:p>
                  </p:txBody>
                </p:sp>
                <p:sp>
                  <p:nvSpPr>
                    <p:cNvPr id="385" name="Line">
                      <a:extLst>
                        <a:ext uri="{FF2B5EF4-FFF2-40B4-BE49-F238E27FC236}">
                          <a16:creationId xmlns:a16="http://schemas.microsoft.com/office/drawing/2014/main" id="{B16262E4-FFD4-82F9-9240-218B392F322B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407697" y="-1"/>
                      <a:ext cx="1472888" cy="1172398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386" name="Line">
                      <a:extLst>
                        <a:ext uri="{FF2B5EF4-FFF2-40B4-BE49-F238E27FC236}">
                          <a16:creationId xmlns:a16="http://schemas.microsoft.com/office/drawing/2014/main" id="{00D0947A-4F6E-87CB-855C-81FA78AD59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7521" y="1166578"/>
                      <a:ext cx="1468645" cy="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387" name="Line">
                      <a:extLst>
                        <a:ext uri="{FF2B5EF4-FFF2-40B4-BE49-F238E27FC236}">
                          <a16:creationId xmlns:a16="http://schemas.microsoft.com/office/drawing/2014/main" id="{010D5E1D-2268-283D-8A2D-2FD4D43DF3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3574" y="1168551"/>
                      <a:ext cx="1473866" cy="165080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388" name="…">
                      <a:extLst>
                        <a:ext uri="{FF2B5EF4-FFF2-40B4-BE49-F238E27FC236}">
                          <a16:creationId xmlns:a16="http://schemas.microsoft.com/office/drawing/2014/main" id="{4257DDF2-07D3-3167-903B-6235B6CD9FAE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138498" y="73606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sp>
                <p:nvSpPr>
                  <p:cNvPr id="575" name="Group">
                    <a:extLst>
                      <a:ext uri="{FF2B5EF4-FFF2-40B4-BE49-F238E27FC236}">
                        <a16:creationId xmlns:a16="http://schemas.microsoft.com/office/drawing/2014/main" id="{D2E53505-7AEA-1726-2BA2-0E0FF8F325CB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-1" y="1680177"/>
                    <a:ext cx="1223401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2" name="Text">
                      <a:extLst>
                        <a:ext uri="{FF2B5EF4-FFF2-40B4-BE49-F238E27FC236}">
                          <a16:creationId xmlns:a16="http://schemas.microsoft.com/office/drawing/2014/main" id="{BA7AA91E-1654-5275-45B2-F8AA5E59A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72" name="Text">
                      <a:extLst>
                        <a:ext uri="{FF2B5EF4-FFF2-40B4-BE49-F238E27FC236}">
                          <a16:creationId xmlns:a16="http://schemas.microsoft.com/office/drawing/2014/main" id="{BA7AA91E-1654-5275-45B2-F8AA5E59A04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blipFill>
                      <a:blip r:embed="rId14"/>
                      <a:stretch>
                        <a:fillRect l="-13000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8" name="Equation">
                    <a:extLst>
                      <a:ext uri="{FF2B5EF4-FFF2-40B4-BE49-F238E27FC236}">
                        <a16:creationId xmlns:a16="http://schemas.microsoft.com/office/drawing/2014/main" id="{5A1082F3-6277-C835-6724-F294B71EFCDA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111217"/>
                    <a:ext cx="319865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568" name="Equation">
                    <a:extLst>
                      <a:ext uri="{FF2B5EF4-FFF2-40B4-BE49-F238E27FC236}">
                        <a16:creationId xmlns:a16="http://schemas.microsoft.com/office/drawing/2014/main" id="{5A1082F3-6277-C835-6724-F294B71EFC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11217"/>
                    <a:ext cx="319865" cy="30715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44444" r="-55556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9" name="Equation">
                    <a:extLst>
                      <a:ext uri="{FF2B5EF4-FFF2-40B4-BE49-F238E27FC236}">
                        <a16:creationId xmlns:a16="http://schemas.microsoft.com/office/drawing/2014/main" id="{1C98E87E-1A73-155D-5564-9CF51379029E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1259893"/>
                    <a:ext cx="345113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569" name="Equation">
                    <a:extLst>
                      <a:ext uri="{FF2B5EF4-FFF2-40B4-BE49-F238E27FC236}">
                        <a16:creationId xmlns:a16="http://schemas.microsoft.com/office/drawing/2014/main" id="{1C98E87E-1A73-155D-5564-9CF5137902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259893"/>
                    <a:ext cx="345113" cy="30715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1379" r="-44828" b="-111538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0" name="Equation">
                    <a:extLst>
                      <a:ext uri="{FF2B5EF4-FFF2-40B4-BE49-F238E27FC236}">
                        <a16:creationId xmlns:a16="http://schemas.microsoft.com/office/drawing/2014/main" id="{89B4ADD2-06F9-D060-C76B-54E8236BF9EA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2988936"/>
                    <a:ext cx="345113" cy="30999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sz="3500"/>
                  </a:p>
                </p:txBody>
              </p:sp>
            </mc:Choice>
            <mc:Fallback xmlns="">
              <p:sp>
                <p:nvSpPr>
                  <p:cNvPr id="570" name="Equation">
                    <a:extLst>
                      <a:ext uri="{FF2B5EF4-FFF2-40B4-BE49-F238E27FC236}">
                        <a16:creationId xmlns:a16="http://schemas.microsoft.com/office/drawing/2014/main" id="{89B4ADD2-06F9-D060-C76B-54E8236BF9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2988936"/>
                    <a:ext cx="345113" cy="30999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41379" r="-48276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">
                  <a:extLst>
                    <a:ext uri="{FF2B5EF4-FFF2-40B4-BE49-F238E27FC236}">
                      <a16:creationId xmlns:a16="http://schemas.microsoft.com/office/drawing/2014/main" id="{893BCE49-B011-F1FF-987F-67FF713E171A}"/>
                    </a:ext>
                  </a:extLst>
                </p:cNvPr>
                <p:cNvSpPr/>
                <p:nvPr/>
              </p:nvSpPr>
              <p:spPr>
                <a:xfrm>
                  <a:off x="14949611" y="3231168"/>
                  <a:ext cx="1270000" cy="1270002"/>
                </a:xfrm>
                <a:prstGeom prst="line">
                  <a:avLst/>
                </a:prstGeom>
                <a:solidFill>
                  <a:schemeClr val="accent1">
                    <a:lumOff val="16847"/>
                    <a:alpha val="30000"/>
                  </a:schemeClr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∼?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542" name="Text">
                  <a:extLst>
                    <a:ext uri="{FF2B5EF4-FFF2-40B4-BE49-F238E27FC236}">
                      <a16:creationId xmlns:a16="http://schemas.microsoft.com/office/drawing/2014/main" id="{893BCE49-B011-F1FF-987F-67FF713E17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9611" y="3231168"/>
                  <a:ext cx="1270000" cy="1270002"/>
                </a:xfrm>
                <a:prstGeom prst="line">
                  <a:avLst/>
                </a:prstGeom>
                <a:blipFill>
                  <a:blip r:embed="rId18"/>
                  <a:stretch>
                    <a:fillRect l="-19802" t="-30693" r="-61386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3" name="Group 542">
              <a:extLst>
                <a:ext uri="{FF2B5EF4-FFF2-40B4-BE49-F238E27FC236}">
                  <a16:creationId xmlns:a16="http://schemas.microsoft.com/office/drawing/2014/main" id="{2C83F8FD-4B30-EF59-4200-4827C2E64915}"/>
                </a:ext>
              </a:extLst>
            </p:cNvPr>
            <p:cNvGrpSpPr/>
            <p:nvPr/>
          </p:nvGrpSpPr>
          <p:grpSpPr>
            <a:xfrm>
              <a:off x="13563561" y="5770180"/>
              <a:ext cx="5862886" cy="2160823"/>
              <a:chOff x="13563561" y="5770180"/>
              <a:chExt cx="5862886" cy="21608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4" name="Markov chain">
                    <a:extLst>
                      <a:ext uri="{FF2B5EF4-FFF2-40B4-BE49-F238E27FC236}">
                        <a16:creationId xmlns:a16="http://schemas.microsoft.com/office/drawing/2014/main" id="{F22F2B9E-18B6-FFAD-96E3-2E245E980526}"/>
                      </a:ext>
                    </a:extLst>
                  </p:cNvPr>
                  <p:cNvSpPr txBox="1"/>
                  <p:nvPr/>
                </p:nvSpPr>
                <p:spPr>
                  <a:xfrm>
                    <a:off x="13563561" y="5770180"/>
                    <a:ext cx="1260538" cy="60119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/>
                  <a:p>
                    <a:pPr>
                      <a:defRPr sz="3000">
                        <a:solidFill>
                          <a:schemeClr val="accent5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3600" b="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dirty="0"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4" name="Markov chain">
                    <a:extLst>
                      <a:ext uri="{FF2B5EF4-FFF2-40B4-BE49-F238E27FC236}">
                        <a16:creationId xmlns:a16="http://schemas.microsoft.com/office/drawing/2014/main" id="{F22F2B9E-18B6-FFAD-96E3-2E245E9805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63561" y="5770180"/>
                    <a:ext cx="1260538" cy="60119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000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45" name="Group 544">
                <a:extLst>
                  <a:ext uri="{FF2B5EF4-FFF2-40B4-BE49-F238E27FC236}">
                    <a16:creationId xmlns:a16="http://schemas.microsoft.com/office/drawing/2014/main" id="{46FEDC42-9968-5B06-8B3D-8CD130C9EDF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435471" y="6285083"/>
                <a:ext cx="4990976" cy="1645920"/>
                <a:chOff x="15235395" y="8914400"/>
                <a:chExt cx="6602796" cy="2177465"/>
              </a:xfrm>
            </p:grpSpPr>
            <p:sp>
              <p:nvSpPr>
                <p:cNvPr id="546" name="Circle">
                  <a:extLst>
                    <a:ext uri="{FF2B5EF4-FFF2-40B4-BE49-F238E27FC236}">
                      <a16:creationId xmlns:a16="http://schemas.microsoft.com/office/drawing/2014/main" id="{0A5CF65A-E928-8C80-5724-0E5B1EA6426B}"/>
                    </a:ext>
                  </a:extLst>
                </p:cNvPr>
                <p:cNvSpPr/>
                <p:nvPr/>
              </p:nvSpPr>
              <p:spPr>
                <a:xfrm>
                  <a:off x="15235395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47" name="Circle">
                  <a:extLst>
                    <a:ext uri="{FF2B5EF4-FFF2-40B4-BE49-F238E27FC236}">
                      <a16:creationId xmlns:a16="http://schemas.microsoft.com/office/drawing/2014/main" id="{1982C878-6209-1502-05EB-0DFBB708AB36}"/>
                    </a:ext>
                  </a:extLst>
                </p:cNvPr>
                <p:cNvSpPr/>
                <p:nvPr/>
              </p:nvSpPr>
              <p:spPr>
                <a:xfrm>
                  <a:off x="16663474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48" name="Circle">
                  <a:extLst>
                    <a:ext uri="{FF2B5EF4-FFF2-40B4-BE49-F238E27FC236}">
                      <a16:creationId xmlns:a16="http://schemas.microsoft.com/office/drawing/2014/main" id="{67B8E587-F5DF-11ED-4948-EBC90B9BB44A}"/>
                    </a:ext>
                  </a:extLst>
                </p:cNvPr>
                <p:cNvSpPr/>
                <p:nvPr/>
              </p:nvSpPr>
              <p:spPr>
                <a:xfrm>
                  <a:off x="1809155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49" name="Circle">
                  <a:extLst>
                    <a:ext uri="{FF2B5EF4-FFF2-40B4-BE49-F238E27FC236}">
                      <a16:creationId xmlns:a16="http://schemas.microsoft.com/office/drawing/2014/main" id="{86C8B542-2D71-F2F1-34BE-63D69CF56180}"/>
                    </a:ext>
                  </a:extLst>
                </p:cNvPr>
                <p:cNvSpPr/>
                <p:nvPr/>
              </p:nvSpPr>
              <p:spPr>
                <a:xfrm>
                  <a:off x="15923204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50" name="Circle">
                  <a:extLst>
                    <a:ext uri="{FF2B5EF4-FFF2-40B4-BE49-F238E27FC236}">
                      <a16:creationId xmlns:a16="http://schemas.microsoft.com/office/drawing/2014/main" id="{4CC50639-4D7F-3E94-A062-AD83BE9CE96C}"/>
                    </a:ext>
                  </a:extLst>
                </p:cNvPr>
                <p:cNvSpPr/>
                <p:nvPr/>
              </p:nvSpPr>
              <p:spPr>
                <a:xfrm>
                  <a:off x="18772119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51" name="Circle">
                  <a:extLst>
                    <a:ext uri="{FF2B5EF4-FFF2-40B4-BE49-F238E27FC236}">
                      <a16:creationId xmlns:a16="http://schemas.microsoft.com/office/drawing/2014/main" id="{0A3D2818-9A35-B998-12FD-812D062206B0}"/>
                    </a:ext>
                  </a:extLst>
                </p:cNvPr>
                <p:cNvSpPr/>
                <p:nvPr/>
              </p:nvSpPr>
              <p:spPr>
                <a:xfrm>
                  <a:off x="1951963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52" name="Circle">
                  <a:extLst>
                    <a:ext uri="{FF2B5EF4-FFF2-40B4-BE49-F238E27FC236}">
                      <a16:creationId xmlns:a16="http://schemas.microsoft.com/office/drawing/2014/main" id="{D7C07BDE-2E0D-2258-A449-45763F7CDA8E}"/>
                    </a:ext>
                  </a:extLst>
                </p:cNvPr>
                <p:cNvSpPr/>
                <p:nvPr/>
              </p:nvSpPr>
              <p:spPr>
                <a:xfrm>
                  <a:off x="20947712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cxnSp>
              <p:nvCxnSpPr>
                <p:cNvPr id="553" name="Curved Connector 552">
                  <a:extLst>
                    <a:ext uri="{FF2B5EF4-FFF2-40B4-BE49-F238E27FC236}">
                      <a16:creationId xmlns:a16="http://schemas.microsoft.com/office/drawing/2014/main" id="{EF6A5981-9532-DDA7-3ADE-ECD129E5240A}"/>
                    </a:ext>
                  </a:extLst>
                </p:cNvPr>
                <p:cNvCxnSpPr>
                  <a:cxnSpLocks/>
                  <a:stCxn id="546" idx="7"/>
                  <a:endCxn id="547" idx="1"/>
                </p:cNvCxnSpPr>
                <p:nvPr/>
              </p:nvCxnSpPr>
              <p:spPr>
                <a:xfrm rot="5400000" flipH="1" flipV="1">
                  <a:off x="1639467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4" name="Curved Connector 553">
                  <a:extLst>
                    <a:ext uri="{FF2B5EF4-FFF2-40B4-BE49-F238E27FC236}">
                      <a16:creationId xmlns:a16="http://schemas.microsoft.com/office/drawing/2014/main" id="{6FA34A6E-473B-D846-FF93-2D265A497748}"/>
                    </a:ext>
                  </a:extLst>
                </p:cNvPr>
                <p:cNvCxnSpPr>
                  <a:cxnSpLocks/>
                  <a:stCxn id="547" idx="3"/>
                  <a:endCxn id="546" idx="5"/>
                </p:cNvCxnSpPr>
                <p:nvPr/>
              </p:nvCxnSpPr>
              <p:spPr>
                <a:xfrm rot="5400000">
                  <a:off x="16394674" y="9269716"/>
                  <a:ext cx="12700" cy="798416"/>
                </a:xfrm>
                <a:prstGeom prst="curvedConnector3">
                  <a:avLst>
                    <a:gd name="adj1" fmla="val 11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5" name="Curved Connector 554">
                  <a:extLst>
                    <a:ext uri="{FF2B5EF4-FFF2-40B4-BE49-F238E27FC236}">
                      <a16:creationId xmlns:a16="http://schemas.microsoft.com/office/drawing/2014/main" id="{00AC0D6A-38DB-EEEF-81F3-B844B58CEBE8}"/>
                    </a:ext>
                  </a:extLst>
                </p:cNvPr>
                <p:cNvCxnSpPr>
                  <a:cxnSpLocks/>
                  <a:stCxn id="547" idx="7"/>
                  <a:endCxn id="548" idx="1"/>
                </p:cNvCxnSpPr>
                <p:nvPr/>
              </p:nvCxnSpPr>
              <p:spPr>
                <a:xfrm rot="5400000" flipH="1" flipV="1">
                  <a:off x="17822753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6" name="Curved Connector 555">
                  <a:extLst>
                    <a:ext uri="{FF2B5EF4-FFF2-40B4-BE49-F238E27FC236}">
                      <a16:creationId xmlns:a16="http://schemas.microsoft.com/office/drawing/2014/main" id="{CC835CEA-A2E3-AF38-DA1E-9C1791D12587}"/>
                    </a:ext>
                  </a:extLst>
                </p:cNvPr>
                <p:cNvCxnSpPr>
                  <a:cxnSpLocks/>
                  <a:stCxn id="548" idx="3"/>
                  <a:endCxn id="547" idx="5"/>
                </p:cNvCxnSpPr>
                <p:nvPr/>
              </p:nvCxnSpPr>
              <p:spPr>
                <a:xfrm rot="5400000">
                  <a:off x="17822753" y="9269716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7" name="Curved Connector 556">
                  <a:extLst>
                    <a:ext uri="{FF2B5EF4-FFF2-40B4-BE49-F238E27FC236}">
                      <a16:creationId xmlns:a16="http://schemas.microsoft.com/office/drawing/2014/main" id="{0F2DCB93-5CDB-1F6D-61A9-B3454ECA6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0700535" y="86319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8" name="Curved Connector 557">
                  <a:extLst>
                    <a:ext uri="{FF2B5EF4-FFF2-40B4-BE49-F238E27FC236}">
                      <a16:creationId xmlns:a16="http://schemas.microsoft.com/office/drawing/2014/main" id="{155AFC07-E133-C481-0D22-7E60B29857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926164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59" name="Curved Connector 558">
                  <a:extLst>
                    <a:ext uri="{FF2B5EF4-FFF2-40B4-BE49-F238E27FC236}">
                      <a16:creationId xmlns:a16="http://schemas.microsoft.com/office/drawing/2014/main" id="{B88A76D1-9A17-BC58-EF47-5BE5FB20B34C}"/>
                    </a:ext>
                  </a:extLst>
                </p:cNvPr>
                <p:cNvCxnSpPr>
                  <a:cxnSpLocks/>
                  <a:stCxn id="551" idx="3"/>
                  <a:endCxn id="548" idx="5"/>
                </p:cNvCxnSpPr>
                <p:nvPr/>
              </p:nvCxnSpPr>
              <p:spPr>
                <a:xfrm rot="5400000">
                  <a:off x="19250833" y="9269716"/>
                  <a:ext cx="12700" cy="798417"/>
                </a:xfrm>
                <a:prstGeom prst="curvedConnector3">
                  <a:avLst>
                    <a:gd name="adj1" fmla="val 819323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0" name="Curved Connector 559">
                  <a:extLst>
                    <a:ext uri="{FF2B5EF4-FFF2-40B4-BE49-F238E27FC236}">
                      <a16:creationId xmlns:a16="http://schemas.microsoft.com/office/drawing/2014/main" id="{7D59C78B-2164-D6B5-0D85-7177573F3CF1}"/>
                    </a:ext>
                  </a:extLst>
                </p:cNvPr>
                <p:cNvCxnSpPr>
                  <a:cxnSpLocks/>
                  <a:stCxn id="550" idx="3"/>
                  <a:endCxn id="549" idx="5"/>
                </p:cNvCxnSpPr>
                <p:nvPr/>
              </p:nvCxnSpPr>
              <p:spPr>
                <a:xfrm rot="5400000">
                  <a:off x="17792901" y="9852783"/>
                  <a:ext cx="12700" cy="2219252"/>
                </a:xfrm>
                <a:prstGeom prst="curvedConnector3">
                  <a:avLst>
                    <a:gd name="adj1" fmla="val 28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1" name="Curved Connector 560">
                  <a:extLst>
                    <a:ext uri="{FF2B5EF4-FFF2-40B4-BE49-F238E27FC236}">
                      <a16:creationId xmlns:a16="http://schemas.microsoft.com/office/drawing/2014/main" id="{B43A4593-09D7-8E23-8A03-4DEA4A4237A1}"/>
                    </a:ext>
                  </a:extLst>
                </p:cNvPr>
                <p:cNvCxnSpPr>
                  <a:cxnSpLocks/>
                  <a:stCxn id="551" idx="4"/>
                  <a:endCxn id="550" idx="7"/>
                </p:cNvCxnSpPr>
                <p:nvPr/>
              </p:nvCxnSpPr>
              <p:spPr>
                <a:xfrm rot="5400000">
                  <a:off x="19479052" y="9851519"/>
                  <a:ext cx="538960" cy="432683"/>
                </a:xfrm>
                <a:prstGeom prst="curvedConnector3">
                  <a:avLst>
                    <a:gd name="adj1" fmla="val 38217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2" name="Curved Connector 561">
                  <a:extLst>
                    <a:ext uri="{FF2B5EF4-FFF2-40B4-BE49-F238E27FC236}">
                      <a16:creationId xmlns:a16="http://schemas.microsoft.com/office/drawing/2014/main" id="{E7A15AFE-403D-AE79-C12A-DBD293901611}"/>
                    </a:ext>
                  </a:extLst>
                </p:cNvPr>
                <p:cNvCxnSpPr>
                  <a:cxnSpLocks/>
                  <a:stCxn id="550" idx="6"/>
                  <a:endCxn id="552" idx="4"/>
                </p:cNvCxnSpPr>
                <p:nvPr/>
              </p:nvCxnSpPr>
              <p:spPr>
                <a:xfrm flipV="1">
                  <a:off x="19662598" y="9798380"/>
                  <a:ext cx="1730354" cy="85149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3" name="Curved Connector 562">
                  <a:extLst>
                    <a:ext uri="{FF2B5EF4-FFF2-40B4-BE49-F238E27FC236}">
                      <a16:creationId xmlns:a16="http://schemas.microsoft.com/office/drawing/2014/main" id="{02430412-49A8-89BC-9682-D0E0BE42ABDF}"/>
                    </a:ext>
                  </a:extLst>
                </p:cNvPr>
                <p:cNvCxnSpPr>
                  <a:cxnSpLocks/>
                  <a:stCxn id="552" idx="3"/>
                </p:cNvCxnSpPr>
                <p:nvPr/>
              </p:nvCxnSpPr>
              <p:spPr>
                <a:xfrm rot="5400000">
                  <a:off x="19967646" y="9312974"/>
                  <a:ext cx="754525" cy="146642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4" name="Curved Connector 563">
                  <a:extLst>
                    <a:ext uri="{FF2B5EF4-FFF2-40B4-BE49-F238E27FC236}">
                      <a16:creationId xmlns:a16="http://schemas.microsoft.com/office/drawing/2014/main" id="{E29042B7-9DCB-11D2-2116-90A635219294}"/>
                    </a:ext>
                  </a:extLst>
                </p:cNvPr>
                <p:cNvCxnSpPr>
                  <a:cxnSpLocks/>
                  <a:stCxn id="549" idx="1"/>
                  <a:endCxn id="546" idx="4"/>
                </p:cNvCxnSpPr>
                <p:nvPr/>
              </p:nvCxnSpPr>
              <p:spPr>
                <a:xfrm rot="16200000" flipV="1">
                  <a:off x="15597644" y="9881371"/>
                  <a:ext cx="538960" cy="372977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5" name="Curved Connector 564">
                  <a:extLst>
                    <a:ext uri="{FF2B5EF4-FFF2-40B4-BE49-F238E27FC236}">
                      <a16:creationId xmlns:a16="http://schemas.microsoft.com/office/drawing/2014/main" id="{AB4AE420-71BE-ED7A-069B-3A37B20CB100}"/>
                    </a:ext>
                  </a:extLst>
                </p:cNvPr>
                <p:cNvCxnSpPr>
                  <a:cxnSpLocks/>
                  <a:stCxn id="546" idx="3"/>
                  <a:endCxn id="549" idx="2"/>
                </p:cNvCxnSpPr>
                <p:nvPr/>
              </p:nvCxnSpPr>
              <p:spPr>
                <a:xfrm rot="16200000" flipH="1">
                  <a:off x="15154028" y="9880698"/>
                  <a:ext cx="980951" cy="557401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66" name="Curved Connector 565">
                  <a:extLst>
                    <a:ext uri="{FF2B5EF4-FFF2-40B4-BE49-F238E27FC236}">
                      <a16:creationId xmlns:a16="http://schemas.microsoft.com/office/drawing/2014/main" id="{C2C1CC8D-269E-E616-56D5-DCD709C0E452}"/>
                    </a:ext>
                  </a:extLst>
                </p:cNvPr>
                <p:cNvCxnSpPr>
                  <a:cxnSpLocks/>
                  <a:stCxn id="549" idx="7"/>
                  <a:endCxn id="550" idx="1"/>
                </p:cNvCxnSpPr>
                <p:nvPr/>
              </p:nvCxnSpPr>
              <p:spPr>
                <a:xfrm rot="5400000" flipH="1" flipV="1">
                  <a:off x="17792901" y="9227714"/>
                  <a:ext cx="12700" cy="2219252"/>
                </a:xfrm>
                <a:prstGeom prst="curvedConnector3">
                  <a:avLst>
                    <a:gd name="adj1" fmla="val 12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" grpId="3" animBg="1" advAuto="0"/>
      <p:bldP spid="527" grpId="4" build="p" bldLvl="5" animBg="1" advAuto="0"/>
      <p:bldP spid="528" grpId="5" animBg="1" advAuto="0"/>
      <p:bldP spid="530" grpId="2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roof Sketc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Proof Sketch</a:t>
            </a:r>
          </a:p>
        </p:txBody>
      </p:sp>
      <p:sp>
        <p:nvSpPr>
          <p:cNvPr id="6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64" y="13068300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grpSp>
        <p:nvGrpSpPr>
          <p:cNvPr id="626" name="Group"/>
          <p:cNvGrpSpPr/>
          <p:nvPr/>
        </p:nvGrpSpPr>
        <p:grpSpPr>
          <a:xfrm>
            <a:off x="1162716" y="8282785"/>
            <a:ext cx="11152156" cy="5269865"/>
            <a:chOff x="-50800" y="-50800"/>
            <a:chExt cx="11152154" cy="5269863"/>
          </a:xfrm>
        </p:grpSpPr>
        <p:grpSp>
          <p:nvGrpSpPr>
            <p:cNvPr id="623" name="Group"/>
            <p:cNvGrpSpPr/>
            <p:nvPr/>
          </p:nvGrpSpPr>
          <p:grpSpPr>
            <a:xfrm>
              <a:off x="151880" y="423698"/>
              <a:ext cx="9262145" cy="4795366"/>
              <a:chOff x="0" y="317403"/>
              <a:chExt cx="9262143" cy="4795364"/>
            </a:xfrm>
          </p:grpSpPr>
          <p:grpSp>
            <p:nvGrpSpPr>
              <p:cNvPr id="620" name="Group"/>
              <p:cNvGrpSpPr/>
              <p:nvPr/>
            </p:nvGrpSpPr>
            <p:grpSpPr>
              <a:xfrm>
                <a:off x="1107226" y="2595825"/>
                <a:ext cx="8154918" cy="2516943"/>
                <a:chOff x="0" y="0"/>
                <a:chExt cx="8154916" cy="2516942"/>
              </a:xfrm>
            </p:grpSpPr>
            <p:grpSp>
              <p:nvGrpSpPr>
                <p:cNvPr id="613" name="Group"/>
                <p:cNvGrpSpPr/>
                <p:nvPr/>
              </p:nvGrpSpPr>
              <p:grpSpPr>
                <a:xfrm>
                  <a:off x="1678523" y="95867"/>
                  <a:ext cx="3348372" cy="1079501"/>
                  <a:chOff x="0" y="0"/>
                  <a:chExt cx="3348370" cy="1079500"/>
                </a:xfrm>
              </p:grpSpPr>
              <p:sp>
                <p:nvSpPr>
                  <p:cNvPr id="610" name="Line"/>
                  <p:cNvSpPr/>
                  <p:nvPr/>
                </p:nvSpPr>
                <p:spPr>
                  <a:xfrm>
                    <a:off x="0" y="22631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611" name="Line"/>
                  <p:cNvSpPr/>
                  <p:nvPr/>
                </p:nvSpPr>
                <p:spPr>
                  <a:xfrm>
                    <a:off x="0" y="1057664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612" name="Line"/>
                  <p:cNvSpPr/>
                  <p:nvPr/>
                </p:nvSpPr>
                <p:spPr>
                  <a:xfrm>
                    <a:off x="3348370" y="0"/>
                    <a:ext cx="1" cy="107950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614" name="Circle"/>
                <p:cNvSpPr/>
                <p:nvPr/>
              </p:nvSpPr>
              <p:spPr>
                <a:xfrm>
                  <a:off x="5199919" y="0"/>
                  <a:ext cx="1270001" cy="1271235"/>
                </a:xfrm>
                <a:prstGeom prst="ellips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15" name="Line"/>
                <p:cNvSpPr/>
                <p:nvPr/>
              </p:nvSpPr>
              <p:spPr>
                <a:xfrm>
                  <a:off x="0" y="716292"/>
                  <a:ext cx="1393483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6" name="Text"/>
                    <p:cNvSpPr/>
                    <p:nvPr/>
                  </p:nvSpPr>
                  <p:spPr>
                    <a:xfrm>
                      <a:off x="533564" y="10680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16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3564" y="1068065"/>
                      <a:ext cx="1270001" cy="1270001"/>
                    </a:xfrm>
                    <a:prstGeom prst="line">
                      <a:avLst/>
                    </a:prstGeom>
                    <a:blipFill>
                      <a:blip r:embed="rId3"/>
                      <a:stretch>
                        <a:fillRect l="-11881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17" name="Line"/>
                <p:cNvSpPr/>
                <p:nvPr/>
              </p:nvSpPr>
              <p:spPr>
                <a:xfrm>
                  <a:off x="6497463" y="635617"/>
                  <a:ext cx="1657454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8" name="Total service            rate in state"/>
                    <p:cNvSpPr/>
                    <p:nvPr/>
                  </p:nvSpPr>
                  <p:spPr>
                    <a:xfrm>
                      <a:off x="6642944" y="1246942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/>
                    <a:p>
                      <a:pPr>
                        <a:defRPr sz="3000">
                          <a:solidFill>
                            <a:schemeClr val="accent5"/>
                          </a:solidFill>
                        </a:defRPr>
                      </a:pP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a14:m>
                      <a:r>
                        <a:rPr sz="2500"/>
                        <a:t>Total service </a:t>
                      </a:r>
                      <a:br>
                        <a:rPr sz="2500"/>
                      </a:br>
                      <a:r>
                        <a:rPr sz="2500"/>
                        <a:t>          rate in state </a:t>
                      </a:r>
                      <a14:m>
                        <m:oMath xmlns:m="http://schemas.openxmlformats.org/officeDocument/2006/math">
                          <m:r>
                            <a:rPr sz="30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a14:m>
                      <a:endParaRPr sz="2500"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18" name="Total service            rate in state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42944" y="1246942"/>
                      <a:ext cx="1270001" cy="1270001"/>
                    </a:xfrm>
                    <a:prstGeom prst="line">
                      <a:avLst/>
                    </a:prstGeom>
                    <a:blipFill>
                      <a:blip r:embed="rId4"/>
                      <a:stretch>
                        <a:fillRect l="-14851" t="-37624" r="-145545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9" name="Total queue                  length"/>
                    <p:cNvSpPr/>
                    <p:nvPr/>
                  </p:nvSpPr>
                  <p:spPr>
                    <a:xfrm>
                      <a:off x="1874013" y="63561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/>
                    <a:p>
                      <a:pPr>
                        <a:defRPr sz="3000"/>
                      </a:pP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  <m: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a14:m>
                      <a:r>
                        <a:rPr sz="2500"/>
                        <a:t>Total queue </a:t>
                      </a:r>
                      <a:br>
                        <a:rPr sz="2500"/>
                      </a:br>
                      <a:r>
                        <a:rPr sz="2500"/>
                        <a:t>                length</a:t>
                      </a:r>
                    </a:p>
                  </p:txBody>
                </p:sp>
              </mc:Choice>
              <mc:Fallback xmlns="">
                <p:sp>
                  <p:nvSpPr>
                    <p:cNvPr id="619" name="Total queue                  length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4013" y="635617"/>
                      <a:ext cx="1270001" cy="1270001"/>
                    </a:xfrm>
                    <a:prstGeom prst="line">
                      <a:avLst/>
                    </a:prstGeom>
                    <a:blipFill>
                      <a:blip r:embed="rId5"/>
                      <a:stretch>
                        <a:fillRect l="-12871" t="-35644" r="-12574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21" name="Step 1: State Space Collapse (SSC)"/>
              <p:cNvSpPr/>
              <p:nvPr/>
            </p:nvSpPr>
            <p:spPr>
              <a:xfrm>
                <a:off x="0" y="31740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3500">
                    <a:solidFill>
                      <a:srgbClr val="5E5E5E"/>
                    </a:solidFill>
                  </a:defRPr>
                </a:pPr>
                <a:r>
                  <a:rPr b="1"/>
                  <a:t>Step 1:</a:t>
                </a:r>
                <a:r>
                  <a:t> State Space Collapse (SSC)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2" name=", so study the following single-server queue:"/>
                  <p:cNvSpPr/>
                  <p:nvPr/>
                </p:nvSpPr>
                <p:spPr>
                  <a:xfrm>
                    <a:off x="101668" y="169455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/>
                  <a:p>
                    <a:pPr>
                      <a:defRPr sz="3000">
                        <a:solidFill>
                          <a:srgbClr val="5E5E5E"/>
                        </a:solidFill>
                      </a:defRPr>
                    </a:pPr>
                    <a14:m>
                      <m:oMath xmlns:m="http://schemas.openxmlformats.org/officeDocument/2006/math">
                        <m:r>
                          <a:rPr sz="36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sz="36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ctrlPr>
                              <a:rPr sz="36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sz="3600" i="1">
                                    <a:solidFill>
                                      <a:srgbClr val="5E5E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sz="3600" i="1">
                                        <a:solidFill>
                                          <a:srgbClr val="5E5E5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3600" i="1">
                                        <a:solidFill>
                                          <a:srgbClr val="5E5E5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sz="3600" i="1">
                                        <a:solidFill>
                                          <a:srgbClr val="5E5E5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sz="3600" i="1">
                                    <a:solidFill>
                                      <a:srgbClr val="5E5E5E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a:rPr sz="36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a14:m>
                    <a:r>
                      <a:t>, so study the following single-server queue:</a:t>
                    </a:r>
                  </a:p>
                </p:txBody>
              </p:sp>
            </mc:Choice>
            <mc:Fallback xmlns="">
              <p:sp>
                <p:nvSpPr>
                  <p:cNvPr id="622" name=", so study the following single-server queue: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668" y="1694557"/>
                    <a:ext cx="1270001" cy="1270001"/>
                  </a:xfrm>
                  <a:prstGeom prst="line">
                    <a:avLst/>
                  </a:prstGeom>
                  <a:blipFill>
                    <a:blip r:embed="rId6"/>
                    <a:stretch>
                      <a:fillRect l="-12871" t="-28431" r="-664356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24" name="Rectangle Rectangle" descr="Rectangle Rectangl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50800" y="-50800"/>
              <a:ext cx="11152155" cy="4844085"/>
            </a:xfrm>
            <a:prstGeom prst="rect">
              <a:avLst/>
            </a:prstGeom>
            <a:effectLst/>
          </p:spPr>
        </p:pic>
      </p:grpSp>
      <p:grpSp>
        <p:nvGrpSpPr>
          <p:cNvPr id="629" name="Step 2: Asymptotic distribution…"/>
          <p:cNvGrpSpPr/>
          <p:nvPr/>
        </p:nvGrpSpPr>
        <p:grpSpPr>
          <a:xfrm>
            <a:off x="14085944" y="8282785"/>
            <a:ext cx="7613058" cy="4844086"/>
            <a:chOff x="0" y="0"/>
            <a:chExt cx="7613056" cy="48440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Step 2: Asymptotic distribution…"/>
                <p:cNvSpPr/>
                <p:nvPr/>
              </p:nvSpPr>
              <p:spPr>
                <a:xfrm>
                  <a:off x="50800" y="50800"/>
                  <a:ext cx="7511457" cy="47424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127000" tIns="127000" rIns="127000" bIns="127000" numCol="1" anchor="t">
                  <a:noAutofit/>
                </a:bodyPr>
                <a:lstStyle/>
                <a:p>
                  <a:pPr defTabSz="825500">
                    <a:lnSpc>
                      <a:spcPct val="100000"/>
                    </a:lnSpc>
                    <a:spcBef>
                      <a:spcPts val="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r>
                    <a:rPr b="1">
                      <a:latin typeface="+mn-lt"/>
                      <a:ea typeface="+mn-ea"/>
                      <a:cs typeface="+mn-cs"/>
                      <a:sym typeface="Helvetica Neue"/>
                    </a:rPr>
                    <a:t>Step 2:</a:t>
                  </a:r>
                  <a:r>
                    <a:t> </a:t>
                  </a:r>
                  <a:r>
                    <a:rPr>
                      <a:latin typeface="+mn-lt"/>
                      <a:ea typeface="+mn-ea"/>
                      <a:cs typeface="+mn-cs"/>
                      <a:sym typeface="Helvetica Neue"/>
                    </a:rPr>
                    <a:t>Asymptotic distribution</a:t>
                  </a:r>
                </a:p>
                <a:p>
                  <a:pPr defTabSz="825500">
                    <a:lnSpc>
                      <a:spcPct val="100000"/>
                    </a:lnSpc>
                    <a:spcBef>
                      <a:spcPts val="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>
                    <a:latin typeface="+mn-lt"/>
                    <a:ea typeface="+mn-ea"/>
                    <a:cs typeface="+mn-cs"/>
                    <a:sym typeface="Helvetica Neue"/>
                  </a:endParaRPr>
                </a:p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∼?</m:t>
                        </m:r>
                      </m:oMath>
                    </m:oMathPara>
                  </a14:m>
                  <a:endParaRPr>
                    <a:latin typeface="+mn-lt"/>
                    <a:ea typeface="+mn-ea"/>
                    <a:cs typeface="+mn-cs"/>
                    <a:sym typeface="Helvetica Neue"/>
                  </a:endParaRPr>
                </a:p>
                <a:p>
                  <a:pPr defTabSz="825500">
                    <a:lnSpc>
                      <a:spcPct val="100000"/>
                    </a:lnSpc>
                    <a:spcBef>
                      <a:spcPts val="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>
                    <a:latin typeface="+mn-lt"/>
                    <a:ea typeface="+mn-ea"/>
                    <a:cs typeface="+mn-cs"/>
                    <a:sym typeface="Helvetica Neue"/>
                  </a:endParaRPr>
                </a:p>
                <a:p>
                  <a:pPr defTabSz="825500">
                    <a:lnSpc>
                      <a:spcPct val="100000"/>
                    </a:lnSpc>
                    <a:spcBef>
                      <a:spcPts val="1000"/>
                    </a:spcBef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r>
                    <a:rPr>
                      <a:latin typeface="+mn-lt"/>
                      <a:ea typeface="+mn-ea"/>
                      <a:cs typeface="+mn-cs"/>
                      <a:sym typeface="Helvetica Neue"/>
                    </a:rPr>
                    <a:t>We use:</a:t>
                  </a:r>
                </a:p>
                <a:p>
                  <a:pPr marL="444500" indent="-444500" defTabSz="825500">
                    <a:lnSpc>
                      <a:spcPct val="100000"/>
                    </a:lnSpc>
                    <a:spcBef>
                      <a:spcPts val="1000"/>
                    </a:spcBef>
                    <a:buSzPct val="123000"/>
                    <a:buChar char="•"/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r>
                    <a:rPr>
                      <a:latin typeface="+mn-lt"/>
                      <a:ea typeface="+mn-ea"/>
                      <a:cs typeface="+mn-cs"/>
                      <a:sym typeface="Helvetica Neue"/>
                    </a:rPr>
                    <a:t>Transform Method</a:t>
                  </a:r>
                </a:p>
                <a:p>
                  <a:pPr marL="444500" indent="-444500" defTabSz="825500">
                    <a:lnSpc>
                      <a:spcPct val="100000"/>
                    </a:lnSpc>
                    <a:spcBef>
                      <a:spcPts val="1000"/>
                    </a:spcBef>
                    <a:buSzPct val="123000"/>
                    <a:buChar char="•"/>
                    <a:defRPr sz="3500">
                      <a:solidFill>
                        <a:srgbClr val="5E5E5E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r>
                    <a:rPr>
                      <a:latin typeface="+mn-lt"/>
                      <a:ea typeface="+mn-ea"/>
                      <a:cs typeface="+mn-cs"/>
                      <a:sym typeface="Helvetica Neue"/>
                    </a:rPr>
                    <a:t>Poisson Equation</a:t>
                  </a:r>
                </a:p>
              </p:txBody>
            </p:sp>
          </mc:Choice>
          <mc:Fallback xmlns="">
            <p:sp>
              <p:nvSpPr>
                <p:cNvPr id="628" name="Step 2: Asymptotic distribution…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00" y="50800"/>
                  <a:ext cx="7511457" cy="4742485"/>
                </a:xfrm>
                <a:prstGeom prst="rect">
                  <a:avLst/>
                </a:prstGeom>
                <a:blipFill>
                  <a:blip r:embed="rId8"/>
                  <a:stretch>
                    <a:fillRect l="-2703" t="-267"/>
                  </a:stretch>
                </a:blipFill>
                <a:ln>
                  <a:noFill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27" name="Step 2: Asymptotic distribution… Step 2: Asymptotic distribution Equation We use:Transform MethodPoisson Equation" descr="Step 2: Asymptotic distribution… Step 2: Asymptotic distribution Equation We use:Transform MethodPoisson Equation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7613057" cy="4844085"/>
            </a:xfrm>
            <a:prstGeom prst="rect">
              <a:avLst/>
            </a:prstGeom>
            <a:effectLst/>
          </p:spPr>
        </p:pic>
      </p:grpSp>
      <p:sp>
        <p:nvSpPr>
          <p:cNvPr id="630" name="Dingbat Check"/>
          <p:cNvSpPr/>
          <p:nvPr/>
        </p:nvSpPr>
        <p:spPr>
          <a:xfrm>
            <a:off x="10351217" y="8507353"/>
            <a:ext cx="1301543" cy="1236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C21708-A940-F0AF-DA1C-FFB9DD867B40}"/>
              </a:ext>
            </a:extLst>
          </p:cNvPr>
          <p:cNvGrpSpPr/>
          <p:nvPr/>
        </p:nvGrpSpPr>
        <p:grpSpPr>
          <a:xfrm>
            <a:off x="13563561" y="2664847"/>
            <a:ext cx="11148074" cy="4858562"/>
            <a:chOff x="13563561" y="3072441"/>
            <a:chExt cx="11148074" cy="4858562"/>
          </a:xfrm>
        </p:grpSpPr>
        <p:grpSp>
          <p:nvGrpSpPr>
            <p:cNvPr id="3" name="Group">
              <a:extLst>
                <a:ext uri="{FF2B5EF4-FFF2-40B4-BE49-F238E27FC236}">
                  <a16:creationId xmlns:a16="http://schemas.microsoft.com/office/drawing/2014/main" id="{C1B8354B-7C90-32F2-3822-2C302894C450}"/>
                </a:ext>
              </a:extLst>
            </p:cNvPr>
            <p:cNvGrpSpPr/>
            <p:nvPr/>
          </p:nvGrpSpPr>
          <p:grpSpPr>
            <a:xfrm>
              <a:off x="15880925" y="3072441"/>
              <a:ext cx="8830710" cy="4788158"/>
              <a:chOff x="-1" y="0"/>
              <a:chExt cx="8830704" cy="4788154"/>
            </a:xfrm>
          </p:grpSpPr>
          <p:grpSp>
            <p:nvGrpSpPr>
              <p:cNvPr id="29" name="Group">
                <a:extLst>
                  <a:ext uri="{FF2B5EF4-FFF2-40B4-BE49-F238E27FC236}">
                    <a16:creationId xmlns:a16="http://schemas.microsoft.com/office/drawing/2014/main" id="{832C1717-A6B9-07E0-7C40-E72E3E4C9F3B}"/>
                  </a:ext>
                </a:extLst>
              </p:cNvPr>
              <p:cNvGrpSpPr/>
              <p:nvPr/>
            </p:nvGrpSpPr>
            <p:grpSpPr>
              <a:xfrm>
                <a:off x="-1" y="0"/>
                <a:ext cx="8830704" cy="4788154"/>
                <a:chOff x="0" y="0"/>
                <a:chExt cx="8830702" cy="4788153"/>
              </a:xfrm>
            </p:grpSpPr>
            <p:grpSp>
              <p:nvGrpSpPr>
                <p:cNvPr id="33" name="Group">
                  <a:extLst>
                    <a:ext uri="{FF2B5EF4-FFF2-40B4-BE49-F238E27FC236}">
                      <a16:creationId xmlns:a16="http://schemas.microsoft.com/office/drawing/2014/main" id="{7F1ED557-E65A-05F5-6245-FF9FF9C40958}"/>
                    </a:ext>
                  </a:extLst>
                </p:cNvPr>
                <p:cNvGrpSpPr/>
                <p:nvPr/>
              </p:nvGrpSpPr>
              <p:grpSpPr>
                <a:xfrm>
                  <a:off x="-1" y="0"/>
                  <a:ext cx="8830704" cy="4788154"/>
                  <a:chOff x="0" y="0"/>
                  <a:chExt cx="8830702" cy="4788153"/>
                </a:xfrm>
              </p:grpSpPr>
              <p:grpSp>
                <p:nvGrpSpPr>
                  <p:cNvPr id="35" name="Group">
                    <a:extLst>
                      <a:ext uri="{FF2B5EF4-FFF2-40B4-BE49-F238E27FC236}">
                        <a16:creationId xmlns:a16="http://schemas.microsoft.com/office/drawing/2014/main" id="{059C0F63-4BEB-211A-46A9-853246AA03CE}"/>
                      </a:ext>
                    </a:extLst>
                  </p:cNvPr>
                  <p:cNvGrpSpPr/>
                  <p:nvPr/>
                </p:nvGrpSpPr>
                <p:grpSpPr>
                  <a:xfrm>
                    <a:off x="4310949" y="0"/>
                    <a:ext cx="4519754" cy="4788154"/>
                    <a:chOff x="0" y="0"/>
                    <a:chExt cx="4519753" cy="4788153"/>
                  </a:xfrm>
                </p:grpSpPr>
                <p:grpSp>
                  <p:nvGrpSpPr>
                    <p:cNvPr id="43" name="Group">
                      <a:extLst>
                        <a:ext uri="{FF2B5EF4-FFF2-40B4-BE49-F238E27FC236}">
                          <a16:creationId xmlns:a16="http://schemas.microsoft.com/office/drawing/2014/main" id="{9437753A-8C32-4DCD-2785-110778B035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63" name="Group">
                        <a:extLst>
                          <a:ext uri="{FF2B5EF4-FFF2-40B4-BE49-F238E27FC236}">
                            <a16:creationId xmlns:a16="http://schemas.microsoft.com/office/drawing/2014/main" id="{987D37EB-83DF-C104-93A6-38EB9DD8B74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516" name="Line">
                          <a:extLst>
                            <a:ext uri="{FF2B5EF4-FFF2-40B4-BE49-F238E27FC236}">
                              <a16:creationId xmlns:a16="http://schemas.microsoft.com/office/drawing/2014/main" id="{EE105FFB-F965-4F64-B426-446B341AEC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517" name="Line">
                          <a:extLst>
                            <a:ext uri="{FF2B5EF4-FFF2-40B4-BE49-F238E27FC236}">
                              <a16:creationId xmlns:a16="http://schemas.microsoft.com/office/drawing/2014/main" id="{4B01ED32-2EC8-EBD0-22CD-3F432188EA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518" name="Line">
                          <a:extLst>
                            <a:ext uri="{FF2B5EF4-FFF2-40B4-BE49-F238E27FC236}">
                              <a16:creationId xmlns:a16="http://schemas.microsoft.com/office/drawing/2014/main" id="{1747BC88-D952-756D-A818-9FB4A6E0FC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512" name="1">
                        <a:extLst>
                          <a:ext uri="{FF2B5EF4-FFF2-40B4-BE49-F238E27FC236}">
                            <a16:creationId xmlns:a16="http://schemas.microsoft.com/office/drawing/2014/main" id="{7B1F6025-6D1B-CA02-BE86-DF0983A51D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1</a:t>
                        </a:r>
                      </a:p>
                    </p:txBody>
                  </p:sp>
                  <p:grpSp>
                    <p:nvGrpSpPr>
                      <p:cNvPr id="513" name="Group">
                        <a:extLst>
                          <a:ext uri="{FF2B5EF4-FFF2-40B4-BE49-F238E27FC236}">
                            <a16:creationId xmlns:a16="http://schemas.microsoft.com/office/drawing/2014/main" id="{B027549D-C992-EAF0-784B-3858B60982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514" name="Line">
                          <a:extLst>
                            <a:ext uri="{FF2B5EF4-FFF2-40B4-BE49-F238E27FC236}">
                              <a16:creationId xmlns:a16="http://schemas.microsoft.com/office/drawing/2014/main" id="{3766045C-D063-F496-BFD7-82094B0810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515" name="Text">
                              <a:extLst>
                                <a:ext uri="{FF2B5EF4-FFF2-40B4-BE49-F238E27FC236}">
                                  <a16:creationId xmlns:a16="http://schemas.microsoft.com/office/drawing/2014/main" id="{FF5F909E-D0E3-490B-6DFD-956D5D0A82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515" name="Text">
                              <a:extLst>
                                <a:ext uri="{FF2B5EF4-FFF2-40B4-BE49-F238E27FC236}">
                                  <a16:creationId xmlns:a16="http://schemas.microsoft.com/office/drawing/2014/main" id="{FF5F909E-D0E3-490B-6DFD-956D5D0A8298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0"/>
                              <a:stretch>
                                <a:fillRect l="-13861" t="-15000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44" name="Group">
                      <a:extLst>
                        <a:ext uri="{FF2B5EF4-FFF2-40B4-BE49-F238E27FC236}">
                          <a16:creationId xmlns:a16="http://schemas.microsoft.com/office/drawing/2014/main" id="{69BAD1F4-F721-912A-B35D-64297B18D6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1167915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55" name="Group">
                        <a:extLst>
                          <a:ext uri="{FF2B5EF4-FFF2-40B4-BE49-F238E27FC236}">
                            <a16:creationId xmlns:a16="http://schemas.microsoft.com/office/drawing/2014/main" id="{0B15879C-8ABD-6406-9AA2-37FEEFE6A06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60" name="Line">
                          <a:extLst>
                            <a:ext uri="{FF2B5EF4-FFF2-40B4-BE49-F238E27FC236}">
                              <a16:creationId xmlns:a16="http://schemas.microsoft.com/office/drawing/2014/main" id="{2E619508-5C9B-C0F0-401E-7F2DD41440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61" name="Line">
                          <a:extLst>
                            <a:ext uri="{FF2B5EF4-FFF2-40B4-BE49-F238E27FC236}">
                              <a16:creationId xmlns:a16="http://schemas.microsoft.com/office/drawing/2014/main" id="{211B5A0D-C0C8-1337-B0E8-53A18FDA9A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62" name="Line">
                          <a:extLst>
                            <a:ext uri="{FF2B5EF4-FFF2-40B4-BE49-F238E27FC236}">
                              <a16:creationId xmlns:a16="http://schemas.microsoft.com/office/drawing/2014/main" id="{F88656E3-1B56-A009-7475-43192758BE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56" name="2">
                        <a:extLst>
                          <a:ext uri="{FF2B5EF4-FFF2-40B4-BE49-F238E27FC236}">
                            <a16:creationId xmlns:a16="http://schemas.microsoft.com/office/drawing/2014/main" id="{574FBE5E-1A90-44A1-0001-E9F845D488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2</a:t>
                        </a:r>
                      </a:p>
                    </p:txBody>
                  </p:sp>
                  <p:grpSp>
                    <p:nvGrpSpPr>
                      <p:cNvPr id="57" name="Group">
                        <a:extLst>
                          <a:ext uri="{FF2B5EF4-FFF2-40B4-BE49-F238E27FC236}">
                            <a16:creationId xmlns:a16="http://schemas.microsoft.com/office/drawing/2014/main" id="{C439EFB5-012A-23F3-317B-D722598253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58" name="Line">
                          <a:extLst>
                            <a:ext uri="{FF2B5EF4-FFF2-40B4-BE49-F238E27FC236}">
                              <a16:creationId xmlns:a16="http://schemas.microsoft.com/office/drawing/2014/main" id="{98222CBB-E39F-92EB-87B4-DC37EA71BD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59" name="Text">
                              <a:extLst>
                                <a:ext uri="{FF2B5EF4-FFF2-40B4-BE49-F238E27FC236}">
                                  <a16:creationId xmlns:a16="http://schemas.microsoft.com/office/drawing/2014/main" id="{2186C15C-9A98-0A35-C018-4594641687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59" name="Text">
                              <a:extLst>
                                <a:ext uri="{FF2B5EF4-FFF2-40B4-BE49-F238E27FC236}">
                                  <a16:creationId xmlns:a16="http://schemas.microsoft.com/office/drawing/2014/main" id="{2186C15C-9A98-0A35-C018-45946416872B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1"/>
                              <a:stretch>
                                <a:fillRect l="-13861" t="-14706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45" name="Group">
                      <a:extLst>
                        <a:ext uri="{FF2B5EF4-FFF2-40B4-BE49-F238E27FC236}">
                          <a16:creationId xmlns:a16="http://schemas.microsoft.com/office/drawing/2014/main" id="{CD2B6A9B-D98A-A2D9-4E52-C064D3B216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867362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47" name="Group">
                        <a:extLst>
                          <a:ext uri="{FF2B5EF4-FFF2-40B4-BE49-F238E27FC236}">
                            <a16:creationId xmlns:a16="http://schemas.microsoft.com/office/drawing/2014/main" id="{ED603922-BAC1-D499-EDFE-46292E6A88D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52" name="Line">
                          <a:extLst>
                            <a:ext uri="{FF2B5EF4-FFF2-40B4-BE49-F238E27FC236}">
                              <a16:creationId xmlns:a16="http://schemas.microsoft.com/office/drawing/2014/main" id="{0C97CE20-91C7-BCF0-75C1-AC99BA19CD0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53" name="Line">
                          <a:extLst>
                            <a:ext uri="{FF2B5EF4-FFF2-40B4-BE49-F238E27FC236}">
                              <a16:creationId xmlns:a16="http://schemas.microsoft.com/office/drawing/2014/main" id="{FB737E9F-E380-6849-DE53-DC592FB0580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54" name="Line">
                          <a:extLst>
                            <a:ext uri="{FF2B5EF4-FFF2-40B4-BE49-F238E27FC236}">
                              <a16:creationId xmlns:a16="http://schemas.microsoft.com/office/drawing/2014/main" id="{8CF05FAB-1AEF-5819-9155-EF651359882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8" name="Circle">
                            <a:extLst>
                              <a:ext uri="{FF2B5EF4-FFF2-40B4-BE49-F238E27FC236}">
                                <a16:creationId xmlns:a16="http://schemas.microsoft.com/office/drawing/2014/main" id="{293DB2D9-BA6A-E8B7-E547-84D92FECA7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noFill/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square" lIns="50800" tIns="50800" rIns="50800" bIns="50800" numCol="1" anchor="ctr">
                            <a:noAutofit/>
                          </a:bodyPr>
                          <a:lstStyle>
                            <a:lvl1pPr algn="ctr" defTabSz="82550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defRPr sz="3000">
                                <a:latin typeface="Helvetica Neue Medium"/>
                                <a:ea typeface="Helvetica Neue Medium"/>
                                <a:cs typeface="Helvetica Neue Medium"/>
                                <a:sym typeface="Helvetica Neue Medium"/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oMath>
                              </m:oMathPara>
                            </a14:m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48" name="Circle">
                            <a:extLst>
                              <a:ext uri="{FF2B5EF4-FFF2-40B4-BE49-F238E27FC236}">
                                <a16:creationId xmlns:a16="http://schemas.microsoft.com/office/drawing/2014/main" id="{293DB2D9-BA6A-E8B7-E547-84D92FECA702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blipFill>
                            <a:blip r:embed="rId12"/>
                            <a:stretch>
                              <a:fillRect/>
                            </a:stretch>
                          </a:blipFill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49" name="Group">
                        <a:extLst>
                          <a:ext uri="{FF2B5EF4-FFF2-40B4-BE49-F238E27FC236}">
                            <a16:creationId xmlns:a16="http://schemas.microsoft.com/office/drawing/2014/main" id="{191896E0-000D-7422-93A2-DFA749F31F2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50" name="Line">
                          <a:extLst>
                            <a:ext uri="{FF2B5EF4-FFF2-40B4-BE49-F238E27FC236}">
                              <a16:creationId xmlns:a16="http://schemas.microsoft.com/office/drawing/2014/main" id="{48AB8261-9FCD-F4B6-A9B5-AA51CBBA534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51" name="Text">
                              <a:extLst>
                                <a:ext uri="{FF2B5EF4-FFF2-40B4-BE49-F238E27FC236}">
                                  <a16:creationId xmlns:a16="http://schemas.microsoft.com/office/drawing/2014/main" id="{9F2E51AF-4A04-AB8B-11F9-70094A0AE0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51" name="Text">
                              <a:extLst>
                                <a:ext uri="{FF2B5EF4-FFF2-40B4-BE49-F238E27FC236}">
                                  <a16:creationId xmlns:a16="http://schemas.microsoft.com/office/drawing/2014/main" id="{9F2E51AF-4A04-AB8B-11F9-70094A0AE02E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3"/>
                              <a:stretch>
                                <a:fillRect l="-13861" t="-14706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sp>
                  <p:nvSpPr>
                    <p:cNvPr id="46" name="…">
                      <a:extLst>
                        <a:ext uri="{FF2B5EF4-FFF2-40B4-BE49-F238E27FC236}">
                          <a16:creationId xmlns:a16="http://schemas.microsoft.com/office/drawing/2014/main" id="{BF2871BB-6768-32CB-20F9-F304D7BCC7E4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86498" y="14923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grpSp>
                <p:nvGrpSpPr>
                  <p:cNvPr id="36" name="Group">
                    <a:extLst>
                      <a:ext uri="{FF2B5EF4-FFF2-40B4-BE49-F238E27FC236}">
                        <a16:creationId xmlns:a16="http://schemas.microsoft.com/office/drawing/2014/main" id="{60EAA5D0-3E58-DFE0-95EC-75F865F27C30}"/>
                      </a:ext>
                    </a:extLst>
                  </p:cNvPr>
                  <p:cNvGrpSpPr/>
                  <p:nvPr/>
                </p:nvGrpSpPr>
                <p:grpSpPr>
                  <a:xfrm>
                    <a:off x="1346012" y="516200"/>
                    <a:ext cx="3408500" cy="2819352"/>
                    <a:chOff x="0" y="0"/>
                    <a:chExt cx="3408498" cy="2819351"/>
                  </a:xfrm>
                </p:grpSpPr>
                <p:sp>
                  <p:nvSpPr>
                    <p:cNvPr id="38" name="JSQ">
                      <a:extLst>
                        <a:ext uri="{FF2B5EF4-FFF2-40B4-BE49-F238E27FC236}">
                          <a16:creationId xmlns:a16="http://schemas.microsoft.com/office/drawing/2014/main" id="{27632560-3738-2B57-27D4-EAA27B6CBC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448496"/>
                      <a:ext cx="1422401" cy="14224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10800"/>
                          </a:moveTo>
                          <a:lnTo>
                            <a:pt x="10800" y="21600"/>
                          </a:lnTo>
                          <a:lnTo>
                            <a:pt x="21600" y="10800"/>
                          </a:lnTo>
                          <a:lnTo>
                            <a:pt x="10800" y="0"/>
                          </a:lnTo>
                          <a:close/>
                        </a:path>
                      </a:pathLst>
                    </a:cu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0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JSQ</a:t>
                      </a:r>
                    </a:p>
                  </p:txBody>
                </p:sp>
                <p:sp>
                  <p:nvSpPr>
                    <p:cNvPr id="39" name="Line">
                      <a:extLst>
                        <a:ext uri="{FF2B5EF4-FFF2-40B4-BE49-F238E27FC236}">
                          <a16:creationId xmlns:a16="http://schemas.microsoft.com/office/drawing/2014/main" id="{E3E8562B-132D-2032-FDE5-645782F776B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407697" y="-1"/>
                      <a:ext cx="1472888" cy="1172398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40" name="Line">
                      <a:extLst>
                        <a:ext uri="{FF2B5EF4-FFF2-40B4-BE49-F238E27FC236}">
                          <a16:creationId xmlns:a16="http://schemas.microsoft.com/office/drawing/2014/main" id="{F05FCC15-BA94-E9C5-E2A9-97A2564D24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7521" y="1166578"/>
                      <a:ext cx="1468645" cy="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41" name="Line">
                      <a:extLst>
                        <a:ext uri="{FF2B5EF4-FFF2-40B4-BE49-F238E27FC236}">
                          <a16:creationId xmlns:a16="http://schemas.microsoft.com/office/drawing/2014/main" id="{A83BB90A-1AE9-4670-4716-6FBA72D7E0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3574" y="1168551"/>
                      <a:ext cx="1473866" cy="165080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42" name="…">
                      <a:extLst>
                        <a:ext uri="{FF2B5EF4-FFF2-40B4-BE49-F238E27FC236}">
                          <a16:creationId xmlns:a16="http://schemas.microsoft.com/office/drawing/2014/main" id="{4750D07F-9954-3546-79DA-D48A7B1BDB3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138498" y="73606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sp>
                <p:nvSpPr>
                  <p:cNvPr id="37" name="Group">
                    <a:extLst>
                      <a:ext uri="{FF2B5EF4-FFF2-40B4-BE49-F238E27FC236}">
                        <a16:creationId xmlns:a16="http://schemas.microsoft.com/office/drawing/2014/main" id="{AF900588-1EE0-C8D3-9E29-854C8C9E917A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-1" y="1680177"/>
                    <a:ext cx="1223401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">
                      <a:extLst>
                        <a:ext uri="{FF2B5EF4-FFF2-40B4-BE49-F238E27FC236}">
                          <a16:creationId xmlns:a16="http://schemas.microsoft.com/office/drawing/2014/main" id="{8334B4A6-A3EA-9A89-1CB8-1C329BDF45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4" name="Text">
                      <a:extLst>
                        <a:ext uri="{FF2B5EF4-FFF2-40B4-BE49-F238E27FC236}">
                          <a16:creationId xmlns:a16="http://schemas.microsoft.com/office/drawing/2014/main" id="{8334B4A6-A3EA-9A89-1CB8-1C329BDF45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blipFill>
                      <a:blip r:embed="rId14"/>
                      <a:stretch>
                        <a:fillRect l="-12871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Equation">
                    <a:extLst>
                      <a:ext uri="{FF2B5EF4-FFF2-40B4-BE49-F238E27FC236}">
                        <a16:creationId xmlns:a16="http://schemas.microsoft.com/office/drawing/2014/main" id="{0C42B49C-E0B3-5E9A-A70D-8E2454C78EE9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111217"/>
                    <a:ext cx="319865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30" name="Equation">
                    <a:extLst>
                      <a:ext uri="{FF2B5EF4-FFF2-40B4-BE49-F238E27FC236}">
                        <a16:creationId xmlns:a16="http://schemas.microsoft.com/office/drawing/2014/main" id="{0C42B49C-E0B3-5E9A-A70D-8E2454C78E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11217"/>
                    <a:ext cx="319865" cy="30715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46154" r="-61538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Equation">
                    <a:extLst>
                      <a:ext uri="{FF2B5EF4-FFF2-40B4-BE49-F238E27FC236}">
                        <a16:creationId xmlns:a16="http://schemas.microsoft.com/office/drawing/2014/main" id="{00AB0BD3-07DF-1AB5-95D2-8DA50AB0373C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1259893"/>
                    <a:ext cx="345113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31" name="Equation">
                    <a:extLst>
                      <a:ext uri="{FF2B5EF4-FFF2-40B4-BE49-F238E27FC236}">
                        <a16:creationId xmlns:a16="http://schemas.microsoft.com/office/drawing/2014/main" id="{00AB0BD3-07DF-1AB5-95D2-8DA50AB037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259893"/>
                    <a:ext cx="345113" cy="30715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2857" r="-50000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Equation">
                    <a:extLst>
                      <a:ext uri="{FF2B5EF4-FFF2-40B4-BE49-F238E27FC236}">
                        <a16:creationId xmlns:a16="http://schemas.microsoft.com/office/drawing/2014/main" id="{081950F1-FA61-DC35-6BA1-AF97EF425397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2988936"/>
                    <a:ext cx="345113" cy="30999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sz="3500"/>
                  </a:p>
                </p:txBody>
              </p:sp>
            </mc:Choice>
            <mc:Fallback xmlns="">
              <p:sp>
                <p:nvSpPr>
                  <p:cNvPr id="32" name="Equation">
                    <a:extLst>
                      <a:ext uri="{FF2B5EF4-FFF2-40B4-BE49-F238E27FC236}">
                        <a16:creationId xmlns:a16="http://schemas.microsoft.com/office/drawing/2014/main" id="{081950F1-FA61-DC35-6BA1-AF97EF4253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2988936"/>
                    <a:ext cx="345113" cy="30999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42857" r="-53571" b="-111538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">
                  <a:extLst>
                    <a:ext uri="{FF2B5EF4-FFF2-40B4-BE49-F238E27FC236}">
                      <a16:creationId xmlns:a16="http://schemas.microsoft.com/office/drawing/2014/main" id="{6959ABA1-FE36-FE0B-0AAE-8AD1C21B0FEF}"/>
                    </a:ext>
                  </a:extLst>
                </p:cNvPr>
                <p:cNvSpPr/>
                <p:nvPr/>
              </p:nvSpPr>
              <p:spPr>
                <a:xfrm>
                  <a:off x="14949611" y="3231168"/>
                  <a:ext cx="1270000" cy="1270002"/>
                </a:xfrm>
                <a:prstGeom prst="line">
                  <a:avLst/>
                </a:prstGeom>
                <a:solidFill>
                  <a:schemeClr val="accent1">
                    <a:lumOff val="16847"/>
                    <a:alpha val="30000"/>
                  </a:schemeClr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∼?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4" name="Text">
                  <a:extLst>
                    <a:ext uri="{FF2B5EF4-FFF2-40B4-BE49-F238E27FC236}">
                      <a16:creationId xmlns:a16="http://schemas.microsoft.com/office/drawing/2014/main" id="{6959ABA1-FE36-FE0B-0AAE-8AD1C21B0F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9611" y="3231168"/>
                  <a:ext cx="1270000" cy="1270002"/>
                </a:xfrm>
                <a:prstGeom prst="line">
                  <a:avLst/>
                </a:prstGeom>
                <a:blipFill>
                  <a:blip r:embed="rId18"/>
                  <a:stretch>
                    <a:fillRect l="-19608" t="-30693" r="-60784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1872208-CBF8-3C2E-EBEA-B13889901DD5}"/>
                </a:ext>
              </a:extLst>
            </p:cNvPr>
            <p:cNvGrpSpPr/>
            <p:nvPr/>
          </p:nvGrpSpPr>
          <p:grpSpPr>
            <a:xfrm>
              <a:off x="13563561" y="5770180"/>
              <a:ext cx="5862886" cy="2160823"/>
              <a:chOff x="13563561" y="5770180"/>
              <a:chExt cx="5862886" cy="21608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Markov chain">
                    <a:extLst>
                      <a:ext uri="{FF2B5EF4-FFF2-40B4-BE49-F238E27FC236}">
                        <a16:creationId xmlns:a16="http://schemas.microsoft.com/office/drawing/2014/main" id="{EC222466-3AA2-7E8E-556A-0DA7B4D4A4B2}"/>
                      </a:ext>
                    </a:extLst>
                  </p:cNvPr>
                  <p:cNvSpPr txBox="1"/>
                  <p:nvPr/>
                </p:nvSpPr>
                <p:spPr>
                  <a:xfrm>
                    <a:off x="13563561" y="5770180"/>
                    <a:ext cx="1260538" cy="60119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/>
                  <a:p>
                    <a:pPr>
                      <a:defRPr sz="3000">
                        <a:solidFill>
                          <a:schemeClr val="accent5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3600" b="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dirty="0"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Markov chain">
                    <a:extLst>
                      <a:ext uri="{FF2B5EF4-FFF2-40B4-BE49-F238E27FC236}">
                        <a16:creationId xmlns:a16="http://schemas.microsoft.com/office/drawing/2014/main" id="{EC222466-3AA2-7E8E-556A-0DA7B4D4A4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63561" y="5770180"/>
                    <a:ext cx="1260538" cy="60119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000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9698C2E-5BBC-F749-D5F5-07DB24D31B4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435471" y="6285083"/>
                <a:ext cx="4990976" cy="1645920"/>
                <a:chOff x="15235395" y="8914400"/>
                <a:chExt cx="6602796" cy="2177465"/>
              </a:xfrm>
            </p:grpSpPr>
            <p:sp>
              <p:nvSpPr>
                <p:cNvPr id="8" name="Circle">
                  <a:extLst>
                    <a:ext uri="{FF2B5EF4-FFF2-40B4-BE49-F238E27FC236}">
                      <a16:creationId xmlns:a16="http://schemas.microsoft.com/office/drawing/2014/main" id="{07E0BD5B-D361-8604-5839-39226F71D4D8}"/>
                    </a:ext>
                  </a:extLst>
                </p:cNvPr>
                <p:cNvSpPr/>
                <p:nvPr/>
              </p:nvSpPr>
              <p:spPr>
                <a:xfrm>
                  <a:off x="15235395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" name="Circle">
                  <a:extLst>
                    <a:ext uri="{FF2B5EF4-FFF2-40B4-BE49-F238E27FC236}">
                      <a16:creationId xmlns:a16="http://schemas.microsoft.com/office/drawing/2014/main" id="{6940609D-57E6-B8C7-6BF7-553AC4495011}"/>
                    </a:ext>
                  </a:extLst>
                </p:cNvPr>
                <p:cNvSpPr/>
                <p:nvPr/>
              </p:nvSpPr>
              <p:spPr>
                <a:xfrm>
                  <a:off x="16663474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0" name="Circle">
                  <a:extLst>
                    <a:ext uri="{FF2B5EF4-FFF2-40B4-BE49-F238E27FC236}">
                      <a16:creationId xmlns:a16="http://schemas.microsoft.com/office/drawing/2014/main" id="{562516AD-D8DB-25C3-27FB-FD927E3EC2C0}"/>
                    </a:ext>
                  </a:extLst>
                </p:cNvPr>
                <p:cNvSpPr/>
                <p:nvPr/>
              </p:nvSpPr>
              <p:spPr>
                <a:xfrm>
                  <a:off x="1809155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1" name="Circle">
                  <a:extLst>
                    <a:ext uri="{FF2B5EF4-FFF2-40B4-BE49-F238E27FC236}">
                      <a16:creationId xmlns:a16="http://schemas.microsoft.com/office/drawing/2014/main" id="{68DEA385-B83F-571E-3081-1FA08C1D2F6C}"/>
                    </a:ext>
                  </a:extLst>
                </p:cNvPr>
                <p:cNvSpPr/>
                <p:nvPr/>
              </p:nvSpPr>
              <p:spPr>
                <a:xfrm>
                  <a:off x="15923204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2" name="Circle">
                  <a:extLst>
                    <a:ext uri="{FF2B5EF4-FFF2-40B4-BE49-F238E27FC236}">
                      <a16:creationId xmlns:a16="http://schemas.microsoft.com/office/drawing/2014/main" id="{A4CFFD26-2023-EAD7-CB9E-F626E6E19875}"/>
                    </a:ext>
                  </a:extLst>
                </p:cNvPr>
                <p:cNvSpPr/>
                <p:nvPr/>
              </p:nvSpPr>
              <p:spPr>
                <a:xfrm>
                  <a:off x="18772119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3" name="Circle">
                  <a:extLst>
                    <a:ext uri="{FF2B5EF4-FFF2-40B4-BE49-F238E27FC236}">
                      <a16:creationId xmlns:a16="http://schemas.microsoft.com/office/drawing/2014/main" id="{E883F9FC-5DAA-8CF2-D11C-D79314CEB234}"/>
                    </a:ext>
                  </a:extLst>
                </p:cNvPr>
                <p:cNvSpPr/>
                <p:nvPr/>
              </p:nvSpPr>
              <p:spPr>
                <a:xfrm>
                  <a:off x="1951963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4" name="Circle">
                  <a:extLst>
                    <a:ext uri="{FF2B5EF4-FFF2-40B4-BE49-F238E27FC236}">
                      <a16:creationId xmlns:a16="http://schemas.microsoft.com/office/drawing/2014/main" id="{CA96AA0E-1678-0D26-1412-06D8BE513241}"/>
                    </a:ext>
                  </a:extLst>
                </p:cNvPr>
                <p:cNvSpPr/>
                <p:nvPr/>
              </p:nvSpPr>
              <p:spPr>
                <a:xfrm>
                  <a:off x="20947712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cxnSp>
              <p:nvCxnSpPr>
                <p:cNvPr id="15" name="Curved Connector 14">
                  <a:extLst>
                    <a:ext uri="{FF2B5EF4-FFF2-40B4-BE49-F238E27FC236}">
                      <a16:creationId xmlns:a16="http://schemas.microsoft.com/office/drawing/2014/main" id="{F6ADC264-9595-1224-7F4F-5806B6C48918}"/>
                    </a:ext>
                  </a:extLst>
                </p:cNvPr>
                <p:cNvCxnSpPr>
                  <a:cxnSpLocks/>
                  <a:stCxn id="8" idx="7"/>
                  <a:endCxn id="9" idx="1"/>
                </p:cNvCxnSpPr>
                <p:nvPr/>
              </p:nvCxnSpPr>
              <p:spPr>
                <a:xfrm rot="5400000" flipH="1" flipV="1">
                  <a:off x="1639467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6" name="Curved Connector 15">
                  <a:extLst>
                    <a:ext uri="{FF2B5EF4-FFF2-40B4-BE49-F238E27FC236}">
                      <a16:creationId xmlns:a16="http://schemas.microsoft.com/office/drawing/2014/main" id="{D22B3967-CCAA-A9DF-2CA3-BEDF34B4990C}"/>
                    </a:ext>
                  </a:extLst>
                </p:cNvPr>
                <p:cNvCxnSpPr>
                  <a:cxnSpLocks/>
                  <a:stCxn id="9" idx="3"/>
                  <a:endCxn id="8" idx="5"/>
                </p:cNvCxnSpPr>
                <p:nvPr/>
              </p:nvCxnSpPr>
              <p:spPr>
                <a:xfrm rot="5400000">
                  <a:off x="16394674" y="9269716"/>
                  <a:ext cx="12700" cy="798416"/>
                </a:xfrm>
                <a:prstGeom prst="curvedConnector3">
                  <a:avLst>
                    <a:gd name="adj1" fmla="val 11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7" name="Curved Connector 16">
                  <a:extLst>
                    <a:ext uri="{FF2B5EF4-FFF2-40B4-BE49-F238E27FC236}">
                      <a16:creationId xmlns:a16="http://schemas.microsoft.com/office/drawing/2014/main" id="{8D53C966-B485-C9C6-F913-7BF552CAD2BE}"/>
                    </a:ext>
                  </a:extLst>
                </p:cNvPr>
                <p:cNvCxnSpPr>
                  <a:cxnSpLocks/>
                  <a:stCxn id="9" idx="7"/>
                  <a:endCxn id="10" idx="1"/>
                </p:cNvCxnSpPr>
                <p:nvPr/>
              </p:nvCxnSpPr>
              <p:spPr>
                <a:xfrm rot="5400000" flipH="1" flipV="1">
                  <a:off x="17822753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8" name="Curved Connector 17">
                  <a:extLst>
                    <a:ext uri="{FF2B5EF4-FFF2-40B4-BE49-F238E27FC236}">
                      <a16:creationId xmlns:a16="http://schemas.microsoft.com/office/drawing/2014/main" id="{5DCEEC43-126D-5F6E-F2F3-0183267AE914}"/>
                    </a:ext>
                  </a:extLst>
                </p:cNvPr>
                <p:cNvCxnSpPr>
                  <a:cxnSpLocks/>
                  <a:stCxn id="10" idx="3"/>
                  <a:endCxn id="9" idx="5"/>
                </p:cNvCxnSpPr>
                <p:nvPr/>
              </p:nvCxnSpPr>
              <p:spPr>
                <a:xfrm rot="5400000">
                  <a:off x="17822753" y="9269716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9" name="Curved Connector 18">
                  <a:extLst>
                    <a:ext uri="{FF2B5EF4-FFF2-40B4-BE49-F238E27FC236}">
                      <a16:creationId xmlns:a16="http://schemas.microsoft.com/office/drawing/2014/main" id="{841BC4EA-1045-BAF7-F8A2-7691EB9E98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0700535" y="86319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0" name="Curved Connector 19">
                  <a:extLst>
                    <a:ext uri="{FF2B5EF4-FFF2-40B4-BE49-F238E27FC236}">
                      <a16:creationId xmlns:a16="http://schemas.microsoft.com/office/drawing/2014/main" id="{629B52E3-06C3-5EF3-74ED-935B4D9E6D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926164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1" name="Curved Connector 20">
                  <a:extLst>
                    <a:ext uri="{FF2B5EF4-FFF2-40B4-BE49-F238E27FC236}">
                      <a16:creationId xmlns:a16="http://schemas.microsoft.com/office/drawing/2014/main" id="{72273211-DEAD-60F0-5F1B-8E947505A102}"/>
                    </a:ext>
                  </a:extLst>
                </p:cNvPr>
                <p:cNvCxnSpPr>
                  <a:cxnSpLocks/>
                  <a:stCxn id="13" idx="3"/>
                  <a:endCxn id="10" idx="5"/>
                </p:cNvCxnSpPr>
                <p:nvPr/>
              </p:nvCxnSpPr>
              <p:spPr>
                <a:xfrm rot="5400000">
                  <a:off x="19250833" y="9269716"/>
                  <a:ext cx="12700" cy="798417"/>
                </a:xfrm>
                <a:prstGeom prst="curvedConnector3">
                  <a:avLst>
                    <a:gd name="adj1" fmla="val 819323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2" name="Curved Connector 21">
                  <a:extLst>
                    <a:ext uri="{FF2B5EF4-FFF2-40B4-BE49-F238E27FC236}">
                      <a16:creationId xmlns:a16="http://schemas.microsoft.com/office/drawing/2014/main" id="{B1053BA0-E307-B0D2-66D3-7915285D9600}"/>
                    </a:ext>
                  </a:extLst>
                </p:cNvPr>
                <p:cNvCxnSpPr>
                  <a:cxnSpLocks/>
                  <a:stCxn id="12" idx="3"/>
                  <a:endCxn id="11" idx="5"/>
                </p:cNvCxnSpPr>
                <p:nvPr/>
              </p:nvCxnSpPr>
              <p:spPr>
                <a:xfrm rot="5400000">
                  <a:off x="17792901" y="9852783"/>
                  <a:ext cx="12700" cy="2219252"/>
                </a:xfrm>
                <a:prstGeom prst="curvedConnector3">
                  <a:avLst>
                    <a:gd name="adj1" fmla="val 28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3" name="Curved Connector 22">
                  <a:extLst>
                    <a:ext uri="{FF2B5EF4-FFF2-40B4-BE49-F238E27FC236}">
                      <a16:creationId xmlns:a16="http://schemas.microsoft.com/office/drawing/2014/main" id="{3A36D8F9-C039-C743-5F3C-1F6313DEAD82}"/>
                    </a:ext>
                  </a:extLst>
                </p:cNvPr>
                <p:cNvCxnSpPr>
                  <a:cxnSpLocks/>
                  <a:stCxn id="13" idx="4"/>
                  <a:endCxn id="12" idx="7"/>
                </p:cNvCxnSpPr>
                <p:nvPr/>
              </p:nvCxnSpPr>
              <p:spPr>
                <a:xfrm rot="5400000">
                  <a:off x="19479052" y="9851519"/>
                  <a:ext cx="538960" cy="432683"/>
                </a:xfrm>
                <a:prstGeom prst="curvedConnector3">
                  <a:avLst>
                    <a:gd name="adj1" fmla="val 38217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4" name="Curved Connector 23">
                  <a:extLst>
                    <a:ext uri="{FF2B5EF4-FFF2-40B4-BE49-F238E27FC236}">
                      <a16:creationId xmlns:a16="http://schemas.microsoft.com/office/drawing/2014/main" id="{C10A953B-43C7-D492-F0A3-828F301E6677}"/>
                    </a:ext>
                  </a:extLst>
                </p:cNvPr>
                <p:cNvCxnSpPr>
                  <a:cxnSpLocks/>
                  <a:stCxn id="12" idx="6"/>
                  <a:endCxn id="14" idx="4"/>
                </p:cNvCxnSpPr>
                <p:nvPr/>
              </p:nvCxnSpPr>
              <p:spPr>
                <a:xfrm flipV="1">
                  <a:off x="19662598" y="9798380"/>
                  <a:ext cx="1730354" cy="85149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5" name="Curved Connector 24">
                  <a:extLst>
                    <a:ext uri="{FF2B5EF4-FFF2-40B4-BE49-F238E27FC236}">
                      <a16:creationId xmlns:a16="http://schemas.microsoft.com/office/drawing/2014/main" id="{DD5CE6A9-528E-568F-8A9E-0E0298774944}"/>
                    </a:ext>
                  </a:extLst>
                </p:cNvPr>
                <p:cNvCxnSpPr>
                  <a:cxnSpLocks/>
                  <a:stCxn id="14" idx="3"/>
                </p:cNvCxnSpPr>
                <p:nvPr/>
              </p:nvCxnSpPr>
              <p:spPr>
                <a:xfrm rot="5400000">
                  <a:off x="19967646" y="9312974"/>
                  <a:ext cx="754525" cy="146642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6" name="Curved Connector 25">
                  <a:extLst>
                    <a:ext uri="{FF2B5EF4-FFF2-40B4-BE49-F238E27FC236}">
                      <a16:creationId xmlns:a16="http://schemas.microsoft.com/office/drawing/2014/main" id="{8CDA7C41-E953-5893-1492-479B32654118}"/>
                    </a:ext>
                  </a:extLst>
                </p:cNvPr>
                <p:cNvCxnSpPr>
                  <a:cxnSpLocks/>
                  <a:stCxn id="11" idx="1"/>
                  <a:endCxn id="8" idx="4"/>
                </p:cNvCxnSpPr>
                <p:nvPr/>
              </p:nvCxnSpPr>
              <p:spPr>
                <a:xfrm rot="16200000" flipV="1">
                  <a:off x="15597644" y="9881371"/>
                  <a:ext cx="538960" cy="372977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7" name="Curved Connector 26">
                  <a:extLst>
                    <a:ext uri="{FF2B5EF4-FFF2-40B4-BE49-F238E27FC236}">
                      <a16:creationId xmlns:a16="http://schemas.microsoft.com/office/drawing/2014/main" id="{BF08CC93-284E-BBE0-8CB6-FE0298929F97}"/>
                    </a:ext>
                  </a:extLst>
                </p:cNvPr>
                <p:cNvCxnSpPr>
                  <a:cxnSpLocks/>
                  <a:stCxn id="8" idx="3"/>
                  <a:endCxn id="11" idx="2"/>
                </p:cNvCxnSpPr>
                <p:nvPr/>
              </p:nvCxnSpPr>
              <p:spPr>
                <a:xfrm rot="16200000" flipH="1">
                  <a:off x="15154028" y="9880698"/>
                  <a:ext cx="980951" cy="557401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8" name="Curved Connector 27">
                  <a:extLst>
                    <a:ext uri="{FF2B5EF4-FFF2-40B4-BE49-F238E27FC236}">
                      <a16:creationId xmlns:a16="http://schemas.microsoft.com/office/drawing/2014/main" id="{12C30B63-39B7-AC91-8621-70E2ACA89908}"/>
                    </a:ext>
                  </a:extLst>
                </p:cNvPr>
                <p:cNvCxnSpPr>
                  <a:cxnSpLocks/>
                  <a:stCxn id="11" idx="7"/>
                  <a:endCxn id="12" idx="1"/>
                </p:cNvCxnSpPr>
                <p:nvPr/>
              </p:nvCxnSpPr>
              <p:spPr>
                <a:xfrm rot="5400000" flipH="1" flipV="1">
                  <a:off x="17792901" y="9227714"/>
                  <a:ext cx="12700" cy="2219252"/>
                </a:xfrm>
                <a:prstGeom prst="curvedConnector3">
                  <a:avLst>
                    <a:gd name="adj1" fmla="val 12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Rounded Rectangle 518">
                <a:extLst>
                  <a:ext uri="{FF2B5EF4-FFF2-40B4-BE49-F238E27FC236}">
                    <a16:creationId xmlns:a16="http://schemas.microsoft.com/office/drawing/2014/main" id="{F071AC79-4374-D01F-21D8-7CA1094CC6A2}"/>
                  </a:ext>
                </a:extLst>
              </p:cNvPr>
              <p:cNvSpPr/>
              <p:nvPr/>
            </p:nvSpPr>
            <p:spPr>
              <a:xfrm>
                <a:off x="1331256" y="2664847"/>
                <a:ext cx="11547251" cy="374315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Theorem [Hurtado-Lange, G ‘25]:</a:t>
                </a: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𝜆</m:t>
                        </m:r>
                      </m:e>
                      <m:sub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</m:sub>
                    </m:sSub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&gt;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0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is large enough for each</a:t>
                </a:r>
                <a:r>
                  <a:rPr kumimoji="0" lang="en-US" sz="4000" i="0" u="none" strike="noStrike" cap="none" spc="0" normalizeH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kumimoji="0" lang="en-US" sz="4000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, then as 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𝜖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↓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0</m:t>
                    </m:r>
                  </m:oMath>
                </a14:m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𝜖</m:t>
                    </m:r>
                    <m:r>
                      <a:rPr kumimoji="0" lang="en-US" sz="4000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𝒒</m:t>
                    </m:r>
                    <m:r>
                      <a:rPr kumimoji="0" lang="en-US" sz="4000" b="1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⟹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𝐸𝑥𝑝</m:t>
                    </m:r>
                    <m:d>
                      <m:d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dPr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𝑀𝑒𝑎𝑛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=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1</m:t>
                        </m:r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+</m:t>
                        </m:r>
                        <m:f>
                          <m:fPr>
                            <m:ctrlPr>
                              <a:rPr kumimoji="0" lang="en-US" sz="4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 Medium"/>
                                <a:cs typeface="Helvetica Neue Medium"/>
                                <a:sym typeface="Helvetica Neue Medium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sSupPr>
                              <m:e>
                                <m: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∗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naryPr>
                              <m:sub>
                                <m:r>
                                  <a:rPr kumimoji="0" lang="en-US" sz="40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𝜋</m:t>
                                    </m:r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,</m:t>
                                    </m:r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Helvetica Neue Medium"/>
                                        <a:cs typeface="Helvetica Neue Medium"/>
                                        <a:sym typeface="Helvetica Neue Medium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e>
                    </m:d>
                  </m:oMath>
                </a14:m>
                <a:r>
                  <a:rPr lang="en-US" sz="4000" b="1" dirty="0">
                    <a:solidFill>
                      <a:schemeClr val="accent1">
                        <a:lumMod val="75000"/>
                      </a:schemeClr>
                    </a:solidFill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𝟏</m:t>
                    </m:r>
                  </m:oMath>
                </a14:m>
                <a:endParaRPr kumimoji="0" lang="en-US" sz="40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>
          <p:sp>
            <p:nvSpPr>
              <p:cNvPr id="519" name="Rounded Rectangle 518">
                <a:extLst>
                  <a:ext uri="{FF2B5EF4-FFF2-40B4-BE49-F238E27FC236}">
                    <a16:creationId xmlns:a16="http://schemas.microsoft.com/office/drawing/2014/main" id="{F071AC79-4374-D01F-21D8-7CA1094CC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256" y="2664847"/>
                <a:ext cx="11547251" cy="3743152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Heavy-Traffic Analysis in the Litera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Heavy-Traffic Analysis in the Literature</a:t>
            </a:r>
          </a:p>
        </p:txBody>
      </p:sp>
      <p:sp>
        <p:nvSpPr>
          <p:cNvPr id="6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64" y="13068300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" name="Most popular…"/>
              <p:cNvSpPr txBox="1"/>
              <p:nvPr/>
            </p:nvSpPr>
            <p:spPr>
              <a:xfrm>
                <a:off x="887801" y="4200807"/>
                <a:ext cx="5892061" cy="265408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322262" indent="-322262" defTabSz="355600">
                  <a:buClr>
                    <a:schemeClr val="accent1">
                      <a:lumOff val="-13575"/>
                    </a:schemeClr>
                  </a:buClr>
                  <a:buSzPct val="100000"/>
                  <a:buChar char="•"/>
                  <a:defRPr sz="2900">
                    <a:latin typeface="Proxima Nova Medium"/>
                    <a:ea typeface="Proxima Nova Medium"/>
                    <a:cs typeface="Proxima Nova Medium"/>
                    <a:sym typeface="Proxima Nova Medium"/>
                  </a:defRPr>
                </a:pPr>
                <a:r>
                  <a:t>Most popular</a:t>
                </a:r>
              </a:p>
              <a:p>
                <a:pPr marL="322262" indent="-322262" defTabSz="355600">
                  <a:spcBef>
                    <a:spcPts val="2000"/>
                  </a:spcBef>
                  <a:buClr>
                    <a:schemeClr val="accent1">
                      <a:lumOff val="-13575"/>
                    </a:schemeClr>
                  </a:buClr>
                  <a:buSzPct val="100000"/>
                  <a:buChar char="•"/>
                  <a:defRPr sz="2900">
                    <a:latin typeface="Proxima Nova Medium"/>
                    <a:ea typeface="Proxima Nova Medium"/>
                    <a:cs typeface="Proxima Nova Medium"/>
                    <a:sym typeface="Proxima Nova Medium"/>
                  </a:defRPr>
                </a:pPr>
                <a:r>
                  <a:t>Introduced by Kingman (1962)</a:t>
                </a:r>
              </a:p>
              <a:p>
                <a:pPr marL="322262" indent="-322262" defTabSz="355600">
                  <a:spcBef>
                    <a:spcPts val="2000"/>
                  </a:spcBef>
                  <a:buClr>
                    <a:schemeClr val="accent1">
                      <a:lumOff val="-13575"/>
                    </a:schemeClr>
                  </a:buClr>
                  <a:buSzPct val="100000"/>
                  <a:buChar char="•"/>
                  <a:defRPr sz="2900">
                    <a:latin typeface="Proxima Nova Medium"/>
                    <a:ea typeface="Proxima Nova Medium"/>
                    <a:cs typeface="Proxima Nova Medium"/>
                    <a:sym typeface="Proxima Nova Medium"/>
                  </a:defRPr>
                </a:pPr>
                <a:r>
                  <a:t>Show convergence in distribution of queue length scaled heavy-traffic parameter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635" name="Most popular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01" y="4200807"/>
                <a:ext cx="5892061" cy="2654080"/>
              </a:xfrm>
              <a:prstGeom prst="rect">
                <a:avLst/>
              </a:prstGeom>
              <a:blipFill>
                <a:blip r:embed="rId3"/>
                <a:stretch>
                  <a:fillRect l="-3017" t="-3810" r="-4095" b="-571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6" name="Equation"/>
              <p:cNvSpPr txBox="1"/>
              <p:nvPr/>
            </p:nvSpPr>
            <p:spPr>
              <a:xfrm>
                <a:off x="1623707" y="7220617"/>
                <a:ext cx="976033" cy="3900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 dirty="0"/>
              </a:p>
            </p:txBody>
          </p:sp>
        </mc:Choice>
        <mc:Fallback xmlns="">
          <p:sp>
            <p:nvSpPr>
              <p:cNvPr id="6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707" y="7220617"/>
                <a:ext cx="976033" cy="390016"/>
              </a:xfrm>
              <a:prstGeom prst="rect">
                <a:avLst/>
              </a:prstGeom>
              <a:blipFill>
                <a:blip r:embed="rId4"/>
                <a:stretch>
                  <a:fillRect l="-8974" t="-3125" r="-43590" b="-5625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7" name="Equation"/>
              <p:cNvSpPr txBox="1"/>
              <p:nvPr/>
            </p:nvSpPr>
            <p:spPr>
              <a:xfrm>
                <a:off x="4628368" y="7220617"/>
                <a:ext cx="1214691" cy="3900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63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68" y="7220617"/>
                <a:ext cx="1214691" cy="390016"/>
              </a:xfrm>
              <a:prstGeom prst="rect">
                <a:avLst/>
              </a:prstGeom>
              <a:blipFill>
                <a:blip r:embed="rId5"/>
                <a:stretch>
                  <a:fillRect l="-7216" t="-3125" r="-27835" b="-5625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8" name="Equation"/>
              <p:cNvSpPr txBox="1"/>
              <p:nvPr/>
            </p:nvSpPr>
            <p:spPr>
              <a:xfrm>
                <a:off x="4846727" y="8732398"/>
                <a:ext cx="334417" cy="32594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lnSpc>
                    <a:spcPct val="100000"/>
                  </a:lnSpc>
                  <a:spcBef>
                    <a:spcPts val="0"/>
                  </a:spcBef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63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727" y="8732398"/>
                <a:ext cx="334417" cy="325947"/>
              </a:xfrm>
              <a:prstGeom prst="rect">
                <a:avLst/>
              </a:prstGeom>
              <a:blipFill>
                <a:blip r:embed="rId6"/>
                <a:stretch>
                  <a:fillRect l="-35714" r="-17857" b="-66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1" name="Group"/>
          <p:cNvGrpSpPr/>
          <p:nvPr/>
        </p:nvGrpSpPr>
        <p:grpSpPr>
          <a:xfrm>
            <a:off x="2884738" y="7038954"/>
            <a:ext cx="1583279" cy="431275"/>
            <a:chOff x="124646" y="0"/>
            <a:chExt cx="1583277" cy="431274"/>
          </a:xfrm>
        </p:grpSpPr>
        <p:sp>
          <p:nvSpPr>
            <p:cNvPr id="639" name="Line"/>
            <p:cNvSpPr/>
            <p:nvPr/>
          </p:nvSpPr>
          <p:spPr>
            <a:xfrm>
              <a:off x="124646" y="431273"/>
              <a:ext cx="1583277" cy="1"/>
            </a:xfrm>
            <a:prstGeom prst="line">
              <a:avLst/>
            </a:prstGeom>
            <a:noFill/>
            <a:ln w="38100" cap="flat">
              <a:solidFill>
                <a:srgbClr val="008F00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355600">
                <a:defRPr sz="2900">
                  <a:latin typeface="Proxima Nova Medium"/>
                  <a:ea typeface="Proxima Nova Medium"/>
                  <a:cs typeface="Proxima Nova Medium"/>
                  <a:sym typeface="Proxima Nova Medium"/>
                </a:defRPr>
              </a:pPr>
              <a:endParaRPr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0" name="Text"/>
                <p:cNvSpPr txBox="1"/>
                <p:nvPr/>
              </p:nvSpPr>
              <p:spPr>
                <a:xfrm>
                  <a:off x="416045" y="0"/>
                  <a:ext cx="873930" cy="4030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 defTabSz="355600">
                    <a:defRPr sz="2000">
                      <a:solidFill>
                        <a:srgbClr val="008F00"/>
                      </a:solidFill>
                      <a:latin typeface="Proxima Nova Medium"/>
                      <a:ea typeface="Proxima Nova Medium"/>
                      <a:cs typeface="Proxima Nova Medium"/>
                      <a:sym typeface="Proxima Nova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2250" i="1">
                            <a:solidFill>
                              <a:srgbClr val="008E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2250" i="1">
                            <a:solidFill>
                              <a:srgbClr val="008E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2250" i="1">
                            <a:solidFill>
                              <a:srgbClr val="008E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40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45" y="0"/>
                  <a:ext cx="873930" cy="403095"/>
                </a:xfrm>
                <a:prstGeom prst="rect">
                  <a:avLst/>
                </a:prstGeom>
                <a:blipFill>
                  <a:blip r:embed="rId7"/>
                  <a:stretch>
                    <a:fillRect l="-8696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4" name="Group"/>
          <p:cNvGrpSpPr/>
          <p:nvPr/>
        </p:nvGrpSpPr>
        <p:grpSpPr>
          <a:xfrm>
            <a:off x="1281795" y="7806867"/>
            <a:ext cx="727204" cy="717575"/>
            <a:chOff x="0" y="0"/>
            <a:chExt cx="727203" cy="717574"/>
          </a:xfrm>
        </p:grpSpPr>
        <p:sp>
          <p:nvSpPr>
            <p:cNvPr id="642" name="Line"/>
            <p:cNvSpPr/>
            <p:nvPr/>
          </p:nvSpPr>
          <p:spPr>
            <a:xfrm flipH="1">
              <a:off x="727203" y="0"/>
              <a:ext cx="1" cy="717575"/>
            </a:xfrm>
            <a:prstGeom prst="line">
              <a:avLst/>
            </a:prstGeom>
            <a:noFill/>
            <a:ln w="38100" cap="flat">
              <a:solidFill>
                <a:srgbClr val="945200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355600">
                <a:defRPr sz="2900">
                  <a:latin typeface="Proxima Nova Medium"/>
                  <a:ea typeface="Proxima Nova Medium"/>
                  <a:cs typeface="Proxima Nova Medium"/>
                  <a:sym typeface="Proxima Nova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3" name="Text"/>
                <p:cNvSpPr txBox="1"/>
                <p:nvPr/>
              </p:nvSpPr>
              <p:spPr>
                <a:xfrm>
                  <a:off x="-1" y="0"/>
                  <a:ext cx="680448" cy="4030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 defTabSz="355600">
                    <a:defRPr sz="2000">
                      <a:solidFill>
                        <a:srgbClr val="945200"/>
                      </a:solidFill>
                      <a:latin typeface="Proxima Nova Medium"/>
                      <a:ea typeface="Proxima Nova Medium"/>
                      <a:cs typeface="Proxima Nova Medium"/>
                      <a:sym typeface="Proxima Nova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2250" i="1">
                            <a:solidFill>
                              <a:srgbClr val="9351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2250" i="1">
                            <a:solidFill>
                              <a:srgbClr val="935100"/>
                            </a:solidFill>
                            <a:latin typeface="Cambria Math" panose="02040503050406030204" pitchFamily="18" charset="0"/>
                          </a:rPr>
                          <m:t>↓</m:t>
                        </m:r>
                        <m:r>
                          <a:rPr sz="2250" i="1">
                            <a:solidFill>
                              <a:srgbClr val="9351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43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0"/>
                  <a:ext cx="680448" cy="403095"/>
                </a:xfrm>
                <a:prstGeom prst="rect">
                  <a:avLst/>
                </a:prstGeom>
                <a:blipFill>
                  <a:blip r:embed="rId8"/>
                  <a:stretch>
                    <a:fillRect l="-9091" r="-1818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7" name="Group"/>
          <p:cNvGrpSpPr/>
          <p:nvPr/>
        </p:nvGrpSpPr>
        <p:grpSpPr>
          <a:xfrm>
            <a:off x="2760092" y="8411395"/>
            <a:ext cx="1707924" cy="431275"/>
            <a:chOff x="0" y="0"/>
            <a:chExt cx="1707922" cy="431273"/>
          </a:xfrm>
        </p:grpSpPr>
        <p:sp>
          <p:nvSpPr>
            <p:cNvPr id="645" name="Line"/>
            <p:cNvSpPr/>
            <p:nvPr/>
          </p:nvSpPr>
          <p:spPr>
            <a:xfrm>
              <a:off x="0" y="431273"/>
              <a:ext cx="1707923" cy="1"/>
            </a:xfrm>
            <a:prstGeom prst="line">
              <a:avLst/>
            </a:prstGeom>
            <a:noFill/>
            <a:ln w="38100" cap="flat">
              <a:solidFill>
                <a:srgbClr val="945200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355600">
                <a:defRPr sz="2900">
                  <a:latin typeface="Proxima Nova Medium"/>
                  <a:ea typeface="Proxima Nova Medium"/>
                  <a:cs typeface="Proxima Nova Medium"/>
                  <a:sym typeface="Proxima Nova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6" name="Text"/>
                <p:cNvSpPr txBox="1"/>
                <p:nvPr/>
              </p:nvSpPr>
              <p:spPr>
                <a:xfrm>
                  <a:off x="416045" y="0"/>
                  <a:ext cx="873930" cy="4030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algn="ctr" defTabSz="355600">
                    <a:defRPr sz="2000">
                      <a:solidFill>
                        <a:srgbClr val="945200"/>
                      </a:solidFill>
                      <a:latin typeface="Proxima Nova Medium"/>
                      <a:ea typeface="Proxima Nova Medium"/>
                      <a:cs typeface="Proxima Nova Medium"/>
                      <a:sym typeface="Proxima Nova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2250" i="1">
                            <a:solidFill>
                              <a:srgbClr val="9351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2250" i="1">
                            <a:solidFill>
                              <a:srgbClr val="9351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sz="2250" i="1">
                            <a:solidFill>
                              <a:srgbClr val="9351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46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045" y="0"/>
                  <a:ext cx="873930" cy="403095"/>
                </a:xfrm>
                <a:prstGeom prst="rect">
                  <a:avLst/>
                </a:prstGeom>
                <a:blipFill>
                  <a:blip r:embed="rId9"/>
                  <a:stretch>
                    <a:fillRect l="-8696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0" name="Group"/>
          <p:cNvGrpSpPr/>
          <p:nvPr/>
        </p:nvGrpSpPr>
        <p:grpSpPr>
          <a:xfrm>
            <a:off x="1729771" y="8718771"/>
            <a:ext cx="892809" cy="995296"/>
            <a:chOff x="0" y="0"/>
            <a:chExt cx="892809" cy="9952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8" name="Equation"/>
                <p:cNvSpPr txBox="1"/>
                <p:nvPr/>
              </p:nvSpPr>
              <p:spPr>
                <a:xfrm>
                  <a:off x="114198" y="0"/>
                  <a:ext cx="778611" cy="44627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29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a:rPr lang="en-US" sz="2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2900" dirty="0"/>
                </a:p>
              </p:txBody>
            </p:sp>
          </mc:Choice>
          <mc:Fallback xmlns="">
            <p:sp>
              <p:nvSpPr>
                <p:cNvPr id="64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98" y="0"/>
                  <a:ext cx="778611" cy="446275"/>
                </a:xfrm>
                <a:prstGeom prst="rect">
                  <a:avLst/>
                </a:prstGeom>
                <a:blipFill>
                  <a:blip r:embed="rId10"/>
                  <a:stretch>
                    <a:fillRect l="-7937" r="-14286" b="-3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9" name="RBM"/>
            <p:cNvSpPr txBox="1"/>
            <p:nvPr/>
          </p:nvSpPr>
          <p:spPr>
            <a:xfrm>
              <a:off x="0" y="522853"/>
              <a:ext cx="763905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 defTabSz="355600">
                <a:defRPr sz="2500">
                  <a:solidFill>
                    <a:srgbClr val="945200"/>
                  </a:solidFill>
                  <a:latin typeface="Proxima Nova Medium"/>
                  <a:ea typeface="Proxima Nova Medium"/>
                  <a:cs typeface="Proxima Nova Medium"/>
                  <a:sym typeface="Proxima Nova Medium"/>
                </a:defRPr>
              </a:lvl1pPr>
            </a:lstStyle>
            <a:p>
              <a:r>
                <a:t>RBM</a:t>
              </a:r>
            </a:p>
          </p:txBody>
        </p:sp>
      </p:grpSp>
      <p:grpSp>
        <p:nvGrpSpPr>
          <p:cNvPr id="655" name="Group"/>
          <p:cNvGrpSpPr/>
          <p:nvPr/>
        </p:nvGrpSpPr>
        <p:grpSpPr>
          <a:xfrm>
            <a:off x="4644829" y="7806867"/>
            <a:ext cx="2400355" cy="1454662"/>
            <a:chOff x="340222" y="57326"/>
            <a:chExt cx="2400353" cy="1454660"/>
          </a:xfrm>
        </p:grpSpPr>
        <p:grpSp>
          <p:nvGrpSpPr>
            <p:cNvPr id="653" name="Group"/>
            <p:cNvGrpSpPr/>
            <p:nvPr/>
          </p:nvGrpSpPr>
          <p:grpSpPr>
            <a:xfrm>
              <a:off x="340222" y="57326"/>
              <a:ext cx="1270001" cy="1454662"/>
              <a:chOff x="340222" y="16886"/>
              <a:chExt cx="1270000" cy="1454660"/>
            </a:xfrm>
          </p:grpSpPr>
          <p:sp>
            <p:nvSpPr>
              <p:cNvPr id="651" name="Line"/>
              <p:cNvSpPr/>
              <p:nvPr/>
            </p:nvSpPr>
            <p:spPr>
              <a:xfrm flipH="1">
                <a:off x="726708" y="16886"/>
                <a:ext cx="1" cy="717575"/>
              </a:xfrm>
              <a:prstGeom prst="line">
                <a:avLst/>
              </a:prstGeom>
              <a:noFill/>
              <a:ln w="38100" cap="flat">
                <a:solidFill>
                  <a:srgbClr val="9437FF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55600">
                  <a:defRPr sz="2900">
                    <a:latin typeface="Proxima Nova Medium"/>
                    <a:ea typeface="Proxima Nova Medium"/>
                    <a:cs typeface="Proxima Nova Medium"/>
                    <a:sym typeface="Proxima Nova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2" name="Text"/>
                  <p:cNvSpPr/>
                  <p:nvPr/>
                </p:nvSpPr>
                <p:spPr>
                  <a:xfrm>
                    <a:off x="340222" y="20154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45719" tIns="45719" rIns="45719" bIns="45719" numCol="1" anchor="ctr">
                    <a:spAutoFit/>
                  </a:bodyPr>
                  <a:lstStyle>
                    <a:lvl1pPr algn="ctr" defTabSz="355600">
                      <a:defRPr sz="2000">
                        <a:solidFill>
                          <a:srgbClr val="9437FF"/>
                        </a:solidFill>
                        <a:latin typeface="Proxima Nova Medium"/>
                        <a:ea typeface="Proxima Nova Medium"/>
                        <a:cs typeface="Proxima Nova Medium"/>
                        <a:sym typeface="Proxima Nova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sz="2250" i="1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sz="2250" i="1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↓</m:t>
                          </m:r>
                          <m:r>
                            <a:rPr sz="2250" i="1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652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222" y="201547"/>
                    <a:ext cx="1270001" cy="1270001"/>
                  </a:xfrm>
                  <a:prstGeom prst="line">
                    <a:avLst/>
                  </a:prstGeom>
                  <a:blipFill>
                    <a:blip r:embed="rId11"/>
                    <a:stretch>
                      <a:fillRect l="-31683" t="-13861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4" name="Interchange of limits"/>
            <p:cNvSpPr/>
            <p:nvPr/>
          </p:nvSpPr>
          <p:spPr>
            <a:xfrm>
              <a:off x="805487" y="407670"/>
              <a:ext cx="193509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355600">
                <a:defRPr sz="2500">
                  <a:solidFill>
                    <a:srgbClr val="9437FF"/>
                  </a:solidFill>
                  <a:latin typeface="Proxima Nova Medium"/>
                  <a:ea typeface="Proxima Nova Medium"/>
                  <a:cs typeface="Proxima Nova Medium"/>
                  <a:sym typeface="Proxima Nova Medium"/>
                </a:defRPr>
              </a:lvl1pPr>
            </a:lstStyle>
            <a:p>
              <a:r>
                <a:t>Interchange of limits</a:t>
              </a:r>
            </a:p>
          </p:txBody>
        </p:sp>
      </p:grpSp>
      <p:grpSp>
        <p:nvGrpSpPr>
          <p:cNvPr id="659" name="Group"/>
          <p:cNvGrpSpPr/>
          <p:nvPr/>
        </p:nvGrpSpPr>
        <p:grpSpPr>
          <a:xfrm>
            <a:off x="518795" y="3273049"/>
            <a:ext cx="7429668" cy="6636585"/>
            <a:chOff x="-23121" y="-38100"/>
            <a:chExt cx="7429667" cy="6636584"/>
          </a:xfrm>
        </p:grpSpPr>
        <p:sp>
          <p:nvSpPr>
            <p:cNvPr id="656" name="Diffusion Limits Approach"/>
            <p:cNvSpPr txBox="1"/>
            <p:nvPr/>
          </p:nvSpPr>
          <p:spPr>
            <a:xfrm>
              <a:off x="4460" y="-20846"/>
              <a:ext cx="7374503" cy="7624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355600">
                <a:defRPr sz="3500" b="1">
                  <a:solidFill>
                    <a:schemeClr val="accent1">
                      <a:hueOff val="114395"/>
                      <a:lumOff val="-24975"/>
                    </a:schemeClr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r>
                <a:t>Diffusion Limits Approach</a:t>
              </a:r>
            </a:p>
          </p:txBody>
        </p:sp>
        <p:pic>
          <p:nvPicPr>
            <p:cNvPr id="657" name="Rectangle Rectangle" descr="Rectangle Rectangle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23122" y="-38100"/>
              <a:ext cx="7429668" cy="6636585"/>
            </a:xfrm>
            <a:prstGeom prst="rect">
              <a:avLst/>
            </a:prstGeom>
            <a:effectLst/>
          </p:spPr>
        </p:pic>
      </p:grpSp>
      <p:grpSp>
        <p:nvGrpSpPr>
          <p:cNvPr id="663" name="Group"/>
          <p:cNvGrpSpPr/>
          <p:nvPr/>
        </p:nvGrpSpPr>
        <p:grpSpPr>
          <a:xfrm>
            <a:off x="5784969" y="3152700"/>
            <a:ext cx="15981460" cy="8626733"/>
            <a:chOff x="-3248321" y="-98794"/>
            <a:chExt cx="15981459" cy="8626731"/>
          </a:xfrm>
        </p:grpSpPr>
        <p:sp>
          <p:nvSpPr>
            <p:cNvPr id="660" name="Direct Methods"/>
            <p:cNvSpPr txBox="1"/>
            <p:nvPr/>
          </p:nvSpPr>
          <p:spPr>
            <a:xfrm>
              <a:off x="-3248321" y="-98794"/>
              <a:ext cx="12814060" cy="820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355600">
                <a:defRPr sz="3500" b="1">
                  <a:solidFill>
                    <a:schemeClr val="accent1">
                      <a:hueOff val="114395"/>
                      <a:lumOff val="-24975"/>
                    </a:schemeClr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r>
                <a:rPr dirty="0"/>
                <a:t>Direct Methods</a:t>
              </a:r>
            </a:p>
          </p:txBody>
        </p:sp>
        <p:pic>
          <p:nvPicPr>
            <p:cNvPr id="661" name="Rectangle Rectangle" descr="Rectangle Rectangle"/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102275" y="-60347"/>
              <a:ext cx="12835413" cy="8588284"/>
            </a:xfrm>
            <a:prstGeom prst="rect">
              <a:avLst/>
            </a:prstGeom>
            <a:effectLst/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4" name="Stein’s method Bound Wasserstein distance between   and…"/>
              <p:cNvSpPr txBox="1"/>
              <p:nvPr/>
            </p:nvSpPr>
            <p:spPr>
              <a:xfrm>
                <a:off x="9248360" y="4156201"/>
                <a:ext cx="10160125" cy="575343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 marL="368300" indent="-368300">
                  <a:buClr>
                    <a:schemeClr val="accent1">
                      <a:lumOff val="-13575"/>
                    </a:schemeClr>
                  </a:buClr>
                  <a:buSzPct val="123000"/>
                  <a:buChar char="•"/>
                  <a:defRPr sz="2900" b="1">
                    <a:solidFill>
                      <a:schemeClr val="accent1">
                        <a:hueOff val="114395"/>
                        <a:lumOff val="-24975"/>
                      </a:schemeClr>
                    </a:solidFill>
                  </a:defRPr>
                </a:pPr>
                <a:r>
                  <a:t>Stein’s method</a:t>
                </a:r>
                <a:br/>
                <a:r>
                  <a:rPr b="0">
                    <a:solidFill>
                      <a:srgbClr val="000000"/>
                    </a:solidFill>
                  </a:rPr>
                  <a:t>Bound Wasserstein distance between </a:t>
                </a:r>
                <a14:m>
                  <m:oMath xmlns:m="http://schemas.openxmlformats.org/officeDocument/2006/math"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sSup>
                      <m:sSupPr>
                        <m:ctrlP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b="0">
                    <a:solidFill>
                      <a:srgbClr val="000000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b="0">
                  <a:solidFill>
                    <a:srgbClr val="000000"/>
                  </a:solidFill>
                </a:endParaRPr>
              </a:p>
              <a:p>
                <a:pPr marL="368300" indent="-368300">
                  <a:buClr>
                    <a:schemeClr val="accent1">
                      <a:lumOff val="-13575"/>
                    </a:schemeClr>
                  </a:buClr>
                  <a:buSzPct val="123000"/>
                  <a:buChar char="•"/>
                  <a:defRPr sz="2900" b="1">
                    <a:solidFill>
                      <a:schemeClr val="accent1">
                        <a:hueOff val="114395"/>
                        <a:lumOff val="-24975"/>
                      </a:schemeClr>
                    </a:solidFill>
                  </a:defRPr>
                </a:pPr>
                <a:r>
                  <a:t>Drift Method</a:t>
                </a:r>
                <a:br/>
                <a:r>
                  <a:rPr b="0">
                    <a:solidFill>
                      <a:srgbClr val="000000"/>
                    </a:solidFill>
                  </a:rPr>
                  <a:t>Inductively compute </a:t>
                </a:r>
                <a14:m>
                  <m:oMath xmlns:m="http://schemas.openxmlformats.org/officeDocument/2006/math"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sSup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b="0">
                    <a:solidFill>
                      <a:srgbClr val="000000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b="0">
                  <a:solidFill>
                    <a:srgbClr val="000000"/>
                  </a:solidFill>
                </a:endParaRPr>
              </a:p>
              <a:p>
                <a:pPr marL="368300" indent="-368300">
                  <a:buClr>
                    <a:schemeClr val="accent1">
                      <a:lumOff val="-13575"/>
                    </a:schemeClr>
                  </a:buClr>
                  <a:buSzPct val="123000"/>
                  <a:buChar char="•"/>
                  <a:defRPr sz="2900" b="1">
                    <a:solidFill>
                      <a:schemeClr val="accent1">
                        <a:hueOff val="114395"/>
                        <a:lumOff val="-24975"/>
                      </a:schemeClr>
                    </a:solidFill>
                  </a:defRPr>
                </a:pPr>
                <a:r>
                  <a:t>BAR approach</a:t>
                </a:r>
                <a:br/>
                <a:r>
                  <a:rPr b="0">
                    <a:solidFill>
                      <a:srgbClr val="000000"/>
                    </a:solidFill>
                  </a:rPr>
                  <a:t>Analyze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b="0">
                    <a:solidFill>
                      <a:srgbClr val="000000"/>
                    </a:solidFill>
                  </a:rPr>
                  <a:t> and bound jumps appropriately</a:t>
                </a:r>
              </a:p>
              <a:p>
                <a:pPr marL="368300" indent="-368300">
                  <a:buClr>
                    <a:schemeClr val="accent1">
                      <a:lumOff val="-13575"/>
                    </a:schemeClr>
                  </a:buClr>
                  <a:buSzPct val="123000"/>
                  <a:buChar char="•"/>
                  <a:defRPr sz="2900" b="1">
                    <a:solidFill>
                      <a:schemeClr val="accent1">
                        <a:hueOff val="114395"/>
                        <a:lumOff val="-24975"/>
                      </a:schemeClr>
                    </a:solidFill>
                  </a:defRPr>
                </a:pPr>
                <a:r>
                  <a:t>Transform Methods</a:t>
                </a:r>
                <a:br/>
                <a:r>
                  <a:rPr b="0">
                    <a:solidFill>
                      <a:srgbClr val="000000"/>
                    </a:solidFill>
                  </a:rPr>
                  <a:t>Analyze drift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b="0">
                    <a:solidFill>
                      <a:srgbClr val="000000"/>
                    </a:solidFill>
                  </a:rPr>
                  <a:t> and directly compute </a:t>
                </a:r>
                <a14:m>
                  <m:oMath xmlns:m="http://schemas.openxmlformats.org/officeDocument/2006/math">
                    <m:r>
                      <a:rPr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sz="3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sSup>
                              <m:sSupPr>
                                <m:ctrlP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sz="3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  <m:r>
                              <a:rPr sz="3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b="0">
                    <a:solidFill>
                      <a:srgbClr val="000000"/>
                    </a:solidFill>
                  </a:rPr>
                  <a:t> </a:t>
                </a:r>
                <a:endParaRPr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64" name="Stein’s method Bound Wasserstein distance between   and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360" y="4156201"/>
                <a:ext cx="10160125" cy="5753433"/>
              </a:xfrm>
              <a:prstGeom prst="rect">
                <a:avLst/>
              </a:prstGeom>
              <a:blipFill>
                <a:blip r:embed="rId14"/>
                <a:stretch>
                  <a:fillRect l="-2247" t="-2423" r="-699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" name="Tractable analysis…"/>
          <p:cNvSpPr txBox="1"/>
          <p:nvPr/>
        </p:nvSpPr>
        <p:spPr>
          <a:xfrm>
            <a:off x="9659590" y="9803906"/>
            <a:ext cx="4196601" cy="171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09600" indent="-609600">
              <a:spcBef>
                <a:spcPts val="1500"/>
              </a:spcBef>
              <a:buClr>
                <a:schemeClr val="accent3">
                  <a:hueOff val="362282"/>
                  <a:satOff val="31803"/>
                  <a:lumOff val="-18242"/>
                </a:schemeClr>
              </a:buClr>
              <a:buSzPct val="123000"/>
              <a:buChar char="✓"/>
              <a:defRPr sz="2900"/>
            </a:pPr>
            <a:r>
              <a:t>Tractable analysis</a:t>
            </a:r>
          </a:p>
          <a:p>
            <a:pPr marL="609600" indent="-609600">
              <a:spcBef>
                <a:spcPts val="1500"/>
              </a:spcBef>
              <a:buClr>
                <a:schemeClr val="accent3">
                  <a:hueOff val="362282"/>
                  <a:satOff val="31803"/>
                  <a:lumOff val="-18242"/>
                </a:schemeClr>
              </a:buClr>
              <a:buSzPct val="123000"/>
              <a:buChar char="✓"/>
              <a:defRPr sz="2900"/>
            </a:pPr>
            <a:r>
              <a:t>Compute distribution</a:t>
            </a:r>
          </a:p>
          <a:p>
            <a:pPr marL="609600" indent="-609600">
              <a:spcBef>
                <a:spcPts val="1500"/>
              </a:spcBef>
              <a:buClr>
                <a:schemeClr val="accent3">
                  <a:hueOff val="362282"/>
                  <a:satOff val="31803"/>
                  <a:lumOff val="-18242"/>
                </a:schemeClr>
              </a:buClr>
              <a:buSzPct val="123000"/>
              <a:buChar char="✓"/>
              <a:defRPr sz="2900"/>
            </a:pPr>
            <a:r>
              <a:t>Obtain tail bounds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" grpId="2" animBg="1" advAuto="0"/>
      <p:bldP spid="636" grpId="3" animBg="1" advAuto="0"/>
      <p:bldP spid="637" grpId="5" animBg="1" advAuto="0"/>
      <p:bldP spid="638" grpId="9" animBg="1" advAuto="0"/>
      <p:bldP spid="641" grpId="4" animBg="1" advAuto="0"/>
      <p:bldP spid="644" grpId="6" animBg="1" advAuto="0"/>
      <p:bldP spid="647" grpId="8" animBg="1" advAuto="0"/>
      <p:bldP spid="650" grpId="7" animBg="1" advAuto="0"/>
      <p:bldP spid="655" grpId="10" animBg="1" advAuto="0"/>
      <p:bldP spid="659" grpId="1" animBg="1" advAuto="0"/>
      <p:bldP spid="663" grpId="11" animBg="1" advAuto="0"/>
      <p:bldP spid="664" grpId="12" build="p" bldLvl="5" animBg="1" advAuto="0"/>
      <p:bldP spid="665" grpId="13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67" name="Group"/>
              <p:cNvSpPr/>
              <p:nvPr/>
            </p:nvSpPr>
            <p:spPr>
              <a:xfrm>
                <a:off x="12686503" y="6898971"/>
                <a:ext cx="2626808" cy="1546668"/>
              </a:xfrm>
              <a:prstGeom prst="rect">
                <a:avLst/>
              </a:prstGeom>
              <a:solidFill>
                <a:schemeClr val="accent4">
                  <a:hueOff val="348544"/>
                  <a:lumOff val="7139"/>
                  <a:alpha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b"/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4">
                        <a:hueOff val="-1247790"/>
                        <a:lumOff val="-1232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3850" i="1">
                          <a:solidFill>
                            <a:srgbClr val="F271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850" i="1">
                              <a:solidFill>
                                <a:srgbClr val="F271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50" i="1">
                              <a:solidFill>
                                <a:srgbClr val="F271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sz="3850" i="1">
                              <a:solidFill>
                                <a:srgbClr val="F271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sz="3850" i="1">
                              <a:solidFill>
                                <a:srgbClr val="F271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sz="3850" i="1">
                              <a:solidFill>
                                <a:srgbClr val="F271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3850" i="1">
                              <a:solidFill>
                                <a:srgbClr val="F271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3850" i="1">
                              <a:solidFill>
                                <a:srgbClr val="F271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 dirty="0">
                  <a:solidFill>
                    <a:srgbClr val="F27200"/>
                  </a:solidFill>
                </a:endParaRPr>
              </a:p>
            </p:txBody>
          </p:sp>
        </mc:Choice>
        <mc:Fallback xmlns="">
          <p:sp>
            <p:nvSpPr>
              <p:cNvPr id="667" name="Group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6503" y="6898971"/>
                <a:ext cx="2626808" cy="1546668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8" name="Transform Method for   queue"/>
              <p:cNvSpPr txBox="1">
                <a:spLocks noGrp="1"/>
              </p:cNvSpPr>
              <p:nvPr>
                <p:ph type="title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Transform Method for </a:t>
                </a:r>
                <a14:m>
                  <m:oMath xmlns:m="http://schemas.openxmlformats.org/officeDocument/2006/math">
                    <m:r>
                      <a:rPr sz="8800" i="1">
                        <a:solidFill>
                          <a:srgbClr val="004D8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sz="8800" i="1">
                        <a:solidFill>
                          <a:srgbClr val="004D8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sz="8800" i="1">
                        <a:solidFill>
                          <a:srgbClr val="004D8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sz="8800" i="1">
                        <a:solidFill>
                          <a:srgbClr val="004D8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sz="8800" i="1">
                        <a:solidFill>
                          <a:srgbClr val="004D8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t> queue</a:t>
                </a:r>
                <a:endParaRPr>
                  <a:solidFill>
                    <a:srgbClr val="004D80"/>
                  </a:solidFill>
                </a:endParaRPr>
              </a:p>
            </p:txBody>
          </p:sp>
        </mc:Choice>
        <mc:Fallback xmlns="">
          <p:sp>
            <p:nvSpPr>
              <p:cNvPr id="668" name="Transform Method for   queu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prstGeom prst="rect">
                <a:avLst/>
              </a:prstGeom>
              <a:blipFill>
                <a:blip r:embed="rId4"/>
                <a:stretch>
                  <a:fillRect l="-2717" t="-35965" b="-21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64" y="13068300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grpSp>
        <p:nvGrpSpPr>
          <p:cNvPr id="672" name="Group"/>
          <p:cNvGrpSpPr/>
          <p:nvPr/>
        </p:nvGrpSpPr>
        <p:grpSpPr>
          <a:xfrm>
            <a:off x="1211290" y="3089296"/>
            <a:ext cx="10862417" cy="1551888"/>
            <a:chOff x="0" y="-1"/>
            <a:chExt cx="10862415" cy="1551886"/>
          </a:xfrm>
        </p:grpSpPr>
        <p:sp>
          <p:nvSpPr>
            <p:cNvPr id="670" name="Step 1: Drift of exponential test function"/>
            <p:cNvSpPr txBox="1"/>
            <p:nvPr/>
          </p:nvSpPr>
          <p:spPr>
            <a:xfrm>
              <a:off x="0" y="-1"/>
              <a:ext cx="10862415" cy="709166"/>
            </a:xfrm>
            <a:prstGeom prst="rect">
              <a:avLst/>
            </a:prstGeom>
            <a:solidFill>
              <a:schemeClr val="accent1">
                <a:lumOff val="16847"/>
                <a:alpha val="5041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4000" b="1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lvl1pPr>
            </a:lstStyle>
            <a:p>
              <a:r>
                <a:rPr dirty="0"/>
                <a:t>Step 1: Drift of exponential test function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1" name="Text"/>
                <p:cNvSpPr txBox="1"/>
                <p:nvPr/>
              </p:nvSpPr>
              <p:spPr>
                <a:xfrm>
                  <a:off x="59450" y="755258"/>
                  <a:ext cx="5130055" cy="79662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40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4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671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50" y="755258"/>
                  <a:ext cx="5130055" cy="796627"/>
                </a:xfrm>
                <a:prstGeom prst="rect">
                  <a:avLst/>
                </a:prstGeom>
                <a:blipFill>
                  <a:blip r:embed="rId5"/>
                  <a:stretch>
                    <a:fillRect l="-71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3" name="Text"/>
              <p:cNvSpPr txBox="1"/>
              <p:nvPr/>
            </p:nvSpPr>
            <p:spPr>
              <a:xfrm>
                <a:off x="1957720" y="6874035"/>
                <a:ext cx="13704776" cy="88011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>
                <a:lvl1pPr algn="ctr">
                  <a:defRPr sz="4000"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d>
                        <m:d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e>
                      </m:d>
                      <m:r>
                        <a:rPr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p>
                        <m:sSup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sSub>
                        <m:sSub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7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720" y="6874035"/>
                <a:ext cx="13704776" cy="880113"/>
              </a:xfrm>
              <a:prstGeom prst="rect">
                <a:avLst/>
              </a:prstGeom>
              <a:blipFill>
                <a:blip r:embed="rId6"/>
                <a:stretch>
                  <a:fillRect t="-1429" b="-20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6" name="Group"/>
          <p:cNvGrpSpPr/>
          <p:nvPr/>
        </p:nvGrpSpPr>
        <p:grpSpPr>
          <a:xfrm>
            <a:off x="1316619" y="8691416"/>
            <a:ext cx="9494830" cy="2445135"/>
            <a:chOff x="0" y="0"/>
            <a:chExt cx="9494828" cy="2445133"/>
          </a:xfrm>
        </p:grpSpPr>
        <p:sp>
          <p:nvSpPr>
            <p:cNvPr id="674" name="Step 2: Set drift to zero"/>
            <p:cNvSpPr txBox="1"/>
            <p:nvPr/>
          </p:nvSpPr>
          <p:spPr>
            <a:xfrm>
              <a:off x="0" y="-1"/>
              <a:ext cx="9494829" cy="709166"/>
            </a:xfrm>
            <a:prstGeom prst="rect">
              <a:avLst/>
            </a:prstGeom>
            <a:solidFill>
              <a:schemeClr val="accent1">
                <a:lumOff val="16847"/>
                <a:alpha val="5041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4000" b="1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lvl1pPr>
            </a:lstStyle>
            <a:p>
              <a:r>
                <a:t>Step 2: Set drift to zero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5" name="Equation"/>
                <p:cNvSpPr txBox="1"/>
                <p:nvPr/>
              </p:nvSpPr>
              <p:spPr>
                <a:xfrm>
                  <a:off x="2279303" y="1021108"/>
                  <a:ext cx="4725566" cy="142402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ℙ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sz="4800"/>
                </a:p>
              </p:txBody>
            </p:sp>
          </mc:Choice>
          <mc:Fallback xmlns="">
            <p:sp>
              <p:nvSpPr>
                <p:cNvPr id="67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9303" y="1021108"/>
                  <a:ext cx="4725566" cy="1424026"/>
                </a:xfrm>
                <a:prstGeom prst="rect">
                  <a:avLst/>
                </a:prstGeom>
                <a:blipFill>
                  <a:blip r:embed="rId7"/>
                  <a:stretch>
                    <a:fillRect l="-4558" t="-4425" r="-9115" b="-2212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9" name="Group"/>
          <p:cNvGrpSpPr/>
          <p:nvPr/>
        </p:nvGrpSpPr>
        <p:grpSpPr>
          <a:xfrm>
            <a:off x="1316619" y="11656672"/>
            <a:ext cx="9494830" cy="1622551"/>
            <a:chOff x="0" y="0"/>
            <a:chExt cx="9494828" cy="1622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7" name="Step 3: Set"/>
                <p:cNvSpPr txBox="1"/>
                <p:nvPr/>
              </p:nvSpPr>
              <p:spPr>
                <a:xfrm>
                  <a:off x="0" y="-1"/>
                  <a:ext cx="9494829" cy="833056"/>
                </a:xfrm>
                <a:prstGeom prst="rect">
                  <a:avLst/>
                </a:prstGeom>
                <a:solidFill>
                  <a:schemeClr val="accent1">
                    <a:lumOff val="16847"/>
                    <a:alpha val="50416"/>
                  </a:schemeClr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algn="ctr">
                    <a:defRPr sz="4000" b="1">
                      <a:solidFill>
                        <a:schemeClr val="accent1">
                          <a:hueOff val="114395"/>
                          <a:lumOff val="-24975"/>
                        </a:schemeClr>
                      </a:solidFill>
                    </a:defRPr>
                  </a:pPr>
                  <a:r>
                    <a:t>Step 3: Set </a:t>
                  </a:r>
                  <a14:m>
                    <m:oMath xmlns:m="http://schemas.openxmlformats.org/officeDocument/2006/math">
                      <m:r>
                        <a:rPr sz="4800" i="1">
                          <a:solidFill>
                            <a:srgbClr val="004C7F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4800" i="1">
                          <a:solidFill>
                            <a:srgbClr val="004C7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800" i="1">
                          <a:solidFill>
                            <a:srgbClr val="004C7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>
                    <a:solidFill>
                      <a:srgbClr val="004D80"/>
                    </a:solidFill>
                  </a:endParaRPr>
                </a:p>
              </p:txBody>
            </p:sp>
          </mc:Choice>
          <mc:Fallback xmlns="">
            <p:sp>
              <p:nvSpPr>
                <p:cNvPr id="677" name="Step 3: Se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1"/>
                  <a:ext cx="9494829" cy="833056"/>
                </a:xfrm>
                <a:prstGeom prst="rect">
                  <a:avLst/>
                </a:prstGeom>
                <a:blipFill>
                  <a:blip r:embed="rId8"/>
                  <a:stretch>
                    <a:fillRect t="-4478" b="-22388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8" name="Equation"/>
                <p:cNvSpPr txBox="1"/>
                <p:nvPr/>
              </p:nvSpPr>
              <p:spPr>
                <a:xfrm>
                  <a:off x="2067780" y="1083053"/>
                  <a:ext cx="4179148" cy="53949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]=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sz="4800"/>
                </a:p>
              </p:txBody>
            </p:sp>
          </mc:Choice>
          <mc:Fallback xmlns="">
            <p:sp>
              <p:nvSpPr>
                <p:cNvPr id="67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7780" y="1083053"/>
                  <a:ext cx="4179148" cy="539497"/>
                </a:xfrm>
                <a:prstGeom prst="rect">
                  <a:avLst/>
                </a:prstGeom>
                <a:blipFill>
                  <a:blip r:embed="rId9"/>
                  <a:stretch>
                    <a:fillRect l="-4848" r="-13333" b="-8837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2" name="Group"/>
          <p:cNvGrpSpPr/>
          <p:nvPr/>
        </p:nvGrpSpPr>
        <p:grpSpPr>
          <a:xfrm>
            <a:off x="12686503" y="9927214"/>
            <a:ext cx="7363843" cy="2215060"/>
            <a:chOff x="0" y="126147"/>
            <a:chExt cx="7363841" cy="22150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0" name="Text"/>
                <p:cNvSpPr/>
                <p:nvPr/>
              </p:nvSpPr>
              <p:spPr>
                <a:xfrm>
                  <a:off x="6093841" y="1071206"/>
                  <a:ext cx="1270001" cy="1270001"/>
                </a:xfrm>
                <a:prstGeom prst="line">
                  <a:avLst/>
                </a:prstGeom>
                <a:solidFill>
                  <a:schemeClr val="accent5">
                    <a:hueOff val="-152895"/>
                    <a:lumOff val="12368"/>
                    <a:alpha val="50000"/>
                  </a:schemeClr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 algn="ctr">
                    <a:defRPr sz="4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</m:den>
                        </m:f>
                      </m:oMath>
                      <m:oMath xmlns:m="http://schemas.openxmlformats.org/officeDocument/2006/math"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⟺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m:rPr>
                            <m:nor/>
                          </m:rP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Geometric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80" name="Tex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3841" y="1071206"/>
                  <a:ext cx="1270001" cy="1270001"/>
                </a:xfrm>
                <a:prstGeom prst="line">
                  <a:avLst/>
                </a:prstGeom>
                <a:blipFill>
                  <a:blip r:embed="rId10"/>
                  <a:stretch>
                    <a:fillRect l="-280198" t="-88119" r="-175248" b="-1980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1" name="Arrow"/>
            <p:cNvSpPr/>
            <p:nvPr/>
          </p:nvSpPr>
          <p:spPr>
            <a:xfrm>
              <a:off x="0" y="126147"/>
              <a:ext cx="2066173" cy="1890121"/>
            </a:xfrm>
            <a:prstGeom prst="rightArrow">
              <a:avLst>
                <a:gd name="adj1" fmla="val 49567"/>
                <a:gd name="adj2" fmla="val 63112"/>
              </a:avLst>
            </a:prstGeom>
            <a:solidFill>
              <a:schemeClr val="accent1">
                <a:lumOff val="16847"/>
                <a:alpha val="5043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97" name="Group"/>
          <p:cNvGrpSpPr/>
          <p:nvPr/>
        </p:nvGrpSpPr>
        <p:grpSpPr>
          <a:xfrm>
            <a:off x="13298028" y="3052348"/>
            <a:ext cx="9538158" cy="2740710"/>
            <a:chOff x="-253536" y="0"/>
            <a:chExt cx="9538156" cy="2740709"/>
          </a:xfrm>
        </p:grpSpPr>
        <p:grpSp>
          <p:nvGrpSpPr>
            <p:cNvPr id="695" name="Group"/>
            <p:cNvGrpSpPr/>
            <p:nvPr/>
          </p:nvGrpSpPr>
          <p:grpSpPr>
            <a:xfrm>
              <a:off x="-253537" y="0"/>
              <a:ext cx="9538158" cy="2344318"/>
              <a:chOff x="0" y="0"/>
              <a:chExt cx="9538156" cy="2344317"/>
            </a:xfrm>
          </p:grpSpPr>
          <p:grpSp>
            <p:nvGrpSpPr>
              <p:cNvPr id="688" name="Group"/>
              <p:cNvGrpSpPr/>
              <p:nvPr/>
            </p:nvGrpSpPr>
            <p:grpSpPr>
              <a:xfrm>
                <a:off x="2667574" y="0"/>
                <a:ext cx="4791396" cy="1271235"/>
                <a:chOff x="0" y="0"/>
                <a:chExt cx="4791395" cy="1271234"/>
              </a:xfrm>
            </p:grpSpPr>
            <p:grpSp>
              <p:nvGrpSpPr>
                <p:cNvPr id="686" name="Group"/>
                <p:cNvGrpSpPr/>
                <p:nvPr/>
              </p:nvGrpSpPr>
              <p:grpSpPr>
                <a:xfrm>
                  <a:off x="0" y="95867"/>
                  <a:ext cx="3348371" cy="1079501"/>
                  <a:chOff x="0" y="0"/>
                  <a:chExt cx="3348370" cy="1079500"/>
                </a:xfrm>
              </p:grpSpPr>
              <p:sp>
                <p:nvSpPr>
                  <p:cNvPr id="683" name="Line"/>
                  <p:cNvSpPr/>
                  <p:nvPr/>
                </p:nvSpPr>
                <p:spPr>
                  <a:xfrm>
                    <a:off x="0" y="22631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684" name="Line"/>
                  <p:cNvSpPr/>
                  <p:nvPr/>
                </p:nvSpPr>
                <p:spPr>
                  <a:xfrm>
                    <a:off x="0" y="1057664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685" name="Line"/>
                  <p:cNvSpPr/>
                  <p:nvPr/>
                </p:nvSpPr>
                <p:spPr>
                  <a:xfrm>
                    <a:off x="3348370" y="0"/>
                    <a:ext cx="1" cy="107950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687" name="Circle"/>
                <p:cNvSpPr/>
                <p:nvPr/>
              </p:nvSpPr>
              <p:spPr>
                <a:xfrm>
                  <a:off x="3521395" y="0"/>
                  <a:ext cx="1270001" cy="1271235"/>
                </a:xfrm>
                <a:prstGeom prst="ellips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691" name="Group"/>
              <p:cNvGrpSpPr/>
              <p:nvPr/>
            </p:nvGrpSpPr>
            <p:grpSpPr>
              <a:xfrm>
                <a:off x="-1" y="635617"/>
                <a:ext cx="2305180" cy="1708701"/>
                <a:chOff x="0" y="0"/>
                <a:chExt cx="2305178" cy="1708700"/>
              </a:xfrm>
            </p:grpSpPr>
            <p:sp>
              <p:nvSpPr>
                <p:cNvPr id="689" name="Line"/>
                <p:cNvSpPr/>
                <p:nvPr/>
              </p:nvSpPr>
              <p:spPr>
                <a:xfrm>
                  <a:off x="253536" y="0"/>
                  <a:ext cx="2051643" cy="0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0" name="Text"/>
                    <p:cNvSpPr/>
                    <p:nvPr/>
                  </p:nvSpPr>
                  <p:spPr>
                    <a:xfrm>
                      <a:off x="0" y="438700"/>
                      <a:ext cx="1270000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/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𝐸𝑥𝑝𝑜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690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438700"/>
                      <a:ext cx="1270000" cy="1270001"/>
                    </a:xfrm>
                    <a:prstGeom prst="line">
                      <a:avLst/>
                    </a:prstGeom>
                    <a:blipFill>
                      <a:blip r:embed="rId11"/>
                      <a:stretch>
                        <a:fillRect l="-14706" t="-21782" r="-46078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94" name="Group"/>
              <p:cNvGrpSpPr/>
              <p:nvPr/>
            </p:nvGrpSpPr>
            <p:grpSpPr>
              <a:xfrm>
                <a:off x="7486515" y="635617"/>
                <a:ext cx="2051642" cy="1653283"/>
                <a:chOff x="0" y="0"/>
                <a:chExt cx="2051641" cy="1653282"/>
              </a:xfrm>
            </p:grpSpPr>
            <p:sp>
              <p:nvSpPr>
                <p:cNvPr id="692" name="Line"/>
                <p:cNvSpPr/>
                <p:nvPr/>
              </p:nvSpPr>
              <p:spPr>
                <a:xfrm>
                  <a:off x="0" y="0"/>
                  <a:ext cx="2051642" cy="0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3" name="Text"/>
                    <p:cNvSpPr/>
                    <p:nvPr/>
                  </p:nvSpPr>
                  <p:spPr>
                    <a:xfrm>
                      <a:off x="214723" y="383282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/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𝐸𝑥𝑝𝑜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693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4723" y="383282"/>
                      <a:ext cx="1270001" cy="1270001"/>
                    </a:xfrm>
                    <a:prstGeom prst="line">
                      <a:avLst/>
                    </a:prstGeom>
                    <a:blipFill>
                      <a:blip r:embed="rId12"/>
                      <a:stretch>
                        <a:fillRect l="-15842" t="-21782" r="-48515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6" name="Load:"/>
                <p:cNvSpPr txBox="1"/>
                <p:nvPr/>
              </p:nvSpPr>
              <p:spPr>
                <a:xfrm>
                  <a:off x="2498307" y="1187247"/>
                  <a:ext cx="3091532" cy="15534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>
                    <a:defRPr sz="4000"/>
                  </a:pPr>
                  <a:r>
                    <a:t>Load: </a:t>
                  </a:r>
                  <a14:m>
                    <m:oMath xmlns:m="http://schemas.openxmlformats.org/officeDocument/2006/math">
                      <m:r>
                        <a:rPr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</m:oMath>
                  </a14:m>
                  <a:endParaRPr/>
                </a:p>
              </p:txBody>
            </p:sp>
          </mc:Choice>
          <mc:Fallback xmlns="">
            <p:sp>
              <p:nvSpPr>
                <p:cNvPr id="696" name="Load: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8307" y="1187247"/>
                  <a:ext cx="3091532" cy="1553463"/>
                </a:xfrm>
                <a:prstGeom prst="rect">
                  <a:avLst/>
                </a:prstGeom>
                <a:blipFill>
                  <a:blip r:embed="rId13"/>
                  <a:stretch>
                    <a:fillRect l="-816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3" name="Group"/>
          <p:cNvGrpSpPr/>
          <p:nvPr/>
        </p:nvGrpSpPr>
        <p:grpSpPr>
          <a:xfrm>
            <a:off x="227964" y="4993208"/>
            <a:ext cx="13990021" cy="1701021"/>
            <a:chOff x="-1020629" y="0"/>
            <a:chExt cx="13990019" cy="1701020"/>
          </a:xfrm>
        </p:grpSpPr>
        <p:grpSp>
          <p:nvGrpSpPr>
            <p:cNvPr id="701" name="Group"/>
            <p:cNvGrpSpPr/>
            <p:nvPr/>
          </p:nvGrpSpPr>
          <p:grpSpPr>
            <a:xfrm>
              <a:off x="-1020629" y="192301"/>
              <a:ext cx="13990019" cy="1508719"/>
              <a:chOff x="-1020629" y="0"/>
              <a:chExt cx="13990018" cy="1508717"/>
            </a:xfrm>
          </p:grpSpPr>
          <p:sp>
            <p:nvSpPr>
              <p:cNvPr id="698" name="Arrival"/>
              <p:cNvSpPr/>
              <p:nvPr/>
            </p:nvSpPr>
            <p:spPr>
              <a:xfrm>
                <a:off x="2080383" y="82970"/>
                <a:ext cx="3764063" cy="5681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r>
                  <a:rPr dirty="0"/>
                  <a:t>Arrival</a:t>
                </a:r>
              </a:p>
            </p:txBody>
          </p:sp>
          <p:sp>
            <p:nvSpPr>
              <p:cNvPr id="699" name="Departure"/>
              <p:cNvSpPr/>
              <p:nvPr/>
            </p:nvSpPr>
            <p:spPr>
              <a:xfrm>
                <a:off x="6936158" y="0"/>
                <a:ext cx="5279066" cy="5681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942193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r>
                  <a:rPr dirty="0"/>
                  <a:t>Departure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00" name="Text"/>
                  <p:cNvSpPr txBox="1"/>
                  <p:nvPr/>
                </p:nvSpPr>
                <p:spPr>
                  <a:xfrm>
                    <a:off x="-1020629" y="610139"/>
                    <a:ext cx="13990018" cy="89857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50800" tIns="50800" rIns="50800" bIns="50800" numCol="1" anchor="ctr">
                    <a:spAutoFit/>
                  </a:bodyPr>
                  <a:lstStyle/>
                  <a:p>
                    <a:pPr>
                      <a:defRPr sz="4000"/>
                    </a:pP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</m:oMath>
                    </a14:m>
                    <a:r>
                      <a:rPr lang="ar-AE" dirty="0"/>
                      <a:t> </a:t>
                    </a:r>
                    <a14:m>
                      <m:oMath xmlns:m="http://schemas.openxmlformats.org/officeDocument/2006/math">
                        <m:r>
                          <a:rPr lang="ar-AE" sz="4800" i="1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sz="4800" i="1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ar-AE" sz="4800" i="1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 sz="4800" i="1">
                                <a:solidFill>
                                  <a:srgbClr val="B417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ar-AE" sz="4800" i="1">
                            <a:solidFill>
                              <a:srgbClr val="B417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ar-AE" dirty="0"/>
                      <a:t> </a:t>
                    </a:r>
                    <a14:m>
                      <m:oMath xmlns:m="http://schemas.openxmlformats.org/officeDocument/2006/math"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ar-AE" dirty="0"/>
                      <a:t> </a:t>
                    </a:r>
                    <a14:m>
                      <m:oMath xmlns:m="http://schemas.openxmlformats.org/officeDocument/2006/math">
                        <m:r>
                          <a:rPr lang="ar-AE" sz="4800" i="1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b>
                        </m:sSub>
                        <m:r>
                          <a:rPr lang="ar-AE" sz="4800" i="1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ar-AE" sz="4800" i="1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 sz="4800" i="1">
                                <a:solidFill>
                                  <a:srgbClr val="942092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ar-AE" sz="4800" i="1">
                            <a:solidFill>
                              <a:srgbClr val="94209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dirty="0">
                      <a:solidFill>
                        <a:srgbClr val="942193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00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20629" y="610139"/>
                    <a:ext cx="13990018" cy="89857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3401" b="-16327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02" name="Arrow"/>
            <p:cNvSpPr/>
            <p:nvPr/>
          </p:nvSpPr>
          <p:spPr>
            <a:xfrm rot="5400000">
              <a:off x="665538" y="43589"/>
              <a:ext cx="689666" cy="602487"/>
            </a:xfrm>
            <a:prstGeom prst="rightArrow">
              <a:avLst>
                <a:gd name="adj1" fmla="val 41434"/>
                <a:gd name="adj2" fmla="val 57454"/>
              </a:avLst>
            </a:prstGeom>
            <a:solidFill>
              <a:schemeClr val="accent1">
                <a:alpha val="5091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4" name="Drift:"/>
              <p:cNvSpPr txBox="1"/>
              <p:nvPr/>
            </p:nvSpPr>
            <p:spPr>
              <a:xfrm>
                <a:off x="15206147" y="5776550"/>
                <a:ext cx="8418397" cy="671722"/>
              </a:xfrm>
              <a:prstGeom prst="rect">
                <a:avLst/>
              </a:prstGeom>
              <a:solidFill>
                <a:srgbClr val="D5D5D5"/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pPr>
                  <a:defRPr sz="3000"/>
                </a:pPr>
                <a:r>
                  <a:rPr lang="en-US" dirty="0"/>
                  <a:t>Drift: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ar-AE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ar-AE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ar-AE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ar-AE" sz="3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 sz="3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+)</m:t>
                            </m:r>
                          </m:sup>
                        </m:sSup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ar-AE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ar-AE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dirty="0"/>
              </a:p>
            </p:txBody>
          </p:sp>
        </mc:Choice>
        <mc:Fallback>
          <p:sp>
            <p:nvSpPr>
              <p:cNvPr id="704" name="Drift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6147" y="5776550"/>
                <a:ext cx="8418397" cy="671722"/>
              </a:xfrm>
              <a:prstGeom prst="rect">
                <a:avLst/>
              </a:prstGeom>
              <a:blipFill>
                <a:blip r:embed="rId15"/>
                <a:stretch>
                  <a:fillRect l="-2172" t="-3636" b="-1818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" grpId="6" animBg="1" advAuto="0"/>
      <p:bldP spid="672" grpId="2" animBg="1" advAuto="0"/>
      <p:bldP spid="673" grpId="5" animBg="1" advAuto="0"/>
      <p:bldP spid="676" grpId="7" animBg="1" advAuto="0"/>
      <p:bldP spid="679" grpId="8" animBg="1" advAuto="0"/>
      <p:bldP spid="682" grpId="9" animBg="1" advAuto="0"/>
      <p:bldP spid="697" grpId="1" animBg="1" advAuto="0"/>
      <p:bldP spid="703" grpId="4" animBg="1" advAuto="0"/>
      <p:bldP spid="704" grpId="3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Rectangle"/>
          <p:cNvSpPr/>
          <p:nvPr/>
        </p:nvSpPr>
        <p:spPr>
          <a:xfrm>
            <a:off x="8423564" y="7330322"/>
            <a:ext cx="6323742" cy="5106752"/>
          </a:xfrm>
          <a:prstGeom prst="rect">
            <a:avLst/>
          </a:prstGeom>
          <a:solidFill>
            <a:schemeClr val="accent4">
              <a:hueOff val="348544"/>
              <a:lumOff val="7139"/>
              <a:alpha val="80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07" name="Transform Method Markov-Mod JSQ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Transform Method Markov-Mod JSQ</a:t>
            </a:r>
          </a:p>
        </p:txBody>
      </p:sp>
      <p:grpSp>
        <p:nvGrpSpPr>
          <p:cNvPr id="710" name="Group"/>
          <p:cNvGrpSpPr/>
          <p:nvPr/>
        </p:nvGrpSpPr>
        <p:grpSpPr>
          <a:xfrm>
            <a:off x="1211290" y="3443880"/>
            <a:ext cx="10862417" cy="1174384"/>
            <a:chOff x="0" y="354582"/>
            <a:chExt cx="10862415" cy="1174383"/>
          </a:xfrm>
        </p:grpSpPr>
        <p:sp>
          <p:nvSpPr>
            <p:cNvPr id="708" name="Step 1: Drift of exponential test function"/>
            <p:cNvSpPr/>
            <p:nvPr/>
          </p:nvSpPr>
          <p:spPr>
            <a:xfrm>
              <a:off x="0" y="354582"/>
              <a:ext cx="1086241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Off val="16847"/>
                <a:alpha val="5041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4000" b="1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lvl1pPr>
            </a:lstStyle>
            <a:p>
              <a:r>
                <a:t>Step 1: Drift of exponential test function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9" name="Text"/>
                <p:cNvSpPr/>
                <p:nvPr/>
              </p:nvSpPr>
              <p:spPr>
                <a:xfrm>
                  <a:off x="59450" y="823901"/>
                  <a:ext cx="5795077" cy="7050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40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435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35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sSub>
                              <m:sSubPr>
                                <m:ctrlPr>
                                  <a:rPr lang="ar-AE"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sup>
                        </m:sSup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709" name="Tex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50" y="823901"/>
                  <a:ext cx="5795077" cy="7050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3" name="Group"/>
          <p:cNvGrpSpPr/>
          <p:nvPr/>
        </p:nvGrpSpPr>
        <p:grpSpPr>
          <a:xfrm>
            <a:off x="677223" y="4868694"/>
            <a:ext cx="14126399" cy="3978612"/>
            <a:chOff x="0" y="0"/>
            <a:chExt cx="14126398" cy="397861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1" name="Group"/>
                <p:cNvSpPr txBox="1"/>
                <p:nvPr/>
              </p:nvSpPr>
              <p:spPr>
                <a:xfrm>
                  <a:off x="0" y="1139944"/>
                  <a:ext cx="14126399" cy="283866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4000"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p>
                          <m:sSup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sSub>
                              <m:sSubPr>
                                <m:ctrlP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sup>
                        </m:sSup>
                        <m:r>
                          <a:rPr lang="ar-AE" sz="4800" i="1">
                            <a:solidFill>
                              <a:srgbClr val="FE634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4800" i="1">
                            <a:solidFill>
                              <a:srgbClr val="FE634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l-GR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  <m:sSup>
                          <m:sSupPr>
                            <m:ctrlP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  <m:r>
                          <a:rPr lang="ar-AE" sz="4800" i="1">
                            <a:solidFill>
                              <a:srgbClr val="FE634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ar-AE" dirty="0">
                    <a:solidFill>
                      <a:schemeClr val="accent5"/>
                    </a:solidFill>
                  </a:endParaRPr>
                </a:p>
                <a:p>
                  <a:pPr>
                    <a:defRPr sz="4000"/>
                  </a:pPr>
                  <a:r>
                    <a:rPr lang="ar-AE" dirty="0">
                      <a:solidFill>
                        <a:schemeClr val="accent5"/>
                      </a:solidFill>
                    </a:rPr>
                    <a:t>                                </a:t>
                  </a:r>
                  <a14:m>
                    <m:oMath xmlns:m="http://schemas.openxmlformats.org/officeDocument/2006/math">
                      <m:r>
                        <a:rPr lang="ar-AE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p>
                        <m:sSupPr>
                          <m:ctrlP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sup>
                      </m:sSup>
                      <m:r>
                        <a:rPr lang="ar-AE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limLow>
                        <m:limLowPr>
                          <m:ctrlP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lim>
                      </m:limLow>
                      <m:sSub>
                        <m:sSubPr>
                          <m:ctrlPr>
                            <a:rPr lang="ar-AE" sz="48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8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48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  <m:r>
                        <a:rPr lang="ar-AE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711" name="Grou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139944"/>
                  <a:ext cx="14126399" cy="2838668"/>
                </a:xfrm>
                <a:prstGeom prst="rect">
                  <a:avLst/>
                </a:prstGeom>
                <a:blipFill>
                  <a:blip r:embed="rId4"/>
                  <a:stretch>
                    <a:fillRect l="-1856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2" name="Arrow"/>
            <p:cNvSpPr/>
            <p:nvPr/>
          </p:nvSpPr>
          <p:spPr>
            <a:xfrm rot="5400000">
              <a:off x="1150390" y="73370"/>
              <a:ext cx="1160842" cy="1014102"/>
            </a:xfrm>
            <a:prstGeom prst="rightArrow">
              <a:avLst>
                <a:gd name="adj1" fmla="val 41434"/>
                <a:gd name="adj2" fmla="val 57454"/>
              </a:avLst>
            </a:prstGeom>
            <a:solidFill>
              <a:schemeClr val="accent1">
                <a:alpha val="5091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7964" y="13068300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1" name="(SSC)"/>
              <p:cNvSpPr txBox="1"/>
              <p:nvPr/>
            </p:nvSpPr>
            <p:spPr>
              <a:xfrm>
                <a:off x="8420579" y="9377691"/>
                <a:ext cx="6189885" cy="137679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>
                  <a:defRPr sz="3500">
                    <a:solidFill>
                      <a:srgbClr val="5E5E5E"/>
                    </a:solidFill>
                  </a:defRPr>
                </a:pPr>
                <a14:m>
                  <m:oMath xmlns:m="http://schemas.openxmlformats.org/officeDocument/2006/math">
                    <m:r>
                      <a:rPr sz="4200" i="1">
                        <a:solidFill>
                          <a:srgbClr val="5E5E5E"/>
                        </a:solidFill>
                        <a:latin typeface="Cambria Math" panose="02040503050406030204" pitchFamily="18" charset="0"/>
                      </a:rPr>
                      <m:t>≈</m:t>
                    </m:r>
                    <m:limLow>
                      <m:limLowPr>
                        <m:ctrlP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lim>
                    </m:limLow>
                    <m:sSub>
                      <m:sSubPr>
                        <m:ctrlP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p>
                      <m:sSupPr>
                        <m:ctrlP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sz="4200" i="1">
                                <a:solidFill>
                                  <a:srgbClr val="5E5E5E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sz="42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</m:sSub>
                  </m:oMath>
                </a14:m>
                <a:r>
                  <a:rPr dirty="0"/>
                  <a:t>    (SSC)</a:t>
                </a:r>
              </a:p>
            </p:txBody>
          </p:sp>
        </mc:Choice>
        <mc:Fallback xmlns="">
          <p:sp>
            <p:nvSpPr>
              <p:cNvPr id="801" name="(SSC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579" y="9377691"/>
                <a:ext cx="6189885" cy="1376796"/>
              </a:xfrm>
              <a:prstGeom prst="rect">
                <a:avLst/>
              </a:prstGeom>
              <a:blipFill>
                <a:blip r:embed="rId5"/>
                <a:stretch>
                  <a:fillRect l="-1227" r="-409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2" name="Text"/>
              <p:cNvSpPr txBox="1"/>
              <p:nvPr/>
            </p:nvSpPr>
            <p:spPr>
              <a:xfrm>
                <a:off x="8465486" y="11037887"/>
                <a:ext cx="3379370" cy="137679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3500">
                    <a:solidFill>
                      <a:srgbClr val="5E5E5E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420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lim>
                      </m:limLow>
                      <m:sSub>
                        <m:sSubPr>
                          <m:ctrlP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sz="42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42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420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0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486" y="11037887"/>
                <a:ext cx="3379370" cy="1376796"/>
              </a:xfrm>
              <a:prstGeom prst="rect">
                <a:avLst/>
              </a:prstGeom>
              <a:blipFill>
                <a:blip r:embed="rId6"/>
                <a:stretch>
                  <a:fillRect l="-187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9" name="Group 808">
            <a:extLst>
              <a:ext uri="{FF2B5EF4-FFF2-40B4-BE49-F238E27FC236}">
                <a16:creationId xmlns:a16="http://schemas.microsoft.com/office/drawing/2014/main" id="{2D6AAAD3-9224-91E8-5805-6272F861B53B}"/>
              </a:ext>
            </a:extLst>
          </p:cNvPr>
          <p:cNvGrpSpPr/>
          <p:nvPr/>
        </p:nvGrpSpPr>
        <p:grpSpPr>
          <a:xfrm>
            <a:off x="15736275" y="578757"/>
            <a:ext cx="8830712" cy="12672149"/>
            <a:chOff x="15736275" y="578757"/>
            <a:chExt cx="8830712" cy="12672149"/>
          </a:xfrm>
        </p:grpSpPr>
        <p:grpSp>
          <p:nvGrpSpPr>
            <p:cNvPr id="729" name="Group"/>
            <p:cNvGrpSpPr/>
            <p:nvPr/>
          </p:nvGrpSpPr>
          <p:grpSpPr>
            <a:xfrm>
              <a:off x="16249568" y="7010857"/>
              <a:ext cx="7862822" cy="5361740"/>
              <a:chOff x="0" y="0"/>
              <a:chExt cx="7862816" cy="5361737"/>
            </a:xfrm>
          </p:grpSpPr>
          <p:grpSp>
            <p:nvGrpSpPr>
              <p:cNvPr id="717" name="Group"/>
              <p:cNvGrpSpPr/>
              <p:nvPr/>
            </p:nvGrpSpPr>
            <p:grpSpPr>
              <a:xfrm>
                <a:off x="2130327" y="-1"/>
                <a:ext cx="2598227" cy="2850358"/>
                <a:chOff x="0" y="0"/>
                <a:chExt cx="2598226" cy="2850356"/>
              </a:xfrm>
            </p:grpSpPr>
            <p:sp>
              <p:nvSpPr>
                <p:cNvPr id="715" name="Arrow"/>
                <p:cNvSpPr/>
                <p:nvPr/>
              </p:nvSpPr>
              <p:spPr>
                <a:xfrm rot="5400000">
                  <a:off x="-126066" y="126065"/>
                  <a:ext cx="2850358" cy="2598227"/>
                </a:xfrm>
                <a:prstGeom prst="rightArrow">
                  <a:avLst>
                    <a:gd name="adj1" fmla="val 55886"/>
                    <a:gd name="adj2" fmla="val 46251"/>
                  </a:avLst>
                </a:prstGeom>
                <a:solidFill>
                  <a:schemeClr val="accent1">
                    <a:alpha val="49759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6" name="SSC"/>
                    <p:cNvSpPr/>
                    <p:nvPr/>
                  </p:nvSpPr>
                  <p:spPr>
                    <a:xfrm>
                      <a:off x="188555" y="1111174"/>
                      <a:ext cx="2221117" cy="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extrusionOk="0">
                          <a:moveTo>
                            <a:pt x="0" y="0"/>
                          </a:moveTo>
                          <a:lnTo>
                            <a:pt x="21600" y="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/>
                    <a:p>
                      <a:pPr algn="ctr">
                        <a:defRPr sz="3000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</a:defRPr>
                      </a:pPr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sz="3600" i="1">
                                <a:solidFill>
                                  <a:srgbClr val="004C7F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sz="3600" i="1">
                                <a:solidFill>
                                  <a:srgbClr val="004C7F"/>
                                </a:solidFill>
                                <a:latin typeface="Cambria Math" panose="02040503050406030204" pitchFamily="18" charset="0"/>
                              </a:rPr>
                              <m:t>↓</m:t>
                            </m:r>
                            <m:r>
                              <a:rPr sz="3600" i="1">
                                <a:solidFill>
                                  <a:srgbClr val="004C7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/>
                    </a:p>
                    <a:p>
                      <a:pPr algn="ctr">
                        <a:spcBef>
                          <a:spcPts val="0"/>
                        </a:spcBef>
                        <a:defRPr sz="30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</a:defRPr>
                      </a:pPr>
                      <a:r>
                        <a:t>SSC</a:t>
                      </a:r>
                    </a:p>
                  </p:txBody>
                </p:sp>
              </mc:Choice>
              <mc:Fallback xmlns="">
                <p:sp>
                  <p:nvSpPr>
                    <p:cNvPr id="716" name="SSC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8555" y="1111174"/>
                      <a:ext cx="2221117" cy="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extrusionOk="0">
                          <a:moveTo>
                            <a:pt x="0" y="0"/>
                          </a:moveTo>
                          <a:lnTo>
                            <a:pt x="21600" y="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blipFill>
                      <a:blip r:embed="rId7"/>
                      <a:stretch>
                        <a:fillRect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28" name="Group"/>
              <p:cNvGrpSpPr/>
              <p:nvPr/>
            </p:nvGrpSpPr>
            <p:grpSpPr>
              <a:xfrm>
                <a:off x="-1" y="3023672"/>
                <a:ext cx="7862818" cy="2338066"/>
                <a:chOff x="0" y="0"/>
                <a:chExt cx="7862816" cy="2338065"/>
              </a:xfrm>
            </p:grpSpPr>
            <p:grpSp>
              <p:nvGrpSpPr>
                <p:cNvPr id="721" name="Group"/>
                <p:cNvGrpSpPr/>
                <p:nvPr/>
              </p:nvGrpSpPr>
              <p:grpSpPr>
                <a:xfrm>
                  <a:off x="1386423" y="95867"/>
                  <a:ext cx="3348372" cy="1079501"/>
                  <a:chOff x="0" y="0"/>
                  <a:chExt cx="3348370" cy="1079500"/>
                </a:xfrm>
              </p:grpSpPr>
              <p:sp>
                <p:nvSpPr>
                  <p:cNvPr id="718" name="Line"/>
                  <p:cNvSpPr/>
                  <p:nvPr/>
                </p:nvSpPr>
                <p:spPr>
                  <a:xfrm>
                    <a:off x="0" y="22631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719" name="Line"/>
                  <p:cNvSpPr/>
                  <p:nvPr/>
                </p:nvSpPr>
                <p:spPr>
                  <a:xfrm>
                    <a:off x="0" y="1057664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720" name="Line"/>
                  <p:cNvSpPr/>
                  <p:nvPr/>
                </p:nvSpPr>
                <p:spPr>
                  <a:xfrm>
                    <a:off x="3348370" y="0"/>
                    <a:ext cx="1" cy="1079501"/>
                  </a:xfrm>
                  <a:prstGeom prst="line">
                    <a:avLst/>
                  </a:prstGeom>
                  <a:noFill/>
                  <a:ln w="508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722" name="Circle"/>
                <p:cNvSpPr/>
                <p:nvPr/>
              </p:nvSpPr>
              <p:spPr>
                <a:xfrm>
                  <a:off x="4907819" y="0"/>
                  <a:ext cx="1270001" cy="1271235"/>
                </a:xfrm>
                <a:prstGeom prst="ellips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723" name="Line"/>
                <p:cNvSpPr/>
                <p:nvPr/>
              </p:nvSpPr>
              <p:spPr>
                <a:xfrm>
                  <a:off x="0" y="716292"/>
                  <a:ext cx="1393483" cy="1"/>
                </a:xfrm>
                <a:prstGeom prst="lin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4" name="Text"/>
                    <p:cNvSpPr/>
                    <p:nvPr/>
                  </p:nvSpPr>
                  <p:spPr>
                    <a:xfrm>
                      <a:off x="533564" y="10680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24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3564" y="1068065"/>
                      <a:ext cx="1270001" cy="1270001"/>
                    </a:xfrm>
                    <a:prstGeom prst="line">
                      <a:avLst/>
                    </a:prstGeom>
                    <a:blipFill>
                      <a:blip r:embed="rId8"/>
                      <a:stretch>
                        <a:fillRect l="-12871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25" name="Line"/>
                <p:cNvSpPr/>
                <p:nvPr/>
              </p:nvSpPr>
              <p:spPr>
                <a:xfrm>
                  <a:off x="6205363" y="635617"/>
                  <a:ext cx="1657454" cy="1"/>
                </a:xfrm>
                <a:prstGeom prst="lin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6" name="Text"/>
                    <p:cNvSpPr/>
                    <p:nvPr/>
                  </p:nvSpPr>
                  <p:spPr>
                    <a:xfrm>
                      <a:off x="6350844" y="10680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26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50844" y="1068065"/>
                      <a:ext cx="1270001" cy="1270001"/>
                    </a:xfrm>
                    <a:prstGeom prst="line">
                      <a:avLst/>
                    </a:prstGeom>
                    <a:blipFill>
                      <a:blip r:embed="rId9"/>
                      <a:stretch>
                        <a:fillRect l="-11881" t="-11881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7" name="Text"/>
                    <p:cNvSpPr/>
                    <p:nvPr/>
                  </p:nvSpPr>
                  <p:spPr>
                    <a:xfrm>
                      <a:off x="2572157" y="63561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4000">
                          <a:solidFill>
                            <a:schemeClr val="accent1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4800" i="1">
                                    <a:solidFill>
                                      <a:srgbClr val="00A1F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800" i="1">
                                    <a:solidFill>
                                      <a:srgbClr val="00A1FE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sz="4800" i="1">
                                    <a:solidFill>
                                      <a:srgbClr val="00A1FE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00A2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27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72157" y="635617"/>
                      <a:ext cx="1270001" cy="1270001"/>
                    </a:xfrm>
                    <a:prstGeom prst="line">
                      <a:avLst/>
                    </a:prstGeom>
                    <a:blipFill>
                      <a:blip r:embed="rId10"/>
                      <a:stretch>
                        <a:fillRect l="-16832" t="-1683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772" name="Group"/>
            <p:cNvGrpSpPr/>
            <p:nvPr/>
          </p:nvGrpSpPr>
          <p:grpSpPr>
            <a:xfrm>
              <a:off x="15736275" y="3163925"/>
              <a:ext cx="8830712" cy="4788158"/>
              <a:chOff x="-1" y="0"/>
              <a:chExt cx="8830704" cy="4788154"/>
            </a:xfrm>
          </p:grpSpPr>
          <p:grpSp>
            <p:nvGrpSpPr>
              <p:cNvPr id="768" name="Group"/>
              <p:cNvGrpSpPr/>
              <p:nvPr/>
            </p:nvGrpSpPr>
            <p:grpSpPr>
              <a:xfrm>
                <a:off x="-1" y="0"/>
                <a:ext cx="8830704" cy="4788154"/>
                <a:chOff x="0" y="0"/>
                <a:chExt cx="8830702" cy="4788153"/>
              </a:xfrm>
            </p:grpSpPr>
            <p:grpSp>
              <p:nvGrpSpPr>
                <p:cNvPr id="766" name="Group"/>
                <p:cNvGrpSpPr/>
                <p:nvPr/>
              </p:nvGrpSpPr>
              <p:grpSpPr>
                <a:xfrm>
                  <a:off x="-1" y="0"/>
                  <a:ext cx="8830704" cy="4788154"/>
                  <a:chOff x="0" y="0"/>
                  <a:chExt cx="8830702" cy="4788153"/>
                </a:xfrm>
              </p:grpSpPr>
              <p:grpSp>
                <p:nvGrpSpPr>
                  <p:cNvPr id="758" name="Group"/>
                  <p:cNvGrpSpPr/>
                  <p:nvPr/>
                </p:nvGrpSpPr>
                <p:grpSpPr>
                  <a:xfrm>
                    <a:off x="4310949" y="0"/>
                    <a:ext cx="4519754" cy="4788154"/>
                    <a:chOff x="0" y="0"/>
                    <a:chExt cx="4519753" cy="4788153"/>
                  </a:xfrm>
                </p:grpSpPr>
                <p:grpSp>
                  <p:nvGrpSpPr>
                    <p:cNvPr id="738" name="Group"/>
                    <p:cNvGrpSpPr/>
                    <p:nvPr/>
                  </p:nvGrpSpPr>
                  <p:grpSpPr>
                    <a:xfrm>
                      <a:off x="0" y="0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733" name="Group"/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730" name="Line"/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731" name="Line"/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732" name="Line"/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734" name="1"/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1</a:t>
                        </a:r>
                      </a:p>
                    </p:txBody>
                  </p:sp>
                  <p:grpSp>
                    <p:nvGrpSpPr>
                      <p:cNvPr id="737" name="Group"/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735" name="Line"/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36" name="Text"/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36" name="Text"/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1"/>
                              <a:stretch>
                                <a:fillRect l="-13861" t="-1485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747" name="Group"/>
                    <p:cNvGrpSpPr/>
                    <p:nvPr/>
                  </p:nvGrpSpPr>
                  <p:grpSpPr>
                    <a:xfrm>
                      <a:off x="0" y="1167915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742" name="Group"/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739" name="Line"/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740" name="Line"/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741" name="Line"/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743" name="2"/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2</a:t>
                        </a:r>
                      </a:p>
                    </p:txBody>
                  </p:sp>
                  <p:grpSp>
                    <p:nvGrpSpPr>
                      <p:cNvPr id="746" name="Group"/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744" name="Line"/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45" name="Text"/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45" name="Text"/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2"/>
                              <a:stretch>
                                <a:fillRect l="-13861" t="-1485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756" name="Group"/>
                    <p:cNvGrpSpPr/>
                    <p:nvPr/>
                  </p:nvGrpSpPr>
                  <p:grpSpPr>
                    <a:xfrm>
                      <a:off x="0" y="2867362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751" name="Group"/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748" name="Line"/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749" name="Line"/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750" name="Line"/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752" name="Circle"/>
                          <p:cNvSpPr/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noFill/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square" lIns="50800" tIns="50800" rIns="50800" bIns="50800" numCol="1" anchor="ctr">
                            <a:noAutofit/>
                          </a:bodyPr>
                          <a:lstStyle>
                            <a:lvl1pPr algn="ctr" defTabSz="82550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defRPr sz="3000">
                                <a:latin typeface="Helvetica Neue Medium"/>
                                <a:ea typeface="Helvetica Neue Medium"/>
                                <a:cs typeface="Helvetica Neue Medium"/>
                                <a:sym typeface="Helvetica Neue Medium"/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oMath>
                              </m:oMathPara>
                            </a14:m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752" name="Circle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blipFill>
                            <a:blip r:embed="rId13"/>
                            <a:stretch>
                              <a:fillRect/>
                            </a:stretch>
                          </a:blipFill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755" name="Group"/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753" name="Line"/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54" name="Text"/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54" name="Text"/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4"/>
                              <a:stretch>
                                <a:fillRect l="-13861" t="-15000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sp>
                  <p:nvSpPr>
                    <p:cNvPr id="757" name="…"/>
                    <p:cNvSpPr/>
                    <p:nvPr/>
                  </p:nvSpPr>
                  <p:spPr>
                    <a:xfrm flipV="1">
                      <a:off x="1086498" y="14923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grpSp>
                <p:nvGrpSpPr>
                  <p:cNvPr id="764" name="Group"/>
                  <p:cNvGrpSpPr/>
                  <p:nvPr/>
                </p:nvGrpSpPr>
                <p:grpSpPr>
                  <a:xfrm>
                    <a:off x="1346012" y="516200"/>
                    <a:ext cx="3408500" cy="2819352"/>
                    <a:chOff x="0" y="0"/>
                    <a:chExt cx="3408498" cy="2819351"/>
                  </a:xfrm>
                </p:grpSpPr>
                <p:sp>
                  <p:nvSpPr>
                    <p:cNvPr id="759" name="JSQ"/>
                    <p:cNvSpPr/>
                    <p:nvPr/>
                  </p:nvSpPr>
                  <p:spPr>
                    <a:xfrm>
                      <a:off x="0" y="448496"/>
                      <a:ext cx="1422401" cy="14224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10800"/>
                          </a:moveTo>
                          <a:lnTo>
                            <a:pt x="10800" y="21600"/>
                          </a:lnTo>
                          <a:lnTo>
                            <a:pt x="21600" y="10800"/>
                          </a:lnTo>
                          <a:lnTo>
                            <a:pt x="10800" y="0"/>
                          </a:lnTo>
                          <a:close/>
                        </a:path>
                      </a:pathLst>
                    </a:cu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0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JSQ</a:t>
                      </a:r>
                    </a:p>
                  </p:txBody>
                </p:sp>
                <p:sp>
                  <p:nvSpPr>
                    <p:cNvPr id="760" name="Line"/>
                    <p:cNvSpPr/>
                    <p:nvPr/>
                  </p:nvSpPr>
                  <p:spPr>
                    <a:xfrm flipV="1">
                      <a:off x="1407697" y="-1"/>
                      <a:ext cx="1472888" cy="1172398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761" name="Line"/>
                    <p:cNvSpPr/>
                    <p:nvPr/>
                  </p:nvSpPr>
                  <p:spPr>
                    <a:xfrm>
                      <a:off x="1417521" y="1166578"/>
                      <a:ext cx="1468645" cy="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762" name="Line"/>
                    <p:cNvSpPr/>
                    <p:nvPr/>
                  </p:nvSpPr>
                  <p:spPr>
                    <a:xfrm>
                      <a:off x="1413574" y="1168551"/>
                      <a:ext cx="1473866" cy="165080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763" name="…"/>
                    <p:cNvSpPr/>
                    <p:nvPr/>
                  </p:nvSpPr>
                  <p:spPr>
                    <a:xfrm flipV="1">
                      <a:off x="2138498" y="73606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sp>
                <p:nvSpPr>
                  <p:cNvPr id="765" name="Group"/>
                  <p:cNvSpPr/>
                  <p:nvPr/>
                </p:nvSpPr>
                <p:spPr>
                  <a:xfrm rot="10800000" flipH="1">
                    <a:off x="-1" y="1680177"/>
                    <a:ext cx="1223401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7" name="Text"/>
                    <p:cNvSpPr/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67" name="Text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blipFill>
                      <a:blip r:embed="rId15"/>
                      <a:stretch>
                        <a:fillRect l="-12871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9" name="Equation"/>
                  <p:cNvSpPr txBox="1"/>
                  <p:nvPr/>
                </p:nvSpPr>
                <p:spPr>
                  <a:xfrm>
                    <a:off x="5056240" y="55799"/>
                    <a:ext cx="319865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76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55799"/>
                    <a:ext cx="319865" cy="30715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50000" r="-57692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0" name="Equation"/>
                  <p:cNvSpPr txBox="1"/>
                  <p:nvPr/>
                </p:nvSpPr>
                <p:spPr>
                  <a:xfrm>
                    <a:off x="5056240" y="1204475"/>
                    <a:ext cx="345113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500"/>
                  </a:p>
                </p:txBody>
              </p:sp>
            </mc:Choice>
            <mc:Fallback xmlns="">
              <p:sp>
                <p:nvSpPr>
                  <p:cNvPr id="770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204475"/>
                    <a:ext cx="345113" cy="30715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46429" r="-50000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1" name="Equation"/>
                  <p:cNvSpPr txBox="1"/>
                  <p:nvPr/>
                </p:nvSpPr>
                <p:spPr>
                  <a:xfrm>
                    <a:off x="5056240" y="2933518"/>
                    <a:ext cx="345113" cy="30999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sz="3500"/>
                  </a:p>
                </p:txBody>
              </p:sp>
            </mc:Choice>
            <mc:Fallback xmlns="">
              <p:sp>
                <p:nvSpPr>
                  <p:cNvPr id="771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2933518"/>
                    <a:ext cx="345113" cy="30999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46429" r="-50000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9" name="Text"/>
                <p:cNvSpPr txBox="1"/>
                <p:nvPr/>
              </p:nvSpPr>
              <p:spPr>
                <a:xfrm>
                  <a:off x="16919974" y="11871242"/>
                  <a:ext cx="6414857" cy="13796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:=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799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19974" y="11871242"/>
                  <a:ext cx="6414857" cy="1379664"/>
                </a:xfrm>
                <a:prstGeom prst="rect">
                  <a:avLst/>
                </a:prstGeom>
                <a:blipFill>
                  <a:blip r:embed="rId19"/>
                  <a:stretch>
                    <a:fillRect l="-988" r="-4150" b="-2727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08" name="Group 807">
              <a:extLst>
                <a:ext uri="{FF2B5EF4-FFF2-40B4-BE49-F238E27FC236}">
                  <a16:creationId xmlns:a16="http://schemas.microsoft.com/office/drawing/2014/main" id="{87745920-8437-E592-ACF3-A59479C7C3DC}"/>
                </a:ext>
              </a:extLst>
            </p:cNvPr>
            <p:cNvGrpSpPr/>
            <p:nvPr/>
          </p:nvGrpSpPr>
          <p:grpSpPr>
            <a:xfrm>
              <a:off x="19778334" y="578757"/>
              <a:ext cx="4436425" cy="2281467"/>
              <a:chOff x="19778334" y="578757"/>
              <a:chExt cx="4436425" cy="22814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Markov chain">
                    <a:extLst>
                      <a:ext uri="{FF2B5EF4-FFF2-40B4-BE49-F238E27FC236}">
                        <a16:creationId xmlns:a16="http://schemas.microsoft.com/office/drawing/2014/main" id="{6C704AB6-5093-4AA7-7A4E-CAAE32FE3931}"/>
                      </a:ext>
                    </a:extLst>
                  </p:cNvPr>
                  <p:cNvSpPr txBox="1"/>
                  <p:nvPr/>
                </p:nvSpPr>
                <p:spPr>
                  <a:xfrm>
                    <a:off x="21220039" y="578757"/>
                    <a:ext cx="1260538" cy="60119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xmlns:lc="http://schemas.openxmlformats.org/drawingml/2006/lockedCanvas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defPPr marL="0" marR="0" indent="0" algn="l" defTabSz="914400" rtl="0" fontAlgn="auto" latinLnBrk="1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</a:defRPr>
                    </a:defPPr>
                    <a:lvl1pPr marL="0" marR="0" indent="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1pPr>
                    <a:lvl2pPr marL="0" marR="0" indent="4572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2pPr>
                    <a:lvl3pPr marL="0" marR="0" indent="9144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3pPr>
                    <a:lvl4pPr marL="0" marR="0" indent="13716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4pPr>
                    <a:lvl5pPr marL="0" marR="0" indent="18288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5pPr>
                    <a:lvl6pPr marL="0" marR="0" indent="22860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6pPr>
                    <a:lvl7pPr marL="0" marR="0" indent="27432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7pPr>
                    <a:lvl8pPr marL="0" marR="0" indent="32004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8pPr>
                    <a:lvl9pPr marL="0" marR="0" indent="36576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9pPr>
                  </a:lstStyle>
                  <a:p>
                    <a:pPr>
                      <a:defRPr sz="3000">
                        <a:solidFill>
                          <a:schemeClr val="accent5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3600" b="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dirty="0"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Markov chain">
                    <a:extLst>
                      <a:ext uri="{FF2B5EF4-FFF2-40B4-BE49-F238E27FC236}">
                        <a16:creationId xmlns:a16="http://schemas.microsoft.com/office/drawing/2014/main" id="{6C704AB6-5093-4AA7-7A4E-CAAE32FE39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20039" y="578757"/>
                    <a:ext cx="1260538" cy="60119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980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C7B8C75-F89B-5C30-FB27-0AF1FA64A07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9778334" y="1397184"/>
                <a:ext cx="4436425" cy="1463040"/>
                <a:chOff x="15235395" y="8914400"/>
                <a:chExt cx="6602796" cy="2177465"/>
              </a:xfrm>
            </p:grpSpPr>
            <p:sp>
              <p:nvSpPr>
                <p:cNvPr id="8" name="Circle">
                  <a:extLst>
                    <a:ext uri="{FF2B5EF4-FFF2-40B4-BE49-F238E27FC236}">
                      <a16:creationId xmlns:a16="http://schemas.microsoft.com/office/drawing/2014/main" id="{52A93B5C-57FD-964B-101B-1DC6D16C49FF}"/>
                    </a:ext>
                  </a:extLst>
                </p:cNvPr>
                <p:cNvSpPr/>
                <p:nvPr/>
              </p:nvSpPr>
              <p:spPr>
                <a:xfrm>
                  <a:off x="15235395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" name="Circle">
                  <a:extLst>
                    <a:ext uri="{FF2B5EF4-FFF2-40B4-BE49-F238E27FC236}">
                      <a16:creationId xmlns:a16="http://schemas.microsoft.com/office/drawing/2014/main" id="{C5FC9D98-89E5-BD95-EF7A-E6497B0DDEA3}"/>
                    </a:ext>
                  </a:extLst>
                </p:cNvPr>
                <p:cNvSpPr/>
                <p:nvPr/>
              </p:nvSpPr>
              <p:spPr>
                <a:xfrm>
                  <a:off x="16663474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0" name="Circle">
                  <a:extLst>
                    <a:ext uri="{FF2B5EF4-FFF2-40B4-BE49-F238E27FC236}">
                      <a16:creationId xmlns:a16="http://schemas.microsoft.com/office/drawing/2014/main" id="{FBA91A71-0792-D2E3-D8EE-4819E2AB05C8}"/>
                    </a:ext>
                  </a:extLst>
                </p:cNvPr>
                <p:cNvSpPr/>
                <p:nvPr/>
              </p:nvSpPr>
              <p:spPr>
                <a:xfrm>
                  <a:off x="1809155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1" name="Circle">
                  <a:extLst>
                    <a:ext uri="{FF2B5EF4-FFF2-40B4-BE49-F238E27FC236}">
                      <a16:creationId xmlns:a16="http://schemas.microsoft.com/office/drawing/2014/main" id="{9828179E-F86D-E8E6-E188-CC1D312BE18E}"/>
                    </a:ext>
                  </a:extLst>
                </p:cNvPr>
                <p:cNvSpPr/>
                <p:nvPr/>
              </p:nvSpPr>
              <p:spPr>
                <a:xfrm>
                  <a:off x="15923204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2" name="Circle">
                  <a:extLst>
                    <a:ext uri="{FF2B5EF4-FFF2-40B4-BE49-F238E27FC236}">
                      <a16:creationId xmlns:a16="http://schemas.microsoft.com/office/drawing/2014/main" id="{E20F5B45-917B-8AAA-962D-15BE6E2BFD09}"/>
                    </a:ext>
                  </a:extLst>
                </p:cNvPr>
                <p:cNvSpPr/>
                <p:nvPr/>
              </p:nvSpPr>
              <p:spPr>
                <a:xfrm>
                  <a:off x="18772119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3" name="Circle">
                  <a:extLst>
                    <a:ext uri="{FF2B5EF4-FFF2-40B4-BE49-F238E27FC236}">
                      <a16:creationId xmlns:a16="http://schemas.microsoft.com/office/drawing/2014/main" id="{9FCF8300-39AE-2DEF-3D70-4EDFBB6B96FD}"/>
                    </a:ext>
                  </a:extLst>
                </p:cNvPr>
                <p:cNvSpPr/>
                <p:nvPr/>
              </p:nvSpPr>
              <p:spPr>
                <a:xfrm>
                  <a:off x="1951963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4" name="Circle">
                  <a:extLst>
                    <a:ext uri="{FF2B5EF4-FFF2-40B4-BE49-F238E27FC236}">
                      <a16:creationId xmlns:a16="http://schemas.microsoft.com/office/drawing/2014/main" id="{3AC410B4-57E6-F98E-C217-0DE216C5917B}"/>
                    </a:ext>
                  </a:extLst>
                </p:cNvPr>
                <p:cNvSpPr/>
                <p:nvPr/>
              </p:nvSpPr>
              <p:spPr>
                <a:xfrm>
                  <a:off x="20947712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cxnSp>
              <p:nvCxnSpPr>
                <p:cNvPr id="15" name="Curved Connector 14">
                  <a:extLst>
                    <a:ext uri="{FF2B5EF4-FFF2-40B4-BE49-F238E27FC236}">
                      <a16:creationId xmlns:a16="http://schemas.microsoft.com/office/drawing/2014/main" id="{781A2479-BB0A-EF51-F5A1-1E8DCBC89BBC}"/>
                    </a:ext>
                  </a:extLst>
                </p:cNvPr>
                <p:cNvCxnSpPr>
                  <a:cxnSpLocks/>
                  <a:stCxn id="8" idx="7"/>
                  <a:endCxn id="9" idx="1"/>
                </p:cNvCxnSpPr>
                <p:nvPr/>
              </p:nvCxnSpPr>
              <p:spPr>
                <a:xfrm rot="5400000" flipH="1" flipV="1">
                  <a:off x="1639467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6" name="Curved Connector 15">
                  <a:extLst>
                    <a:ext uri="{FF2B5EF4-FFF2-40B4-BE49-F238E27FC236}">
                      <a16:creationId xmlns:a16="http://schemas.microsoft.com/office/drawing/2014/main" id="{BC3B559B-8643-40FB-6BC2-48713507AFD3}"/>
                    </a:ext>
                  </a:extLst>
                </p:cNvPr>
                <p:cNvCxnSpPr>
                  <a:cxnSpLocks/>
                  <a:stCxn id="9" idx="3"/>
                  <a:endCxn id="8" idx="5"/>
                </p:cNvCxnSpPr>
                <p:nvPr/>
              </p:nvCxnSpPr>
              <p:spPr>
                <a:xfrm rot="5400000">
                  <a:off x="16394674" y="9269716"/>
                  <a:ext cx="12700" cy="798416"/>
                </a:xfrm>
                <a:prstGeom prst="curvedConnector3">
                  <a:avLst>
                    <a:gd name="adj1" fmla="val 11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7" name="Curved Connector 16">
                  <a:extLst>
                    <a:ext uri="{FF2B5EF4-FFF2-40B4-BE49-F238E27FC236}">
                      <a16:creationId xmlns:a16="http://schemas.microsoft.com/office/drawing/2014/main" id="{4548CB4F-6693-FDB2-5400-A32CB13128B1}"/>
                    </a:ext>
                  </a:extLst>
                </p:cNvPr>
                <p:cNvCxnSpPr>
                  <a:cxnSpLocks/>
                  <a:stCxn id="9" idx="7"/>
                  <a:endCxn id="10" idx="1"/>
                </p:cNvCxnSpPr>
                <p:nvPr/>
              </p:nvCxnSpPr>
              <p:spPr>
                <a:xfrm rot="5400000" flipH="1" flipV="1">
                  <a:off x="17822753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8" name="Curved Connector 17">
                  <a:extLst>
                    <a:ext uri="{FF2B5EF4-FFF2-40B4-BE49-F238E27FC236}">
                      <a16:creationId xmlns:a16="http://schemas.microsoft.com/office/drawing/2014/main" id="{4E62657F-319A-7B6E-27D5-C4004BC31895}"/>
                    </a:ext>
                  </a:extLst>
                </p:cNvPr>
                <p:cNvCxnSpPr>
                  <a:cxnSpLocks/>
                  <a:stCxn id="10" idx="3"/>
                  <a:endCxn id="9" idx="5"/>
                </p:cNvCxnSpPr>
                <p:nvPr/>
              </p:nvCxnSpPr>
              <p:spPr>
                <a:xfrm rot="5400000">
                  <a:off x="17822753" y="9269716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9" name="Curved Connector 18">
                  <a:extLst>
                    <a:ext uri="{FF2B5EF4-FFF2-40B4-BE49-F238E27FC236}">
                      <a16:creationId xmlns:a16="http://schemas.microsoft.com/office/drawing/2014/main" id="{0B2E856B-D74E-A1CD-D464-B15DD9B8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0700535" y="86319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0" name="Curved Connector 19">
                  <a:extLst>
                    <a:ext uri="{FF2B5EF4-FFF2-40B4-BE49-F238E27FC236}">
                      <a16:creationId xmlns:a16="http://schemas.microsoft.com/office/drawing/2014/main" id="{76977E19-E07C-7DBA-F386-ADAF6FB3E9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926164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1" name="Curved Connector 20">
                  <a:extLst>
                    <a:ext uri="{FF2B5EF4-FFF2-40B4-BE49-F238E27FC236}">
                      <a16:creationId xmlns:a16="http://schemas.microsoft.com/office/drawing/2014/main" id="{D9CF32B8-1913-52F0-3159-5BF7259BE0D1}"/>
                    </a:ext>
                  </a:extLst>
                </p:cNvPr>
                <p:cNvCxnSpPr>
                  <a:cxnSpLocks/>
                  <a:stCxn id="13" idx="3"/>
                  <a:endCxn id="10" idx="5"/>
                </p:cNvCxnSpPr>
                <p:nvPr/>
              </p:nvCxnSpPr>
              <p:spPr>
                <a:xfrm rot="5400000">
                  <a:off x="19250833" y="9269716"/>
                  <a:ext cx="12700" cy="798417"/>
                </a:xfrm>
                <a:prstGeom prst="curvedConnector3">
                  <a:avLst>
                    <a:gd name="adj1" fmla="val 819323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2" name="Curved Connector 21">
                  <a:extLst>
                    <a:ext uri="{FF2B5EF4-FFF2-40B4-BE49-F238E27FC236}">
                      <a16:creationId xmlns:a16="http://schemas.microsoft.com/office/drawing/2014/main" id="{644F227F-6EE1-0A60-4419-2FDDD2D4EC50}"/>
                    </a:ext>
                  </a:extLst>
                </p:cNvPr>
                <p:cNvCxnSpPr>
                  <a:cxnSpLocks/>
                  <a:stCxn id="12" idx="3"/>
                  <a:endCxn id="11" idx="5"/>
                </p:cNvCxnSpPr>
                <p:nvPr/>
              </p:nvCxnSpPr>
              <p:spPr>
                <a:xfrm rot="5400000">
                  <a:off x="17792901" y="9852783"/>
                  <a:ext cx="12700" cy="2219252"/>
                </a:xfrm>
                <a:prstGeom prst="curvedConnector3">
                  <a:avLst>
                    <a:gd name="adj1" fmla="val 28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3" name="Curved Connector 22">
                  <a:extLst>
                    <a:ext uri="{FF2B5EF4-FFF2-40B4-BE49-F238E27FC236}">
                      <a16:creationId xmlns:a16="http://schemas.microsoft.com/office/drawing/2014/main" id="{44978B05-5456-67F7-4B38-87A19544C25D}"/>
                    </a:ext>
                  </a:extLst>
                </p:cNvPr>
                <p:cNvCxnSpPr>
                  <a:cxnSpLocks/>
                  <a:stCxn id="13" idx="4"/>
                  <a:endCxn id="12" idx="7"/>
                </p:cNvCxnSpPr>
                <p:nvPr/>
              </p:nvCxnSpPr>
              <p:spPr>
                <a:xfrm rot="5400000">
                  <a:off x="19479052" y="9851519"/>
                  <a:ext cx="538960" cy="432683"/>
                </a:xfrm>
                <a:prstGeom prst="curvedConnector3">
                  <a:avLst>
                    <a:gd name="adj1" fmla="val 38217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4" name="Curved Connector 23">
                  <a:extLst>
                    <a:ext uri="{FF2B5EF4-FFF2-40B4-BE49-F238E27FC236}">
                      <a16:creationId xmlns:a16="http://schemas.microsoft.com/office/drawing/2014/main" id="{62EB8266-3ED1-DE5A-FB7D-5C5B4EAACDD7}"/>
                    </a:ext>
                  </a:extLst>
                </p:cNvPr>
                <p:cNvCxnSpPr>
                  <a:cxnSpLocks/>
                  <a:stCxn id="12" idx="6"/>
                  <a:endCxn id="14" idx="4"/>
                </p:cNvCxnSpPr>
                <p:nvPr/>
              </p:nvCxnSpPr>
              <p:spPr>
                <a:xfrm flipV="1">
                  <a:off x="19662598" y="9798380"/>
                  <a:ext cx="1730354" cy="85149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5" name="Curved Connector 24">
                  <a:extLst>
                    <a:ext uri="{FF2B5EF4-FFF2-40B4-BE49-F238E27FC236}">
                      <a16:creationId xmlns:a16="http://schemas.microsoft.com/office/drawing/2014/main" id="{2A4A6846-F36B-F288-AE75-2873B3AE4F61}"/>
                    </a:ext>
                  </a:extLst>
                </p:cNvPr>
                <p:cNvCxnSpPr>
                  <a:cxnSpLocks/>
                  <a:stCxn id="14" idx="3"/>
                </p:cNvCxnSpPr>
                <p:nvPr/>
              </p:nvCxnSpPr>
              <p:spPr>
                <a:xfrm rot="5400000">
                  <a:off x="19967646" y="9312974"/>
                  <a:ext cx="754525" cy="146642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6" name="Curved Connector 25">
                  <a:extLst>
                    <a:ext uri="{FF2B5EF4-FFF2-40B4-BE49-F238E27FC236}">
                      <a16:creationId xmlns:a16="http://schemas.microsoft.com/office/drawing/2014/main" id="{4E023940-4109-AE77-D178-12FFFCF74563}"/>
                    </a:ext>
                  </a:extLst>
                </p:cNvPr>
                <p:cNvCxnSpPr>
                  <a:cxnSpLocks/>
                  <a:stCxn id="11" idx="1"/>
                  <a:endCxn id="8" idx="4"/>
                </p:cNvCxnSpPr>
                <p:nvPr/>
              </p:nvCxnSpPr>
              <p:spPr>
                <a:xfrm rot="16200000" flipV="1">
                  <a:off x="15597644" y="9881371"/>
                  <a:ext cx="538960" cy="372977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7" name="Curved Connector 26">
                  <a:extLst>
                    <a:ext uri="{FF2B5EF4-FFF2-40B4-BE49-F238E27FC236}">
                      <a16:creationId xmlns:a16="http://schemas.microsoft.com/office/drawing/2014/main" id="{5AD3AEDC-B551-5EC8-366B-86F496A0B0B7}"/>
                    </a:ext>
                  </a:extLst>
                </p:cNvPr>
                <p:cNvCxnSpPr>
                  <a:cxnSpLocks/>
                  <a:stCxn id="8" idx="3"/>
                  <a:endCxn id="11" idx="2"/>
                </p:cNvCxnSpPr>
                <p:nvPr/>
              </p:nvCxnSpPr>
              <p:spPr>
                <a:xfrm rot="16200000" flipH="1">
                  <a:off x="15154028" y="9880698"/>
                  <a:ext cx="980951" cy="557401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8" name="Curved Connector 27">
                  <a:extLst>
                    <a:ext uri="{FF2B5EF4-FFF2-40B4-BE49-F238E27FC236}">
                      <a16:creationId xmlns:a16="http://schemas.microsoft.com/office/drawing/2014/main" id="{3047FDC6-2335-87F3-1359-60C27CF698B8}"/>
                    </a:ext>
                  </a:extLst>
                </p:cNvPr>
                <p:cNvCxnSpPr>
                  <a:cxnSpLocks/>
                  <a:stCxn id="11" idx="7"/>
                  <a:endCxn id="12" idx="1"/>
                </p:cNvCxnSpPr>
                <p:nvPr/>
              </p:nvCxnSpPr>
              <p:spPr>
                <a:xfrm rot="5400000" flipH="1" flipV="1">
                  <a:off x="17792901" y="9227714"/>
                  <a:ext cx="12700" cy="2219252"/>
                </a:xfrm>
                <a:prstGeom prst="curvedConnector3">
                  <a:avLst>
                    <a:gd name="adj1" fmla="val 12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" grpId="3" animBg="1" advAuto="0"/>
      <p:bldP spid="710" grpId="1" animBg="1" advAuto="0"/>
      <p:bldP spid="713" grpId="2" animBg="1" advAuto="0"/>
      <p:bldP spid="801" grpId="4" animBg="1" advAuto="0"/>
      <p:bldP spid="802" grpId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roup"/>
          <p:cNvGrpSpPr/>
          <p:nvPr/>
        </p:nvGrpSpPr>
        <p:grpSpPr>
          <a:xfrm>
            <a:off x="7695077" y="9623766"/>
            <a:ext cx="5788557" cy="2616107"/>
            <a:chOff x="0" y="0"/>
            <a:chExt cx="5788555" cy="2616105"/>
          </a:xfrm>
        </p:grpSpPr>
        <p:sp>
          <p:nvSpPr>
            <p:cNvPr id="804" name="Rectangle"/>
            <p:cNvSpPr/>
            <p:nvPr/>
          </p:nvSpPr>
          <p:spPr>
            <a:xfrm>
              <a:off x="0" y="0"/>
              <a:ext cx="5788556" cy="2078192"/>
            </a:xfrm>
            <a:prstGeom prst="rect">
              <a:avLst/>
            </a:pr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grpSp>
          <p:nvGrpSpPr>
            <p:cNvPr id="807" name="Group"/>
            <p:cNvGrpSpPr/>
            <p:nvPr/>
          </p:nvGrpSpPr>
          <p:grpSpPr>
            <a:xfrm>
              <a:off x="162710" y="61143"/>
              <a:ext cx="3291535" cy="2554963"/>
              <a:chOff x="0" y="0"/>
              <a:chExt cx="3291533" cy="255496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5" name="Text"/>
                  <p:cNvSpPr/>
                  <p:nvPr/>
                </p:nvSpPr>
                <p:spPr>
                  <a:xfrm>
                    <a:off x="193235" y="1284962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500"/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limLow>
                            <m:limLow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  <m:sSub>
                            <m:sSub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b>
                          </m:s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]=</m:t>
                          </m:r>
                          <m:sSub>
                            <m:sSubPr>
                              <m:ctrl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  <m:r>
                            <a:rPr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805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235" y="1284962"/>
                    <a:ext cx="1270001" cy="1270001"/>
                  </a:xfrm>
                  <a:prstGeom prst="line">
                    <a:avLst/>
                  </a:prstGeom>
                  <a:blipFill>
                    <a:blip r:embed="rId3"/>
                    <a:stretch>
                      <a:fillRect l="-15000" t="-42000" r="-286000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806" name="Image" descr="Imag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381315" y="-1381316"/>
                <a:ext cx="528903" cy="32915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809" name="Transform Method Markov-Mod JSQ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 Method Markov-Mod JSQ</a:t>
            </a:r>
          </a:p>
        </p:txBody>
      </p:sp>
      <p:grpSp>
        <p:nvGrpSpPr>
          <p:cNvPr id="812" name="Group"/>
          <p:cNvGrpSpPr/>
          <p:nvPr/>
        </p:nvGrpSpPr>
        <p:grpSpPr>
          <a:xfrm>
            <a:off x="1211290" y="3443880"/>
            <a:ext cx="10862417" cy="1224885"/>
            <a:chOff x="0" y="354582"/>
            <a:chExt cx="10862415" cy="1224884"/>
          </a:xfrm>
        </p:grpSpPr>
        <p:sp>
          <p:nvSpPr>
            <p:cNvPr id="810" name="Step 1: Drift of exponential test function"/>
            <p:cNvSpPr/>
            <p:nvPr/>
          </p:nvSpPr>
          <p:spPr>
            <a:xfrm>
              <a:off x="0" y="354582"/>
              <a:ext cx="1086241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Off val="16847"/>
                <a:alpha val="5041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4000" b="1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lvl1pPr>
            </a:lstStyle>
            <a:p>
              <a:r>
                <a:t>Step 1: Drift of exponential test function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1" name="Text"/>
                <p:cNvSpPr/>
                <p:nvPr/>
              </p:nvSpPr>
              <p:spPr>
                <a:xfrm>
                  <a:off x="59450" y="874401"/>
                  <a:ext cx="6030970" cy="70506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algn="ctr">
                    <a:defRPr sz="40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435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35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sSub>
                              <m:sSubPr>
                                <m:ctrlPr>
                                  <a:rPr lang="ar-AE"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sup>
                        </m:sSup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>
            <p:sp>
              <p:nvSpPr>
                <p:cNvPr id="811" name="Tex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50" y="874401"/>
                  <a:ext cx="6030970" cy="70506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5" name="Group"/>
          <p:cNvGrpSpPr/>
          <p:nvPr/>
        </p:nvGrpSpPr>
        <p:grpSpPr>
          <a:xfrm>
            <a:off x="6830482" y="5098365"/>
            <a:ext cx="5538330" cy="1886001"/>
            <a:chOff x="115570" y="954990"/>
            <a:chExt cx="5538329" cy="1885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3" name="Not independent!…"/>
                <p:cNvSpPr/>
                <p:nvPr/>
              </p:nvSpPr>
              <p:spPr>
                <a:xfrm>
                  <a:off x="4383899" y="954990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 algn="ctr">
                    <a:spcBef>
                      <a:spcPts val="2000"/>
                    </a:spcBef>
                    <a:defRPr>
                      <a:solidFill>
                        <a:srgbClr val="5E5E5E"/>
                      </a:solidFill>
                    </a:defRPr>
                  </a:pPr>
                  <a:r>
                    <a:rPr lang="en-US" dirty="0"/>
                    <a:t>Not independent!</a:t>
                  </a:r>
                </a:p>
                <a:p>
                  <a:pPr algn="ctr">
                    <a:spcBef>
                      <a:spcPts val="2000"/>
                    </a:spcBef>
                    <a:defRPr>
                      <a:solidFill>
                        <a:srgbClr val="5E5E5E"/>
                      </a:solidFill>
                    </a:defRPr>
                  </a:pPr>
                  <a:r>
                    <a:rPr lang="en-US" dirty="0"/>
                    <a:t>How to compute </a:t>
                  </a:r>
                  <a14:m>
                    <m:oMath xmlns:m="http://schemas.openxmlformats.org/officeDocument/2006/math">
                      <m:r>
                        <a:rPr lang="en-US" sz="575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575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l-GR" sz="575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sz="575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750" b="0" i="1" smtClea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5750" b="0" i="1" smtClea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 sz="575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575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575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575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ar-AE" sz="5750" i="1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</a:rPr>
                        <m:t>)]?</m:t>
                      </m:r>
                    </m:oMath>
                  </a14:m>
                  <a:endParaRPr dirty="0"/>
                </a:p>
              </p:txBody>
            </p:sp>
          </mc:Choice>
          <mc:Fallback>
            <p:sp>
              <p:nvSpPr>
                <p:cNvPr id="813" name="Not independent!…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899" y="954990"/>
                  <a:ext cx="1270001" cy="1270001"/>
                </a:xfrm>
                <a:prstGeom prst="line">
                  <a:avLst/>
                </a:prstGeom>
                <a:blipFill>
                  <a:blip r:embed="rId6"/>
                  <a:stretch>
                    <a:fillRect l="-367788" t="-87560" r="-236538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7" name="Connection Line"/>
            <p:cNvSpPr/>
            <p:nvPr/>
          </p:nvSpPr>
          <p:spPr>
            <a:xfrm>
              <a:off x="115569" y="2131060"/>
              <a:ext cx="2868931" cy="709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7929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noFill/>
            <a:ln w="38100" cap="flat">
              <a:solidFill>
                <a:srgbClr val="5E5E5E"/>
              </a:solidFill>
              <a:prstDash val="solid"/>
              <a:miter lim="400000"/>
              <a:headEnd type="arrow" w="med" len="med"/>
              <a:tailEnd type="arrow" w="med" len="med"/>
            </a:ln>
            <a:effectLst/>
          </p:spPr>
          <p:txBody>
            <a:bodyPr/>
            <a:lstStyle/>
            <a:p>
              <a:endParaRPr/>
            </a:p>
          </p:txBody>
        </p:sp>
      </p:grpSp>
      <p:sp>
        <p:nvSpPr>
          <p:cNvPr id="816" name="We use the Poisson equation!"/>
          <p:cNvSpPr txBox="1"/>
          <p:nvPr/>
        </p:nvSpPr>
        <p:spPr>
          <a:xfrm>
            <a:off x="11720592" y="6257927"/>
            <a:ext cx="5788557" cy="1741049"/>
          </a:xfrm>
          <a:prstGeom prst="rect">
            <a:avLst/>
          </a:prstGeom>
          <a:solidFill>
            <a:schemeClr val="accent3">
              <a:alpha val="5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 anchor="ctr">
            <a:spAutoFit/>
          </a:bodyPr>
          <a:lstStyle>
            <a:lvl1pPr algn="ctr"/>
          </a:lstStyle>
          <a:p>
            <a:r>
              <a:t>We use the Poisson equation!</a:t>
            </a:r>
          </a:p>
        </p:txBody>
      </p:sp>
      <p:sp>
        <p:nvSpPr>
          <p:cNvPr id="8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grpSp>
        <p:nvGrpSpPr>
          <p:cNvPr id="820" name="Group"/>
          <p:cNvGrpSpPr/>
          <p:nvPr/>
        </p:nvGrpSpPr>
        <p:grpSpPr>
          <a:xfrm>
            <a:off x="677223" y="4868694"/>
            <a:ext cx="14126399" cy="4753312"/>
            <a:chOff x="0" y="0"/>
            <a:chExt cx="14126398" cy="475331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8" name="Group"/>
                <p:cNvSpPr txBox="1"/>
                <p:nvPr/>
              </p:nvSpPr>
              <p:spPr>
                <a:xfrm>
                  <a:off x="0" y="1914644"/>
                  <a:ext cx="14126399" cy="283866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4000"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4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d>
                          <m:d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sup>
                            </m:sSup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sSup>
                          <m:sSupPr>
                            <m:ctrlP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sz="4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sSub>
                              <m:sSubPr>
                                <m:ctrlP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sz="4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sup>
                        </m:sSup>
                        <m:r>
                          <a:rPr lang="ar-AE" sz="4800" i="1">
                            <a:solidFill>
                              <a:srgbClr val="FE634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4800" i="1">
                            <a:solidFill>
                              <a:srgbClr val="FE634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l-GR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</m:sSub>
                        <m:sSup>
                          <m:sSupPr>
                            <m:ctrlP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ar-AE" sz="4800" i="1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sup>
                        </m:sSup>
                        <m:r>
                          <a:rPr lang="ar-AE" sz="4800" i="1">
                            <a:solidFill>
                              <a:srgbClr val="FE634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ar-AE" dirty="0">
                    <a:solidFill>
                      <a:schemeClr val="accent5"/>
                    </a:solidFill>
                  </a:endParaRPr>
                </a:p>
                <a:p>
                  <a:pPr>
                    <a:defRPr sz="4000"/>
                  </a:pPr>
                  <a:r>
                    <a:rPr lang="ar-AE" dirty="0">
                      <a:solidFill>
                        <a:schemeClr val="accent5"/>
                      </a:solidFill>
                    </a:rPr>
                    <a:t>                             </a:t>
                  </a:r>
                  <a14:m>
                    <m:oMath xmlns:m="http://schemas.openxmlformats.org/officeDocument/2006/math">
                      <m:r>
                        <a:rPr lang="ar-AE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</m:e>
                      </m:d>
                      <m:r>
                        <a:rPr lang="ar-AE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limLow>
                        <m:limLowPr>
                          <m:ctrlP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lim>
                      </m:limLow>
                      <m:sSub>
                        <m:sSubPr>
                          <m:ctrlPr>
                            <a:rPr lang="ar-AE" sz="48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8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4800" i="1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  <m:r>
                        <a:rPr lang="ar-AE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818" name="Grou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914644"/>
                  <a:ext cx="14126399" cy="2838668"/>
                </a:xfrm>
                <a:prstGeom prst="rect">
                  <a:avLst/>
                </a:prstGeom>
                <a:blipFill>
                  <a:blip r:embed="rId7"/>
                  <a:stretch>
                    <a:fillRect l="-1856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9" name="Arrow"/>
            <p:cNvSpPr/>
            <p:nvPr/>
          </p:nvSpPr>
          <p:spPr>
            <a:xfrm rot="5400000">
              <a:off x="1150390" y="73370"/>
              <a:ext cx="1160842" cy="1014102"/>
            </a:xfrm>
            <a:prstGeom prst="rightArrow">
              <a:avLst>
                <a:gd name="adj1" fmla="val 41434"/>
                <a:gd name="adj2" fmla="val 57454"/>
              </a:avLst>
            </a:prstGeom>
            <a:solidFill>
              <a:schemeClr val="accent1">
                <a:alpha val="5091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932" name="Group 931">
            <a:extLst>
              <a:ext uri="{FF2B5EF4-FFF2-40B4-BE49-F238E27FC236}">
                <a16:creationId xmlns:a16="http://schemas.microsoft.com/office/drawing/2014/main" id="{E538B763-7BA6-40FB-1E11-15DA5C34E2B4}"/>
              </a:ext>
            </a:extLst>
          </p:cNvPr>
          <p:cNvGrpSpPr/>
          <p:nvPr/>
        </p:nvGrpSpPr>
        <p:grpSpPr>
          <a:xfrm>
            <a:off x="15736275" y="578757"/>
            <a:ext cx="8830712" cy="12672149"/>
            <a:chOff x="15736275" y="578757"/>
            <a:chExt cx="8830712" cy="12672149"/>
          </a:xfrm>
        </p:grpSpPr>
        <p:grpSp>
          <p:nvGrpSpPr>
            <p:cNvPr id="933" name="Group">
              <a:extLst>
                <a:ext uri="{FF2B5EF4-FFF2-40B4-BE49-F238E27FC236}">
                  <a16:creationId xmlns:a16="http://schemas.microsoft.com/office/drawing/2014/main" id="{64A488AC-76A3-2F3B-329D-F002C5CC492D}"/>
                </a:ext>
              </a:extLst>
            </p:cNvPr>
            <p:cNvGrpSpPr/>
            <p:nvPr/>
          </p:nvGrpSpPr>
          <p:grpSpPr>
            <a:xfrm>
              <a:off x="16249568" y="7010857"/>
              <a:ext cx="7862822" cy="5361740"/>
              <a:chOff x="0" y="0"/>
              <a:chExt cx="7862816" cy="5361737"/>
            </a:xfrm>
          </p:grpSpPr>
          <p:grpSp>
            <p:nvGrpSpPr>
              <p:cNvPr id="965" name="Group">
                <a:extLst>
                  <a:ext uri="{FF2B5EF4-FFF2-40B4-BE49-F238E27FC236}">
                    <a16:creationId xmlns:a16="http://schemas.microsoft.com/office/drawing/2014/main" id="{F22F8230-14E5-42FF-6A25-6FCE4DF6FCD2}"/>
                  </a:ext>
                </a:extLst>
              </p:cNvPr>
              <p:cNvGrpSpPr/>
              <p:nvPr/>
            </p:nvGrpSpPr>
            <p:grpSpPr>
              <a:xfrm>
                <a:off x="2130327" y="-1"/>
                <a:ext cx="2598227" cy="2850358"/>
                <a:chOff x="0" y="0"/>
                <a:chExt cx="2598226" cy="2850356"/>
              </a:xfrm>
            </p:grpSpPr>
            <p:sp>
              <p:nvSpPr>
                <p:cNvPr id="977" name="Arrow">
                  <a:extLst>
                    <a:ext uri="{FF2B5EF4-FFF2-40B4-BE49-F238E27FC236}">
                      <a16:creationId xmlns:a16="http://schemas.microsoft.com/office/drawing/2014/main" id="{60AC2D8E-766A-F60C-3D65-06DDD2851399}"/>
                    </a:ext>
                  </a:extLst>
                </p:cNvPr>
                <p:cNvSpPr/>
                <p:nvPr/>
              </p:nvSpPr>
              <p:spPr>
                <a:xfrm rot="5400000">
                  <a:off x="-126066" y="126065"/>
                  <a:ext cx="2850358" cy="2598227"/>
                </a:xfrm>
                <a:prstGeom prst="rightArrow">
                  <a:avLst>
                    <a:gd name="adj1" fmla="val 55886"/>
                    <a:gd name="adj2" fmla="val 46251"/>
                  </a:avLst>
                </a:prstGeom>
                <a:solidFill>
                  <a:schemeClr val="accent1">
                    <a:alpha val="49759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8" name="SSC">
                      <a:extLst>
                        <a:ext uri="{FF2B5EF4-FFF2-40B4-BE49-F238E27FC236}">
                          <a16:creationId xmlns:a16="http://schemas.microsoft.com/office/drawing/2014/main" id="{D58E25C5-EC6D-5D6F-D3C7-B0BD0844D5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555" y="1111174"/>
                      <a:ext cx="2221117" cy="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extrusionOk="0">
                          <a:moveTo>
                            <a:pt x="0" y="0"/>
                          </a:moveTo>
                          <a:lnTo>
                            <a:pt x="21600" y="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spAutoFit/>
                    </a:bodyPr>
                    <a:lstStyle/>
                    <a:p>
                      <a:pPr algn="ctr">
                        <a:defRPr sz="3000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</a:defRPr>
                      </a:pPr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sz="3600" i="1">
                                <a:solidFill>
                                  <a:srgbClr val="004C7F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sz="3600" i="1">
                                <a:solidFill>
                                  <a:srgbClr val="004C7F"/>
                                </a:solidFill>
                                <a:latin typeface="Cambria Math" panose="02040503050406030204" pitchFamily="18" charset="0"/>
                              </a:rPr>
                              <m:t>↓</m:t>
                            </m:r>
                            <m:r>
                              <a:rPr sz="3600" i="1">
                                <a:solidFill>
                                  <a:srgbClr val="004C7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/>
                    </a:p>
                    <a:p>
                      <a:pPr algn="ctr">
                        <a:spcBef>
                          <a:spcPts val="0"/>
                        </a:spcBef>
                        <a:defRPr sz="3000" b="1">
                          <a:solidFill>
                            <a:schemeClr val="accent1">
                              <a:hueOff val="114395"/>
                              <a:lumOff val="-24975"/>
                            </a:schemeClr>
                          </a:solidFill>
                        </a:defRPr>
                      </a:pPr>
                      <a:r>
                        <a:t>SSC</a:t>
                      </a:r>
                    </a:p>
                  </p:txBody>
                </p:sp>
              </mc:Choice>
              <mc:Fallback xmlns="">
                <p:sp>
                  <p:nvSpPr>
                    <p:cNvPr id="978" name="SSC">
                      <a:extLst>
                        <a:ext uri="{FF2B5EF4-FFF2-40B4-BE49-F238E27FC236}">
                          <a16:creationId xmlns:a16="http://schemas.microsoft.com/office/drawing/2014/main" id="{D58E25C5-EC6D-5D6F-D3C7-B0BD0844D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8555" y="1111174"/>
                      <a:ext cx="2221117" cy="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extrusionOk="0">
                          <a:moveTo>
                            <a:pt x="0" y="0"/>
                          </a:moveTo>
                          <a:lnTo>
                            <a:pt x="21600" y="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blipFill>
                      <a:blip r:embed="rId8"/>
                      <a:stretch>
                        <a:fillRect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66" name="Group">
                <a:extLst>
                  <a:ext uri="{FF2B5EF4-FFF2-40B4-BE49-F238E27FC236}">
                    <a16:creationId xmlns:a16="http://schemas.microsoft.com/office/drawing/2014/main" id="{11B0AD31-6482-900D-154B-AA29AE6C7B74}"/>
                  </a:ext>
                </a:extLst>
              </p:cNvPr>
              <p:cNvGrpSpPr/>
              <p:nvPr/>
            </p:nvGrpSpPr>
            <p:grpSpPr>
              <a:xfrm>
                <a:off x="-1" y="3023672"/>
                <a:ext cx="7862818" cy="2338066"/>
                <a:chOff x="0" y="0"/>
                <a:chExt cx="7862816" cy="2338065"/>
              </a:xfrm>
            </p:grpSpPr>
            <p:grpSp>
              <p:nvGrpSpPr>
                <p:cNvPr id="967" name="Group">
                  <a:extLst>
                    <a:ext uri="{FF2B5EF4-FFF2-40B4-BE49-F238E27FC236}">
                      <a16:creationId xmlns:a16="http://schemas.microsoft.com/office/drawing/2014/main" id="{36A07413-82C1-CF31-A450-3AD0548171AB}"/>
                    </a:ext>
                  </a:extLst>
                </p:cNvPr>
                <p:cNvGrpSpPr/>
                <p:nvPr/>
              </p:nvGrpSpPr>
              <p:grpSpPr>
                <a:xfrm>
                  <a:off x="1386423" y="95867"/>
                  <a:ext cx="3348372" cy="1079501"/>
                  <a:chOff x="0" y="0"/>
                  <a:chExt cx="3348370" cy="1079500"/>
                </a:xfrm>
              </p:grpSpPr>
              <p:sp>
                <p:nvSpPr>
                  <p:cNvPr id="974" name="Line">
                    <a:extLst>
                      <a:ext uri="{FF2B5EF4-FFF2-40B4-BE49-F238E27FC236}">
                        <a16:creationId xmlns:a16="http://schemas.microsoft.com/office/drawing/2014/main" id="{FE63E8A9-EA4D-BC87-366F-F88F25E2BAC3}"/>
                      </a:ext>
                    </a:extLst>
                  </p:cNvPr>
                  <p:cNvSpPr/>
                  <p:nvPr/>
                </p:nvSpPr>
                <p:spPr>
                  <a:xfrm>
                    <a:off x="0" y="22631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975" name="Line">
                    <a:extLst>
                      <a:ext uri="{FF2B5EF4-FFF2-40B4-BE49-F238E27FC236}">
                        <a16:creationId xmlns:a16="http://schemas.microsoft.com/office/drawing/2014/main" id="{64863469-52EA-7538-4FA4-FB4BECA52ACC}"/>
                      </a:ext>
                    </a:extLst>
                  </p:cNvPr>
                  <p:cNvSpPr/>
                  <p:nvPr/>
                </p:nvSpPr>
                <p:spPr>
                  <a:xfrm>
                    <a:off x="0" y="1057664"/>
                    <a:ext cx="3345286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976" name="Line">
                    <a:extLst>
                      <a:ext uri="{FF2B5EF4-FFF2-40B4-BE49-F238E27FC236}">
                        <a16:creationId xmlns:a16="http://schemas.microsoft.com/office/drawing/2014/main" id="{8A3DA30E-48A5-D8CA-915D-B79C14BAAA2C}"/>
                      </a:ext>
                    </a:extLst>
                  </p:cNvPr>
                  <p:cNvSpPr/>
                  <p:nvPr/>
                </p:nvSpPr>
                <p:spPr>
                  <a:xfrm>
                    <a:off x="3348370" y="0"/>
                    <a:ext cx="1" cy="1079501"/>
                  </a:xfrm>
                  <a:prstGeom prst="line">
                    <a:avLst/>
                  </a:prstGeom>
                  <a:noFill/>
                  <a:ln w="50800" cap="flat">
                    <a:solidFill>
                      <a:schemeClr val="accent1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968" name="Circle">
                  <a:extLst>
                    <a:ext uri="{FF2B5EF4-FFF2-40B4-BE49-F238E27FC236}">
                      <a16:creationId xmlns:a16="http://schemas.microsoft.com/office/drawing/2014/main" id="{A67CDC5E-D015-08F2-7989-5D6D26992E76}"/>
                    </a:ext>
                  </a:extLst>
                </p:cNvPr>
                <p:cNvSpPr/>
                <p:nvPr/>
              </p:nvSpPr>
              <p:spPr>
                <a:xfrm>
                  <a:off x="4907819" y="0"/>
                  <a:ext cx="1270001" cy="1271235"/>
                </a:xfrm>
                <a:prstGeom prst="ellips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69" name="Line">
                  <a:extLst>
                    <a:ext uri="{FF2B5EF4-FFF2-40B4-BE49-F238E27FC236}">
                      <a16:creationId xmlns:a16="http://schemas.microsoft.com/office/drawing/2014/main" id="{6B639838-2795-7AD1-3187-195A0CC1B232}"/>
                    </a:ext>
                  </a:extLst>
                </p:cNvPr>
                <p:cNvSpPr/>
                <p:nvPr/>
              </p:nvSpPr>
              <p:spPr>
                <a:xfrm>
                  <a:off x="0" y="716292"/>
                  <a:ext cx="1393483" cy="1"/>
                </a:xfrm>
                <a:prstGeom prst="lin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0" name="Text">
                      <a:extLst>
                        <a:ext uri="{FF2B5EF4-FFF2-40B4-BE49-F238E27FC236}">
                          <a16:creationId xmlns:a16="http://schemas.microsoft.com/office/drawing/2014/main" id="{0B6ECCB8-81F0-E90D-91D0-32D5AB699C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3564" y="10680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70" name="Text">
                      <a:extLst>
                        <a:ext uri="{FF2B5EF4-FFF2-40B4-BE49-F238E27FC236}">
                          <a16:creationId xmlns:a16="http://schemas.microsoft.com/office/drawing/2014/main" id="{0B6ECCB8-81F0-E90D-91D0-32D5AB699C0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3564" y="1068065"/>
                      <a:ext cx="1270001" cy="1270001"/>
                    </a:xfrm>
                    <a:prstGeom prst="line">
                      <a:avLst/>
                    </a:prstGeom>
                    <a:blipFill>
                      <a:blip r:embed="rId9"/>
                      <a:stretch>
                        <a:fillRect l="-12871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71" name="Line">
                  <a:extLst>
                    <a:ext uri="{FF2B5EF4-FFF2-40B4-BE49-F238E27FC236}">
                      <a16:creationId xmlns:a16="http://schemas.microsoft.com/office/drawing/2014/main" id="{7B554083-A9C0-889A-ECA3-7732E4AC6194}"/>
                    </a:ext>
                  </a:extLst>
                </p:cNvPr>
                <p:cNvSpPr/>
                <p:nvPr/>
              </p:nvSpPr>
              <p:spPr>
                <a:xfrm>
                  <a:off x="6205363" y="635617"/>
                  <a:ext cx="1657454" cy="1"/>
                </a:xfrm>
                <a:prstGeom prst="line">
                  <a:avLst/>
                </a:prstGeom>
                <a:noFill/>
                <a:ln w="50800" cap="flat">
                  <a:solidFill>
                    <a:schemeClr val="accent1"/>
                  </a:solidFill>
                  <a:prstDash val="solid"/>
                  <a:miter lim="400000"/>
                  <a:tailEnd type="arrow" w="med" len="med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2" name="Text">
                      <a:extLst>
                        <a:ext uri="{FF2B5EF4-FFF2-40B4-BE49-F238E27FC236}">
                          <a16:creationId xmlns:a16="http://schemas.microsoft.com/office/drawing/2014/main" id="{7A30BA0B-167E-A17C-A836-ACB51A01A7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0844" y="10680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72" name="Text">
                      <a:extLst>
                        <a:ext uri="{FF2B5EF4-FFF2-40B4-BE49-F238E27FC236}">
                          <a16:creationId xmlns:a16="http://schemas.microsoft.com/office/drawing/2014/main" id="{7A30BA0B-167E-A17C-A836-ACB51A01A70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50844" y="1068065"/>
                      <a:ext cx="1270001" cy="1270001"/>
                    </a:xfrm>
                    <a:prstGeom prst="line">
                      <a:avLst/>
                    </a:prstGeom>
                    <a:blipFill>
                      <a:blip r:embed="rId10"/>
                      <a:stretch>
                        <a:fillRect l="-11881" t="-11881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3" name="Text">
                      <a:extLst>
                        <a:ext uri="{FF2B5EF4-FFF2-40B4-BE49-F238E27FC236}">
                          <a16:creationId xmlns:a16="http://schemas.microsoft.com/office/drawing/2014/main" id="{EEA872E8-EA84-00DE-5DC3-A1BF503E8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72157" y="63561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4000">
                          <a:solidFill>
                            <a:schemeClr val="accent1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4800" i="1">
                                    <a:solidFill>
                                      <a:srgbClr val="00A1F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800" i="1">
                                    <a:solidFill>
                                      <a:srgbClr val="00A1FE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sz="4800" i="1">
                                    <a:solidFill>
                                      <a:srgbClr val="00A1FE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00A2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73" name="Text">
                      <a:extLst>
                        <a:ext uri="{FF2B5EF4-FFF2-40B4-BE49-F238E27FC236}">
                          <a16:creationId xmlns:a16="http://schemas.microsoft.com/office/drawing/2014/main" id="{EEA872E8-EA84-00DE-5DC3-A1BF503E8D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72157" y="635617"/>
                      <a:ext cx="1270001" cy="1270001"/>
                    </a:xfrm>
                    <a:prstGeom prst="line">
                      <a:avLst/>
                    </a:prstGeom>
                    <a:blipFill>
                      <a:blip r:embed="rId11"/>
                      <a:stretch>
                        <a:fillRect l="-16832" t="-1683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34" name="Group">
              <a:extLst>
                <a:ext uri="{FF2B5EF4-FFF2-40B4-BE49-F238E27FC236}">
                  <a16:creationId xmlns:a16="http://schemas.microsoft.com/office/drawing/2014/main" id="{270934F5-620A-1B3F-35CC-D9AB23F0B6B8}"/>
                </a:ext>
              </a:extLst>
            </p:cNvPr>
            <p:cNvGrpSpPr/>
            <p:nvPr/>
          </p:nvGrpSpPr>
          <p:grpSpPr>
            <a:xfrm>
              <a:off x="15736275" y="3163925"/>
              <a:ext cx="8830712" cy="4788158"/>
              <a:chOff x="-1" y="0"/>
              <a:chExt cx="8830704" cy="4788154"/>
            </a:xfrm>
          </p:grpSpPr>
          <p:grpSp>
            <p:nvGrpSpPr>
              <p:cNvPr id="768" name="Group">
                <a:extLst>
                  <a:ext uri="{FF2B5EF4-FFF2-40B4-BE49-F238E27FC236}">
                    <a16:creationId xmlns:a16="http://schemas.microsoft.com/office/drawing/2014/main" id="{49CB4E43-6977-2AAE-E4DC-78469BA723CE}"/>
                  </a:ext>
                </a:extLst>
              </p:cNvPr>
              <p:cNvGrpSpPr/>
              <p:nvPr/>
            </p:nvGrpSpPr>
            <p:grpSpPr>
              <a:xfrm>
                <a:off x="-1" y="0"/>
                <a:ext cx="8830704" cy="4788154"/>
                <a:chOff x="0" y="0"/>
                <a:chExt cx="8830702" cy="4788153"/>
              </a:xfrm>
            </p:grpSpPr>
            <p:grpSp>
              <p:nvGrpSpPr>
                <p:cNvPr id="772" name="Group">
                  <a:extLst>
                    <a:ext uri="{FF2B5EF4-FFF2-40B4-BE49-F238E27FC236}">
                      <a16:creationId xmlns:a16="http://schemas.microsoft.com/office/drawing/2014/main" id="{6475C596-54C0-7F18-3397-C557DC966306}"/>
                    </a:ext>
                  </a:extLst>
                </p:cNvPr>
                <p:cNvGrpSpPr/>
                <p:nvPr/>
              </p:nvGrpSpPr>
              <p:grpSpPr>
                <a:xfrm>
                  <a:off x="-1" y="0"/>
                  <a:ext cx="8830704" cy="4788154"/>
                  <a:chOff x="0" y="0"/>
                  <a:chExt cx="8830702" cy="4788153"/>
                </a:xfrm>
              </p:grpSpPr>
              <p:grpSp>
                <p:nvGrpSpPr>
                  <p:cNvPr id="774" name="Group">
                    <a:extLst>
                      <a:ext uri="{FF2B5EF4-FFF2-40B4-BE49-F238E27FC236}">
                        <a16:creationId xmlns:a16="http://schemas.microsoft.com/office/drawing/2014/main" id="{1B5F4265-0FA6-2FCD-6E8B-9AA3C323BAF7}"/>
                      </a:ext>
                    </a:extLst>
                  </p:cNvPr>
                  <p:cNvGrpSpPr/>
                  <p:nvPr/>
                </p:nvGrpSpPr>
                <p:grpSpPr>
                  <a:xfrm>
                    <a:off x="4310949" y="0"/>
                    <a:ext cx="4519754" cy="4788154"/>
                    <a:chOff x="0" y="0"/>
                    <a:chExt cx="4519753" cy="4788153"/>
                  </a:xfrm>
                </p:grpSpPr>
                <p:grpSp>
                  <p:nvGrpSpPr>
                    <p:cNvPr id="782" name="Group">
                      <a:extLst>
                        <a:ext uri="{FF2B5EF4-FFF2-40B4-BE49-F238E27FC236}">
                          <a16:creationId xmlns:a16="http://schemas.microsoft.com/office/drawing/2014/main" id="{E9C8AA50-C6F9-CE74-FD96-8FA473D44B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802" name="Group">
                        <a:extLst>
                          <a:ext uri="{FF2B5EF4-FFF2-40B4-BE49-F238E27FC236}">
                            <a16:creationId xmlns:a16="http://schemas.microsoft.com/office/drawing/2014/main" id="{27AD4393-EE4E-E7B5-D235-20D14819AF7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962" name="Line">
                          <a:extLst>
                            <a:ext uri="{FF2B5EF4-FFF2-40B4-BE49-F238E27FC236}">
                              <a16:creationId xmlns:a16="http://schemas.microsoft.com/office/drawing/2014/main" id="{2FBC2407-A04B-022A-3F8A-F7819F83E50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963" name="Line">
                          <a:extLst>
                            <a:ext uri="{FF2B5EF4-FFF2-40B4-BE49-F238E27FC236}">
                              <a16:creationId xmlns:a16="http://schemas.microsoft.com/office/drawing/2014/main" id="{9E9B6362-A8BE-674F-A93B-5BAD934C49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964" name="Line">
                          <a:extLst>
                            <a:ext uri="{FF2B5EF4-FFF2-40B4-BE49-F238E27FC236}">
                              <a16:creationId xmlns:a16="http://schemas.microsoft.com/office/drawing/2014/main" id="{3ED4E2E7-A6FB-6ED4-EF51-B1B65C1229C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803" name="1">
                        <a:extLst>
                          <a:ext uri="{FF2B5EF4-FFF2-40B4-BE49-F238E27FC236}">
                            <a16:creationId xmlns:a16="http://schemas.microsoft.com/office/drawing/2014/main" id="{7C6FE0A0-274D-0D85-2CFC-F3C48C6124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1</a:t>
                        </a:r>
                      </a:p>
                    </p:txBody>
                  </p:sp>
                  <p:grpSp>
                    <p:nvGrpSpPr>
                      <p:cNvPr id="814" name="Group">
                        <a:extLst>
                          <a:ext uri="{FF2B5EF4-FFF2-40B4-BE49-F238E27FC236}">
                            <a16:creationId xmlns:a16="http://schemas.microsoft.com/office/drawing/2014/main" id="{EC12CBB9-D975-54BD-D055-4DEE8DBC35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960" name="Line">
                          <a:extLst>
                            <a:ext uri="{FF2B5EF4-FFF2-40B4-BE49-F238E27FC236}">
                              <a16:creationId xmlns:a16="http://schemas.microsoft.com/office/drawing/2014/main" id="{6E9F9A1D-DC58-6C41-3F3B-4C0D2FEEC5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961" name="Text">
                              <a:extLst>
                                <a:ext uri="{FF2B5EF4-FFF2-40B4-BE49-F238E27FC236}">
                                  <a16:creationId xmlns:a16="http://schemas.microsoft.com/office/drawing/2014/main" id="{55813DD0-7B24-9D3A-C5FA-058F9E0EE5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961" name="Text">
                              <a:extLst>
                                <a:ext uri="{FF2B5EF4-FFF2-40B4-BE49-F238E27FC236}">
                                  <a16:creationId xmlns:a16="http://schemas.microsoft.com/office/drawing/2014/main" id="{55813DD0-7B24-9D3A-C5FA-058F9E0EE5DC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2"/>
                              <a:stretch>
                                <a:fillRect l="-13861" t="-1485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783" name="Group">
                      <a:extLst>
                        <a:ext uri="{FF2B5EF4-FFF2-40B4-BE49-F238E27FC236}">
                          <a16:creationId xmlns:a16="http://schemas.microsoft.com/office/drawing/2014/main" id="{6A6377C4-C9B9-E15F-F2E6-FAE416EE9B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1167915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794" name="Group">
                        <a:extLst>
                          <a:ext uri="{FF2B5EF4-FFF2-40B4-BE49-F238E27FC236}">
                            <a16:creationId xmlns:a16="http://schemas.microsoft.com/office/drawing/2014/main" id="{D4E3A231-7B7A-56A7-C314-AAB0F411E4F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799" name="Line">
                          <a:extLst>
                            <a:ext uri="{FF2B5EF4-FFF2-40B4-BE49-F238E27FC236}">
                              <a16:creationId xmlns:a16="http://schemas.microsoft.com/office/drawing/2014/main" id="{7CF77023-2F15-65E4-3F2D-18893898AC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800" name="Line">
                          <a:extLst>
                            <a:ext uri="{FF2B5EF4-FFF2-40B4-BE49-F238E27FC236}">
                              <a16:creationId xmlns:a16="http://schemas.microsoft.com/office/drawing/2014/main" id="{5DB9CF7F-AB50-1F0A-BA8C-85D638B7FD4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801" name="Line">
                          <a:extLst>
                            <a:ext uri="{FF2B5EF4-FFF2-40B4-BE49-F238E27FC236}">
                              <a16:creationId xmlns:a16="http://schemas.microsoft.com/office/drawing/2014/main" id="{FC9682DC-0C0F-ED6A-F8C2-783DE479A9C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795" name="2">
                        <a:extLst>
                          <a:ext uri="{FF2B5EF4-FFF2-40B4-BE49-F238E27FC236}">
                            <a16:creationId xmlns:a16="http://schemas.microsoft.com/office/drawing/2014/main" id="{69AE0C47-8462-D714-3B44-3DED378DEF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2</a:t>
                        </a:r>
                      </a:p>
                    </p:txBody>
                  </p:sp>
                  <p:grpSp>
                    <p:nvGrpSpPr>
                      <p:cNvPr id="796" name="Group">
                        <a:extLst>
                          <a:ext uri="{FF2B5EF4-FFF2-40B4-BE49-F238E27FC236}">
                            <a16:creationId xmlns:a16="http://schemas.microsoft.com/office/drawing/2014/main" id="{9D8530B4-C3DF-ED2E-47A3-A513485919F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797" name="Line">
                          <a:extLst>
                            <a:ext uri="{FF2B5EF4-FFF2-40B4-BE49-F238E27FC236}">
                              <a16:creationId xmlns:a16="http://schemas.microsoft.com/office/drawing/2014/main" id="{6FF4EDCB-A2FF-D796-68B7-63F044B98A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98" name="Text">
                              <a:extLst>
                                <a:ext uri="{FF2B5EF4-FFF2-40B4-BE49-F238E27FC236}">
                                  <a16:creationId xmlns:a16="http://schemas.microsoft.com/office/drawing/2014/main" id="{D4CF91A4-6C9A-3060-FA75-6C83090823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98" name="Text">
                              <a:extLst>
                                <a:ext uri="{FF2B5EF4-FFF2-40B4-BE49-F238E27FC236}">
                                  <a16:creationId xmlns:a16="http://schemas.microsoft.com/office/drawing/2014/main" id="{D4CF91A4-6C9A-3060-FA75-6C8309082314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3"/>
                              <a:stretch>
                                <a:fillRect l="-13861" t="-1485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784" name="Group">
                      <a:extLst>
                        <a:ext uri="{FF2B5EF4-FFF2-40B4-BE49-F238E27FC236}">
                          <a16:creationId xmlns:a16="http://schemas.microsoft.com/office/drawing/2014/main" id="{4D3A3F59-6B5B-EC61-4EBB-1ADA849B6C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867362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786" name="Group">
                        <a:extLst>
                          <a:ext uri="{FF2B5EF4-FFF2-40B4-BE49-F238E27FC236}">
                            <a16:creationId xmlns:a16="http://schemas.microsoft.com/office/drawing/2014/main" id="{DFF6607C-9BFD-CDE0-3068-296E2135B54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791" name="Line">
                          <a:extLst>
                            <a:ext uri="{FF2B5EF4-FFF2-40B4-BE49-F238E27FC236}">
                              <a16:creationId xmlns:a16="http://schemas.microsoft.com/office/drawing/2014/main" id="{BF97B0B1-DBEC-047C-AE6B-A0344B45413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792" name="Line">
                          <a:extLst>
                            <a:ext uri="{FF2B5EF4-FFF2-40B4-BE49-F238E27FC236}">
                              <a16:creationId xmlns:a16="http://schemas.microsoft.com/office/drawing/2014/main" id="{82E3B670-C00A-EDE9-3952-271E489134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793" name="Line">
                          <a:extLst>
                            <a:ext uri="{FF2B5EF4-FFF2-40B4-BE49-F238E27FC236}">
                              <a16:creationId xmlns:a16="http://schemas.microsoft.com/office/drawing/2014/main" id="{3E6E82F0-04C2-4E0F-6D61-0CB84B074A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787" name="Circle">
                            <a:extLst>
                              <a:ext uri="{FF2B5EF4-FFF2-40B4-BE49-F238E27FC236}">
                                <a16:creationId xmlns:a16="http://schemas.microsoft.com/office/drawing/2014/main" id="{2A704924-D18C-C33B-3029-8D8A7EFA75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noFill/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square" lIns="50800" tIns="50800" rIns="50800" bIns="50800" numCol="1" anchor="ctr">
                            <a:noAutofit/>
                          </a:bodyPr>
                          <a:lstStyle>
                            <a:lvl1pPr algn="ctr" defTabSz="82550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defRPr sz="3000">
                                <a:latin typeface="Helvetica Neue Medium"/>
                                <a:ea typeface="Helvetica Neue Medium"/>
                                <a:cs typeface="Helvetica Neue Medium"/>
                                <a:sym typeface="Helvetica Neue Medium"/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oMath>
                              </m:oMathPara>
                            </a14:m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787" name="Circle">
                            <a:extLst>
                              <a:ext uri="{FF2B5EF4-FFF2-40B4-BE49-F238E27FC236}">
                                <a16:creationId xmlns:a16="http://schemas.microsoft.com/office/drawing/2014/main" id="{2A704924-D18C-C33B-3029-8D8A7EFA75AD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blipFill>
                            <a:blip r:embed="rId14"/>
                            <a:stretch>
                              <a:fillRect/>
                            </a:stretch>
                          </a:blipFill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788" name="Group">
                        <a:extLst>
                          <a:ext uri="{FF2B5EF4-FFF2-40B4-BE49-F238E27FC236}">
                            <a16:creationId xmlns:a16="http://schemas.microsoft.com/office/drawing/2014/main" id="{EE5689D5-EB3C-91A6-21DE-5F516BF11D1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789" name="Line">
                          <a:extLst>
                            <a:ext uri="{FF2B5EF4-FFF2-40B4-BE49-F238E27FC236}">
                              <a16:creationId xmlns:a16="http://schemas.microsoft.com/office/drawing/2014/main" id="{8873D78F-E552-A9C5-4751-F07D6881AD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790" name="Text">
                              <a:extLst>
                                <a:ext uri="{FF2B5EF4-FFF2-40B4-BE49-F238E27FC236}">
                                  <a16:creationId xmlns:a16="http://schemas.microsoft.com/office/drawing/2014/main" id="{5B9ED5DC-3440-C91D-20BA-4428EDE709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790" name="Text">
                              <a:extLst>
                                <a:ext uri="{FF2B5EF4-FFF2-40B4-BE49-F238E27FC236}">
                                  <a16:creationId xmlns:a16="http://schemas.microsoft.com/office/drawing/2014/main" id="{5B9ED5DC-3440-C91D-20BA-4428EDE70957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5"/>
                              <a:stretch>
                                <a:fillRect l="-13861" t="-15000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sp>
                  <p:nvSpPr>
                    <p:cNvPr id="785" name="…">
                      <a:extLst>
                        <a:ext uri="{FF2B5EF4-FFF2-40B4-BE49-F238E27FC236}">
                          <a16:creationId xmlns:a16="http://schemas.microsoft.com/office/drawing/2014/main" id="{E5CD24C7-FEB1-42BA-0E78-E67FC2F7B5D0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86498" y="14923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grpSp>
                <p:nvGrpSpPr>
                  <p:cNvPr id="775" name="Group">
                    <a:extLst>
                      <a:ext uri="{FF2B5EF4-FFF2-40B4-BE49-F238E27FC236}">
                        <a16:creationId xmlns:a16="http://schemas.microsoft.com/office/drawing/2014/main" id="{282CD973-AC27-9641-DD77-7E123C597208}"/>
                      </a:ext>
                    </a:extLst>
                  </p:cNvPr>
                  <p:cNvGrpSpPr/>
                  <p:nvPr/>
                </p:nvGrpSpPr>
                <p:grpSpPr>
                  <a:xfrm>
                    <a:off x="1346012" y="516200"/>
                    <a:ext cx="3408500" cy="2819352"/>
                    <a:chOff x="0" y="0"/>
                    <a:chExt cx="3408498" cy="2819351"/>
                  </a:xfrm>
                </p:grpSpPr>
                <p:sp>
                  <p:nvSpPr>
                    <p:cNvPr id="777" name="JSQ">
                      <a:extLst>
                        <a:ext uri="{FF2B5EF4-FFF2-40B4-BE49-F238E27FC236}">
                          <a16:creationId xmlns:a16="http://schemas.microsoft.com/office/drawing/2014/main" id="{C53E30C1-022C-C266-1C73-9683543984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448496"/>
                      <a:ext cx="1422401" cy="14224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10800"/>
                          </a:moveTo>
                          <a:lnTo>
                            <a:pt x="10800" y="21600"/>
                          </a:lnTo>
                          <a:lnTo>
                            <a:pt x="21600" y="10800"/>
                          </a:lnTo>
                          <a:lnTo>
                            <a:pt x="10800" y="0"/>
                          </a:lnTo>
                          <a:close/>
                        </a:path>
                      </a:pathLst>
                    </a:cu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0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JSQ</a:t>
                      </a:r>
                    </a:p>
                  </p:txBody>
                </p:sp>
                <p:sp>
                  <p:nvSpPr>
                    <p:cNvPr id="778" name="Line">
                      <a:extLst>
                        <a:ext uri="{FF2B5EF4-FFF2-40B4-BE49-F238E27FC236}">
                          <a16:creationId xmlns:a16="http://schemas.microsoft.com/office/drawing/2014/main" id="{08E56B39-8467-5F99-AABE-AD4B54F33D4A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407697" y="-1"/>
                      <a:ext cx="1472888" cy="1172398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779" name="Line">
                      <a:extLst>
                        <a:ext uri="{FF2B5EF4-FFF2-40B4-BE49-F238E27FC236}">
                          <a16:creationId xmlns:a16="http://schemas.microsoft.com/office/drawing/2014/main" id="{2E4F760E-CA5D-4B24-09E3-D07BB093E8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7521" y="1166578"/>
                      <a:ext cx="1468645" cy="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780" name="Line">
                      <a:extLst>
                        <a:ext uri="{FF2B5EF4-FFF2-40B4-BE49-F238E27FC236}">
                          <a16:creationId xmlns:a16="http://schemas.microsoft.com/office/drawing/2014/main" id="{5954C5F3-415A-33C8-6878-DE02A9535D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3574" y="1168551"/>
                      <a:ext cx="1473866" cy="165080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781" name="…">
                      <a:extLst>
                        <a:ext uri="{FF2B5EF4-FFF2-40B4-BE49-F238E27FC236}">
                          <a16:creationId xmlns:a16="http://schemas.microsoft.com/office/drawing/2014/main" id="{74449A08-F7C0-FDB8-F26E-C35A9ADDFC27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138498" y="73606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sp>
                <p:nvSpPr>
                  <p:cNvPr id="776" name="Group">
                    <a:extLst>
                      <a:ext uri="{FF2B5EF4-FFF2-40B4-BE49-F238E27FC236}">
                        <a16:creationId xmlns:a16="http://schemas.microsoft.com/office/drawing/2014/main" id="{CC300B51-175D-1F3A-9496-FF85B4BA9783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-1" y="1680177"/>
                    <a:ext cx="1223401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73" name="Text">
                      <a:extLst>
                        <a:ext uri="{FF2B5EF4-FFF2-40B4-BE49-F238E27FC236}">
                          <a16:creationId xmlns:a16="http://schemas.microsoft.com/office/drawing/2014/main" id="{73CC7BF9-2D80-E34D-F1A1-4146318506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73" name="Text">
                      <a:extLst>
                        <a:ext uri="{FF2B5EF4-FFF2-40B4-BE49-F238E27FC236}">
                          <a16:creationId xmlns:a16="http://schemas.microsoft.com/office/drawing/2014/main" id="{73CC7BF9-2D80-E34D-F1A1-41463185063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blipFill>
                      <a:blip r:embed="rId16"/>
                      <a:stretch>
                        <a:fillRect l="-12871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9" name="Equation">
                    <a:extLst>
                      <a:ext uri="{FF2B5EF4-FFF2-40B4-BE49-F238E27FC236}">
                        <a16:creationId xmlns:a16="http://schemas.microsoft.com/office/drawing/2014/main" id="{3DA95E8A-DA68-A921-9DF1-9A88A3A89EE0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55799"/>
                    <a:ext cx="319865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769" name="Equation">
                    <a:extLst>
                      <a:ext uri="{FF2B5EF4-FFF2-40B4-BE49-F238E27FC236}">
                        <a16:creationId xmlns:a16="http://schemas.microsoft.com/office/drawing/2014/main" id="{3DA95E8A-DA68-A921-9DF1-9A88A3A89E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55799"/>
                    <a:ext cx="319865" cy="30715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0000" r="-57692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0" name="Equation">
                    <a:extLst>
                      <a:ext uri="{FF2B5EF4-FFF2-40B4-BE49-F238E27FC236}">
                        <a16:creationId xmlns:a16="http://schemas.microsoft.com/office/drawing/2014/main" id="{EDC31C1D-7DDF-619C-69EE-E793E09B042D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1204475"/>
                    <a:ext cx="345113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500"/>
                  </a:p>
                </p:txBody>
              </p:sp>
            </mc:Choice>
            <mc:Fallback xmlns="">
              <p:sp>
                <p:nvSpPr>
                  <p:cNvPr id="770" name="Equation">
                    <a:extLst>
                      <a:ext uri="{FF2B5EF4-FFF2-40B4-BE49-F238E27FC236}">
                        <a16:creationId xmlns:a16="http://schemas.microsoft.com/office/drawing/2014/main" id="{EDC31C1D-7DDF-619C-69EE-E793E09B04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204475"/>
                    <a:ext cx="345113" cy="30715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46429" r="-50000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1" name="Equation">
                    <a:extLst>
                      <a:ext uri="{FF2B5EF4-FFF2-40B4-BE49-F238E27FC236}">
                        <a16:creationId xmlns:a16="http://schemas.microsoft.com/office/drawing/2014/main" id="{03FF1D30-06DC-BF99-BB06-2CB5F9384449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2933518"/>
                    <a:ext cx="345113" cy="30999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sz="3500"/>
                  </a:p>
                </p:txBody>
              </p:sp>
            </mc:Choice>
            <mc:Fallback xmlns="">
              <p:sp>
                <p:nvSpPr>
                  <p:cNvPr id="771" name="Equation">
                    <a:extLst>
                      <a:ext uri="{FF2B5EF4-FFF2-40B4-BE49-F238E27FC236}">
                        <a16:creationId xmlns:a16="http://schemas.microsoft.com/office/drawing/2014/main" id="{03FF1D30-06DC-BF99-BB06-2CB5F93844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2933518"/>
                    <a:ext cx="345113" cy="309991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46429" r="-50000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5" name="Text">
                  <a:extLst>
                    <a:ext uri="{FF2B5EF4-FFF2-40B4-BE49-F238E27FC236}">
                      <a16:creationId xmlns:a16="http://schemas.microsoft.com/office/drawing/2014/main" id="{ECD7C322-066E-8E9F-A120-078BFA513AD7}"/>
                    </a:ext>
                  </a:extLst>
                </p:cNvPr>
                <p:cNvSpPr txBox="1"/>
                <p:nvPr/>
              </p:nvSpPr>
              <p:spPr>
                <a:xfrm>
                  <a:off x="16919974" y="11871242"/>
                  <a:ext cx="6414857" cy="13796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0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:=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num>
                          <m:den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𝔼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935" name="Text">
                  <a:extLst>
                    <a:ext uri="{FF2B5EF4-FFF2-40B4-BE49-F238E27FC236}">
                      <a16:creationId xmlns:a16="http://schemas.microsoft.com/office/drawing/2014/main" id="{ECD7C322-066E-8E9F-A120-078BFA513A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19974" y="11871242"/>
                  <a:ext cx="6414857" cy="1379664"/>
                </a:xfrm>
                <a:prstGeom prst="rect">
                  <a:avLst/>
                </a:prstGeom>
                <a:blipFill>
                  <a:blip r:embed="rId20"/>
                  <a:stretch>
                    <a:fillRect l="-988" r="-4150" b="-2727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36" name="Group 935">
              <a:extLst>
                <a:ext uri="{FF2B5EF4-FFF2-40B4-BE49-F238E27FC236}">
                  <a16:creationId xmlns:a16="http://schemas.microsoft.com/office/drawing/2014/main" id="{9CE3E139-C528-B84F-84FB-9F2E62E0F44D}"/>
                </a:ext>
              </a:extLst>
            </p:cNvPr>
            <p:cNvGrpSpPr/>
            <p:nvPr/>
          </p:nvGrpSpPr>
          <p:grpSpPr>
            <a:xfrm>
              <a:off x="19778334" y="578757"/>
              <a:ext cx="4436425" cy="2281467"/>
              <a:chOff x="19778334" y="578757"/>
              <a:chExt cx="4436425" cy="22814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7" name="Markov chain">
                    <a:extLst>
                      <a:ext uri="{FF2B5EF4-FFF2-40B4-BE49-F238E27FC236}">
                        <a16:creationId xmlns:a16="http://schemas.microsoft.com/office/drawing/2014/main" id="{9936B9F4-00ED-13CA-AC39-845F61AADBE1}"/>
                      </a:ext>
                    </a:extLst>
                  </p:cNvPr>
                  <p:cNvSpPr txBox="1"/>
                  <p:nvPr/>
                </p:nvSpPr>
                <p:spPr>
                  <a:xfrm>
                    <a:off x="21220039" y="578757"/>
                    <a:ext cx="1260538" cy="60119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xmlns:lc="http://schemas.openxmlformats.org/drawingml/2006/lockedCanvas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defPPr marL="0" marR="0" indent="0" algn="l" defTabSz="914400" rtl="0" fontAlgn="auto" latinLnBrk="1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</a:defRPr>
                    </a:defPPr>
                    <a:lvl1pPr marL="0" marR="0" indent="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1pPr>
                    <a:lvl2pPr marL="0" marR="0" indent="4572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2pPr>
                    <a:lvl3pPr marL="0" marR="0" indent="9144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3pPr>
                    <a:lvl4pPr marL="0" marR="0" indent="13716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4pPr>
                    <a:lvl5pPr marL="0" marR="0" indent="18288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5pPr>
                    <a:lvl6pPr marL="0" marR="0" indent="22860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6pPr>
                    <a:lvl7pPr marL="0" marR="0" indent="27432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7pPr>
                    <a:lvl8pPr marL="0" marR="0" indent="32004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8pPr>
                    <a:lvl9pPr marL="0" marR="0" indent="3657600" algn="l" defTabSz="2438338" rtl="0" fontAlgn="auto" latinLnBrk="0" hangingPunct="0">
                      <a:lnSpc>
                        <a:spcPct val="90000"/>
                      </a:lnSpc>
                      <a:spcBef>
                        <a:spcPts val="4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4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Helvetica Neue"/>
                      </a:defRPr>
                    </a:lvl9pPr>
                  </a:lstStyle>
                  <a:p>
                    <a:pPr>
                      <a:defRPr sz="3000">
                        <a:solidFill>
                          <a:schemeClr val="accent5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3600" b="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dirty="0"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37" name="Markov chain">
                    <a:extLst>
                      <a:ext uri="{FF2B5EF4-FFF2-40B4-BE49-F238E27FC236}">
                        <a16:creationId xmlns:a16="http://schemas.microsoft.com/office/drawing/2014/main" id="{9936B9F4-00ED-13CA-AC39-845F61AADB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20039" y="578757"/>
                    <a:ext cx="1260538" cy="60119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1980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38" name="Group 937">
                <a:extLst>
                  <a:ext uri="{FF2B5EF4-FFF2-40B4-BE49-F238E27FC236}">
                    <a16:creationId xmlns:a16="http://schemas.microsoft.com/office/drawing/2014/main" id="{3ACCF3E6-090F-CDEA-365D-02E939B5F6D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9778334" y="1397184"/>
                <a:ext cx="4436425" cy="1463040"/>
                <a:chOff x="15235395" y="8914400"/>
                <a:chExt cx="6602796" cy="2177465"/>
              </a:xfrm>
            </p:grpSpPr>
            <p:sp>
              <p:nvSpPr>
                <p:cNvPr id="939" name="Circle">
                  <a:extLst>
                    <a:ext uri="{FF2B5EF4-FFF2-40B4-BE49-F238E27FC236}">
                      <a16:creationId xmlns:a16="http://schemas.microsoft.com/office/drawing/2014/main" id="{C909FD83-1784-C61C-7052-D4CB3DB63A93}"/>
                    </a:ext>
                  </a:extLst>
                </p:cNvPr>
                <p:cNvSpPr/>
                <p:nvPr/>
              </p:nvSpPr>
              <p:spPr>
                <a:xfrm>
                  <a:off x="15235395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40" name="Circle">
                  <a:extLst>
                    <a:ext uri="{FF2B5EF4-FFF2-40B4-BE49-F238E27FC236}">
                      <a16:creationId xmlns:a16="http://schemas.microsoft.com/office/drawing/2014/main" id="{87D3F744-3BA7-0059-D4E8-064338DCD6C6}"/>
                    </a:ext>
                  </a:extLst>
                </p:cNvPr>
                <p:cNvSpPr/>
                <p:nvPr/>
              </p:nvSpPr>
              <p:spPr>
                <a:xfrm>
                  <a:off x="16663474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41" name="Circle">
                  <a:extLst>
                    <a:ext uri="{FF2B5EF4-FFF2-40B4-BE49-F238E27FC236}">
                      <a16:creationId xmlns:a16="http://schemas.microsoft.com/office/drawing/2014/main" id="{D408FF10-E861-0272-058F-CEDC34FE0FEE}"/>
                    </a:ext>
                  </a:extLst>
                </p:cNvPr>
                <p:cNvSpPr/>
                <p:nvPr/>
              </p:nvSpPr>
              <p:spPr>
                <a:xfrm>
                  <a:off x="1809155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42" name="Circle">
                  <a:extLst>
                    <a:ext uri="{FF2B5EF4-FFF2-40B4-BE49-F238E27FC236}">
                      <a16:creationId xmlns:a16="http://schemas.microsoft.com/office/drawing/2014/main" id="{65B94A37-6FF3-C6C4-AC74-7FE98E9D0481}"/>
                    </a:ext>
                  </a:extLst>
                </p:cNvPr>
                <p:cNvSpPr/>
                <p:nvPr/>
              </p:nvSpPr>
              <p:spPr>
                <a:xfrm>
                  <a:off x="15923204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43" name="Circle">
                  <a:extLst>
                    <a:ext uri="{FF2B5EF4-FFF2-40B4-BE49-F238E27FC236}">
                      <a16:creationId xmlns:a16="http://schemas.microsoft.com/office/drawing/2014/main" id="{2B679111-40CB-552B-3823-844C5AB23FBB}"/>
                    </a:ext>
                  </a:extLst>
                </p:cNvPr>
                <p:cNvSpPr/>
                <p:nvPr/>
              </p:nvSpPr>
              <p:spPr>
                <a:xfrm>
                  <a:off x="18772119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44" name="Circle">
                  <a:extLst>
                    <a:ext uri="{FF2B5EF4-FFF2-40B4-BE49-F238E27FC236}">
                      <a16:creationId xmlns:a16="http://schemas.microsoft.com/office/drawing/2014/main" id="{CD3D44ED-B747-D4B4-760E-4A6B791E8E0F}"/>
                    </a:ext>
                  </a:extLst>
                </p:cNvPr>
                <p:cNvSpPr/>
                <p:nvPr/>
              </p:nvSpPr>
              <p:spPr>
                <a:xfrm>
                  <a:off x="1951963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945" name="Circle">
                  <a:extLst>
                    <a:ext uri="{FF2B5EF4-FFF2-40B4-BE49-F238E27FC236}">
                      <a16:creationId xmlns:a16="http://schemas.microsoft.com/office/drawing/2014/main" id="{204A3442-7928-F1A8-C2D6-7DB4B8799D6A}"/>
                    </a:ext>
                  </a:extLst>
                </p:cNvPr>
                <p:cNvSpPr/>
                <p:nvPr/>
              </p:nvSpPr>
              <p:spPr>
                <a:xfrm>
                  <a:off x="20947712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cxnSp>
              <p:nvCxnSpPr>
                <p:cNvPr id="946" name="Curved Connector 945">
                  <a:extLst>
                    <a:ext uri="{FF2B5EF4-FFF2-40B4-BE49-F238E27FC236}">
                      <a16:creationId xmlns:a16="http://schemas.microsoft.com/office/drawing/2014/main" id="{A85A7323-94D6-B960-C8D8-ACCFDF1DBF62}"/>
                    </a:ext>
                  </a:extLst>
                </p:cNvPr>
                <p:cNvCxnSpPr>
                  <a:cxnSpLocks/>
                  <a:stCxn id="939" idx="7"/>
                  <a:endCxn id="940" idx="1"/>
                </p:cNvCxnSpPr>
                <p:nvPr/>
              </p:nvCxnSpPr>
              <p:spPr>
                <a:xfrm rot="5400000" flipH="1" flipV="1">
                  <a:off x="1639467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47" name="Curved Connector 946">
                  <a:extLst>
                    <a:ext uri="{FF2B5EF4-FFF2-40B4-BE49-F238E27FC236}">
                      <a16:creationId xmlns:a16="http://schemas.microsoft.com/office/drawing/2014/main" id="{6CB6F0C8-C5F4-4938-7555-8883EDD29342}"/>
                    </a:ext>
                  </a:extLst>
                </p:cNvPr>
                <p:cNvCxnSpPr>
                  <a:cxnSpLocks/>
                  <a:stCxn id="940" idx="3"/>
                  <a:endCxn id="939" idx="5"/>
                </p:cNvCxnSpPr>
                <p:nvPr/>
              </p:nvCxnSpPr>
              <p:spPr>
                <a:xfrm rot="5400000">
                  <a:off x="16394674" y="9269716"/>
                  <a:ext cx="12700" cy="798416"/>
                </a:xfrm>
                <a:prstGeom prst="curvedConnector3">
                  <a:avLst>
                    <a:gd name="adj1" fmla="val 11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48" name="Curved Connector 947">
                  <a:extLst>
                    <a:ext uri="{FF2B5EF4-FFF2-40B4-BE49-F238E27FC236}">
                      <a16:creationId xmlns:a16="http://schemas.microsoft.com/office/drawing/2014/main" id="{EAF1907C-FF57-CB30-D49B-62D570DF4742}"/>
                    </a:ext>
                  </a:extLst>
                </p:cNvPr>
                <p:cNvCxnSpPr>
                  <a:cxnSpLocks/>
                  <a:stCxn id="940" idx="7"/>
                  <a:endCxn id="941" idx="1"/>
                </p:cNvCxnSpPr>
                <p:nvPr/>
              </p:nvCxnSpPr>
              <p:spPr>
                <a:xfrm rot="5400000" flipH="1" flipV="1">
                  <a:off x="17822753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49" name="Curved Connector 948">
                  <a:extLst>
                    <a:ext uri="{FF2B5EF4-FFF2-40B4-BE49-F238E27FC236}">
                      <a16:creationId xmlns:a16="http://schemas.microsoft.com/office/drawing/2014/main" id="{B497E640-7AEB-D98E-64A3-7B83652AF586}"/>
                    </a:ext>
                  </a:extLst>
                </p:cNvPr>
                <p:cNvCxnSpPr>
                  <a:cxnSpLocks/>
                  <a:stCxn id="941" idx="3"/>
                  <a:endCxn id="940" idx="5"/>
                </p:cNvCxnSpPr>
                <p:nvPr/>
              </p:nvCxnSpPr>
              <p:spPr>
                <a:xfrm rot="5400000">
                  <a:off x="17822753" y="9269716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0" name="Curved Connector 949">
                  <a:extLst>
                    <a:ext uri="{FF2B5EF4-FFF2-40B4-BE49-F238E27FC236}">
                      <a16:creationId xmlns:a16="http://schemas.microsoft.com/office/drawing/2014/main" id="{0DFB5163-5C28-C63C-C9BB-AB5635F555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0700535" y="86319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1" name="Curved Connector 950">
                  <a:extLst>
                    <a:ext uri="{FF2B5EF4-FFF2-40B4-BE49-F238E27FC236}">
                      <a16:creationId xmlns:a16="http://schemas.microsoft.com/office/drawing/2014/main" id="{7C21DDE6-3962-AC1C-70A8-DE51D3FB6C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926164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2" name="Curved Connector 951">
                  <a:extLst>
                    <a:ext uri="{FF2B5EF4-FFF2-40B4-BE49-F238E27FC236}">
                      <a16:creationId xmlns:a16="http://schemas.microsoft.com/office/drawing/2014/main" id="{C8939BF5-D89C-717A-E1FE-5C40C3CEB218}"/>
                    </a:ext>
                  </a:extLst>
                </p:cNvPr>
                <p:cNvCxnSpPr>
                  <a:cxnSpLocks/>
                  <a:stCxn id="944" idx="3"/>
                  <a:endCxn id="941" idx="5"/>
                </p:cNvCxnSpPr>
                <p:nvPr/>
              </p:nvCxnSpPr>
              <p:spPr>
                <a:xfrm rot="5400000">
                  <a:off x="19250833" y="9269716"/>
                  <a:ext cx="12700" cy="798417"/>
                </a:xfrm>
                <a:prstGeom prst="curvedConnector3">
                  <a:avLst>
                    <a:gd name="adj1" fmla="val 819323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3" name="Curved Connector 952">
                  <a:extLst>
                    <a:ext uri="{FF2B5EF4-FFF2-40B4-BE49-F238E27FC236}">
                      <a16:creationId xmlns:a16="http://schemas.microsoft.com/office/drawing/2014/main" id="{1F65C677-4A66-6224-5832-865C496DD63D}"/>
                    </a:ext>
                  </a:extLst>
                </p:cNvPr>
                <p:cNvCxnSpPr>
                  <a:cxnSpLocks/>
                  <a:stCxn id="943" idx="3"/>
                  <a:endCxn id="942" idx="5"/>
                </p:cNvCxnSpPr>
                <p:nvPr/>
              </p:nvCxnSpPr>
              <p:spPr>
                <a:xfrm rot="5400000">
                  <a:off x="17792901" y="9852783"/>
                  <a:ext cx="12700" cy="2219252"/>
                </a:xfrm>
                <a:prstGeom prst="curvedConnector3">
                  <a:avLst>
                    <a:gd name="adj1" fmla="val 28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4" name="Curved Connector 953">
                  <a:extLst>
                    <a:ext uri="{FF2B5EF4-FFF2-40B4-BE49-F238E27FC236}">
                      <a16:creationId xmlns:a16="http://schemas.microsoft.com/office/drawing/2014/main" id="{AACC6EAB-2C0D-8801-E289-87D479B5080A}"/>
                    </a:ext>
                  </a:extLst>
                </p:cNvPr>
                <p:cNvCxnSpPr>
                  <a:cxnSpLocks/>
                  <a:stCxn id="944" idx="4"/>
                  <a:endCxn id="943" idx="7"/>
                </p:cNvCxnSpPr>
                <p:nvPr/>
              </p:nvCxnSpPr>
              <p:spPr>
                <a:xfrm rot="5400000">
                  <a:off x="19479052" y="9851519"/>
                  <a:ext cx="538960" cy="432683"/>
                </a:xfrm>
                <a:prstGeom prst="curvedConnector3">
                  <a:avLst>
                    <a:gd name="adj1" fmla="val 38217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5" name="Curved Connector 954">
                  <a:extLst>
                    <a:ext uri="{FF2B5EF4-FFF2-40B4-BE49-F238E27FC236}">
                      <a16:creationId xmlns:a16="http://schemas.microsoft.com/office/drawing/2014/main" id="{CF6F29AF-6D83-4458-1660-0650FCD469F9}"/>
                    </a:ext>
                  </a:extLst>
                </p:cNvPr>
                <p:cNvCxnSpPr>
                  <a:cxnSpLocks/>
                  <a:stCxn id="943" idx="6"/>
                  <a:endCxn id="945" idx="4"/>
                </p:cNvCxnSpPr>
                <p:nvPr/>
              </p:nvCxnSpPr>
              <p:spPr>
                <a:xfrm flipV="1">
                  <a:off x="19662598" y="9798380"/>
                  <a:ext cx="1730354" cy="85149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6" name="Curved Connector 955">
                  <a:extLst>
                    <a:ext uri="{FF2B5EF4-FFF2-40B4-BE49-F238E27FC236}">
                      <a16:creationId xmlns:a16="http://schemas.microsoft.com/office/drawing/2014/main" id="{DB4E5254-0155-CFF7-F57F-E207FFC558C3}"/>
                    </a:ext>
                  </a:extLst>
                </p:cNvPr>
                <p:cNvCxnSpPr>
                  <a:cxnSpLocks/>
                  <a:stCxn id="945" idx="3"/>
                </p:cNvCxnSpPr>
                <p:nvPr/>
              </p:nvCxnSpPr>
              <p:spPr>
                <a:xfrm rot="5400000">
                  <a:off x="19967646" y="9312974"/>
                  <a:ext cx="754525" cy="146642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7" name="Curved Connector 956">
                  <a:extLst>
                    <a:ext uri="{FF2B5EF4-FFF2-40B4-BE49-F238E27FC236}">
                      <a16:creationId xmlns:a16="http://schemas.microsoft.com/office/drawing/2014/main" id="{378032FD-F466-1E7B-9A7A-9D78EF069FEE}"/>
                    </a:ext>
                  </a:extLst>
                </p:cNvPr>
                <p:cNvCxnSpPr>
                  <a:cxnSpLocks/>
                  <a:stCxn id="942" idx="1"/>
                  <a:endCxn id="939" idx="4"/>
                </p:cNvCxnSpPr>
                <p:nvPr/>
              </p:nvCxnSpPr>
              <p:spPr>
                <a:xfrm rot="16200000" flipV="1">
                  <a:off x="15597644" y="9881371"/>
                  <a:ext cx="538960" cy="372977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8" name="Curved Connector 957">
                  <a:extLst>
                    <a:ext uri="{FF2B5EF4-FFF2-40B4-BE49-F238E27FC236}">
                      <a16:creationId xmlns:a16="http://schemas.microsoft.com/office/drawing/2014/main" id="{CB234D6A-3202-0760-2613-407E60BD1418}"/>
                    </a:ext>
                  </a:extLst>
                </p:cNvPr>
                <p:cNvCxnSpPr>
                  <a:cxnSpLocks/>
                  <a:stCxn id="939" idx="3"/>
                  <a:endCxn id="942" idx="2"/>
                </p:cNvCxnSpPr>
                <p:nvPr/>
              </p:nvCxnSpPr>
              <p:spPr>
                <a:xfrm rot="16200000" flipH="1">
                  <a:off x="15154028" y="9880698"/>
                  <a:ext cx="980951" cy="557401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9" name="Curved Connector 958">
                  <a:extLst>
                    <a:ext uri="{FF2B5EF4-FFF2-40B4-BE49-F238E27FC236}">
                      <a16:creationId xmlns:a16="http://schemas.microsoft.com/office/drawing/2014/main" id="{2737E86F-A2B0-A81A-387A-6565C4E0E5C2}"/>
                    </a:ext>
                  </a:extLst>
                </p:cNvPr>
                <p:cNvCxnSpPr>
                  <a:cxnSpLocks/>
                  <a:stCxn id="942" idx="7"/>
                  <a:endCxn id="943" idx="1"/>
                </p:cNvCxnSpPr>
                <p:nvPr/>
              </p:nvCxnSpPr>
              <p:spPr>
                <a:xfrm rot="5400000" flipH="1" flipV="1">
                  <a:off x="17792901" y="9227714"/>
                  <a:ext cx="12700" cy="2219252"/>
                </a:xfrm>
                <a:prstGeom prst="curvedConnector3">
                  <a:avLst>
                    <a:gd name="adj1" fmla="val 12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" grpId="1" animBg="1" advAuto="0"/>
      <p:bldP spid="815" grpId="2" animBg="1" advAuto="0"/>
      <p:bldP spid="816" grpId="3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oisson Equation for Transform Metho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Poisson Equation for Transform Method</a:t>
            </a:r>
          </a:p>
        </p:txBody>
      </p:sp>
      <p:sp>
        <p:nvSpPr>
          <p:cNvPr id="9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B14FCFE-1A29-F8F4-4175-CDF17AE3010F}"/>
                  </a:ext>
                </a:extLst>
              </p:cNvPr>
              <p:cNvSpPr/>
              <p:nvPr/>
            </p:nvSpPr>
            <p:spPr>
              <a:xfrm>
                <a:off x="560732" y="2733215"/>
                <a:ext cx="16372468" cy="5108349"/>
              </a:xfrm>
              <a:custGeom>
                <a:avLst/>
                <a:gdLst>
                  <a:gd name="connsiteX0" fmla="*/ 0 w 16372468"/>
                  <a:gd name="connsiteY0" fmla="*/ 851409 h 5108349"/>
                  <a:gd name="connsiteX1" fmla="*/ 851409 w 16372468"/>
                  <a:gd name="connsiteY1" fmla="*/ 0 h 5108349"/>
                  <a:gd name="connsiteX2" fmla="*/ 1696660 w 16372468"/>
                  <a:gd name="connsiteY2" fmla="*/ 0 h 5108349"/>
                  <a:gd name="connsiteX3" fmla="*/ 2395215 w 16372468"/>
                  <a:gd name="connsiteY3" fmla="*/ 0 h 5108349"/>
                  <a:gd name="connsiteX4" fmla="*/ 2800377 w 16372468"/>
                  <a:gd name="connsiteY4" fmla="*/ 0 h 5108349"/>
                  <a:gd name="connsiteX5" fmla="*/ 3645628 w 16372468"/>
                  <a:gd name="connsiteY5" fmla="*/ 0 h 5108349"/>
                  <a:gd name="connsiteX6" fmla="*/ 4197486 w 16372468"/>
                  <a:gd name="connsiteY6" fmla="*/ 0 h 5108349"/>
                  <a:gd name="connsiteX7" fmla="*/ 4455952 w 16372468"/>
                  <a:gd name="connsiteY7" fmla="*/ 0 h 5108349"/>
                  <a:gd name="connsiteX8" fmla="*/ 5154506 w 16372468"/>
                  <a:gd name="connsiteY8" fmla="*/ 0 h 5108349"/>
                  <a:gd name="connsiteX9" fmla="*/ 5559668 w 16372468"/>
                  <a:gd name="connsiteY9" fmla="*/ 0 h 5108349"/>
                  <a:gd name="connsiteX10" fmla="*/ 5818133 w 16372468"/>
                  <a:gd name="connsiteY10" fmla="*/ 0 h 5108349"/>
                  <a:gd name="connsiteX11" fmla="*/ 6223295 w 16372468"/>
                  <a:gd name="connsiteY11" fmla="*/ 0 h 5108349"/>
                  <a:gd name="connsiteX12" fmla="*/ 6775153 w 16372468"/>
                  <a:gd name="connsiteY12" fmla="*/ 0 h 5108349"/>
                  <a:gd name="connsiteX13" fmla="*/ 7033619 w 16372468"/>
                  <a:gd name="connsiteY13" fmla="*/ 0 h 5108349"/>
                  <a:gd name="connsiteX14" fmla="*/ 8025566 w 16372468"/>
                  <a:gd name="connsiteY14" fmla="*/ 0 h 5108349"/>
                  <a:gd name="connsiteX15" fmla="*/ 8430728 w 16372468"/>
                  <a:gd name="connsiteY15" fmla="*/ 0 h 5108349"/>
                  <a:gd name="connsiteX16" fmla="*/ 8982586 w 16372468"/>
                  <a:gd name="connsiteY16" fmla="*/ 0 h 5108349"/>
                  <a:gd name="connsiteX17" fmla="*/ 9241052 w 16372468"/>
                  <a:gd name="connsiteY17" fmla="*/ 0 h 5108349"/>
                  <a:gd name="connsiteX18" fmla="*/ 9499517 w 16372468"/>
                  <a:gd name="connsiteY18" fmla="*/ 0 h 5108349"/>
                  <a:gd name="connsiteX19" fmla="*/ 10491465 w 16372468"/>
                  <a:gd name="connsiteY19" fmla="*/ 0 h 5108349"/>
                  <a:gd name="connsiteX20" fmla="*/ 11336716 w 16372468"/>
                  <a:gd name="connsiteY20" fmla="*/ 0 h 5108349"/>
                  <a:gd name="connsiteX21" fmla="*/ 12328664 w 16372468"/>
                  <a:gd name="connsiteY21" fmla="*/ 0 h 5108349"/>
                  <a:gd name="connsiteX22" fmla="*/ 13320611 w 16372468"/>
                  <a:gd name="connsiteY22" fmla="*/ 0 h 5108349"/>
                  <a:gd name="connsiteX23" fmla="*/ 13579077 w 16372468"/>
                  <a:gd name="connsiteY23" fmla="*/ 0 h 5108349"/>
                  <a:gd name="connsiteX24" fmla="*/ 13837542 w 16372468"/>
                  <a:gd name="connsiteY24" fmla="*/ 0 h 5108349"/>
                  <a:gd name="connsiteX25" fmla="*/ 14536097 w 16372468"/>
                  <a:gd name="connsiteY25" fmla="*/ 0 h 5108349"/>
                  <a:gd name="connsiteX26" fmla="*/ 15521059 w 16372468"/>
                  <a:gd name="connsiteY26" fmla="*/ 0 h 5108349"/>
                  <a:gd name="connsiteX27" fmla="*/ 16372468 w 16372468"/>
                  <a:gd name="connsiteY27" fmla="*/ 851409 h 5108349"/>
                  <a:gd name="connsiteX28" fmla="*/ 16372468 w 16372468"/>
                  <a:gd name="connsiteY28" fmla="*/ 1464405 h 5108349"/>
                  <a:gd name="connsiteX29" fmla="*/ 16372468 w 16372468"/>
                  <a:gd name="connsiteY29" fmla="*/ 2145511 h 5108349"/>
                  <a:gd name="connsiteX30" fmla="*/ 16372468 w 16372468"/>
                  <a:gd name="connsiteY30" fmla="*/ 2894728 h 5108349"/>
                  <a:gd name="connsiteX31" fmla="*/ 16372468 w 16372468"/>
                  <a:gd name="connsiteY31" fmla="*/ 3507723 h 5108349"/>
                  <a:gd name="connsiteX32" fmla="*/ 16372468 w 16372468"/>
                  <a:gd name="connsiteY32" fmla="*/ 4256940 h 5108349"/>
                  <a:gd name="connsiteX33" fmla="*/ 15521059 w 16372468"/>
                  <a:gd name="connsiteY33" fmla="*/ 5108349 h 5108349"/>
                  <a:gd name="connsiteX34" fmla="*/ 14969201 w 16372468"/>
                  <a:gd name="connsiteY34" fmla="*/ 5108349 h 5108349"/>
                  <a:gd name="connsiteX35" fmla="*/ 14123949 w 16372468"/>
                  <a:gd name="connsiteY35" fmla="*/ 5108349 h 5108349"/>
                  <a:gd name="connsiteX36" fmla="*/ 13132002 w 16372468"/>
                  <a:gd name="connsiteY36" fmla="*/ 5108349 h 5108349"/>
                  <a:gd name="connsiteX37" fmla="*/ 12433447 w 16372468"/>
                  <a:gd name="connsiteY37" fmla="*/ 5108349 h 5108349"/>
                  <a:gd name="connsiteX38" fmla="*/ 12174982 w 16372468"/>
                  <a:gd name="connsiteY38" fmla="*/ 5108349 h 5108349"/>
                  <a:gd name="connsiteX39" fmla="*/ 11476427 w 16372468"/>
                  <a:gd name="connsiteY39" fmla="*/ 5108349 h 5108349"/>
                  <a:gd name="connsiteX40" fmla="*/ 11217962 w 16372468"/>
                  <a:gd name="connsiteY40" fmla="*/ 5108349 h 5108349"/>
                  <a:gd name="connsiteX41" fmla="*/ 10959496 w 16372468"/>
                  <a:gd name="connsiteY41" fmla="*/ 5108349 h 5108349"/>
                  <a:gd name="connsiteX42" fmla="*/ 10260942 w 16372468"/>
                  <a:gd name="connsiteY42" fmla="*/ 5108349 h 5108349"/>
                  <a:gd name="connsiteX43" fmla="*/ 9709083 w 16372468"/>
                  <a:gd name="connsiteY43" fmla="*/ 5108349 h 5108349"/>
                  <a:gd name="connsiteX44" fmla="*/ 9010529 w 16372468"/>
                  <a:gd name="connsiteY44" fmla="*/ 5108349 h 5108349"/>
                  <a:gd name="connsiteX45" fmla="*/ 8458670 w 16372468"/>
                  <a:gd name="connsiteY45" fmla="*/ 5108349 h 5108349"/>
                  <a:gd name="connsiteX46" fmla="*/ 8053509 w 16372468"/>
                  <a:gd name="connsiteY46" fmla="*/ 5108349 h 5108349"/>
                  <a:gd name="connsiteX47" fmla="*/ 7648347 w 16372468"/>
                  <a:gd name="connsiteY47" fmla="*/ 5108349 h 5108349"/>
                  <a:gd name="connsiteX48" fmla="*/ 7243185 w 16372468"/>
                  <a:gd name="connsiteY48" fmla="*/ 5108349 h 5108349"/>
                  <a:gd name="connsiteX49" fmla="*/ 6251237 w 16372468"/>
                  <a:gd name="connsiteY49" fmla="*/ 5108349 h 5108349"/>
                  <a:gd name="connsiteX50" fmla="*/ 5992772 w 16372468"/>
                  <a:gd name="connsiteY50" fmla="*/ 5108349 h 5108349"/>
                  <a:gd name="connsiteX51" fmla="*/ 5000824 w 16372468"/>
                  <a:gd name="connsiteY51" fmla="*/ 5108349 h 5108349"/>
                  <a:gd name="connsiteX52" fmla="*/ 4155573 w 16372468"/>
                  <a:gd name="connsiteY52" fmla="*/ 5108349 h 5108349"/>
                  <a:gd name="connsiteX53" fmla="*/ 3163625 w 16372468"/>
                  <a:gd name="connsiteY53" fmla="*/ 5108349 h 5108349"/>
                  <a:gd name="connsiteX54" fmla="*/ 2758464 w 16372468"/>
                  <a:gd name="connsiteY54" fmla="*/ 5108349 h 5108349"/>
                  <a:gd name="connsiteX55" fmla="*/ 1766516 w 16372468"/>
                  <a:gd name="connsiteY55" fmla="*/ 5108349 h 5108349"/>
                  <a:gd name="connsiteX56" fmla="*/ 851409 w 16372468"/>
                  <a:gd name="connsiteY56" fmla="*/ 5108349 h 5108349"/>
                  <a:gd name="connsiteX57" fmla="*/ 0 w 16372468"/>
                  <a:gd name="connsiteY57" fmla="*/ 4256940 h 5108349"/>
                  <a:gd name="connsiteX58" fmla="*/ 0 w 16372468"/>
                  <a:gd name="connsiteY58" fmla="*/ 3643944 h 5108349"/>
                  <a:gd name="connsiteX59" fmla="*/ 0 w 16372468"/>
                  <a:gd name="connsiteY59" fmla="*/ 3065004 h 5108349"/>
                  <a:gd name="connsiteX60" fmla="*/ 0 w 16372468"/>
                  <a:gd name="connsiteY60" fmla="*/ 2452009 h 5108349"/>
                  <a:gd name="connsiteX61" fmla="*/ 0 w 16372468"/>
                  <a:gd name="connsiteY61" fmla="*/ 1804958 h 5108349"/>
                  <a:gd name="connsiteX62" fmla="*/ 0 w 16372468"/>
                  <a:gd name="connsiteY62" fmla="*/ 851409 h 5108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6372468" h="5108349" extrusionOk="0">
                    <a:moveTo>
                      <a:pt x="0" y="851409"/>
                    </a:moveTo>
                    <a:cubicBezTo>
                      <a:pt x="-64572" y="418179"/>
                      <a:pt x="368726" y="-39402"/>
                      <a:pt x="851409" y="0"/>
                    </a:cubicBezTo>
                    <a:cubicBezTo>
                      <a:pt x="1153063" y="4474"/>
                      <a:pt x="1398267" y="-10242"/>
                      <a:pt x="1696660" y="0"/>
                    </a:cubicBezTo>
                    <a:cubicBezTo>
                      <a:pt x="1995053" y="10242"/>
                      <a:pt x="2235460" y="-30296"/>
                      <a:pt x="2395215" y="0"/>
                    </a:cubicBezTo>
                    <a:cubicBezTo>
                      <a:pt x="2554970" y="30296"/>
                      <a:pt x="2669684" y="8486"/>
                      <a:pt x="2800377" y="0"/>
                    </a:cubicBezTo>
                    <a:cubicBezTo>
                      <a:pt x="2931070" y="-8486"/>
                      <a:pt x="3454413" y="26822"/>
                      <a:pt x="3645628" y="0"/>
                    </a:cubicBezTo>
                    <a:cubicBezTo>
                      <a:pt x="3836843" y="-26822"/>
                      <a:pt x="3932155" y="-16211"/>
                      <a:pt x="4197486" y="0"/>
                    </a:cubicBezTo>
                    <a:cubicBezTo>
                      <a:pt x="4462817" y="16211"/>
                      <a:pt x="4391973" y="2787"/>
                      <a:pt x="4455952" y="0"/>
                    </a:cubicBezTo>
                    <a:cubicBezTo>
                      <a:pt x="4519931" y="-2787"/>
                      <a:pt x="4966215" y="17866"/>
                      <a:pt x="5154506" y="0"/>
                    </a:cubicBezTo>
                    <a:cubicBezTo>
                      <a:pt x="5342797" y="-17866"/>
                      <a:pt x="5381749" y="-13582"/>
                      <a:pt x="5559668" y="0"/>
                    </a:cubicBezTo>
                    <a:cubicBezTo>
                      <a:pt x="5737587" y="13582"/>
                      <a:pt x="5749712" y="1890"/>
                      <a:pt x="5818133" y="0"/>
                    </a:cubicBezTo>
                    <a:cubicBezTo>
                      <a:pt x="5886554" y="-1890"/>
                      <a:pt x="6124596" y="-6008"/>
                      <a:pt x="6223295" y="0"/>
                    </a:cubicBezTo>
                    <a:cubicBezTo>
                      <a:pt x="6321994" y="6008"/>
                      <a:pt x="6547430" y="-7681"/>
                      <a:pt x="6775153" y="0"/>
                    </a:cubicBezTo>
                    <a:cubicBezTo>
                      <a:pt x="7002876" y="7681"/>
                      <a:pt x="6953096" y="5963"/>
                      <a:pt x="7033619" y="0"/>
                    </a:cubicBezTo>
                    <a:cubicBezTo>
                      <a:pt x="7114142" y="-5963"/>
                      <a:pt x="7633162" y="-40805"/>
                      <a:pt x="8025566" y="0"/>
                    </a:cubicBezTo>
                    <a:cubicBezTo>
                      <a:pt x="8417970" y="40805"/>
                      <a:pt x="8339582" y="9393"/>
                      <a:pt x="8430728" y="0"/>
                    </a:cubicBezTo>
                    <a:cubicBezTo>
                      <a:pt x="8521874" y="-9393"/>
                      <a:pt x="8762506" y="8489"/>
                      <a:pt x="8982586" y="0"/>
                    </a:cubicBezTo>
                    <a:cubicBezTo>
                      <a:pt x="9202666" y="-8489"/>
                      <a:pt x="9173818" y="6854"/>
                      <a:pt x="9241052" y="0"/>
                    </a:cubicBezTo>
                    <a:cubicBezTo>
                      <a:pt x="9308286" y="-6854"/>
                      <a:pt x="9447187" y="-5699"/>
                      <a:pt x="9499517" y="0"/>
                    </a:cubicBezTo>
                    <a:cubicBezTo>
                      <a:pt x="9551847" y="5699"/>
                      <a:pt x="10027761" y="-36889"/>
                      <a:pt x="10491465" y="0"/>
                    </a:cubicBezTo>
                    <a:cubicBezTo>
                      <a:pt x="10955169" y="36889"/>
                      <a:pt x="11019682" y="2847"/>
                      <a:pt x="11336716" y="0"/>
                    </a:cubicBezTo>
                    <a:cubicBezTo>
                      <a:pt x="11653750" y="-2847"/>
                      <a:pt x="11911982" y="34913"/>
                      <a:pt x="12328664" y="0"/>
                    </a:cubicBezTo>
                    <a:cubicBezTo>
                      <a:pt x="12745346" y="-34913"/>
                      <a:pt x="13040762" y="-3262"/>
                      <a:pt x="13320611" y="0"/>
                    </a:cubicBezTo>
                    <a:cubicBezTo>
                      <a:pt x="13600460" y="3262"/>
                      <a:pt x="13476293" y="4628"/>
                      <a:pt x="13579077" y="0"/>
                    </a:cubicBezTo>
                    <a:cubicBezTo>
                      <a:pt x="13681861" y="-4628"/>
                      <a:pt x="13715434" y="-4033"/>
                      <a:pt x="13837542" y="0"/>
                    </a:cubicBezTo>
                    <a:cubicBezTo>
                      <a:pt x="13959651" y="4033"/>
                      <a:pt x="14232697" y="32305"/>
                      <a:pt x="14536097" y="0"/>
                    </a:cubicBezTo>
                    <a:cubicBezTo>
                      <a:pt x="14839497" y="-32305"/>
                      <a:pt x="15314070" y="48165"/>
                      <a:pt x="15521059" y="0"/>
                    </a:cubicBezTo>
                    <a:cubicBezTo>
                      <a:pt x="15901079" y="-69645"/>
                      <a:pt x="16479100" y="353211"/>
                      <a:pt x="16372468" y="851409"/>
                    </a:cubicBezTo>
                    <a:cubicBezTo>
                      <a:pt x="16370908" y="1024583"/>
                      <a:pt x="16357584" y="1181204"/>
                      <a:pt x="16372468" y="1464405"/>
                    </a:cubicBezTo>
                    <a:cubicBezTo>
                      <a:pt x="16387352" y="1747606"/>
                      <a:pt x="16341975" y="1962015"/>
                      <a:pt x="16372468" y="2145511"/>
                    </a:cubicBezTo>
                    <a:cubicBezTo>
                      <a:pt x="16402961" y="2329007"/>
                      <a:pt x="16388972" y="2520582"/>
                      <a:pt x="16372468" y="2894728"/>
                    </a:cubicBezTo>
                    <a:cubicBezTo>
                      <a:pt x="16355964" y="3268874"/>
                      <a:pt x="16390921" y="3355897"/>
                      <a:pt x="16372468" y="3507723"/>
                    </a:cubicBezTo>
                    <a:cubicBezTo>
                      <a:pt x="16354015" y="3659550"/>
                      <a:pt x="16385898" y="3885459"/>
                      <a:pt x="16372468" y="4256940"/>
                    </a:cubicBezTo>
                    <a:cubicBezTo>
                      <a:pt x="16376754" y="4647592"/>
                      <a:pt x="15944853" y="5142319"/>
                      <a:pt x="15521059" y="5108349"/>
                    </a:cubicBezTo>
                    <a:cubicBezTo>
                      <a:pt x="15265291" y="5082955"/>
                      <a:pt x="15149284" y="5115543"/>
                      <a:pt x="14969201" y="5108349"/>
                    </a:cubicBezTo>
                    <a:cubicBezTo>
                      <a:pt x="14789118" y="5101155"/>
                      <a:pt x="14447094" y="5108722"/>
                      <a:pt x="14123949" y="5108349"/>
                    </a:cubicBezTo>
                    <a:cubicBezTo>
                      <a:pt x="13800804" y="5107976"/>
                      <a:pt x="13385251" y="5103661"/>
                      <a:pt x="13132002" y="5108349"/>
                    </a:cubicBezTo>
                    <a:cubicBezTo>
                      <a:pt x="12878753" y="5113037"/>
                      <a:pt x="12610573" y="5080537"/>
                      <a:pt x="12433447" y="5108349"/>
                    </a:cubicBezTo>
                    <a:cubicBezTo>
                      <a:pt x="12256321" y="5136161"/>
                      <a:pt x="12264581" y="5108462"/>
                      <a:pt x="12174982" y="5108349"/>
                    </a:cubicBezTo>
                    <a:cubicBezTo>
                      <a:pt x="12085384" y="5108236"/>
                      <a:pt x="11687811" y="5093083"/>
                      <a:pt x="11476427" y="5108349"/>
                    </a:cubicBezTo>
                    <a:cubicBezTo>
                      <a:pt x="11265044" y="5123615"/>
                      <a:pt x="11313555" y="5116430"/>
                      <a:pt x="11217962" y="5108349"/>
                    </a:cubicBezTo>
                    <a:cubicBezTo>
                      <a:pt x="11122369" y="5100268"/>
                      <a:pt x="11063782" y="5097814"/>
                      <a:pt x="10959496" y="5108349"/>
                    </a:cubicBezTo>
                    <a:cubicBezTo>
                      <a:pt x="10855210" y="5118884"/>
                      <a:pt x="10542018" y="5082177"/>
                      <a:pt x="10260942" y="5108349"/>
                    </a:cubicBezTo>
                    <a:cubicBezTo>
                      <a:pt x="9979866" y="5134521"/>
                      <a:pt x="9851261" y="5093346"/>
                      <a:pt x="9709083" y="5108349"/>
                    </a:cubicBezTo>
                    <a:cubicBezTo>
                      <a:pt x="9566905" y="5123352"/>
                      <a:pt x="9266406" y="5140474"/>
                      <a:pt x="9010529" y="5108349"/>
                    </a:cubicBezTo>
                    <a:cubicBezTo>
                      <a:pt x="8754652" y="5076224"/>
                      <a:pt x="8614526" y="5090199"/>
                      <a:pt x="8458670" y="5108349"/>
                    </a:cubicBezTo>
                    <a:cubicBezTo>
                      <a:pt x="8302814" y="5126499"/>
                      <a:pt x="8193661" y="5093646"/>
                      <a:pt x="8053509" y="5108349"/>
                    </a:cubicBezTo>
                    <a:cubicBezTo>
                      <a:pt x="7913357" y="5123052"/>
                      <a:pt x="7766500" y="5103957"/>
                      <a:pt x="7648347" y="5108349"/>
                    </a:cubicBezTo>
                    <a:cubicBezTo>
                      <a:pt x="7530194" y="5112741"/>
                      <a:pt x="7444443" y="5111361"/>
                      <a:pt x="7243185" y="5108349"/>
                    </a:cubicBezTo>
                    <a:cubicBezTo>
                      <a:pt x="7041927" y="5105337"/>
                      <a:pt x="6656185" y="5126940"/>
                      <a:pt x="6251237" y="5108349"/>
                    </a:cubicBezTo>
                    <a:cubicBezTo>
                      <a:pt x="5846289" y="5089758"/>
                      <a:pt x="6105087" y="5098445"/>
                      <a:pt x="5992772" y="5108349"/>
                    </a:cubicBezTo>
                    <a:cubicBezTo>
                      <a:pt x="5880457" y="5118253"/>
                      <a:pt x="5483287" y="5106163"/>
                      <a:pt x="5000824" y="5108349"/>
                    </a:cubicBezTo>
                    <a:cubicBezTo>
                      <a:pt x="4518361" y="5110535"/>
                      <a:pt x="4542756" y="5069189"/>
                      <a:pt x="4155573" y="5108349"/>
                    </a:cubicBezTo>
                    <a:cubicBezTo>
                      <a:pt x="3768390" y="5147509"/>
                      <a:pt x="3599301" y="5121706"/>
                      <a:pt x="3163625" y="5108349"/>
                    </a:cubicBezTo>
                    <a:cubicBezTo>
                      <a:pt x="2727949" y="5094992"/>
                      <a:pt x="2891314" y="5119367"/>
                      <a:pt x="2758464" y="5108349"/>
                    </a:cubicBezTo>
                    <a:cubicBezTo>
                      <a:pt x="2625614" y="5097331"/>
                      <a:pt x="2020140" y="5151717"/>
                      <a:pt x="1766516" y="5108349"/>
                    </a:cubicBezTo>
                    <a:cubicBezTo>
                      <a:pt x="1512892" y="5064981"/>
                      <a:pt x="1092667" y="5091254"/>
                      <a:pt x="851409" y="5108349"/>
                    </a:cubicBezTo>
                    <a:cubicBezTo>
                      <a:pt x="376979" y="5086426"/>
                      <a:pt x="58778" y="4821642"/>
                      <a:pt x="0" y="4256940"/>
                    </a:cubicBezTo>
                    <a:cubicBezTo>
                      <a:pt x="-15080" y="4041176"/>
                      <a:pt x="23530" y="3879147"/>
                      <a:pt x="0" y="3643944"/>
                    </a:cubicBezTo>
                    <a:cubicBezTo>
                      <a:pt x="-23530" y="3408741"/>
                      <a:pt x="-27998" y="3327300"/>
                      <a:pt x="0" y="3065004"/>
                    </a:cubicBezTo>
                    <a:cubicBezTo>
                      <a:pt x="27998" y="2802708"/>
                      <a:pt x="28548" y="2699183"/>
                      <a:pt x="0" y="2452009"/>
                    </a:cubicBezTo>
                    <a:cubicBezTo>
                      <a:pt x="-28548" y="2204836"/>
                      <a:pt x="11084" y="2110792"/>
                      <a:pt x="0" y="1804958"/>
                    </a:cubicBezTo>
                    <a:cubicBezTo>
                      <a:pt x="-11084" y="1499124"/>
                      <a:pt x="-39114" y="1135238"/>
                      <a:pt x="0" y="851409"/>
                    </a:cubicBezTo>
                    <a:close/>
                  </a:path>
                </a:pathLst>
              </a:custGeom>
              <a:noFill/>
              <a:ln w="38100" cap="flat">
                <a:solidFill>
                  <a:schemeClr val="tx2"/>
                </a:solidFill>
                <a:miter lim="400000"/>
                <a:extLst>
                  <a:ext uri="{C807C97D-BFC1-408E-A445-0C87EB9F89A2}">
                    <ask:lineSketchStyleProps xmlns:ask="http://schemas.microsoft.com/office/drawing/2018/sketchyshapes" sd="3941031545">
                      <a:prstGeom prst="round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600" b="1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Poisson equation: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60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sz="36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 Medium"/>
                                <a:cs typeface="Helvetica Neue Medium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 Medium"/>
                                <a:cs typeface="Helvetica Neue Medium"/>
                                <a:sym typeface="Helvetica Neue Medium"/>
                              </a:rPr>
                              <m:t>𝑍</m:t>
                            </m:r>
                            <m:d>
                              <m:dPr>
                                <m:ctrlPr>
                                  <a:rPr kumimoji="0" lang="en-US" sz="3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2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dPr>
                              <m:e>
                                <m:r>
                                  <a:rPr kumimoji="0" lang="en-US" sz="36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2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Helvetica Neue Medium"/>
                                    <a:cs typeface="Helvetica Neue Medium"/>
                                    <a:sym typeface="Helvetica Neue Medium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n-US" sz="360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be a CTMC with countable state space </a:t>
                </a:r>
                <a14:m>
                  <m:oMath xmlns:m="http://schemas.openxmlformats.org/officeDocument/2006/math">
                    <m:r>
                      <a:rPr kumimoji="0" lang="en-US" sz="360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𝒵</m:t>
                    </m:r>
                  </m:oMath>
                </a14:m>
                <a:r>
                  <a:rPr kumimoji="0" lang="en-US" sz="360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and transition 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𝛼</m:t>
                        </m:r>
                      </m:e>
                      <m:sub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,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  <m:r>
                          <a:rPr lang="en-US" sz="36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’</m:t>
                        </m:r>
                      </m:sub>
                    </m:sSub>
                  </m:oMath>
                </a14:m>
                <a:endParaRPr kumimoji="0" lang="en-US" sz="360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600" dirty="0">
                    <a:solidFill>
                      <a:schemeClr val="tx2"/>
                    </a:solidFill>
                    <a:ea typeface="Helvetica Neue Medium"/>
                    <a:cs typeface="Helvetica Neue Medium"/>
                    <a:sym typeface="Helvetica Neue Medium"/>
                  </a:rPr>
                  <a:t>Consider a function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𝑓</m:t>
                    </m:r>
                    <m:r>
                      <a:rPr lang="en-US" sz="3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:</m:t>
                    </m:r>
                    <m:r>
                      <a:rPr lang="en-US" sz="3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𝒵</m:t>
                    </m:r>
                    <m:r>
                      <a:rPr lang="en-US" sz="3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→</m:t>
                    </m:r>
                    <m:r>
                      <a:rPr lang="en-US" sz="3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ℝ</m:t>
                    </m:r>
                  </m:oMath>
                </a14:m>
                <a:r>
                  <a:rPr kumimoji="0" lang="en-US" sz="360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and let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360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acc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𝑓</m:t>
                        </m:r>
                      </m:e>
                    </m:acc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d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𝑓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(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𝑍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)</m:t>
                        </m:r>
                      </m:e>
                    </m:d>
                  </m:oMath>
                </a14:m>
                <a:r>
                  <a:rPr kumimoji="0" lang="en-US" sz="360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. Then, there exists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𝑉</m:t>
                        </m:r>
                      </m:e>
                      <m:sub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𝑓</m:t>
                        </m:r>
                      </m:sub>
                    </m:sSub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: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𝒵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→</m:t>
                    </m:r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ℝ</m:t>
                    </m:r>
                  </m:oMath>
                </a14:m>
                <a:r>
                  <a:rPr kumimoji="0" lang="en-US" sz="360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such that</a:t>
                </a: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sz="3600" dirty="0">
                  <a:solidFill>
                    <a:schemeClr val="tx2"/>
                  </a:solidFill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𝑉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𝑖</m:t>
                          </m:r>
                        </m:e>
                      </m:d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=</m:t>
                      </m:r>
                      <m:f>
                        <m:f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dPr>
                            <m:e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𝑖</m:t>
                              </m:r>
                            </m:e>
                          </m:d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accPr>
                            <m:e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𝑓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𝑖</m:t>
                              </m:r>
                              <m: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  <m:t>⋅</m:t>
                              </m:r>
                            </m:sub>
                          </m:sSub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𝑖</m:t>
                          </m:r>
                          <m:r>
                            <a:rPr lang="en-US" sz="3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’</m:t>
                          </m:r>
                          <m:r>
                            <a:rPr lang="en-US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≠</m:t>
                          </m:r>
                          <m:r>
                            <a:rPr lang="en-US" sz="3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0" lang="en-US" sz="36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 Medium"/>
                                  <a:cs typeface="Helvetica Neue Medium"/>
                                  <a:sym typeface="Helvetica Neue Medium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  <m:t>𝑖</m:t>
                                  </m:r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  <m:t>,</m:t>
                                  </m:r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  <m:t>𝑖</m:t>
                                  </m:r>
                                  <m:r>
                                    <a:rPr lang="en-US" sz="360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  <m:t>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  <m:t>𝑖</m:t>
                                  </m:r>
                                  <m:r>
                                    <a:rPr kumimoji="0" lang="en-US" sz="36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 Medium"/>
                                      <a:cs typeface="Helvetica Neue Medium"/>
                                      <a:sym typeface="Helvetica Neue Medium"/>
                                    </a:rPr>
                                    <m:t>⋅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𝑉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 Medium"/>
                              <a:cs typeface="Helvetica Neue Medium"/>
                              <a:sym typeface="Helvetica Neue Medium"/>
                            </a:rPr>
                            <m:t>𝑓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𝑖</m:t>
                      </m:r>
                      <m:r>
                        <a:rPr lang="en-US" sz="3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’</m:t>
                      </m:r>
                      <m:r>
                        <a:rPr lang="en-US" sz="36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Helvetica Neue Medium"/>
                          <a:cs typeface="Helvetica Neue Medium"/>
                          <a:sym typeface="Helvetica Neue Medium"/>
                        </a:rPr>
                        <m:t>)</m:t>
                      </m:r>
                    </m:oMath>
                  </m:oMathPara>
                </a14:m>
                <a:endParaRPr kumimoji="0" lang="en-US" sz="360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B14FCFE-1A29-F8F4-4175-CDF17AE30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32" y="2733215"/>
                <a:ext cx="16372468" cy="5108349"/>
              </a:xfrm>
              <a:prstGeom prst="roundRect">
                <a:avLst/>
              </a:prstGeom>
              <a:blipFill>
                <a:blip r:embed="rId3"/>
                <a:stretch>
                  <a:fillRect b="-46829"/>
                </a:stretch>
              </a:blipFill>
              <a:ln w="38100" cap="flat">
                <a:solidFill>
                  <a:schemeClr val="tx2"/>
                </a:solidFill>
                <a:miter lim="400000"/>
                <a:extLst>
                  <a:ext uri="{C807C97D-BFC1-408E-A445-0C87EB9F89A2}">
                    <ask:lineSketchStyleProps xmlns:ask="http://schemas.microsoft.com/office/drawing/2018/sketchyshapes" sd="3941031545">
                      <a:custGeom>
                        <a:avLst/>
                        <a:gdLst>
                          <a:gd name="connsiteX0" fmla="*/ 0 w 16372468"/>
                          <a:gd name="connsiteY0" fmla="*/ 851409 h 5108349"/>
                          <a:gd name="connsiteX1" fmla="*/ 851409 w 16372468"/>
                          <a:gd name="connsiteY1" fmla="*/ 0 h 5108349"/>
                          <a:gd name="connsiteX2" fmla="*/ 1696660 w 16372468"/>
                          <a:gd name="connsiteY2" fmla="*/ 0 h 5108349"/>
                          <a:gd name="connsiteX3" fmla="*/ 2395215 w 16372468"/>
                          <a:gd name="connsiteY3" fmla="*/ 0 h 5108349"/>
                          <a:gd name="connsiteX4" fmla="*/ 2800377 w 16372468"/>
                          <a:gd name="connsiteY4" fmla="*/ 0 h 5108349"/>
                          <a:gd name="connsiteX5" fmla="*/ 3645628 w 16372468"/>
                          <a:gd name="connsiteY5" fmla="*/ 0 h 5108349"/>
                          <a:gd name="connsiteX6" fmla="*/ 4197486 w 16372468"/>
                          <a:gd name="connsiteY6" fmla="*/ 0 h 5108349"/>
                          <a:gd name="connsiteX7" fmla="*/ 4455952 w 16372468"/>
                          <a:gd name="connsiteY7" fmla="*/ 0 h 5108349"/>
                          <a:gd name="connsiteX8" fmla="*/ 5154506 w 16372468"/>
                          <a:gd name="connsiteY8" fmla="*/ 0 h 5108349"/>
                          <a:gd name="connsiteX9" fmla="*/ 5559668 w 16372468"/>
                          <a:gd name="connsiteY9" fmla="*/ 0 h 5108349"/>
                          <a:gd name="connsiteX10" fmla="*/ 5818133 w 16372468"/>
                          <a:gd name="connsiteY10" fmla="*/ 0 h 5108349"/>
                          <a:gd name="connsiteX11" fmla="*/ 6223295 w 16372468"/>
                          <a:gd name="connsiteY11" fmla="*/ 0 h 5108349"/>
                          <a:gd name="connsiteX12" fmla="*/ 6775153 w 16372468"/>
                          <a:gd name="connsiteY12" fmla="*/ 0 h 5108349"/>
                          <a:gd name="connsiteX13" fmla="*/ 7033619 w 16372468"/>
                          <a:gd name="connsiteY13" fmla="*/ 0 h 5108349"/>
                          <a:gd name="connsiteX14" fmla="*/ 8025566 w 16372468"/>
                          <a:gd name="connsiteY14" fmla="*/ 0 h 5108349"/>
                          <a:gd name="connsiteX15" fmla="*/ 8430728 w 16372468"/>
                          <a:gd name="connsiteY15" fmla="*/ 0 h 5108349"/>
                          <a:gd name="connsiteX16" fmla="*/ 8982586 w 16372468"/>
                          <a:gd name="connsiteY16" fmla="*/ 0 h 5108349"/>
                          <a:gd name="connsiteX17" fmla="*/ 9241052 w 16372468"/>
                          <a:gd name="connsiteY17" fmla="*/ 0 h 5108349"/>
                          <a:gd name="connsiteX18" fmla="*/ 9499517 w 16372468"/>
                          <a:gd name="connsiteY18" fmla="*/ 0 h 5108349"/>
                          <a:gd name="connsiteX19" fmla="*/ 10491465 w 16372468"/>
                          <a:gd name="connsiteY19" fmla="*/ 0 h 5108349"/>
                          <a:gd name="connsiteX20" fmla="*/ 11336716 w 16372468"/>
                          <a:gd name="connsiteY20" fmla="*/ 0 h 5108349"/>
                          <a:gd name="connsiteX21" fmla="*/ 12328664 w 16372468"/>
                          <a:gd name="connsiteY21" fmla="*/ 0 h 5108349"/>
                          <a:gd name="connsiteX22" fmla="*/ 13320611 w 16372468"/>
                          <a:gd name="connsiteY22" fmla="*/ 0 h 5108349"/>
                          <a:gd name="connsiteX23" fmla="*/ 13579077 w 16372468"/>
                          <a:gd name="connsiteY23" fmla="*/ 0 h 5108349"/>
                          <a:gd name="connsiteX24" fmla="*/ 13837542 w 16372468"/>
                          <a:gd name="connsiteY24" fmla="*/ 0 h 5108349"/>
                          <a:gd name="connsiteX25" fmla="*/ 14536097 w 16372468"/>
                          <a:gd name="connsiteY25" fmla="*/ 0 h 5108349"/>
                          <a:gd name="connsiteX26" fmla="*/ 15521059 w 16372468"/>
                          <a:gd name="connsiteY26" fmla="*/ 0 h 5108349"/>
                          <a:gd name="connsiteX27" fmla="*/ 16372468 w 16372468"/>
                          <a:gd name="connsiteY27" fmla="*/ 851409 h 5108349"/>
                          <a:gd name="connsiteX28" fmla="*/ 16372468 w 16372468"/>
                          <a:gd name="connsiteY28" fmla="*/ 1464405 h 5108349"/>
                          <a:gd name="connsiteX29" fmla="*/ 16372468 w 16372468"/>
                          <a:gd name="connsiteY29" fmla="*/ 2145511 h 5108349"/>
                          <a:gd name="connsiteX30" fmla="*/ 16372468 w 16372468"/>
                          <a:gd name="connsiteY30" fmla="*/ 2894728 h 5108349"/>
                          <a:gd name="connsiteX31" fmla="*/ 16372468 w 16372468"/>
                          <a:gd name="connsiteY31" fmla="*/ 3507723 h 5108349"/>
                          <a:gd name="connsiteX32" fmla="*/ 16372468 w 16372468"/>
                          <a:gd name="connsiteY32" fmla="*/ 4256940 h 5108349"/>
                          <a:gd name="connsiteX33" fmla="*/ 15521059 w 16372468"/>
                          <a:gd name="connsiteY33" fmla="*/ 5108349 h 5108349"/>
                          <a:gd name="connsiteX34" fmla="*/ 14969201 w 16372468"/>
                          <a:gd name="connsiteY34" fmla="*/ 5108349 h 5108349"/>
                          <a:gd name="connsiteX35" fmla="*/ 14123949 w 16372468"/>
                          <a:gd name="connsiteY35" fmla="*/ 5108349 h 5108349"/>
                          <a:gd name="connsiteX36" fmla="*/ 13132002 w 16372468"/>
                          <a:gd name="connsiteY36" fmla="*/ 5108349 h 5108349"/>
                          <a:gd name="connsiteX37" fmla="*/ 12433447 w 16372468"/>
                          <a:gd name="connsiteY37" fmla="*/ 5108349 h 5108349"/>
                          <a:gd name="connsiteX38" fmla="*/ 12174982 w 16372468"/>
                          <a:gd name="connsiteY38" fmla="*/ 5108349 h 5108349"/>
                          <a:gd name="connsiteX39" fmla="*/ 11476427 w 16372468"/>
                          <a:gd name="connsiteY39" fmla="*/ 5108349 h 5108349"/>
                          <a:gd name="connsiteX40" fmla="*/ 11217962 w 16372468"/>
                          <a:gd name="connsiteY40" fmla="*/ 5108349 h 5108349"/>
                          <a:gd name="connsiteX41" fmla="*/ 10959496 w 16372468"/>
                          <a:gd name="connsiteY41" fmla="*/ 5108349 h 5108349"/>
                          <a:gd name="connsiteX42" fmla="*/ 10260942 w 16372468"/>
                          <a:gd name="connsiteY42" fmla="*/ 5108349 h 5108349"/>
                          <a:gd name="connsiteX43" fmla="*/ 9709083 w 16372468"/>
                          <a:gd name="connsiteY43" fmla="*/ 5108349 h 5108349"/>
                          <a:gd name="connsiteX44" fmla="*/ 9010529 w 16372468"/>
                          <a:gd name="connsiteY44" fmla="*/ 5108349 h 5108349"/>
                          <a:gd name="connsiteX45" fmla="*/ 8458670 w 16372468"/>
                          <a:gd name="connsiteY45" fmla="*/ 5108349 h 5108349"/>
                          <a:gd name="connsiteX46" fmla="*/ 8053509 w 16372468"/>
                          <a:gd name="connsiteY46" fmla="*/ 5108349 h 5108349"/>
                          <a:gd name="connsiteX47" fmla="*/ 7648347 w 16372468"/>
                          <a:gd name="connsiteY47" fmla="*/ 5108349 h 5108349"/>
                          <a:gd name="connsiteX48" fmla="*/ 7243185 w 16372468"/>
                          <a:gd name="connsiteY48" fmla="*/ 5108349 h 5108349"/>
                          <a:gd name="connsiteX49" fmla="*/ 6251237 w 16372468"/>
                          <a:gd name="connsiteY49" fmla="*/ 5108349 h 5108349"/>
                          <a:gd name="connsiteX50" fmla="*/ 5992772 w 16372468"/>
                          <a:gd name="connsiteY50" fmla="*/ 5108349 h 5108349"/>
                          <a:gd name="connsiteX51" fmla="*/ 5000824 w 16372468"/>
                          <a:gd name="connsiteY51" fmla="*/ 5108349 h 5108349"/>
                          <a:gd name="connsiteX52" fmla="*/ 4155573 w 16372468"/>
                          <a:gd name="connsiteY52" fmla="*/ 5108349 h 5108349"/>
                          <a:gd name="connsiteX53" fmla="*/ 3163625 w 16372468"/>
                          <a:gd name="connsiteY53" fmla="*/ 5108349 h 5108349"/>
                          <a:gd name="connsiteX54" fmla="*/ 2758464 w 16372468"/>
                          <a:gd name="connsiteY54" fmla="*/ 5108349 h 5108349"/>
                          <a:gd name="connsiteX55" fmla="*/ 1766516 w 16372468"/>
                          <a:gd name="connsiteY55" fmla="*/ 5108349 h 5108349"/>
                          <a:gd name="connsiteX56" fmla="*/ 851409 w 16372468"/>
                          <a:gd name="connsiteY56" fmla="*/ 5108349 h 5108349"/>
                          <a:gd name="connsiteX57" fmla="*/ 0 w 16372468"/>
                          <a:gd name="connsiteY57" fmla="*/ 4256940 h 5108349"/>
                          <a:gd name="connsiteX58" fmla="*/ 0 w 16372468"/>
                          <a:gd name="connsiteY58" fmla="*/ 3643944 h 5108349"/>
                          <a:gd name="connsiteX59" fmla="*/ 0 w 16372468"/>
                          <a:gd name="connsiteY59" fmla="*/ 3065004 h 5108349"/>
                          <a:gd name="connsiteX60" fmla="*/ 0 w 16372468"/>
                          <a:gd name="connsiteY60" fmla="*/ 2452009 h 5108349"/>
                          <a:gd name="connsiteX61" fmla="*/ 0 w 16372468"/>
                          <a:gd name="connsiteY61" fmla="*/ 1804958 h 5108349"/>
                          <a:gd name="connsiteX62" fmla="*/ 0 w 16372468"/>
                          <a:gd name="connsiteY62" fmla="*/ 851409 h 510834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  <a:cxn ang="0">
                            <a:pos x="connsiteX62" y="connsiteY62"/>
                          </a:cxn>
                        </a:cxnLst>
                        <a:rect l="l" t="t" r="r" b="b"/>
                        <a:pathLst>
                          <a:path w="16372468" h="5108349" extrusionOk="0">
                            <a:moveTo>
                              <a:pt x="0" y="851409"/>
                            </a:moveTo>
                            <a:cubicBezTo>
                              <a:pt x="-64572" y="418179"/>
                              <a:pt x="368726" y="-39402"/>
                              <a:pt x="851409" y="0"/>
                            </a:cubicBezTo>
                            <a:cubicBezTo>
                              <a:pt x="1153063" y="4474"/>
                              <a:pt x="1398267" y="-10242"/>
                              <a:pt x="1696660" y="0"/>
                            </a:cubicBezTo>
                            <a:cubicBezTo>
                              <a:pt x="1995053" y="10242"/>
                              <a:pt x="2235460" y="-30296"/>
                              <a:pt x="2395215" y="0"/>
                            </a:cubicBezTo>
                            <a:cubicBezTo>
                              <a:pt x="2554970" y="30296"/>
                              <a:pt x="2669684" y="8486"/>
                              <a:pt x="2800377" y="0"/>
                            </a:cubicBezTo>
                            <a:cubicBezTo>
                              <a:pt x="2931070" y="-8486"/>
                              <a:pt x="3454413" y="26822"/>
                              <a:pt x="3645628" y="0"/>
                            </a:cubicBezTo>
                            <a:cubicBezTo>
                              <a:pt x="3836843" y="-26822"/>
                              <a:pt x="3932155" y="-16211"/>
                              <a:pt x="4197486" y="0"/>
                            </a:cubicBezTo>
                            <a:cubicBezTo>
                              <a:pt x="4462817" y="16211"/>
                              <a:pt x="4391973" y="2787"/>
                              <a:pt x="4455952" y="0"/>
                            </a:cubicBezTo>
                            <a:cubicBezTo>
                              <a:pt x="4519931" y="-2787"/>
                              <a:pt x="4966215" y="17866"/>
                              <a:pt x="5154506" y="0"/>
                            </a:cubicBezTo>
                            <a:cubicBezTo>
                              <a:pt x="5342797" y="-17866"/>
                              <a:pt x="5381749" y="-13582"/>
                              <a:pt x="5559668" y="0"/>
                            </a:cubicBezTo>
                            <a:cubicBezTo>
                              <a:pt x="5737587" y="13582"/>
                              <a:pt x="5749712" y="1890"/>
                              <a:pt x="5818133" y="0"/>
                            </a:cubicBezTo>
                            <a:cubicBezTo>
                              <a:pt x="5886554" y="-1890"/>
                              <a:pt x="6124596" y="-6008"/>
                              <a:pt x="6223295" y="0"/>
                            </a:cubicBezTo>
                            <a:cubicBezTo>
                              <a:pt x="6321994" y="6008"/>
                              <a:pt x="6547430" y="-7681"/>
                              <a:pt x="6775153" y="0"/>
                            </a:cubicBezTo>
                            <a:cubicBezTo>
                              <a:pt x="7002876" y="7681"/>
                              <a:pt x="6953096" y="5963"/>
                              <a:pt x="7033619" y="0"/>
                            </a:cubicBezTo>
                            <a:cubicBezTo>
                              <a:pt x="7114142" y="-5963"/>
                              <a:pt x="7633162" y="-40805"/>
                              <a:pt x="8025566" y="0"/>
                            </a:cubicBezTo>
                            <a:cubicBezTo>
                              <a:pt x="8417970" y="40805"/>
                              <a:pt x="8339582" y="9393"/>
                              <a:pt x="8430728" y="0"/>
                            </a:cubicBezTo>
                            <a:cubicBezTo>
                              <a:pt x="8521874" y="-9393"/>
                              <a:pt x="8762506" y="8489"/>
                              <a:pt x="8982586" y="0"/>
                            </a:cubicBezTo>
                            <a:cubicBezTo>
                              <a:pt x="9202666" y="-8489"/>
                              <a:pt x="9173818" y="6854"/>
                              <a:pt x="9241052" y="0"/>
                            </a:cubicBezTo>
                            <a:cubicBezTo>
                              <a:pt x="9308286" y="-6854"/>
                              <a:pt x="9447187" y="-5699"/>
                              <a:pt x="9499517" y="0"/>
                            </a:cubicBezTo>
                            <a:cubicBezTo>
                              <a:pt x="9551847" y="5699"/>
                              <a:pt x="10027761" y="-36889"/>
                              <a:pt x="10491465" y="0"/>
                            </a:cubicBezTo>
                            <a:cubicBezTo>
                              <a:pt x="10955169" y="36889"/>
                              <a:pt x="11019682" y="2847"/>
                              <a:pt x="11336716" y="0"/>
                            </a:cubicBezTo>
                            <a:cubicBezTo>
                              <a:pt x="11653750" y="-2847"/>
                              <a:pt x="11911982" y="34913"/>
                              <a:pt x="12328664" y="0"/>
                            </a:cubicBezTo>
                            <a:cubicBezTo>
                              <a:pt x="12745346" y="-34913"/>
                              <a:pt x="13040762" y="-3262"/>
                              <a:pt x="13320611" y="0"/>
                            </a:cubicBezTo>
                            <a:cubicBezTo>
                              <a:pt x="13600460" y="3262"/>
                              <a:pt x="13476293" y="4628"/>
                              <a:pt x="13579077" y="0"/>
                            </a:cubicBezTo>
                            <a:cubicBezTo>
                              <a:pt x="13681861" y="-4628"/>
                              <a:pt x="13715434" y="-4033"/>
                              <a:pt x="13837542" y="0"/>
                            </a:cubicBezTo>
                            <a:cubicBezTo>
                              <a:pt x="13959651" y="4033"/>
                              <a:pt x="14232697" y="32305"/>
                              <a:pt x="14536097" y="0"/>
                            </a:cubicBezTo>
                            <a:cubicBezTo>
                              <a:pt x="14839497" y="-32305"/>
                              <a:pt x="15314070" y="48165"/>
                              <a:pt x="15521059" y="0"/>
                            </a:cubicBezTo>
                            <a:cubicBezTo>
                              <a:pt x="15901079" y="-69645"/>
                              <a:pt x="16479100" y="353211"/>
                              <a:pt x="16372468" y="851409"/>
                            </a:cubicBezTo>
                            <a:cubicBezTo>
                              <a:pt x="16370908" y="1024583"/>
                              <a:pt x="16357584" y="1181204"/>
                              <a:pt x="16372468" y="1464405"/>
                            </a:cubicBezTo>
                            <a:cubicBezTo>
                              <a:pt x="16387352" y="1747606"/>
                              <a:pt x="16341975" y="1962015"/>
                              <a:pt x="16372468" y="2145511"/>
                            </a:cubicBezTo>
                            <a:cubicBezTo>
                              <a:pt x="16402961" y="2329007"/>
                              <a:pt x="16388972" y="2520582"/>
                              <a:pt x="16372468" y="2894728"/>
                            </a:cubicBezTo>
                            <a:cubicBezTo>
                              <a:pt x="16355964" y="3268874"/>
                              <a:pt x="16390921" y="3355897"/>
                              <a:pt x="16372468" y="3507723"/>
                            </a:cubicBezTo>
                            <a:cubicBezTo>
                              <a:pt x="16354015" y="3659550"/>
                              <a:pt x="16385898" y="3885459"/>
                              <a:pt x="16372468" y="4256940"/>
                            </a:cubicBezTo>
                            <a:cubicBezTo>
                              <a:pt x="16376754" y="4647592"/>
                              <a:pt x="15944853" y="5142319"/>
                              <a:pt x="15521059" y="5108349"/>
                            </a:cubicBezTo>
                            <a:cubicBezTo>
                              <a:pt x="15265291" y="5082955"/>
                              <a:pt x="15149284" y="5115543"/>
                              <a:pt x="14969201" y="5108349"/>
                            </a:cubicBezTo>
                            <a:cubicBezTo>
                              <a:pt x="14789118" y="5101155"/>
                              <a:pt x="14447094" y="5108722"/>
                              <a:pt x="14123949" y="5108349"/>
                            </a:cubicBezTo>
                            <a:cubicBezTo>
                              <a:pt x="13800804" y="5107976"/>
                              <a:pt x="13385251" y="5103661"/>
                              <a:pt x="13132002" y="5108349"/>
                            </a:cubicBezTo>
                            <a:cubicBezTo>
                              <a:pt x="12878753" y="5113037"/>
                              <a:pt x="12610573" y="5080537"/>
                              <a:pt x="12433447" y="5108349"/>
                            </a:cubicBezTo>
                            <a:cubicBezTo>
                              <a:pt x="12256321" y="5136161"/>
                              <a:pt x="12264581" y="5108462"/>
                              <a:pt x="12174982" y="5108349"/>
                            </a:cubicBezTo>
                            <a:cubicBezTo>
                              <a:pt x="12085384" y="5108236"/>
                              <a:pt x="11687811" y="5093083"/>
                              <a:pt x="11476427" y="5108349"/>
                            </a:cubicBezTo>
                            <a:cubicBezTo>
                              <a:pt x="11265044" y="5123615"/>
                              <a:pt x="11313555" y="5116430"/>
                              <a:pt x="11217962" y="5108349"/>
                            </a:cubicBezTo>
                            <a:cubicBezTo>
                              <a:pt x="11122369" y="5100268"/>
                              <a:pt x="11063782" y="5097814"/>
                              <a:pt x="10959496" y="5108349"/>
                            </a:cubicBezTo>
                            <a:cubicBezTo>
                              <a:pt x="10855210" y="5118884"/>
                              <a:pt x="10542018" y="5082177"/>
                              <a:pt x="10260942" y="5108349"/>
                            </a:cubicBezTo>
                            <a:cubicBezTo>
                              <a:pt x="9979866" y="5134521"/>
                              <a:pt x="9851261" y="5093346"/>
                              <a:pt x="9709083" y="5108349"/>
                            </a:cubicBezTo>
                            <a:cubicBezTo>
                              <a:pt x="9566905" y="5123352"/>
                              <a:pt x="9266406" y="5140474"/>
                              <a:pt x="9010529" y="5108349"/>
                            </a:cubicBezTo>
                            <a:cubicBezTo>
                              <a:pt x="8754652" y="5076224"/>
                              <a:pt x="8614526" y="5090199"/>
                              <a:pt x="8458670" y="5108349"/>
                            </a:cubicBezTo>
                            <a:cubicBezTo>
                              <a:pt x="8302814" y="5126499"/>
                              <a:pt x="8193661" y="5093646"/>
                              <a:pt x="8053509" y="5108349"/>
                            </a:cubicBezTo>
                            <a:cubicBezTo>
                              <a:pt x="7913357" y="5123052"/>
                              <a:pt x="7766500" y="5103957"/>
                              <a:pt x="7648347" y="5108349"/>
                            </a:cubicBezTo>
                            <a:cubicBezTo>
                              <a:pt x="7530194" y="5112741"/>
                              <a:pt x="7444443" y="5111361"/>
                              <a:pt x="7243185" y="5108349"/>
                            </a:cubicBezTo>
                            <a:cubicBezTo>
                              <a:pt x="7041927" y="5105337"/>
                              <a:pt x="6656185" y="5126940"/>
                              <a:pt x="6251237" y="5108349"/>
                            </a:cubicBezTo>
                            <a:cubicBezTo>
                              <a:pt x="5846289" y="5089758"/>
                              <a:pt x="6105087" y="5098445"/>
                              <a:pt x="5992772" y="5108349"/>
                            </a:cubicBezTo>
                            <a:cubicBezTo>
                              <a:pt x="5880457" y="5118253"/>
                              <a:pt x="5483287" y="5106163"/>
                              <a:pt x="5000824" y="5108349"/>
                            </a:cubicBezTo>
                            <a:cubicBezTo>
                              <a:pt x="4518361" y="5110535"/>
                              <a:pt x="4542756" y="5069189"/>
                              <a:pt x="4155573" y="5108349"/>
                            </a:cubicBezTo>
                            <a:cubicBezTo>
                              <a:pt x="3768390" y="5147509"/>
                              <a:pt x="3599301" y="5121706"/>
                              <a:pt x="3163625" y="5108349"/>
                            </a:cubicBezTo>
                            <a:cubicBezTo>
                              <a:pt x="2727949" y="5094992"/>
                              <a:pt x="2891314" y="5119367"/>
                              <a:pt x="2758464" y="5108349"/>
                            </a:cubicBezTo>
                            <a:cubicBezTo>
                              <a:pt x="2625614" y="5097331"/>
                              <a:pt x="2020140" y="5151717"/>
                              <a:pt x="1766516" y="5108349"/>
                            </a:cubicBezTo>
                            <a:cubicBezTo>
                              <a:pt x="1512892" y="5064981"/>
                              <a:pt x="1092667" y="5091254"/>
                              <a:pt x="851409" y="5108349"/>
                            </a:cubicBezTo>
                            <a:cubicBezTo>
                              <a:pt x="376979" y="5086426"/>
                              <a:pt x="58778" y="4821642"/>
                              <a:pt x="0" y="4256940"/>
                            </a:cubicBezTo>
                            <a:cubicBezTo>
                              <a:pt x="-15080" y="4041176"/>
                              <a:pt x="23530" y="3879147"/>
                              <a:pt x="0" y="3643944"/>
                            </a:cubicBezTo>
                            <a:cubicBezTo>
                              <a:pt x="-23530" y="3408741"/>
                              <a:pt x="-27998" y="3327300"/>
                              <a:pt x="0" y="3065004"/>
                            </a:cubicBezTo>
                            <a:cubicBezTo>
                              <a:pt x="27998" y="2802708"/>
                              <a:pt x="28548" y="2699183"/>
                              <a:pt x="0" y="2452009"/>
                            </a:cubicBezTo>
                            <a:cubicBezTo>
                              <a:pt x="-28548" y="2204836"/>
                              <a:pt x="11084" y="2110792"/>
                              <a:pt x="0" y="1804958"/>
                            </a:cubicBezTo>
                            <a:cubicBezTo>
                              <a:pt x="-11084" y="1499124"/>
                              <a:pt x="-39114" y="1135238"/>
                              <a:pt x="0" y="851409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F06D5DC-7019-D2FA-C2A3-5E53D1D8E2DF}"/>
                  </a:ext>
                </a:extLst>
              </p:cNvPr>
              <p:cNvSpPr/>
              <p:nvPr/>
            </p:nvSpPr>
            <p:spPr>
              <a:xfrm>
                <a:off x="600878" y="8658427"/>
                <a:ext cx="22228604" cy="330125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Theorem [Hurtado-Lange, G ‘25]:</a:t>
                </a: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lang="en-US" sz="4000" dirty="0">
                    <a:solidFill>
                      <a:schemeClr val="accent1">
                        <a:lumMod val="75000"/>
                      </a:schemeClr>
                    </a:solidFill>
                    <a:ea typeface="Helvetica Neue Medium"/>
                    <a:cs typeface="Helvetica Neue Medium"/>
                    <a:sym typeface="Helvetica Neue Medium"/>
                  </a:rPr>
                  <a:t>For any function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𝑓</m:t>
                    </m:r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:</m:t>
                    </m:r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𝒵</m:t>
                    </m:r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→</m:t>
                    </m:r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ℝ</m:t>
                    </m:r>
                  </m:oMath>
                </a14:m>
                <a:r>
                  <a:rPr kumimoji="0" lang="en-US" sz="4000" i="1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</a:t>
                </a:r>
                <a:r>
                  <a:rPr kumimoji="0" lang="en-US" sz="400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𝑉</m:t>
                        </m:r>
                      </m:e>
                      <m:sub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dPr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𝑖</m:t>
                        </m:r>
                      </m:e>
                    </m:d>
                  </m:oMath>
                </a14:m>
                <a:r>
                  <a:rPr kumimoji="0" lang="en-US" sz="400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exists and </a:t>
                </a:r>
                <a14:m>
                  <m:oMath xmlns:m="http://schemas.openxmlformats.org/officeDocument/2006/math">
                    <m:r>
                      <a:rPr kumimoji="0" lang="en-US" sz="400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400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sz="400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 Medium"/>
                                <a:sym typeface="Helvetica Neue Medium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0" lang="en-US" sz="400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 Medium"/>
                                    <a:sym typeface="Helvetica Neue Medium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Neue Medium"/>
                                        <a:sym typeface="Helvetica Neue Medium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Neue Medium"/>
                                        <a:sym typeface="Helvetica Neue Medium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Neue Medium"/>
                                        <a:sym typeface="Helvetica Neue Medium"/>
                                      </a:rPr>
                                      <m:t>𝑓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Neue Medium"/>
                                        <a:sym typeface="Helvetica Neue Medium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40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Helvetica Neue Medium"/>
                                        <a:sym typeface="Helvetica Neue Medium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kumimoji="0" lang="en-US" sz="4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 Medium"/>
                                <a:sym typeface="Helvetica Neue Medium"/>
                              </a:rPr>
                              <m:t>1</m:t>
                            </m:r>
                            <m:r>
                              <a:rPr kumimoji="0" lang="en-US" sz="4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 Medium"/>
                                <a:sym typeface="Helvetica Neue Medium"/>
                              </a:rPr>
                              <m:t>+</m:t>
                            </m:r>
                            <m:r>
                              <a:rPr kumimoji="0" lang="en-US" sz="40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 Medium"/>
                                <a:sym typeface="Helvetica Neue Medium"/>
                              </a:rPr>
                              <m:t>𝜂</m:t>
                            </m:r>
                          </m:sup>
                        </m:sSup>
                      </m:e>
                    </m:d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&lt;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∞</m:t>
                    </m:r>
                  </m:oMath>
                </a14:m>
                <a:r>
                  <a:rPr kumimoji="0" lang="en-US" sz="400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for some 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𝜂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&gt;</m:t>
                    </m:r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0</m:t>
                    </m:r>
                  </m:oMath>
                </a14:m>
                <a:r>
                  <a:rPr kumimoji="0" lang="en-US" sz="400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, we have</a:t>
                </a: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𝐶𝑜𝑣</m:t>
                      </m:r>
                      <m:d>
                        <m:dPr>
                          <m:ctrlP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𝑠</m:t>
                              </m:r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400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4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,</m:t>
                          </m:r>
                          <m:r>
                            <a:rPr lang="en-US" sz="4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=</m:t>
                      </m:r>
                      <m:r>
                        <a:rPr kumimoji="0" lang="en-US" sz="400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40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𝑠</m:t>
                              </m:r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n-US" sz="4000" b="0" i="0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Σ</m:t>
                                  </m:r>
                                </m:sub>
                              </m:sSub>
                            </m:sup>
                          </m:sSup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𝑓</m:t>
                          </m:r>
                          <m:d>
                            <m:dPr>
                              <m:ctrlP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dPr>
                            <m:e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 −</m:t>
                      </m:r>
                      <m:r>
                        <a:rPr lang="en-US" sz="4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𝑠</m:t>
                              </m:r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400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Σ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acc>
                        <m:accPr>
                          <m:chr m:val="̅"/>
                          <m:ctrlPr>
                            <a:rPr kumimoji="0" lang="en-US" sz="40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accPr>
                        <m:e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𝑓</m:t>
                          </m:r>
                        </m:e>
                      </m:acc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=</m:t>
                      </m:r>
                      <m:d>
                        <m:dPr>
                          <m:ctrlP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400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𝑠</m:t>
                              </m:r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𝜖</m:t>
                              </m:r>
                            </m:sup>
                          </m:sSup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−</m:t>
                          </m:r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1</m:t>
                          </m:r>
                        </m:e>
                      </m:d>
                      <m:r>
                        <a:rPr lang="en-US" sz="4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𝑠</m:t>
                              </m:r>
                              <m:r>
                                <a:rPr lang="en-US" sz="4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en-US" sz="40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400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Σ</m:t>
                                  </m:r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𝑓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4000" b="0" i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Σ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4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𝑂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𝜖</m:t>
                              </m:r>
                            </m:e>
                            <m:sup>
                              <m: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2</m:t>
                              </m:r>
                              <m:r>
                                <a:rPr lang="en-US" sz="4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1</m:t>
                                  </m:r>
                                  <m: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+</m:t>
                                  </m:r>
                                  <m:r>
                                    <a:rPr lang="en-US" sz="4000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𝜂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400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F06D5DC-7019-D2FA-C2A3-5E53D1D8E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78" y="8658427"/>
                <a:ext cx="22228604" cy="330125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2" name="Group"/>
          <p:cNvGrpSpPr/>
          <p:nvPr/>
        </p:nvGrpSpPr>
        <p:grpSpPr>
          <a:xfrm>
            <a:off x="5203506" y="11596716"/>
            <a:ext cx="6988494" cy="1834554"/>
            <a:chOff x="0" y="-3810"/>
            <a:chExt cx="6988492" cy="1834553"/>
          </a:xfrm>
        </p:grpSpPr>
        <p:sp>
          <p:nvSpPr>
            <p:cNvPr id="950" name="Connection Line"/>
            <p:cNvSpPr/>
            <p:nvPr/>
          </p:nvSpPr>
          <p:spPr>
            <a:xfrm>
              <a:off x="1226820" y="-3810"/>
              <a:ext cx="3848100" cy="10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88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</a:path>
              </a:pathLst>
            </a:custGeom>
            <a:noFill/>
            <a:ln w="50800" cap="flat">
              <a:solidFill>
                <a:schemeClr val="accent3">
                  <a:hueOff val="362282"/>
                  <a:satOff val="31803"/>
                  <a:lumOff val="-18242"/>
                </a:schemeClr>
              </a:solidFill>
              <a:prstDash val="solid"/>
              <a:miter lim="400000"/>
              <a:headEnd type="arrow" w="med" len="med"/>
              <a:tailEnd type="arrow" w="med" len="med"/>
            </a:ln>
            <a:effectLst/>
          </p:spPr>
          <p:txBody>
            <a:bodyPr/>
            <a:lstStyle/>
            <a:p>
              <a:endParaRPr/>
            </a:p>
          </p:txBody>
        </p:sp>
        <p:sp>
          <p:nvSpPr>
            <p:cNvPr id="941" name="Separate expectation of product"/>
            <p:cNvSpPr txBox="1"/>
            <p:nvPr/>
          </p:nvSpPr>
          <p:spPr>
            <a:xfrm>
              <a:off x="0" y="1220888"/>
              <a:ext cx="6988493" cy="6098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44500" indent="-444500">
                <a:buSzPct val="123000"/>
                <a:buChar char="✓"/>
                <a:defRPr sz="350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defRPr>
              </a:lvl1pPr>
            </a:lstStyle>
            <a:p>
              <a:r>
                <a:rPr dirty="0"/>
                <a:t>Separate expectation of product</a:t>
              </a:r>
            </a:p>
          </p:txBody>
        </p:sp>
      </p:grpSp>
      <p:grpSp>
        <p:nvGrpSpPr>
          <p:cNvPr id="949" name="Group"/>
          <p:cNvGrpSpPr/>
          <p:nvPr/>
        </p:nvGrpSpPr>
        <p:grpSpPr>
          <a:xfrm>
            <a:off x="14716800" y="11508885"/>
            <a:ext cx="3750728" cy="2175411"/>
            <a:chOff x="-822088" y="0"/>
            <a:chExt cx="3750727" cy="2175409"/>
          </a:xfrm>
        </p:grpSpPr>
        <p:sp>
          <p:nvSpPr>
            <p:cNvPr id="947" name="Line"/>
            <p:cNvSpPr/>
            <p:nvPr/>
          </p:nvSpPr>
          <p:spPr>
            <a:xfrm flipV="1">
              <a:off x="1053274" y="-1"/>
              <a:ext cx="1" cy="113806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948" name="Solution to Poisson equation"/>
            <p:cNvSpPr txBox="1"/>
            <p:nvPr/>
          </p:nvSpPr>
          <p:spPr>
            <a:xfrm>
              <a:off x="-822089" y="1095681"/>
              <a:ext cx="3750728" cy="10797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3500">
                  <a:solidFill>
                    <a:srgbClr val="5E5E5E"/>
                  </a:solidFill>
                </a:defRPr>
              </a:lvl1pPr>
            </a:lstStyle>
            <a:p>
              <a:r>
                <a:rPr dirty="0"/>
                <a:t>Solution to Poisson equation</a:t>
              </a:r>
            </a:p>
          </p:txBody>
        </p:sp>
      </p:grpSp>
      <p:grpSp>
        <p:nvGrpSpPr>
          <p:cNvPr id="945" name="Group"/>
          <p:cNvGrpSpPr/>
          <p:nvPr/>
        </p:nvGrpSpPr>
        <p:grpSpPr>
          <a:xfrm>
            <a:off x="20342891" y="11422429"/>
            <a:ext cx="2106550" cy="1645871"/>
            <a:chOff x="0" y="0"/>
            <a:chExt cx="2106548" cy="1645870"/>
          </a:xfrm>
        </p:grpSpPr>
        <p:sp>
          <p:nvSpPr>
            <p:cNvPr id="943" name="Line"/>
            <p:cNvSpPr/>
            <p:nvPr/>
          </p:nvSpPr>
          <p:spPr>
            <a:xfrm flipV="1">
              <a:off x="1053274" y="-1"/>
              <a:ext cx="1" cy="113806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944" name="Error term"/>
            <p:cNvSpPr txBox="1"/>
            <p:nvPr/>
          </p:nvSpPr>
          <p:spPr>
            <a:xfrm>
              <a:off x="0" y="1036016"/>
              <a:ext cx="2106550" cy="6098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>
                  <a:solidFill>
                    <a:srgbClr val="5E5E5E"/>
                  </a:solidFill>
                </a:defRPr>
              </a:lvl1pPr>
            </a:lstStyle>
            <a:p>
              <a:r>
                <a:rPr dirty="0"/>
                <a:t>Error term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53C2D6E-0D48-1983-C56D-1348C3BF9FD7}"/>
              </a:ext>
            </a:extLst>
          </p:cNvPr>
          <p:cNvGrpSpPr/>
          <p:nvPr/>
        </p:nvGrpSpPr>
        <p:grpSpPr>
          <a:xfrm>
            <a:off x="17094953" y="3850890"/>
            <a:ext cx="7032660" cy="1828800"/>
            <a:chOff x="17094953" y="3850890"/>
            <a:chExt cx="7032660" cy="1828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Markov chain">
                  <a:extLst>
                    <a:ext uri="{FF2B5EF4-FFF2-40B4-BE49-F238E27FC236}">
                      <a16:creationId xmlns:a16="http://schemas.microsoft.com/office/drawing/2014/main" id="{6C704AB6-5093-4AA7-7A4E-CAAE32FE3931}"/>
                    </a:ext>
                  </a:extLst>
                </p:cNvPr>
                <p:cNvSpPr txBox="1"/>
                <p:nvPr/>
              </p:nvSpPr>
              <p:spPr>
                <a:xfrm>
                  <a:off x="17094953" y="4464695"/>
                  <a:ext cx="1550296" cy="6011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lc="http://schemas.openxmlformats.org/drawingml/2006/lockedCanvas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def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</a:defRPr>
                  </a:defPPr>
                  <a:lvl1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1pPr>
                  <a:lvl2pPr marL="0" marR="0" indent="457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2pPr>
                  <a:lvl3pPr marL="0" marR="0" indent="914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3pPr>
                  <a:lvl4pPr marL="0" marR="0" indent="1371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4pPr>
                  <a:lvl5pPr marL="0" marR="0" indent="18288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5pPr>
                  <a:lvl6pPr marL="0" marR="0" indent="22860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6pPr>
                  <a:lvl7pPr marL="0" marR="0" indent="27432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7pPr>
                  <a:lvl8pPr marL="0" marR="0" indent="32004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8pPr>
                  <a:lvl9pPr marL="0" marR="0" indent="365760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4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defRPr>
                  </a:lvl9pPr>
                </a:lstStyle>
                <a:p>
                  <a:pPr>
                    <a:defRPr sz="3000">
                      <a:solidFill>
                        <a:schemeClr val="accent5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rgbClr val="FE634D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sz="3600" b="0" i="1" smtClean="0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rgbClr val="FE634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3600" b="0" i="1" smtClean="0">
                            <a:solidFill>
                              <a:srgbClr val="FE634D"/>
                            </a:solidFill>
                            <a:latin typeface="Cambria Math" panose="02040503050406030204" pitchFamily="18" charset="0"/>
                          </a:rPr>
                          <m:t>∼</m:t>
                        </m:r>
                      </m:oMath>
                    </m:oMathPara>
                  </a14:m>
                  <a:endParaRPr dirty="0">
                    <a:solidFill>
                      <a:srgbClr val="FF644E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Markov chain">
                  <a:extLst>
                    <a:ext uri="{FF2B5EF4-FFF2-40B4-BE49-F238E27FC236}">
                      <a16:creationId xmlns:a16="http://schemas.microsoft.com/office/drawing/2014/main" id="{6C704AB6-5093-4AA7-7A4E-CAAE32FE3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4953" y="4464695"/>
                  <a:ext cx="1550296" cy="601190"/>
                </a:xfrm>
                <a:prstGeom prst="rect">
                  <a:avLst/>
                </a:prstGeom>
                <a:blipFill>
                  <a:blip r:embed="rId5"/>
                  <a:stretch>
                    <a:fillRect l="-161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C7B8C75-F89B-5C30-FB27-0AF1FA64A07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582080" y="3850890"/>
              <a:ext cx="5545533" cy="1828800"/>
              <a:chOff x="15235395" y="8914400"/>
              <a:chExt cx="6602796" cy="2177465"/>
            </a:xfrm>
          </p:grpSpPr>
          <p:sp>
            <p:nvSpPr>
              <p:cNvPr id="7" name="Circle">
                <a:extLst>
                  <a:ext uri="{FF2B5EF4-FFF2-40B4-BE49-F238E27FC236}">
                    <a16:creationId xmlns:a16="http://schemas.microsoft.com/office/drawing/2014/main" id="{52A93B5C-57FD-964B-101B-1DC6D16C49FF}"/>
                  </a:ext>
                </a:extLst>
              </p:cNvPr>
              <p:cNvSpPr/>
              <p:nvPr/>
            </p:nvSpPr>
            <p:spPr>
              <a:xfrm>
                <a:off x="15235395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457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914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1371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18288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22860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2743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3200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3657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" name="Circle">
                <a:extLst>
                  <a:ext uri="{FF2B5EF4-FFF2-40B4-BE49-F238E27FC236}">
                    <a16:creationId xmlns:a16="http://schemas.microsoft.com/office/drawing/2014/main" id="{C5FC9D98-89E5-BD95-EF7A-E6497B0DDEA3}"/>
                  </a:ext>
                </a:extLst>
              </p:cNvPr>
              <p:cNvSpPr/>
              <p:nvPr/>
            </p:nvSpPr>
            <p:spPr>
              <a:xfrm>
                <a:off x="16663474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457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914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1371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18288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22860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2743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3200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3657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" name="Circle">
                <a:extLst>
                  <a:ext uri="{FF2B5EF4-FFF2-40B4-BE49-F238E27FC236}">
                    <a16:creationId xmlns:a16="http://schemas.microsoft.com/office/drawing/2014/main" id="{FBA91A71-0792-D2E3-D8EE-4819E2AB05C8}"/>
                  </a:ext>
                </a:extLst>
              </p:cNvPr>
              <p:cNvSpPr/>
              <p:nvPr/>
            </p:nvSpPr>
            <p:spPr>
              <a:xfrm>
                <a:off x="18091553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457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914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1371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18288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22860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2743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3200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3657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9828179E-F86D-E8E6-E188-CC1D312BE18E}"/>
                  </a:ext>
                </a:extLst>
              </p:cNvPr>
              <p:cNvSpPr/>
              <p:nvPr/>
            </p:nvSpPr>
            <p:spPr>
              <a:xfrm>
                <a:off x="15923204" y="10207884"/>
                <a:ext cx="890479" cy="883981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457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914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1371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18288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22860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2743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3200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3657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1" name="Circle">
                <a:extLst>
                  <a:ext uri="{FF2B5EF4-FFF2-40B4-BE49-F238E27FC236}">
                    <a16:creationId xmlns:a16="http://schemas.microsoft.com/office/drawing/2014/main" id="{E20F5B45-917B-8AAA-962D-15BE6E2BFD09}"/>
                  </a:ext>
                </a:extLst>
              </p:cNvPr>
              <p:cNvSpPr/>
              <p:nvPr/>
            </p:nvSpPr>
            <p:spPr>
              <a:xfrm>
                <a:off x="18772119" y="10207884"/>
                <a:ext cx="890479" cy="883981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457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914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1371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18288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22860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2743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3200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3657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" name="Circle">
                <a:extLst>
                  <a:ext uri="{FF2B5EF4-FFF2-40B4-BE49-F238E27FC236}">
                    <a16:creationId xmlns:a16="http://schemas.microsoft.com/office/drawing/2014/main" id="{9FCF8300-39AE-2DEF-3D70-4EDFBB6B96FD}"/>
                  </a:ext>
                </a:extLst>
              </p:cNvPr>
              <p:cNvSpPr/>
              <p:nvPr/>
            </p:nvSpPr>
            <p:spPr>
              <a:xfrm>
                <a:off x="19519633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457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914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1371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18288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22860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2743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3200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3657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3AC410B4-57E6-F98E-C217-0DE216C5917B}"/>
                  </a:ext>
                </a:extLst>
              </p:cNvPr>
              <p:cNvSpPr/>
              <p:nvPr/>
            </p:nvSpPr>
            <p:spPr>
              <a:xfrm>
                <a:off x="20947712" y="8914400"/>
                <a:ext cx="890479" cy="883980"/>
              </a:xfrm>
              <a:prstGeom prst="ellipse">
                <a:avLst/>
              </a:prstGeom>
              <a:solidFill>
                <a:schemeClr val="accent5">
                  <a:hueOff val="-152895"/>
                  <a:lumOff val="12368"/>
                </a:schemeClr>
              </a:solidFill>
              <a:ln w="50800" cap="flat">
                <a:solidFill>
                  <a:schemeClr val="accent5">
                    <a:hueOff val="-152895"/>
                    <a:lumOff val="12368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1pPr>
                <a:lvl2pPr marL="0" marR="0" indent="457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2pPr>
                <a:lvl3pPr marL="0" marR="0" indent="914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3pPr>
                <a:lvl4pPr marL="0" marR="0" indent="1371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4pPr>
                <a:lvl5pPr marL="0" marR="0" indent="18288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5pPr>
                <a:lvl6pPr marL="0" marR="0" indent="22860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0" marR="0" indent="27432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0" marR="0" indent="32004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0" marR="0" indent="365760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4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chemeClr val="accent6">
                        <a:satOff val="-20754"/>
                        <a:lumOff val="-16738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cxnSp>
            <p:nvCxnSpPr>
              <p:cNvPr id="14" name="Curved Connector 13">
                <a:extLst>
                  <a:ext uri="{FF2B5EF4-FFF2-40B4-BE49-F238E27FC236}">
                    <a16:creationId xmlns:a16="http://schemas.microsoft.com/office/drawing/2014/main" id="{781A2479-BB0A-EF51-F5A1-1E8DCBC89BBC}"/>
                  </a:ext>
                </a:extLst>
              </p:cNvPr>
              <p:cNvCxnSpPr>
                <a:cxnSpLocks/>
                <a:stCxn id="7" idx="7"/>
                <a:endCxn id="8" idx="1"/>
              </p:cNvCxnSpPr>
              <p:nvPr/>
            </p:nvCxnSpPr>
            <p:spPr>
              <a:xfrm rot="5400000" flipH="1" flipV="1">
                <a:off x="16394674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5" name="Curved Connector 14">
                <a:extLst>
                  <a:ext uri="{FF2B5EF4-FFF2-40B4-BE49-F238E27FC236}">
                    <a16:creationId xmlns:a16="http://schemas.microsoft.com/office/drawing/2014/main" id="{BC3B559B-8643-40FB-6BC2-48713507AFD3}"/>
                  </a:ext>
                </a:extLst>
              </p:cNvPr>
              <p:cNvCxnSpPr>
                <a:cxnSpLocks/>
                <a:stCxn id="8" idx="3"/>
                <a:endCxn id="7" idx="5"/>
              </p:cNvCxnSpPr>
              <p:nvPr/>
            </p:nvCxnSpPr>
            <p:spPr>
              <a:xfrm rot="5400000">
                <a:off x="16394674" y="9269716"/>
                <a:ext cx="12700" cy="798416"/>
              </a:xfrm>
              <a:prstGeom prst="curvedConnector3">
                <a:avLst>
                  <a:gd name="adj1" fmla="val 11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" name="Curved Connector 15">
                <a:extLst>
                  <a:ext uri="{FF2B5EF4-FFF2-40B4-BE49-F238E27FC236}">
                    <a16:creationId xmlns:a16="http://schemas.microsoft.com/office/drawing/2014/main" id="{4548CB4F-6693-FDB2-5400-A32CB13128B1}"/>
                  </a:ext>
                </a:extLst>
              </p:cNvPr>
              <p:cNvCxnSpPr>
                <a:cxnSpLocks/>
                <a:stCxn id="8" idx="7"/>
                <a:endCxn id="9" idx="1"/>
              </p:cNvCxnSpPr>
              <p:nvPr/>
            </p:nvCxnSpPr>
            <p:spPr>
              <a:xfrm rot="5400000" flipH="1" flipV="1">
                <a:off x="17822753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7" name="Curved Connector 16">
                <a:extLst>
                  <a:ext uri="{FF2B5EF4-FFF2-40B4-BE49-F238E27FC236}">
                    <a16:creationId xmlns:a16="http://schemas.microsoft.com/office/drawing/2014/main" id="{4E62657F-319A-7B6E-27D5-C4004BC31895}"/>
                  </a:ext>
                </a:extLst>
              </p:cNvPr>
              <p:cNvCxnSpPr>
                <a:cxnSpLocks/>
                <a:stCxn id="9" idx="3"/>
                <a:endCxn id="8" idx="5"/>
              </p:cNvCxnSpPr>
              <p:nvPr/>
            </p:nvCxnSpPr>
            <p:spPr>
              <a:xfrm rot="5400000">
                <a:off x="17822753" y="9269716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8" name="Curved Connector 17">
                <a:extLst>
                  <a:ext uri="{FF2B5EF4-FFF2-40B4-BE49-F238E27FC236}">
                    <a16:creationId xmlns:a16="http://schemas.microsoft.com/office/drawing/2014/main" id="{0B2E856B-D74E-A1CD-D464-B15DD9B8520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0700535" y="86319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9" name="Curved Connector 18">
                <a:extLst>
                  <a:ext uri="{FF2B5EF4-FFF2-40B4-BE49-F238E27FC236}">
                    <a16:creationId xmlns:a16="http://schemas.microsoft.com/office/drawing/2014/main" id="{76977E19-E07C-7DBA-F386-ADAF6FB3E94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19261644" y="8644648"/>
                <a:ext cx="12700" cy="798416"/>
              </a:xfrm>
              <a:prstGeom prst="curvedConnector3">
                <a:avLst>
                  <a:gd name="adj1" fmla="val 7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0" name="Curved Connector 19">
                <a:extLst>
                  <a:ext uri="{FF2B5EF4-FFF2-40B4-BE49-F238E27FC236}">
                    <a16:creationId xmlns:a16="http://schemas.microsoft.com/office/drawing/2014/main" id="{D9CF32B8-1913-52F0-3159-5BF7259BE0D1}"/>
                  </a:ext>
                </a:extLst>
              </p:cNvPr>
              <p:cNvCxnSpPr>
                <a:cxnSpLocks/>
                <a:stCxn id="12" idx="3"/>
                <a:endCxn id="9" idx="5"/>
              </p:cNvCxnSpPr>
              <p:nvPr/>
            </p:nvCxnSpPr>
            <p:spPr>
              <a:xfrm rot="5400000">
                <a:off x="19250833" y="9269716"/>
                <a:ext cx="12700" cy="798417"/>
              </a:xfrm>
              <a:prstGeom prst="curvedConnector3">
                <a:avLst>
                  <a:gd name="adj1" fmla="val 819323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1" name="Curved Connector 20">
                <a:extLst>
                  <a:ext uri="{FF2B5EF4-FFF2-40B4-BE49-F238E27FC236}">
                    <a16:creationId xmlns:a16="http://schemas.microsoft.com/office/drawing/2014/main" id="{644F227F-6EE1-0A60-4419-2FDDD2D4EC50}"/>
                  </a:ext>
                </a:extLst>
              </p:cNvPr>
              <p:cNvCxnSpPr>
                <a:cxnSpLocks/>
                <a:stCxn id="11" idx="3"/>
                <a:endCxn id="10" idx="5"/>
              </p:cNvCxnSpPr>
              <p:nvPr/>
            </p:nvCxnSpPr>
            <p:spPr>
              <a:xfrm rot="5400000">
                <a:off x="17792901" y="9852783"/>
                <a:ext cx="12700" cy="2219252"/>
              </a:xfrm>
              <a:prstGeom prst="curvedConnector3">
                <a:avLst>
                  <a:gd name="adj1" fmla="val 28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2" name="Curved Connector 21">
                <a:extLst>
                  <a:ext uri="{FF2B5EF4-FFF2-40B4-BE49-F238E27FC236}">
                    <a16:creationId xmlns:a16="http://schemas.microsoft.com/office/drawing/2014/main" id="{44978B05-5456-67F7-4B38-87A19544C25D}"/>
                  </a:ext>
                </a:extLst>
              </p:cNvPr>
              <p:cNvCxnSpPr>
                <a:cxnSpLocks/>
                <a:stCxn id="12" idx="4"/>
                <a:endCxn id="11" idx="7"/>
              </p:cNvCxnSpPr>
              <p:nvPr/>
            </p:nvCxnSpPr>
            <p:spPr>
              <a:xfrm rot="5400000">
                <a:off x="19479052" y="9851519"/>
                <a:ext cx="538960" cy="432683"/>
              </a:xfrm>
              <a:prstGeom prst="curvedConnector3">
                <a:avLst>
                  <a:gd name="adj1" fmla="val 38217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3" name="Curved Connector 22">
                <a:extLst>
                  <a:ext uri="{FF2B5EF4-FFF2-40B4-BE49-F238E27FC236}">
                    <a16:creationId xmlns:a16="http://schemas.microsoft.com/office/drawing/2014/main" id="{62EB8266-3ED1-DE5A-FB7D-5C5B4EAACDD7}"/>
                  </a:ext>
                </a:extLst>
              </p:cNvPr>
              <p:cNvCxnSpPr>
                <a:cxnSpLocks/>
                <a:stCxn id="11" idx="6"/>
                <a:endCxn id="13" idx="4"/>
              </p:cNvCxnSpPr>
              <p:nvPr/>
            </p:nvCxnSpPr>
            <p:spPr>
              <a:xfrm flipV="1">
                <a:off x="19662598" y="9798380"/>
                <a:ext cx="1730354" cy="851495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4" name="Curved Connector 23">
                <a:extLst>
                  <a:ext uri="{FF2B5EF4-FFF2-40B4-BE49-F238E27FC236}">
                    <a16:creationId xmlns:a16="http://schemas.microsoft.com/office/drawing/2014/main" id="{2A4A6846-F36B-F288-AE75-2873B3AE4F61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 rot="5400000">
                <a:off x="19967646" y="9312974"/>
                <a:ext cx="754525" cy="1466425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5" name="Curved Connector 24">
                <a:extLst>
                  <a:ext uri="{FF2B5EF4-FFF2-40B4-BE49-F238E27FC236}">
                    <a16:creationId xmlns:a16="http://schemas.microsoft.com/office/drawing/2014/main" id="{4E023940-4109-AE77-D178-12FFFCF74563}"/>
                  </a:ext>
                </a:extLst>
              </p:cNvPr>
              <p:cNvCxnSpPr>
                <a:cxnSpLocks/>
                <a:stCxn id="10" idx="1"/>
                <a:endCxn id="7" idx="4"/>
              </p:cNvCxnSpPr>
              <p:nvPr/>
            </p:nvCxnSpPr>
            <p:spPr>
              <a:xfrm rot="16200000" flipV="1">
                <a:off x="15597644" y="9881371"/>
                <a:ext cx="538960" cy="372977"/>
              </a:xfrm>
              <a:prstGeom prst="curvedConnector3">
                <a:avLst>
                  <a:gd name="adj1" fmla="val 50000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6" name="Curved Connector 25">
                <a:extLst>
                  <a:ext uri="{FF2B5EF4-FFF2-40B4-BE49-F238E27FC236}">
                    <a16:creationId xmlns:a16="http://schemas.microsoft.com/office/drawing/2014/main" id="{5AD3AEDC-B551-5EC8-366B-86F496A0B0B7}"/>
                  </a:ext>
                </a:extLst>
              </p:cNvPr>
              <p:cNvCxnSpPr>
                <a:cxnSpLocks/>
                <a:stCxn id="7" idx="3"/>
                <a:endCxn id="10" idx="2"/>
              </p:cNvCxnSpPr>
              <p:nvPr/>
            </p:nvCxnSpPr>
            <p:spPr>
              <a:xfrm rot="16200000" flipH="1">
                <a:off x="15154028" y="9880698"/>
                <a:ext cx="980951" cy="557401"/>
              </a:xfrm>
              <a:prstGeom prst="curvedConnector2">
                <a:avLst/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7" name="Curved Connector 26">
                <a:extLst>
                  <a:ext uri="{FF2B5EF4-FFF2-40B4-BE49-F238E27FC236}">
                    <a16:creationId xmlns:a16="http://schemas.microsoft.com/office/drawing/2014/main" id="{3047FDC6-2335-87F3-1359-60C27CF698B8}"/>
                  </a:ext>
                </a:extLst>
              </p:cNvPr>
              <p:cNvCxnSpPr>
                <a:cxnSpLocks/>
                <a:stCxn id="10" idx="7"/>
                <a:endCxn id="11" idx="1"/>
              </p:cNvCxnSpPr>
              <p:nvPr/>
            </p:nvCxnSpPr>
            <p:spPr>
              <a:xfrm rot="5400000" flipH="1" flipV="1">
                <a:off x="17792901" y="9227714"/>
                <a:ext cx="12700" cy="2219252"/>
              </a:xfrm>
              <a:prstGeom prst="curvedConnector3">
                <a:avLst>
                  <a:gd name="adj1" fmla="val 1219339"/>
                </a:avLst>
              </a:prstGeom>
              <a:noFill/>
              <a:ln w="25400" cap="flat">
                <a:solidFill>
                  <a:srgbClr val="FF644E"/>
                </a:solidFill>
                <a:prstDash val="solid"/>
                <a:miter lim="400000"/>
                <a:tailEnd type="stealth" w="lg" len="lg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42" grpId="3" animBg="1" advAuto="0"/>
      <p:bldP spid="949" grpId="4" animBg="1" advAuto="0"/>
      <p:bldP spid="945" grpId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1672B-9856-1202-B2D6-2255F6B553FE}"/>
              </a:ext>
            </a:extLst>
          </p:cNvPr>
          <p:cNvGrpSpPr/>
          <p:nvPr/>
        </p:nvGrpSpPr>
        <p:grpSpPr>
          <a:xfrm>
            <a:off x="8149007" y="7064053"/>
            <a:ext cx="11496738" cy="2723110"/>
            <a:chOff x="8149007" y="7064053"/>
            <a:chExt cx="11496738" cy="2723110"/>
          </a:xfrm>
        </p:grpSpPr>
        <p:sp>
          <p:nvSpPr>
            <p:cNvPr id="952" name="Rectangle"/>
            <p:cNvSpPr/>
            <p:nvPr/>
          </p:nvSpPr>
          <p:spPr>
            <a:xfrm>
              <a:off x="14757245" y="7064053"/>
              <a:ext cx="4888500" cy="758700"/>
            </a:xfrm>
            <a:prstGeom prst="rect">
              <a:avLst/>
            </a:prstGeom>
            <a:solidFill>
              <a:schemeClr val="accent6">
                <a:lumOff val="16165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dirty="0"/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04285755-1FB6-2D2E-90D2-8D6D0568DFC3}"/>
                </a:ext>
              </a:extLst>
            </p:cNvPr>
            <p:cNvSpPr/>
            <p:nvPr/>
          </p:nvSpPr>
          <p:spPr>
            <a:xfrm>
              <a:off x="8149007" y="9028463"/>
              <a:ext cx="7913469" cy="758700"/>
            </a:xfrm>
            <a:prstGeom prst="rect">
              <a:avLst/>
            </a:prstGeom>
            <a:solidFill>
              <a:schemeClr val="accent6">
                <a:lumOff val="16165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5CD4A-698A-5F4D-29AE-E0099A14793D}"/>
              </a:ext>
            </a:extLst>
          </p:cNvPr>
          <p:cNvGrpSpPr/>
          <p:nvPr/>
        </p:nvGrpSpPr>
        <p:grpSpPr>
          <a:xfrm>
            <a:off x="2190374" y="4442967"/>
            <a:ext cx="15922202" cy="2116495"/>
            <a:chOff x="2190374" y="4442967"/>
            <a:chExt cx="15922202" cy="21164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E860B5-F573-1E6D-AAEA-B4BA9E48FFE7}"/>
                </a:ext>
              </a:extLst>
            </p:cNvPr>
            <p:cNvGrpSpPr/>
            <p:nvPr/>
          </p:nvGrpSpPr>
          <p:grpSpPr>
            <a:xfrm>
              <a:off x="2190374" y="4442967"/>
              <a:ext cx="10916864" cy="2116495"/>
              <a:chOff x="2247861" y="4447043"/>
              <a:chExt cx="10916864" cy="2116495"/>
            </a:xfrm>
          </p:grpSpPr>
          <p:sp>
            <p:nvSpPr>
              <p:cNvPr id="953" name="Rectangle"/>
              <p:cNvSpPr/>
              <p:nvPr/>
            </p:nvSpPr>
            <p:spPr>
              <a:xfrm>
                <a:off x="2247861" y="4447043"/>
                <a:ext cx="3709594" cy="696977"/>
              </a:xfrm>
              <a:prstGeom prst="rect">
                <a:avLst/>
              </a:prstGeom>
              <a:solidFill>
                <a:schemeClr val="accent1">
                  <a:lumOff val="16847"/>
                </a:scheme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" name="Rectangle">
                <a:extLst>
                  <a:ext uri="{FF2B5EF4-FFF2-40B4-BE49-F238E27FC236}">
                    <a16:creationId xmlns:a16="http://schemas.microsoft.com/office/drawing/2014/main" id="{3B510F85-39B5-E061-5044-7B18CE6878DC}"/>
                  </a:ext>
                </a:extLst>
              </p:cNvPr>
              <p:cNvSpPr/>
              <p:nvPr/>
            </p:nvSpPr>
            <p:spPr>
              <a:xfrm>
                <a:off x="7192962" y="5866561"/>
                <a:ext cx="5971763" cy="696977"/>
              </a:xfrm>
              <a:prstGeom prst="rect">
                <a:avLst/>
              </a:prstGeom>
              <a:solidFill>
                <a:schemeClr val="accent1">
                  <a:lumOff val="16847"/>
                </a:schemeClr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E83573-01B1-29E9-8D6A-6CC131EC4AF5}"/>
                </a:ext>
              </a:extLst>
            </p:cNvPr>
            <p:cNvGrpSpPr/>
            <p:nvPr/>
          </p:nvGrpSpPr>
          <p:grpSpPr>
            <a:xfrm>
              <a:off x="7666831" y="4453728"/>
              <a:ext cx="10445745" cy="2093903"/>
              <a:chOff x="2247861" y="4447043"/>
              <a:chExt cx="10445745" cy="2093903"/>
            </a:xfrm>
          </p:grpSpPr>
          <p:sp>
            <p:nvSpPr>
              <p:cNvPr id="8" name="Rectangle">
                <a:extLst>
                  <a:ext uri="{FF2B5EF4-FFF2-40B4-BE49-F238E27FC236}">
                    <a16:creationId xmlns:a16="http://schemas.microsoft.com/office/drawing/2014/main" id="{34AA0B53-EE9E-3BF1-AAAC-1850942EFFFB}"/>
                  </a:ext>
                </a:extLst>
              </p:cNvPr>
              <p:cNvSpPr/>
              <p:nvPr/>
            </p:nvSpPr>
            <p:spPr>
              <a:xfrm>
                <a:off x="2247861" y="4447043"/>
                <a:ext cx="1920514" cy="696977"/>
              </a:xfrm>
              <a:prstGeom prst="rect">
                <a:avLst/>
              </a:prstGeom>
              <a:solidFill>
                <a:srgbClr val="92D050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" name="Rectangle">
                <a:extLst>
                  <a:ext uri="{FF2B5EF4-FFF2-40B4-BE49-F238E27FC236}">
                    <a16:creationId xmlns:a16="http://schemas.microsoft.com/office/drawing/2014/main" id="{32F4D0B2-D82A-ACC0-7FAA-D1F90C7D5008}"/>
                  </a:ext>
                </a:extLst>
              </p:cNvPr>
              <p:cNvSpPr/>
              <p:nvPr/>
            </p:nvSpPr>
            <p:spPr>
              <a:xfrm>
                <a:off x="8805403" y="5843969"/>
                <a:ext cx="3888203" cy="696977"/>
              </a:xfrm>
              <a:prstGeom prst="rect">
                <a:avLst/>
              </a:prstGeom>
              <a:solidFill>
                <a:srgbClr val="92D050"/>
              </a:solidFill>
              <a:ln w="12700">
                <a:miter lim="400000"/>
              </a:ln>
            </p:spPr>
            <p:txBody>
              <a:bodyPr lIns="50800" tIns="50800" rIns="50800" bIns="50800" anchor="ctr"/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954" name="Applying the Poisson Equ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Applying the Poisson Equation</a:t>
            </a:r>
          </a:p>
        </p:txBody>
      </p:sp>
      <p:sp>
        <p:nvSpPr>
          <p:cNvPr id="9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6" name="Set drift to zero:"/>
              <p:cNvSpPr txBox="1"/>
              <p:nvPr/>
            </p:nvSpPr>
            <p:spPr>
              <a:xfrm>
                <a:off x="1068129" y="2363444"/>
                <a:ext cx="6504409" cy="65659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4000"/>
                </a:lvl1pPr>
              </a:lstStyle>
              <a:p>
                <a:r>
                  <a:rPr lang="en-US" dirty="0"/>
                  <a:t>Set drift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ar-A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to zero:</a:t>
                </a:r>
                <a:endParaRPr dirty="0"/>
              </a:p>
            </p:txBody>
          </p:sp>
        </mc:Choice>
        <mc:Fallback>
          <p:sp>
            <p:nvSpPr>
              <p:cNvPr id="956" name="Set drift to zero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129" y="2363444"/>
                <a:ext cx="6504409" cy="656590"/>
              </a:xfrm>
              <a:prstGeom prst="rect">
                <a:avLst/>
              </a:prstGeom>
              <a:blipFill>
                <a:blip r:embed="rId2"/>
                <a:stretch>
                  <a:fillRect l="-3936" t="-25234" r="-281" b="-3925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7" name="Text"/>
              <p:cNvSpPr txBox="1"/>
              <p:nvPr/>
            </p:nvSpPr>
            <p:spPr>
              <a:xfrm>
                <a:off x="3423048" y="3178305"/>
                <a:ext cx="9684190" cy="68429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3500"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4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4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sup>
                      </m:sSup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)]=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5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048" y="3178305"/>
                <a:ext cx="9684190" cy="6842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9" name="Text"/>
              <p:cNvSpPr txBox="1"/>
              <p:nvPr/>
            </p:nvSpPr>
            <p:spPr>
              <a:xfrm>
                <a:off x="1035164" y="6831331"/>
                <a:ext cx="22211401" cy="102027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3500"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4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4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sup>
                      </m:sSup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sup>
                      </m:sSup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](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sup>
                      </m:sSup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ar-AE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)]+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den>
                          </m:f>
                        </m:sup>
                      </m:sSup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5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64" y="6831331"/>
                <a:ext cx="22211401" cy="10202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0" name="Poisson equation theorem on rhs with    :"/>
              <p:cNvSpPr txBox="1"/>
              <p:nvPr/>
            </p:nvSpPr>
            <p:spPr>
              <a:xfrm>
                <a:off x="1090582" y="8981239"/>
                <a:ext cx="15228849" cy="7521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>
                  <a:defRPr sz="4000"/>
                </a:pPr>
                <a:r>
                  <a:rPr lang="en-US" dirty="0"/>
                  <a:t>Poisson equation theorem with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):=</m:t>
                    </m:r>
                    <m:sSub>
                      <m:sSubPr>
                        <m:ctrlP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ar-AE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sSub>
                      <m:sSubPr>
                        <m:ctrlP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</m:sSub>
                    <m:r>
                      <a:rPr lang="ar-AE" sz="4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 :</a:t>
                </a:r>
                <a:endParaRPr dirty="0"/>
              </a:p>
            </p:txBody>
          </p:sp>
        </mc:Choice>
        <mc:Fallback>
          <p:sp>
            <p:nvSpPr>
              <p:cNvPr id="960" name="Poisson equation theorem on rhs with    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82" y="8981239"/>
                <a:ext cx="15228849" cy="752129"/>
              </a:xfrm>
              <a:prstGeom prst="rect">
                <a:avLst/>
              </a:prstGeom>
              <a:blipFill>
                <a:blip r:embed="rId5"/>
                <a:stretch>
                  <a:fillRect l="-1681" t="-11290" r="-681" b="-3064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1" name="Text"/>
              <p:cNvSpPr txBox="1"/>
              <p:nvPr/>
            </p:nvSpPr>
            <p:spPr>
              <a:xfrm>
                <a:off x="1225300" y="9917524"/>
                <a:ext cx="12152879" cy="68429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3500"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4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4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sup>
                      </m:sSup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4200" i="1"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ar-AE" sz="4200" i="1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4200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sup>
                      </m:sSup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ar-AE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4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)]+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6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300" y="9917524"/>
                <a:ext cx="12152879" cy="6842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4" name="Group"/>
          <p:cNvGrpSpPr/>
          <p:nvPr/>
        </p:nvGrpSpPr>
        <p:grpSpPr>
          <a:xfrm>
            <a:off x="1090582" y="11650556"/>
            <a:ext cx="7584010" cy="738610"/>
            <a:chOff x="0" y="0"/>
            <a:chExt cx="7584009" cy="738609"/>
          </a:xfrm>
        </p:grpSpPr>
        <p:sp>
          <p:nvSpPr>
            <p:cNvPr id="962" name="Then, put everything together."/>
            <p:cNvSpPr txBox="1"/>
            <p:nvPr/>
          </p:nvSpPr>
          <p:spPr>
            <a:xfrm>
              <a:off x="0" y="-1"/>
              <a:ext cx="6899149" cy="6969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/>
              </a:lvl1pPr>
            </a:lstStyle>
            <a:p>
              <a:r>
                <a:t>Then, put everything together.</a:t>
              </a:r>
            </a:p>
          </p:txBody>
        </p:sp>
        <p:sp>
          <p:nvSpPr>
            <p:cNvPr id="963" name="Square"/>
            <p:cNvSpPr/>
            <p:nvPr/>
          </p:nvSpPr>
          <p:spPr>
            <a:xfrm>
              <a:off x="7076009" y="230609"/>
              <a:ext cx="508001" cy="50800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C15FEF4-7C9B-830D-37EB-9CCE464D3309}"/>
              </a:ext>
            </a:extLst>
          </p:cNvPr>
          <p:cNvGrpSpPr/>
          <p:nvPr/>
        </p:nvGrpSpPr>
        <p:grpSpPr>
          <a:xfrm>
            <a:off x="1135488" y="3899799"/>
            <a:ext cx="10652660" cy="1202910"/>
            <a:chOff x="1135488" y="3899799"/>
            <a:chExt cx="10652660" cy="1202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">
                  <a:extLst>
                    <a:ext uri="{FF2B5EF4-FFF2-40B4-BE49-F238E27FC236}">
                      <a16:creationId xmlns:a16="http://schemas.microsoft.com/office/drawing/2014/main" id="{D01B4C19-5F76-6CC0-BED6-F04685075EB1}"/>
                    </a:ext>
                  </a:extLst>
                </p:cNvPr>
                <p:cNvSpPr txBox="1"/>
                <p:nvPr/>
              </p:nvSpPr>
              <p:spPr>
                <a:xfrm>
                  <a:off x="1135488" y="4431820"/>
                  <a:ext cx="10652660" cy="67088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anchor="ctr">
                  <a:spAutoFit/>
                </a:bodyPr>
                <a:lstStyle>
                  <a:lvl1pPr>
                    <a:defRPr sz="35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ar-AE" sz="4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sz="4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ar-AE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ar-AE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sSub>
                                  <m:sSubPr>
                                    <m:ctrlPr>
                                      <a:rPr lang="ar-AE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l-GR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ar-AE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sz="4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ar-AE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sub>
                                </m:sSub>
                                <m:r>
                                  <a:rPr lang="ar-AE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ar-AE" sz="4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sz="4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4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ar-AE" sz="3600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sSub>
                                  <m:sSubPr>
                                    <m:ctrlPr>
                                      <a:rPr lang="ar-AE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36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l-GR" sz="3600" i="1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sub>
                                </m:sSub>
                              </m:sup>
                            </m:sSup>
                            <m:sSub>
                              <m:sSubPr>
                                <m:ctrlPr>
                                  <a:rPr lang="ar-AE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ar-AE" sz="3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3600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sub>
                            </m:sSub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" name="Text">
                  <a:extLst>
                    <a:ext uri="{FF2B5EF4-FFF2-40B4-BE49-F238E27FC236}">
                      <a16:creationId xmlns:a16="http://schemas.microsoft.com/office/drawing/2014/main" id="{D01B4C19-5F76-6CC0-BED6-F04685075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488" y="4431820"/>
                  <a:ext cx="10652660" cy="670889"/>
                </a:xfrm>
                <a:prstGeom prst="rect">
                  <a:avLst/>
                </a:prstGeom>
                <a:blipFill>
                  <a:blip r:embed="rId7"/>
                  <a:stretch>
                    <a:fillRect l="-595" b="-16667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3C0D21F8-F0BA-5FE4-A15A-8630A311E154}"/>
                </a:ext>
              </a:extLst>
            </p:cNvPr>
            <p:cNvSpPr/>
            <p:nvPr/>
          </p:nvSpPr>
          <p:spPr>
            <a:xfrm rot="5400000">
              <a:off x="5821663" y="1504071"/>
              <a:ext cx="457200" cy="5248656"/>
            </a:xfrm>
            <a:prstGeom prst="rightBrac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58" name="Poisson equation theorem on lhs with    :"/>
              <p:cNvSpPr txBox="1"/>
              <p:nvPr/>
            </p:nvSpPr>
            <p:spPr>
              <a:xfrm>
                <a:off x="1035164" y="5823079"/>
                <a:ext cx="17464333" cy="7521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pPr>
                  <a:defRPr sz="4000"/>
                </a:pPr>
                <a:r>
                  <a:rPr lang="en-US" dirty="0"/>
                  <a:t>Poisson equation theorem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)≔</m:t>
                    </m:r>
                    <m:sSub>
                      <m:sSubPr>
                        <m:ctrlP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l-GR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</m:sSub>
                    <m:r>
                      <a:rPr lang="ar-AE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  <a:endParaRPr dirty="0"/>
              </a:p>
            </p:txBody>
          </p:sp>
        </mc:Choice>
        <mc:Fallback>
          <p:sp>
            <p:nvSpPr>
              <p:cNvPr id="958" name="Poisson equation theorem on lhs with    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164" y="5823079"/>
                <a:ext cx="17464333" cy="752129"/>
              </a:xfrm>
              <a:prstGeom prst="rect">
                <a:avLst/>
              </a:prstGeom>
              <a:blipFill>
                <a:blip r:embed="rId8"/>
                <a:stretch>
                  <a:fillRect l="-1466" t="-11290" r="-454" b="-3064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" grpId="1" animBg="1" advAuto="0"/>
      <p:bldP spid="959" grpId="4" animBg="1" advAuto="0"/>
      <p:bldP spid="960" grpId="6" animBg="1" advAuto="0"/>
      <p:bldP spid="961" grpId="7" animBg="1" advAuto="0"/>
      <p:bldP spid="964" grpId="8" animBg="1" advAuto="0"/>
      <p:bldP spid="958" grpId="3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Key Takeaway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Key Takeaways</a:t>
            </a:r>
          </a:p>
        </p:txBody>
      </p:sp>
      <p:sp>
        <p:nvSpPr>
          <p:cNvPr id="1037" name="Step 1: State Space Collapse"/>
          <p:cNvSpPr/>
          <p:nvPr/>
        </p:nvSpPr>
        <p:spPr>
          <a:xfrm>
            <a:off x="13367537" y="2598589"/>
            <a:ext cx="9754327" cy="810200"/>
          </a:xfrm>
          <a:prstGeom prst="rect">
            <a:avLst/>
          </a:prstGeom>
          <a:solidFill>
            <a:schemeClr val="accent1">
              <a:lumOff val="16847"/>
              <a:alpha val="3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4000">
                <a:solidFill>
                  <a:schemeClr val="accent1">
                    <a:lumOff val="-13575"/>
                  </a:schemeClr>
                </a:solidFill>
              </a:defRPr>
            </a:pPr>
            <a:r>
              <a:rPr b="1"/>
              <a:t>Step 1:</a:t>
            </a:r>
            <a:r>
              <a:t> State Space Collapse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8" name="Queue can be unstable for some…"/>
              <p:cNvSpPr txBox="1"/>
              <p:nvPr/>
            </p:nvSpPr>
            <p:spPr>
              <a:xfrm>
                <a:off x="13568528" y="5379533"/>
                <a:ext cx="10329989" cy="270375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>
                <a:spAutoFit/>
              </a:bodyPr>
              <a:lstStyle/>
              <a:p>
                <a:pPr marL="571500" indent="-571500">
                  <a:spcBef>
                    <a:spcPts val="1500"/>
                  </a:spcBef>
                  <a:buClr>
                    <a:schemeClr val="accent3">
                      <a:hueOff val="362282"/>
                      <a:satOff val="31803"/>
                      <a:lumOff val="-18242"/>
                    </a:schemeClr>
                  </a:buClr>
                  <a:buSzPct val="123000"/>
                  <a:buChar char="✓"/>
                  <a:defRPr sz="3500"/>
                </a:pPr>
                <a:r>
                  <a:rPr dirty="0"/>
                  <a:t>Queue can be unstable for some </a:t>
                </a:r>
                <a14:m>
                  <m:oMath xmlns:m="http://schemas.openxmlformats.org/officeDocument/2006/math"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dirty="0"/>
              </a:p>
              <a:p>
                <a:pPr marL="571500" indent="-571500">
                  <a:spcBef>
                    <a:spcPts val="1500"/>
                  </a:spcBef>
                  <a:buClr>
                    <a:schemeClr val="accent3">
                      <a:hueOff val="362282"/>
                      <a:satOff val="31803"/>
                      <a:lumOff val="-18242"/>
                    </a:schemeClr>
                  </a:buClr>
                  <a:buSzPct val="123000"/>
                  <a:buChar char="✓"/>
                  <a:defRPr sz="3500"/>
                </a:pPr>
                <a:r>
                  <a:rPr dirty="0"/>
                  <a:t>Only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sz="4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large enough so JSQ balances queue lengths for all </a:t>
                </a:r>
                <a14:m>
                  <m:oMath xmlns:m="http://schemas.openxmlformats.org/officeDocument/2006/math">
                    <m:r>
                      <a:rPr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dirty="0"/>
              </a:p>
              <a:p>
                <a:pPr marL="1066800" lvl="1" indent="-457200">
                  <a:spcBef>
                    <a:spcPts val="1500"/>
                  </a:spcBef>
                  <a:buClr>
                    <a:schemeClr val="accent1"/>
                  </a:buClr>
                  <a:buSzPct val="123000"/>
                  <a:buFont typeface="Wingdings" pitchFamily="2" charset="2"/>
                  <a:buChar char="Ø"/>
                  <a:defRPr sz="3500"/>
                </a:pPr>
                <a:r>
                  <a:rPr dirty="0"/>
                  <a:t>Otherwise, </a:t>
                </a:r>
                <a:r>
                  <a:rPr lang="en-US" dirty="0"/>
                  <a:t>might </a:t>
                </a:r>
                <a:r>
                  <a:rPr dirty="0"/>
                  <a:t>need another routing policy</a:t>
                </a:r>
              </a:p>
            </p:txBody>
          </p:sp>
        </mc:Choice>
        <mc:Fallback xmlns="">
          <p:sp>
            <p:nvSpPr>
              <p:cNvPr id="1038" name="Queue can be unstable for some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8528" y="5379533"/>
                <a:ext cx="10329989" cy="2703753"/>
              </a:xfrm>
              <a:prstGeom prst="rect">
                <a:avLst/>
              </a:prstGeom>
              <a:blipFill>
                <a:blip r:embed="rId3"/>
                <a:stretch>
                  <a:fillRect l="-3070" t="-9910" b="-900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1" name="Group"/>
          <p:cNvGrpSpPr/>
          <p:nvPr/>
        </p:nvGrpSpPr>
        <p:grpSpPr>
          <a:xfrm>
            <a:off x="11414048" y="3427127"/>
            <a:ext cx="10762062" cy="2338066"/>
            <a:chOff x="0" y="0"/>
            <a:chExt cx="10762059" cy="2338065"/>
          </a:xfrm>
        </p:grpSpPr>
        <p:grpSp>
          <p:nvGrpSpPr>
            <p:cNvPr id="1049" name="Group"/>
            <p:cNvGrpSpPr/>
            <p:nvPr/>
          </p:nvGrpSpPr>
          <p:grpSpPr>
            <a:xfrm>
              <a:off x="2899242" y="0"/>
              <a:ext cx="7862818" cy="2338066"/>
              <a:chOff x="0" y="0"/>
              <a:chExt cx="7862816" cy="2338065"/>
            </a:xfrm>
          </p:grpSpPr>
          <p:grpSp>
            <p:nvGrpSpPr>
              <p:cNvPr id="1042" name="Group"/>
              <p:cNvGrpSpPr/>
              <p:nvPr/>
            </p:nvGrpSpPr>
            <p:grpSpPr>
              <a:xfrm>
                <a:off x="1386423" y="95867"/>
                <a:ext cx="3348372" cy="1079501"/>
                <a:chOff x="0" y="0"/>
                <a:chExt cx="3348370" cy="1079500"/>
              </a:xfrm>
            </p:grpSpPr>
            <p:sp>
              <p:nvSpPr>
                <p:cNvPr id="1039" name="Line"/>
                <p:cNvSpPr/>
                <p:nvPr/>
              </p:nvSpPr>
              <p:spPr>
                <a:xfrm>
                  <a:off x="0" y="22631"/>
                  <a:ext cx="3345286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040" name="Line"/>
                <p:cNvSpPr/>
                <p:nvPr/>
              </p:nvSpPr>
              <p:spPr>
                <a:xfrm>
                  <a:off x="0" y="1057664"/>
                  <a:ext cx="3345286" cy="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041" name="Line"/>
                <p:cNvSpPr/>
                <p:nvPr/>
              </p:nvSpPr>
              <p:spPr>
                <a:xfrm>
                  <a:off x="3348370" y="0"/>
                  <a:ext cx="1" cy="1079501"/>
                </a:xfrm>
                <a:prstGeom prst="line">
                  <a:avLst/>
                </a:prstGeom>
                <a:noFill/>
                <a:ln w="508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1043" name="Circle"/>
              <p:cNvSpPr/>
              <p:nvPr/>
            </p:nvSpPr>
            <p:spPr>
              <a:xfrm>
                <a:off x="4907819" y="0"/>
                <a:ext cx="1270001" cy="1271235"/>
              </a:xfrm>
              <a:prstGeom prst="ellips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44" name="Line"/>
              <p:cNvSpPr/>
              <p:nvPr/>
            </p:nvSpPr>
            <p:spPr>
              <a:xfrm>
                <a:off x="0" y="716292"/>
                <a:ext cx="1393483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5" name="Text"/>
                  <p:cNvSpPr/>
                  <p:nvPr/>
                </p:nvSpPr>
                <p:spPr>
                  <a:xfrm>
                    <a:off x="533564" y="1068065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>
                        <a:solidFill>
                          <a:schemeClr val="accent5"/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45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564" y="1068065"/>
                    <a:ext cx="1270001" cy="1270001"/>
                  </a:xfrm>
                  <a:prstGeom prst="line">
                    <a:avLst/>
                  </a:prstGeom>
                  <a:blipFill>
                    <a:blip r:embed="rId4"/>
                    <a:stretch>
                      <a:fillRect l="-12871" t="-18627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46" name="Line"/>
              <p:cNvSpPr/>
              <p:nvPr/>
            </p:nvSpPr>
            <p:spPr>
              <a:xfrm>
                <a:off x="6205363" y="635617"/>
                <a:ext cx="1657454" cy="1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7" name="Text"/>
                  <p:cNvSpPr/>
                  <p:nvPr/>
                </p:nvSpPr>
                <p:spPr>
                  <a:xfrm>
                    <a:off x="6350844" y="1068065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3000">
                        <a:solidFill>
                          <a:schemeClr val="accent5"/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sz="3600" i="1">
                                  <a:solidFill>
                                    <a:srgbClr val="FE634D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47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0844" y="1068065"/>
                    <a:ext cx="1270001" cy="1270001"/>
                  </a:xfrm>
                  <a:prstGeom prst="line">
                    <a:avLst/>
                  </a:prstGeom>
                  <a:blipFill>
                    <a:blip r:embed="rId5"/>
                    <a:stretch>
                      <a:fillRect l="-12871" t="-10784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8" name="Text"/>
                  <p:cNvSpPr/>
                  <p:nvPr/>
                </p:nvSpPr>
                <p:spPr>
                  <a:xfrm>
                    <a:off x="2801604" y="6356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>
                      <a:defRPr sz="4000"/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048" name="Text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1604" y="635617"/>
                    <a:ext cx="1270001" cy="1270001"/>
                  </a:xfrm>
                  <a:prstGeom prst="line">
                    <a:avLst/>
                  </a:prstGeom>
                  <a:blipFill>
                    <a:blip r:embed="rId6"/>
                    <a:stretch>
                      <a:fillRect l="-15842" t="-15686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0" name="Equation"/>
                <p:cNvSpPr txBox="1"/>
                <p:nvPr/>
              </p:nvSpPr>
              <p:spPr>
                <a:xfrm>
                  <a:off x="0" y="372673"/>
                  <a:ext cx="1555903" cy="118872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914400" latinLnBrk="1">
                    <a:lnSpc>
                      <a:spcPct val="100000"/>
                    </a:lnSpc>
                    <a:spcBef>
                      <a:spcPts val="0"/>
                    </a:spcBef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0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</m:oMath>
                    </m:oMathPara>
                  </a14:m>
                  <a:endParaRPr sz="20800"/>
                </a:p>
              </p:txBody>
            </p:sp>
          </mc:Choice>
          <mc:Fallback xmlns="">
            <p:sp>
              <p:nvSpPr>
                <p:cNvPr id="105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372673"/>
                  <a:ext cx="1555903" cy="1188721"/>
                </a:xfrm>
                <a:prstGeom prst="rect">
                  <a:avLst/>
                </a:prstGeom>
                <a:blipFill>
                  <a:blip r:embed="rId7"/>
                  <a:stretch>
                    <a:fillRect l="-38710" r="-63710" b="-16914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55" name="Group"/>
          <p:cNvGrpSpPr/>
          <p:nvPr/>
        </p:nvGrpSpPr>
        <p:grpSpPr>
          <a:xfrm>
            <a:off x="12590878" y="9000603"/>
            <a:ext cx="11307645" cy="4453178"/>
            <a:chOff x="0" y="0"/>
            <a:chExt cx="11307643" cy="4453177"/>
          </a:xfrm>
        </p:grpSpPr>
        <p:sp>
          <p:nvSpPr>
            <p:cNvPr id="1052" name="Step 2: Asymptotic distribution"/>
            <p:cNvSpPr/>
            <p:nvPr/>
          </p:nvSpPr>
          <p:spPr>
            <a:xfrm>
              <a:off x="0" y="0"/>
              <a:ext cx="11295130" cy="810200"/>
            </a:xfrm>
            <a:prstGeom prst="rect">
              <a:avLst/>
            </a:prstGeom>
            <a:solidFill>
              <a:schemeClr val="accent1">
                <a:lumOff val="16847"/>
                <a:alpha val="30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4000">
                  <a:solidFill>
                    <a:schemeClr val="accent1">
                      <a:lumOff val="-13575"/>
                    </a:schemeClr>
                  </a:solidFill>
                </a:defRPr>
              </a:pPr>
              <a:r>
                <a:rPr b="1"/>
                <a:t>Step 2: </a:t>
              </a:r>
              <a:r>
                <a:t>Asymptotic distribution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3" name="Group"/>
                <p:cNvSpPr txBox="1"/>
                <p:nvPr/>
              </p:nvSpPr>
              <p:spPr>
                <a:xfrm>
                  <a:off x="112805" y="979207"/>
                  <a:ext cx="11194839" cy="168647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sz="3500"/>
                  </a:pPr>
                  <a:r>
                    <a:rPr lang="en-US" dirty="0"/>
                    <a:t>Transform Method: </a:t>
                  </a:r>
                  <a:br>
                    <a:rPr lang="en-US" dirty="0"/>
                  </a:b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</m:sup>
                      </m:sSup>
                    </m:oMath>
                  </a14:m>
                  <a:r>
                    <a:rPr lang="ar-AE" dirty="0"/>
                    <a:t>,  </a:t>
                  </a:r>
                  <a14:m>
                    <m:oMath xmlns:m="http://schemas.openxmlformats.org/officeDocument/2006/math"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l-GR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ar-AE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dirty="0"/>
                </a:p>
              </p:txBody>
            </p:sp>
          </mc:Choice>
          <mc:Fallback>
            <p:sp>
              <p:nvSpPr>
                <p:cNvPr id="1053" name="Grou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05" y="979207"/>
                  <a:ext cx="11194839" cy="1686475"/>
                </a:xfrm>
                <a:prstGeom prst="rect">
                  <a:avLst/>
                </a:prstGeom>
                <a:blipFill>
                  <a:blip r:embed="rId8"/>
                  <a:stretch>
                    <a:fillRect l="-1961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4" name="+ Poisson Equation"/>
            <p:cNvSpPr/>
            <p:nvPr/>
          </p:nvSpPr>
          <p:spPr>
            <a:xfrm>
              <a:off x="2700310" y="318317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500"/>
              </a:lvl1pPr>
            </a:lstStyle>
            <a:p>
              <a:r>
                <a:rPr dirty="0"/>
                <a:t>+ Poisson Equation</a:t>
              </a:r>
              <a:r>
                <a:rPr lang="en-US" dirty="0"/>
                <a:t> Covariance Theorem</a:t>
              </a:r>
              <a:endParaRPr dirty="0"/>
            </a:p>
          </p:txBody>
        </p:sp>
      </p:grpSp>
      <p:sp>
        <p:nvSpPr>
          <p:cNvPr id="10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E5FBF07-5C30-045E-199D-7FB466991115}"/>
                  </a:ext>
                </a:extLst>
              </p:cNvPr>
              <p:cNvSpPr/>
              <p:nvPr/>
            </p:nvSpPr>
            <p:spPr>
              <a:xfrm>
                <a:off x="483669" y="8136488"/>
                <a:ext cx="11592792" cy="493177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0" u="none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Theorem [Hurtado-Lange, G ‘25]:</a:t>
                </a: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4000" i="1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𝑠</m:t>
                              </m:r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en-US" sz="4000" b="0" i="0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j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=</m:t>
                      </m:r>
                      <m:f>
                        <m:fPr>
                          <m:ctrlP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fPr>
                        <m:num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1</m:t>
                          </m:r>
                        </m:num>
                        <m:den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1</m:t>
                          </m:r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+</m:t>
                          </m:r>
                          <m: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  <m:t>𝑠</m:t>
                          </m:r>
                          <m:d>
                            <m:dPr>
                              <m:ctrlP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dPr>
                            <m:e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1</m:t>
                              </m:r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𝔼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0" lang="en-US" sz="4000" b="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4000" b="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kumimoji="0" lang="en-US" sz="4000" b="0" i="1" u="none" strike="noStrike" cap="none" spc="0" normalizeH="0" baseline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effectLst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Helvetica Neue Medium"/>
                                              <a:sym typeface="Helvetica Neue Medium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sz="4000" b="0" i="1" u="none" strike="noStrike" cap="none" spc="0" normalizeH="0" baseline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effectLst/>
                                              <a:uFillTx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Helvetica Neue Medium"/>
                                              <a:sym typeface="Helvetica Neue Medium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4000" b="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4000" b="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kumimoji="0" lang="en-US" sz="4000" b="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  <m:t>𝜋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4000" b="0" i="0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Helvetica Neue Medium"/>
                                          <a:sym typeface="Helvetica Neue Medium"/>
                                        </a:rPr>
                                        <m:t>Σ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+</m:t>
                      </m:r>
                      <m:r>
                        <a:rPr kumimoji="0" lang="en-US" sz="4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Medium"/>
                          <a:sym typeface="Helvetica Neue Medium"/>
                        </a:rPr>
                        <m:t>𝑂</m:t>
                      </m:r>
                      <m:d>
                        <m:dPr>
                          <m:ctrlPr>
                            <a:rPr kumimoji="0" lang="en-US" sz="40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 Neue Medium"/>
                              <a:sym typeface="Helvetica Neue Medium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</m:ctrlPr>
                            </m:sSupPr>
                            <m:e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𝜖</m:t>
                              </m:r>
                            </m:e>
                            <m:sup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2</m:t>
                              </m:r>
                              <m:r>
                                <a:rPr kumimoji="0" lang="en-US" sz="40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 Neue Medium"/>
                                  <a:sym typeface="Helvetica Neue Medium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1</m:t>
                                  </m:r>
                                  <m: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+</m:t>
                                  </m:r>
                                  <m:r>
                                    <a:rPr kumimoji="0" lang="en-US" sz="40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Helvetica Neue Medium"/>
                                      <a:sym typeface="Helvetica Neue Medium"/>
                                    </a:rPr>
                                    <m:t>𝜂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4000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4000" dirty="0">
                    <a:solidFill>
                      <a:schemeClr val="accent1">
                        <a:lumMod val="75000"/>
                      </a:schemeClr>
                    </a:solidFill>
                    <a:ea typeface="Helvetica Neue Medium"/>
                    <a:cs typeface="Helvetica Neue Medium"/>
                    <a:sym typeface="Helvetica Neue Medium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𝑘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</m:e>
                    </m:d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=</m:t>
                    </m:r>
                    <m:sSub>
                      <m:sSubPr>
                        <m:ctrlP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𝑉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h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(</m:t>
                    </m:r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)(</m:t>
                    </m:r>
                    <m:sSub>
                      <m:sSubPr>
                        <m:ctrlP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𝜇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Σ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</m:t>
                    </m:r>
                    <m:sSub>
                      <m:sSubPr>
                        <m:ctrlP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𝜆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)</m:t>
                    </m:r>
                  </m:oMath>
                </a14:m>
                <a:r>
                  <a:rPr kumimoji="0" lang="en-US" sz="4000" i="0" strike="noStrike" cap="none" spc="0" normalizeH="0" baseline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FillTx/>
                    <a:ea typeface="Helvetica Neue Medium"/>
                    <a:cs typeface="Helvetica Neue Medium"/>
                    <a:sym typeface="Helvetica Neue Medium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en-US" sz="4000" b="0" i="1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h</m:t>
                    </m:r>
                    <m:d>
                      <m:dPr>
                        <m:ctrlPr>
                          <a:rPr kumimoji="0" lang="en-US" sz="4000" b="0" i="1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dPr>
                      <m:e>
                        <m:r>
                          <a:rPr kumimoji="0" lang="en-US" sz="4000" b="0" i="1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</m:e>
                    </m:d>
                    <m:r>
                      <a:rPr kumimoji="0" lang="en-US" sz="4000" b="0" i="1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=</m:t>
                    </m:r>
                    <m:sSub>
                      <m:sSubPr>
                        <m:ctrlPr>
                          <a:rPr kumimoji="0" lang="en-US" sz="4000" b="0" i="1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4000" b="0" i="1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𝜇</m:t>
                        </m:r>
                      </m:e>
                      <m:sub>
                        <m:r>
                          <a:rPr kumimoji="0" lang="en-US" sz="4000" b="0" i="1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kumimoji="0" lang="en-US" sz="4000" b="0" i="0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Σ</m:t>
                        </m:r>
                      </m:sub>
                    </m:sSub>
                    <m:r>
                      <a:rPr kumimoji="0" lang="en-US" sz="4000" b="0" i="1" strike="noStrike" cap="none" spc="0" normalizeH="0" baseline="0" smtClean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</m:t>
                    </m:r>
                    <m:sSub>
                      <m:sSubPr>
                        <m:ctrlPr>
                          <a:rPr kumimoji="0" lang="en-US" sz="4000" b="0" i="1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kumimoji="0" lang="en-US" sz="4000" b="0" i="1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𝜆</m:t>
                        </m:r>
                      </m:e>
                      <m:sub>
                        <m:r>
                          <a:rPr kumimoji="0" lang="en-US" sz="4000" b="0" i="1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4000" i="0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E5FBF07-5C30-045E-199D-7FB4669911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69" y="8136488"/>
                <a:ext cx="11592792" cy="493177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 cap="flat">
                <a:solidFill>
                  <a:schemeClr val="accent1">
                    <a:lumMod val="5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E0F80DD-CCB6-894E-D205-AE00BE84ACD4}"/>
              </a:ext>
            </a:extLst>
          </p:cNvPr>
          <p:cNvGrpSpPr/>
          <p:nvPr/>
        </p:nvGrpSpPr>
        <p:grpSpPr>
          <a:xfrm>
            <a:off x="281540" y="3003689"/>
            <a:ext cx="11148074" cy="4858562"/>
            <a:chOff x="13563561" y="3072441"/>
            <a:chExt cx="11148074" cy="4858562"/>
          </a:xfrm>
        </p:grpSpPr>
        <p:grpSp>
          <p:nvGrpSpPr>
            <p:cNvPr id="4" name="Group">
              <a:extLst>
                <a:ext uri="{FF2B5EF4-FFF2-40B4-BE49-F238E27FC236}">
                  <a16:creationId xmlns:a16="http://schemas.microsoft.com/office/drawing/2014/main" id="{69640A69-6961-820F-F0DA-20686BFE211F}"/>
                </a:ext>
              </a:extLst>
            </p:cNvPr>
            <p:cNvGrpSpPr/>
            <p:nvPr/>
          </p:nvGrpSpPr>
          <p:grpSpPr>
            <a:xfrm>
              <a:off x="15880925" y="3072441"/>
              <a:ext cx="8830710" cy="4788158"/>
              <a:chOff x="-1" y="0"/>
              <a:chExt cx="8830704" cy="4788154"/>
            </a:xfrm>
          </p:grpSpPr>
          <p:grpSp>
            <p:nvGrpSpPr>
              <p:cNvPr id="30" name="Group">
                <a:extLst>
                  <a:ext uri="{FF2B5EF4-FFF2-40B4-BE49-F238E27FC236}">
                    <a16:creationId xmlns:a16="http://schemas.microsoft.com/office/drawing/2014/main" id="{728BFC27-8BC1-C7EB-6093-2D3EB1D23C7D}"/>
                  </a:ext>
                </a:extLst>
              </p:cNvPr>
              <p:cNvGrpSpPr/>
              <p:nvPr/>
            </p:nvGrpSpPr>
            <p:grpSpPr>
              <a:xfrm>
                <a:off x="-1" y="0"/>
                <a:ext cx="8830704" cy="4788154"/>
                <a:chOff x="0" y="0"/>
                <a:chExt cx="8830702" cy="4788153"/>
              </a:xfrm>
            </p:grpSpPr>
            <p:grpSp>
              <p:nvGrpSpPr>
                <p:cNvPr id="34" name="Group">
                  <a:extLst>
                    <a:ext uri="{FF2B5EF4-FFF2-40B4-BE49-F238E27FC236}">
                      <a16:creationId xmlns:a16="http://schemas.microsoft.com/office/drawing/2014/main" id="{75D536F6-5D2B-CB17-33CF-126B82C1A3D0}"/>
                    </a:ext>
                  </a:extLst>
                </p:cNvPr>
                <p:cNvGrpSpPr/>
                <p:nvPr/>
              </p:nvGrpSpPr>
              <p:grpSpPr>
                <a:xfrm>
                  <a:off x="-1" y="0"/>
                  <a:ext cx="8830704" cy="4788154"/>
                  <a:chOff x="0" y="0"/>
                  <a:chExt cx="8830702" cy="4788153"/>
                </a:xfrm>
              </p:grpSpPr>
              <p:grpSp>
                <p:nvGrpSpPr>
                  <p:cNvPr id="36" name="Group">
                    <a:extLst>
                      <a:ext uri="{FF2B5EF4-FFF2-40B4-BE49-F238E27FC236}">
                        <a16:creationId xmlns:a16="http://schemas.microsoft.com/office/drawing/2014/main" id="{68BEEA80-2847-7A2A-DE59-FF0EAEBC5C74}"/>
                      </a:ext>
                    </a:extLst>
                  </p:cNvPr>
                  <p:cNvGrpSpPr/>
                  <p:nvPr/>
                </p:nvGrpSpPr>
                <p:grpSpPr>
                  <a:xfrm>
                    <a:off x="4310949" y="0"/>
                    <a:ext cx="4519754" cy="4788154"/>
                    <a:chOff x="0" y="0"/>
                    <a:chExt cx="4519753" cy="4788153"/>
                  </a:xfrm>
                </p:grpSpPr>
                <p:grpSp>
                  <p:nvGrpSpPr>
                    <p:cNvPr id="44" name="Group">
                      <a:extLst>
                        <a:ext uri="{FF2B5EF4-FFF2-40B4-BE49-F238E27FC236}">
                          <a16:creationId xmlns:a16="http://schemas.microsoft.com/office/drawing/2014/main" id="{AE8B2CF4-535D-7568-466C-20893FA4E4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960" name="Group">
                        <a:extLst>
                          <a:ext uri="{FF2B5EF4-FFF2-40B4-BE49-F238E27FC236}">
                            <a16:creationId xmlns:a16="http://schemas.microsoft.com/office/drawing/2014/main" id="{DE5AAB71-75C9-579D-E9E1-F46F6AC59CF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965" name="Line">
                          <a:extLst>
                            <a:ext uri="{FF2B5EF4-FFF2-40B4-BE49-F238E27FC236}">
                              <a16:creationId xmlns:a16="http://schemas.microsoft.com/office/drawing/2014/main" id="{46179C0F-7EE6-39A4-9B96-868F070F2A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1060" name="Line">
                          <a:extLst>
                            <a:ext uri="{FF2B5EF4-FFF2-40B4-BE49-F238E27FC236}">
                              <a16:creationId xmlns:a16="http://schemas.microsoft.com/office/drawing/2014/main" id="{80F5B6E3-9C0D-DE09-95FC-801F65E2CD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1061" name="Line">
                          <a:extLst>
                            <a:ext uri="{FF2B5EF4-FFF2-40B4-BE49-F238E27FC236}">
                              <a16:creationId xmlns:a16="http://schemas.microsoft.com/office/drawing/2014/main" id="{8BFC9941-BA8A-B650-7272-C4DFF38F8A5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961" name="1">
                        <a:extLst>
                          <a:ext uri="{FF2B5EF4-FFF2-40B4-BE49-F238E27FC236}">
                            <a16:creationId xmlns:a16="http://schemas.microsoft.com/office/drawing/2014/main" id="{34264EB3-A5AD-72F1-58EC-52E67B658F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1</a:t>
                        </a:r>
                      </a:p>
                    </p:txBody>
                  </p:sp>
                  <p:grpSp>
                    <p:nvGrpSpPr>
                      <p:cNvPr id="962" name="Group">
                        <a:extLst>
                          <a:ext uri="{FF2B5EF4-FFF2-40B4-BE49-F238E27FC236}">
                            <a16:creationId xmlns:a16="http://schemas.microsoft.com/office/drawing/2014/main" id="{7AF690F4-36B5-9FF1-6A89-ABA300B45F7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963" name="Line">
                          <a:extLst>
                            <a:ext uri="{FF2B5EF4-FFF2-40B4-BE49-F238E27FC236}">
                              <a16:creationId xmlns:a16="http://schemas.microsoft.com/office/drawing/2014/main" id="{CD9E4024-BF83-F0EF-D3CC-8F07D11D8E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964" name="Text">
                              <a:extLst>
                                <a:ext uri="{FF2B5EF4-FFF2-40B4-BE49-F238E27FC236}">
                                  <a16:creationId xmlns:a16="http://schemas.microsoft.com/office/drawing/2014/main" id="{C6754CB4-C244-42BD-562E-177DB47929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964" name="Text">
                              <a:extLst>
                                <a:ext uri="{FF2B5EF4-FFF2-40B4-BE49-F238E27FC236}">
                                  <a16:creationId xmlns:a16="http://schemas.microsoft.com/office/drawing/2014/main" id="{C6754CB4-C244-42BD-562E-177DB479290D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0"/>
                              <a:stretch>
                                <a:fillRect l="-14851" t="-1485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45" name="Group">
                      <a:extLst>
                        <a:ext uri="{FF2B5EF4-FFF2-40B4-BE49-F238E27FC236}">
                          <a16:creationId xmlns:a16="http://schemas.microsoft.com/office/drawing/2014/main" id="{628BB34B-2351-27C4-2EA6-50DC4CF750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1167915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56" name="Group">
                        <a:extLst>
                          <a:ext uri="{FF2B5EF4-FFF2-40B4-BE49-F238E27FC236}">
                            <a16:creationId xmlns:a16="http://schemas.microsoft.com/office/drawing/2014/main" id="{778D5679-890D-69DA-DE31-866528AA078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61" name="Line">
                          <a:extLst>
                            <a:ext uri="{FF2B5EF4-FFF2-40B4-BE49-F238E27FC236}">
                              <a16:creationId xmlns:a16="http://schemas.microsoft.com/office/drawing/2014/main" id="{34642DE4-46A0-6864-31D9-9D7B67F153E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62" name="Line">
                          <a:extLst>
                            <a:ext uri="{FF2B5EF4-FFF2-40B4-BE49-F238E27FC236}">
                              <a16:creationId xmlns:a16="http://schemas.microsoft.com/office/drawing/2014/main" id="{4B0CA4AA-601F-2876-8724-C42AF307E2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63" name="Line">
                          <a:extLst>
                            <a:ext uri="{FF2B5EF4-FFF2-40B4-BE49-F238E27FC236}">
                              <a16:creationId xmlns:a16="http://schemas.microsoft.com/office/drawing/2014/main" id="{13EB16B0-B8C7-CBA1-4516-FCE18D17B54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p:sp>
                    <p:nvSpPr>
                      <p:cNvPr id="57" name="2">
                        <a:extLst>
                          <a:ext uri="{FF2B5EF4-FFF2-40B4-BE49-F238E27FC236}">
                            <a16:creationId xmlns:a16="http://schemas.microsoft.com/office/drawing/2014/main" id="{25F256DD-2A1F-C3BB-F247-6C96C0C563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24135" y="0"/>
                        <a:ext cx="799167" cy="799944"/>
                      </a:xfrm>
                      <a:prstGeom prst="ellipse">
                        <a:avLst/>
                      </a:prstGeom>
                      <a:noFill/>
                      <a:ln w="50800" cap="flat">
                        <a:solidFill>
                          <a:srgbClr val="000000"/>
                        </a:solidFill>
                        <a:prstDash val="solid"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>
                        <a:lvl1pPr algn="ctr" defTabSz="82550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 sz="3200">
                            <a:latin typeface="Helvetica Neue Medium"/>
                            <a:ea typeface="Helvetica Neue Medium"/>
                            <a:cs typeface="Helvetica Neue Medium"/>
                            <a:sym typeface="Helvetica Neue Medium"/>
                          </a:defRPr>
                        </a:lvl1pPr>
                      </a:lstStyle>
                      <a:p>
                        <a:r>
                          <a:t>2</a:t>
                        </a:r>
                      </a:p>
                    </p:txBody>
                  </p:sp>
                  <p:grpSp>
                    <p:nvGrpSpPr>
                      <p:cNvPr id="58" name="Group">
                        <a:extLst>
                          <a:ext uri="{FF2B5EF4-FFF2-40B4-BE49-F238E27FC236}">
                            <a16:creationId xmlns:a16="http://schemas.microsoft.com/office/drawing/2014/main" id="{1323D41E-D6AA-A4C7-1A8C-5C985A2D224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59" name="Line">
                          <a:extLst>
                            <a:ext uri="{FF2B5EF4-FFF2-40B4-BE49-F238E27FC236}">
                              <a16:creationId xmlns:a16="http://schemas.microsoft.com/office/drawing/2014/main" id="{443F493B-8A66-320C-BD84-5E895B720C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60" name="Text">
                              <a:extLst>
                                <a:ext uri="{FF2B5EF4-FFF2-40B4-BE49-F238E27FC236}">
                                  <a16:creationId xmlns:a16="http://schemas.microsoft.com/office/drawing/2014/main" id="{E1630CB5-CF0B-D30B-0A6C-9AC35EAC69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60" name="Text">
                              <a:extLst>
                                <a:ext uri="{FF2B5EF4-FFF2-40B4-BE49-F238E27FC236}">
                                  <a16:creationId xmlns:a16="http://schemas.microsoft.com/office/drawing/2014/main" id="{E1630CB5-CF0B-D30B-0A6C-9AC35EAC6901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1"/>
                              <a:stretch>
                                <a:fillRect l="-14851" t="-1485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grpSp>
                  <p:nvGrpSpPr>
                    <p:cNvPr id="46" name="Group">
                      <a:extLst>
                        <a:ext uri="{FF2B5EF4-FFF2-40B4-BE49-F238E27FC236}">
                          <a16:creationId xmlns:a16="http://schemas.microsoft.com/office/drawing/2014/main" id="{17C9D5F6-79C1-C8AB-853A-AC32668749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2867362"/>
                      <a:ext cx="4519754" cy="1920792"/>
                      <a:chOff x="0" y="0"/>
                      <a:chExt cx="4519753" cy="1920791"/>
                    </a:xfrm>
                  </p:grpSpPr>
                  <p:grpSp>
                    <p:nvGrpSpPr>
                      <p:cNvPr id="48" name="Group">
                        <a:extLst>
                          <a:ext uri="{FF2B5EF4-FFF2-40B4-BE49-F238E27FC236}">
                            <a16:creationId xmlns:a16="http://schemas.microsoft.com/office/drawing/2014/main" id="{A41BB4E4-ADB2-5CF6-AAD2-7CEEAD1DA74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0" y="57767"/>
                        <a:ext cx="1951112" cy="703951"/>
                        <a:chOff x="0" y="0"/>
                        <a:chExt cx="1951111" cy="703950"/>
                      </a:xfrm>
                    </p:grpSpPr>
                    <p:sp>
                      <p:nvSpPr>
                        <p:cNvPr id="53" name="Line">
                          <a:extLst>
                            <a:ext uri="{FF2B5EF4-FFF2-40B4-BE49-F238E27FC236}">
                              <a16:creationId xmlns:a16="http://schemas.microsoft.com/office/drawing/2014/main" id="{A1CD09B7-3D54-FC3F-7BE2-809FCA3B87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4758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54" name="Line">
                          <a:extLst>
                            <a:ext uri="{FF2B5EF4-FFF2-40B4-BE49-F238E27FC236}">
                              <a16:creationId xmlns:a16="http://schemas.microsoft.com/office/drawing/2014/main" id="{AD7FFB9E-6CAE-8236-A1FA-7717804C989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689710"/>
                          <a:ext cx="1949314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p:sp>
                      <p:nvSpPr>
                        <p:cNvPr id="55" name="Line">
                          <a:extLst>
                            <a:ext uri="{FF2B5EF4-FFF2-40B4-BE49-F238E27FC236}">
                              <a16:creationId xmlns:a16="http://schemas.microsoft.com/office/drawing/2014/main" id="{A16FD879-EB9E-94CD-B256-277BE25E88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1951111" y="0"/>
                          <a:ext cx="1" cy="70395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9" name="Circle">
                            <a:extLst>
                              <a:ext uri="{FF2B5EF4-FFF2-40B4-BE49-F238E27FC236}">
                                <a16:creationId xmlns:a16="http://schemas.microsoft.com/office/drawing/2014/main" id="{FCD78F6C-0BCD-F0A8-660E-FF029830EC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noFill/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m="http://schemas.openxmlformats.org/officeDocument/2006/math" xmlns="" val="1"/>
                            </a:ext>
                          </a:extLst>
                        </p:spPr>
                        <p:txBody>
                          <a:bodyPr wrap="square" lIns="50800" tIns="50800" rIns="50800" bIns="50800" numCol="1" anchor="ctr">
                            <a:noAutofit/>
                          </a:bodyPr>
                          <a:lstStyle>
                            <a:lvl1pPr algn="ctr" defTabSz="82550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defRPr sz="3000">
                                <a:latin typeface="Helvetica Neue Medium"/>
                                <a:ea typeface="Helvetica Neue Medium"/>
                                <a:cs typeface="Helvetica Neue Medium"/>
                                <a:sym typeface="Helvetica Neue Medium"/>
                              </a:defRPr>
                            </a:lvl1pPr>
                          </a:lstStyle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"/>
                                </m:oMathParaPr>
                                <m:oMath xmlns:m="http://schemas.openxmlformats.org/officeDocument/2006/math">
                                  <m:r>
                                    <a:rPr sz="3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oMath>
                              </m:oMathPara>
                            </a14:m>
                            <a:endParaRPr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49" name="Circle">
                            <a:extLst>
                              <a:ext uri="{FF2B5EF4-FFF2-40B4-BE49-F238E27FC236}">
                                <a16:creationId xmlns:a16="http://schemas.microsoft.com/office/drawing/2014/main" id="{FCD78F6C-0BCD-F0A8-660E-FF029830EC87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124135" y="0"/>
                            <a:ext cx="799167" cy="799944"/>
                          </a:xfrm>
                          <a:prstGeom prst="ellipse">
                            <a:avLst/>
                          </a:prstGeom>
                          <a:blipFill>
                            <a:blip r:embed="rId12"/>
                            <a:stretch>
                              <a:fillRect/>
                            </a:stretch>
                          </a:blipFill>
                          <a:ln w="50800" cap="flat">
                            <a:solidFill>
                              <a:srgbClr val="000000"/>
                            </a:solidFill>
                            <a:prstDash val="solid"/>
                            <a:miter lim="400000"/>
                          </a:ln>
                          <a:effectLst/>
                          <a:extLst>
                            <a:ext uri="{C572A759-6A51-4108-AA02-DFA0A04FC94B}">
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50" name="Group">
                        <a:extLst>
                          <a:ext uri="{FF2B5EF4-FFF2-40B4-BE49-F238E27FC236}">
                            <a16:creationId xmlns:a16="http://schemas.microsoft.com/office/drawing/2014/main" id="{B2E7D93B-6B29-6736-F469-88A4DF81E9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2296" y="385492"/>
                        <a:ext cx="1607458" cy="1535300"/>
                        <a:chOff x="0" y="138830"/>
                        <a:chExt cx="1607456" cy="1535298"/>
                      </a:xfrm>
                    </p:grpSpPr>
                    <p:sp>
                      <p:nvSpPr>
                        <p:cNvPr id="51" name="Line">
                          <a:extLst>
                            <a:ext uri="{FF2B5EF4-FFF2-40B4-BE49-F238E27FC236}">
                              <a16:creationId xmlns:a16="http://schemas.microsoft.com/office/drawing/2014/main" id="{C520520B-66EC-625B-4DF8-C08F4ED2AC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138830"/>
                          <a:ext cx="1072909" cy="1"/>
                        </a:xfrm>
                        <a:prstGeom prst="line">
                          <a:avLst/>
                        </a:prstGeom>
                        <a:noFill/>
                        <a:ln w="50800" cap="flat">
                          <a:solidFill>
                            <a:srgbClr val="000000"/>
                          </a:solidFill>
                          <a:prstDash val="solid"/>
                          <a:miter lim="400000"/>
                          <a:tailEnd type="arrow" w="med" len="med"/>
                        </a:ln>
                        <a:effectLst/>
                      </p:spPr>
                      <p:txBody>
                        <a:bodyPr wrap="square" lIns="50800" tIns="50800" rIns="50800" bIns="50800" numCol="1" anchor="ctr">
                          <a:noAutofit/>
                        </a:bodyPr>
                        <a:lstStyle/>
                        <a:p>
                          <a:endParaRPr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52" name="Text">
                              <a:extLst>
                                <a:ext uri="{FF2B5EF4-FFF2-40B4-BE49-F238E27FC236}">
                                  <a16:creationId xmlns:a16="http://schemas.microsoft.com/office/drawing/2014/main" id="{1DFC8227-FAB0-2AA7-9BCE-4909005609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noFill/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 wrap="none" lIns="50800" tIns="50800" rIns="50800" bIns="50800" numCol="1" anchor="ctr">
                              <a:spAutoFit/>
                            </a:bodyPr>
                            <a:lstStyle>
                              <a:lvl1pPr>
                                <a:defRPr sz="3500">
                                  <a:solidFill>
                                    <a:schemeClr val="accent5"/>
                                  </a:solidFill>
                                </a:defRPr>
                              </a:lvl1pPr>
                            </a:lstStyle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left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sz="4200" i="1">
                                            <a:solidFill>
                                              <a:srgbClr val="FE634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>
                                <a:solidFill>
                                  <a:srgbClr val="FF644E"/>
                                </a:solidFill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52" name="Text">
                              <a:extLst>
                                <a:ext uri="{FF2B5EF4-FFF2-40B4-BE49-F238E27FC236}">
                                  <a16:creationId xmlns:a16="http://schemas.microsoft.com/office/drawing/2014/main" id="{1DFC8227-FAB0-2AA7-9BCE-49090056093F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7456" y="404129"/>
                              <a:ext cx="1270001" cy="1270001"/>
                            </a:xfrm>
                            <a:prstGeom prst="line">
                              <a:avLst/>
                            </a:prstGeom>
                            <a:blipFill>
                              <a:blip r:embed="rId13"/>
                              <a:stretch>
                                <a:fillRect l="-14851" t="-14851"/>
                              </a:stretch>
                            </a:blipFill>
                            <a:ln w="12700" cap="flat">
                              <a:noFill/>
                              <a:miter lim="400000"/>
                            </a:ln>
                            <a:effectLst/>
                            <a:extLst>
                              <a:ext uri="{C572A759-6A51-4108-AA02-DFA0A04FC94B}">
    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</p:grpSp>
                <p:sp>
                  <p:nvSpPr>
                    <p:cNvPr id="47" name="…">
                      <a:extLst>
                        <a:ext uri="{FF2B5EF4-FFF2-40B4-BE49-F238E27FC236}">
                          <a16:creationId xmlns:a16="http://schemas.microsoft.com/office/drawing/2014/main" id="{F560CB41-39EF-4458-4BB6-F9CA8B04AB7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86498" y="1492365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grpSp>
                <p:nvGrpSpPr>
                  <p:cNvPr id="37" name="Group">
                    <a:extLst>
                      <a:ext uri="{FF2B5EF4-FFF2-40B4-BE49-F238E27FC236}">
                        <a16:creationId xmlns:a16="http://schemas.microsoft.com/office/drawing/2014/main" id="{F38FD5CE-982F-B174-C9B2-582F06C61FFF}"/>
                      </a:ext>
                    </a:extLst>
                  </p:cNvPr>
                  <p:cNvGrpSpPr/>
                  <p:nvPr/>
                </p:nvGrpSpPr>
                <p:grpSpPr>
                  <a:xfrm>
                    <a:off x="1346012" y="516200"/>
                    <a:ext cx="3408500" cy="2819352"/>
                    <a:chOff x="0" y="0"/>
                    <a:chExt cx="3408498" cy="2819351"/>
                  </a:xfrm>
                </p:grpSpPr>
                <p:sp>
                  <p:nvSpPr>
                    <p:cNvPr id="39" name="JSQ">
                      <a:extLst>
                        <a:ext uri="{FF2B5EF4-FFF2-40B4-BE49-F238E27FC236}">
                          <a16:creationId xmlns:a16="http://schemas.microsoft.com/office/drawing/2014/main" id="{95FDD3D1-5D16-32BE-88A5-F1CD29477F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448496"/>
                      <a:ext cx="1422401" cy="1422401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10800"/>
                          </a:moveTo>
                          <a:lnTo>
                            <a:pt x="10800" y="21600"/>
                          </a:lnTo>
                          <a:lnTo>
                            <a:pt x="21600" y="10800"/>
                          </a:lnTo>
                          <a:lnTo>
                            <a:pt x="10800" y="0"/>
                          </a:lnTo>
                          <a:close/>
                        </a:path>
                      </a:pathLst>
                    </a:cu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>
                      <a:lvl1pPr algn="ctr" defTabSz="825500">
                        <a:lnSpc>
                          <a:spcPct val="100000"/>
                        </a:lnSpc>
                        <a:spcBef>
                          <a:spcPts val="0"/>
                        </a:spcBef>
                        <a:defRPr sz="3000"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defRPr>
                      </a:lvl1pPr>
                    </a:lstStyle>
                    <a:p>
                      <a:r>
                        <a:t>JSQ</a:t>
                      </a:r>
                    </a:p>
                  </p:txBody>
                </p:sp>
                <p:sp>
                  <p:nvSpPr>
                    <p:cNvPr id="40" name="Line">
                      <a:extLst>
                        <a:ext uri="{FF2B5EF4-FFF2-40B4-BE49-F238E27FC236}">
                          <a16:creationId xmlns:a16="http://schemas.microsoft.com/office/drawing/2014/main" id="{A6AA8130-6A01-30CF-4422-37850B07EDC1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407697" y="-1"/>
                      <a:ext cx="1472888" cy="1172398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41" name="Line">
                      <a:extLst>
                        <a:ext uri="{FF2B5EF4-FFF2-40B4-BE49-F238E27FC236}">
                          <a16:creationId xmlns:a16="http://schemas.microsoft.com/office/drawing/2014/main" id="{ACD62D57-9556-2EA2-0F38-33C524D803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7521" y="1166578"/>
                      <a:ext cx="1468645" cy="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42" name="Line">
                      <a:extLst>
                        <a:ext uri="{FF2B5EF4-FFF2-40B4-BE49-F238E27FC236}">
                          <a16:creationId xmlns:a16="http://schemas.microsoft.com/office/drawing/2014/main" id="{BEB08959-985D-3828-495F-99A0C4FDDE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3574" y="1168551"/>
                      <a:ext cx="1473866" cy="1650801"/>
                    </a:xfrm>
                    <a:prstGeom prst="line">
                      <a:avLst/>
                    </a:prstGeom>
                    <a:noFill/>
                    <a:ln w="50800" cap="flat">
                      <a:solidFill>
                        <a:srgbClr val="000000"/>
                      </a:solidFill>
                      <a:prstDash val="solid"/>
                      <a:miter lim="400000"/>
                      <a:tailEnd type="arrow" w="med" len="med"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endParaRPr/>
                    </a:p>
                  </p:txBody>
                </p:sp>
                <p:sp>
                  <p:nvSpPr>
                    <p:cNvPr id="43" name="…">
                      <a:extLst>
                        <a:ext uri="{FF2B5EF4-FFF2-40B4-BE49-F238E27FC236}">
                          <a16:creationId xmlns:a16="http://schemas.microsoft.com/office/drawing/2014/main" id="{64741F69-F729-D640-0A34-5B30298868C6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138498" y="736067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vert="vert" wrap="none" lIns="50800" tIns="50800" rIns="50800" bIns="50800" numCol="1" anchor="ctr">
                      <a:spAutoFit/>
                    </a:bodyPr>
                    <a:lstStyle/>
                    <a:p>
                      <a:r>
                        <a:rPr dirty="0"/>
                        <a:t>…</a:t>
                      </a:r>
                    </a:p>
                  </p:txBody>
                </p:sp>
              </p:grpSp>
              <p:sp>
                <p:nvSpPr>
                  <p:cNvPr id="38" name="Group">
                    <a:extLst>
                      <a:ext uri="{FF2B5EF4-FFF2-40B4-BE49-F238E27FC236}">
                        <a16:creationId xmlns:a16="http://schemas.microsoft.com/office/drawing/2014/main" id="{8830680E-7DF7-0CDA-27FF-EBA50AB4AC43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-1" y="1680177"/>
                    <a:ext cx="1223401" cy="1"/>
                  </a:xfrm>
                  <a:prstGeom prst="line">
                    <a:avLst/>
                  </a:prstGeom>
                  <a:noFill/>
                  <a:ln w="50800" cap="flat">
                    <a:solidFill>
                      <a:srgbClr val="000000"/>
                    </a:solidFill>
                    <a:prstDash val="solid"/>
                    <a:miter lim="400000"/>
                    <a:tailEnd type="arrow" w="med" len="med"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endParaRPr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Text">
                      <a:extLst>
                        <a:ext uri="{FF2B5EF4-FFF2-40B4-BE49-F238E27FC236}">
                          <a16:creationId xmlns:a16="http://schemas.microsoft.com/office/drawing/2014/main" id="{9C6D9C8D-9988-EA0C-834C-F63D61151C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50800" tIns="50800" rIns="50800" bIns="50800" numCol="1" anchor="ctr">
                      <a:spAutoFit/>
                    </a:bodyPr>
                    <a:lstStyle>
                      <a:lvl1pPr>
                        <a:defRPr sz="3000">
                          <a:solidFill>
                            <a:schemeClr val="accent5"/>
                          </a:solidFill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sz="3600" i="1">
                                    <a:solidFill>
                                      <a:srgbClr val="FE634D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>
                        <a:solidFill>
                          <a:srgbClr val="FF644E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5" name="Text">
                      <a:extLst>
                        <a:ext uri="{FF2B5EF4-FFF2-40B4-BE49-F238E27FC236}">
                          <a16:creationId xmlns:a16="http://schemas.microsoft.com/office/drawing/2014/main" id="{9C6D9C8D-9988-EA0C-834C-F63D61151C8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824" y="1941663"/>
                      <a:ext cx="1270001" cy="1270001"/>
                    </a:xfrm>
                    <a:prstGeom prst="line">
                      <a:avLst/>
                    </a:prstGeom>
                    <a:blipFill>
                      <a:blip r:embed="rId14"/>
                      <a:stretch>
                        <a:fillRect l="-11881" t="-1980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Equation">
                    <a:extLst>
                      <a:ext uri="{FF2B5EF4-FFF2-40B4-BE49-F238E27FC236}">
                        <a16:creationId xmlns:a16="http://schemas.microsoft.com/office/drawing/2014/main" id="{9CFD9B29-61B4-520F-331E-74E2D3AA7AFE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111217"/>
                    <a:ext cx="319865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31" name="Equation">
                    <a:extLst>
                      <a:ext uri="{FF2B5EF4-FFF2-40B4-BE49-F238E27FC236}">
                        <a16:creationId xmlns:a16="http://schemas.microsoft.com/office/drawing/2014/main" id="{9CFD9B29-61B4-520F-331E-74E2D3AA7A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11217"/>
                    <a:ext cx="319865" cy="30715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46154" r="-61538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Equation">
                    <a:extLst>
                      <a:ext uri="{FF2B5EF4-FFF2-40B4-BE49-F238E27FC236}">
                        <a16:creationId xmlns:a16="http://schemas.microsoft.com/office/drawing/2014/main" id="{BB265CF6-F5FD-9F51-DAFD-9B53A1A4FEA6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1259893"/>
                    <a:ext cx="345113" cy="30715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500" dirty="0"/>
                  </a:p>
                </p:txBody>
              </p:sp>
            </mc:Choice>
            <mc:Fallback xmlns="">
              <p:sp>
                <p:nvSpPr>
                  <p:cNvPr id="32" name="Equation">
                    <a:extLst>
                      <a:ext uri="{FF2B5EF4-FFF2-40B4-BE49-F238E27FC236}">
                        <a16:creationId xmlns:a16="http://schemas.microsoft.com/office/drawing/2014/main" id="{BB265CF6-F5FD-9F51-DAFD-9B53A1A4FE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1259893"/>
                    <a:ext cx="345113" cy="30715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2857" r="-53571" b="-116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Equation">
                    <a:extLst>
                      <a:ext uri="{FF2B5EF4-FFF2-40B4-BE49-F238E27FC236}">
                        <a16:creationId xmlns:a16="http://schemas.microsoft.com/office/drawing/2014/main" id="{EB85DACA-0E4D-9C20-73C5-8340C74569A7}"/>
                      </a:ext>
                    </a:extLst>
                  </p:cNvPr>
                  <p:cNvSpPr txBox="1"/>
                  <p:nvPr/>
                </p:nvSpPr>
                <p:spPr>
                  <a:xfrm>
                    <a:off x="5056240" y="2988936"/>
                    <a:ext cx="345113" cy="30999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defTabSz="914400" latinLnBrk="1">
                      <a:lnSpc>
                        <a:spcPct val="100000"/>
                      </a:lnSpc>
                      <a:spcBef>
                        <a:spcPts val="0"/>
                      </a:spcBef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sz="3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sz="3500"/>
                  </a:p>
                </p:txBody>
              </p:sp>
            </mc:Choice>
            <mc:Fallback xmlns="">
              <p:sp>
                <p:nvSpPr>
                  <p:cNvPr id="33" name="Equation">
                    <a:extLst>
                      <a:ext uri="{FF2B5EF4-FFF2-40B4-BE49-F238E27FC236}">
                        <a16:creationId xmlns:a16="http://schemas.microsoft.com/office/drawing/2014/main" id="{EB85DACA-0E4D-9C20-73C5-8340C74569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6240" y="2988936"/>
                    <a:ext cx="345113" cy="30999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42857" r="-53571" b="-111538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">
                  <a:extLst>
                    <a:ext uri="{FF2B5EF4-FFF2-40B4-BE49-F238E27FC236}">
                      <a16:creationId xmlns:a16="http://schemas.microsoft.com/office/drawing/2014/main" id="{DE2A7BD0-A73A-A880-28F2-D3CAA3974597}"/>
                    </a:ext>
                  </a:extLst>
                </p:cNvPr>
                <p:cNvSpPr/>
                <p:nvPr/>
              </p:nvSpPr>
              <p:spPr>
                <a:xfrm>
                  <a:off x="14949611" y="3231168"/>
                  <a:ext cx="1270000" cy="1270002"/>
                </a:xfrm>
                <a:prstGeom prst="line">
                  <a:avLst/>
                </a:prstGeom>
                <a:solidFill>
                  <a:schemeClr val="accent1">
                    <a:lumOff val="16847"/>
                    <a:alpha val="30000"/>
                  </a:schemeClr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∼?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5" name="Text">
                  <a:extLst>
                    <a:ext uri="{FF2B5EF4-FFF2-40B4-BE49-F238E27FC236}">
                      <a16:creationId xmlns:a16="http://schemas.microsoft.com/office/drawing/2014/main" id="{DE2A7BD0-A73A-A880-28F2-D3CAA39745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9611" y="3231168"/>
                  <a:ext cx="1270000" cy="1270002"/>
                </a:xfrm>
                <a:prstGeom prst="line">
                  <a:avLst/>
                </a:prstGeom>
                <a:blipFill>
                  <a:blip r:embed="rId18"/>
                  <a:stretch>
                    <a:fillRect l="-20792" t="-32000" r="-61386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D324B5-67FD-C13D-E935-3C0CB5931B81}"/>
                </a:ext>
              </a:extLst>
            </p:cNvPr>
            <p:cNvGrpSpPr/>
            <p:nvPr/>
          </p:nvGrpSpPr>
          <p:grpSpPr>
            <a:xfrm>
              <a:off x="13563561" y="5770180"/>
              <a:ext cx="5862886" cy="2160823"/>
              <a:chOff x="13563561" y="5770180"/>
              <a:chExt cx="5862886" cy="21608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Markov chain">
                    <a:extLst>
                      <a:ext uri="{FF2B5EF4-FFF2-40B4-BE49-F238E27FC236}">
                        <a16:creationId xmlns:a16="http://schemas.microsoft.com/office/drawing/2014/main" id="{EB133EDD-5556-DA28-FB24-FC0BA590E09C}"/>
                      </a:ext>
                    </a:extLst>
                  </p:cNvPr>
                  <p:cNvSpPr txBox="1"/>
                  <p:nvPr/>
                </p:nvSpPr>
                <p:spPr>
                  <a:xfrm>
                    <a:off x="13563561" y="5770180"/>
                    <a:ext cx="1260538" cy="60119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/>
                  <a:p>
                    <a:pPr>
                      <a:defRPr sz="3000">
                        <a:solidFill>
                          <a:schemeClr val="accent5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3600" b="0" i="1" smtClean="0">
                              <a:solidFill>
                                <a:srgbClr val="FE634D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dirty="0">
                      <a:solidFill>
                        <a:srgbClr val="FF644E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Markov chain">
                    <a:extLst>
                      <a:ext uri="{FF2B5EF4-FFF2-40B4-BE49-F238E27FC236}">
                        <a16:creationId xmlns:a16="http://schemas.microsoft.com/office/drawing/2014/main" id="{EB133EDD-5556-DA28-FB24-FC0BA590E0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63561" y="5770180"/>
                    <a:ext cx="1260538" cy="60119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000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BE4519E8-A39A-19EE-1759-A584A1A1134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435471" y="6285083"/>
                <a:ext cx="4990976" cy="1645920"/>
                <a:chOff x="15235395" y="8914400"/>
                <a:chExt cx="6602796" cy="2177465"/>
              </a:xfrm>
            </p:grpSpPr>
            <p:sp>
              <p:nvSpPr>
                <p:cNvPr id="9" name="Circle">
                  <a:extLst>
                    <a:ext uri="{FF2B5EF4-FFF2-40B4-BE49-F238E27FC236}">
                      <a16:creationId xmlns:a16="http://schemas.microsoft.com/office/drawing/2014/main" id="{C38E3246-6B3D-498A-82B1-6150787B433D}"/>
                    </a:ext>
                  </a:extLst>
                </p:cNvPr>
                <p:cNvSpPr/>
                <p:nvPr/>
              </p:nvSpPr>
              <p:spPr>
                <a:xfrm>
                  <a:off x="15235395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0" name="Circle">
                  <a:extLst>
                    <a:ext uri="{FF2B5EF4-FFF2-40B4-BE49-F238E27FC236}">
                      <a16:creationId xmlns:a16="http://schemas.microsoft.com/office/drawing/2014/main" id="{10DDB57A-DB89-D217-8C51-DB0670CE0F94}"/>
                    </a:ext>
                  </a:extLst>
                </p:cNvPr>
                <p:cNvSpPr/>
                <p:nvPr/>
              </p:nvSpPr>
              <p:spPr>
                <a:xfrm>
                  <a:off x="16663474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1" name="Circle">
                  <a:extLst>
                    <a:ext uri="{FF2B5EF4-FFF2-40B4-BE49-F238E27FC236}">
                      <a16:creationId xmlns:a16="http://schemas.microsoft.com/office/drawing/2014/main" id="{71FEE4C6-70ED-B4F0-E68D-E3739A9CA302}"/>
                    </a:ext>
                  </a:extLst>
                </p:cNvPr>
                <p:cNvSpPr/>
                <p:nvPr/>
              </p:nvSpPr>
              <p:spPr>
                <a:xfrm>
                  <a:off x="1809155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2" name="Circle">
                  <a:extLst>
                    <a:ext uri="{FF2B5EF4-FFF2-40B4-BE49-F238E27FC236}">
                      <a16:creationId xmlns:a16="http://schemas.microsoft.com/office/drawing/2014/main" id="{4A01C1D1-EBB8-98F6-CC29-EFC0B5D7A27D}"/>
                    </a:ext>
                  </a:extLst>
                </p:cNvPr>
                <p:cNvSpPr/>
                <p:nvPr/>
              </p:nvSpPr>
              <p:spPr>
                <a:xfrm>
                  <a:off x="15923204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3" name="Circle">
                  <a:extLst>
                    <a:ext uri="{FF2B5EF4-FFF2-40B4-BE49-F238E27FC236}">
                      <a16:creationId xmlns:a16="http://schemas.microsoft.com/office/drawing/2014/main" id="{2BC31963-C56A-1A33-C6EE-A69A051D465F}"/>
                    </a:ext>
                  </a:extLst>
                </p:cNvPr>
                <p:cNvSpPr/>
                <p:nvPr/>
              </p:nvSpPr>
              <p:spPr>
                <a:xfrm>
                  <a:off x="18772119" y="10207884"/>
                  <a:ext cx="890479" cy="883981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4" name="Circle">
                  <a:extLst>
                    <a:ext uri="{FF2B5EF4-FFF2-40B4-BE49-F238E27FC236}">
                      <a16:creationId xmlns:a16="http://schemas.microsoft.com/office/drawing/2014/main" id="{F4CC2126-82E1-3B58-2D9C-4E3121C2E5A0}"/>
                    </a:ext>
                  </a:extLst>
                </p:cNvPr>
                <p:cNvSpPr/>
                <p:nvPr/>
              </p:nvSpPr>
              <p:spPr>
                <a:xfrm>
                  <a:off x="19519633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5" name="Circle">
                  <a:extLst>
                    <a:ext uri="{FF2B5EF4-FFF2-40B4-BE49-F238E27FC236}">
                      <a16:creationId xmlns:a16="http://schemas.microsoft.com/office/drawing/2014/main" id="{AE5B736B-AFD5-B9AC-0171-BA45A791FF6F}"/>
                    </a:ext>
                  </a:extLst>
                </p:cNvPr>
                <p:cNvSpPr/>
                <p:nvPr/>
              </p:nvSpPr>
              <p:spPr>
                <a:xfrm>
                  <a:off x="20947712" y="8914400"/>
                  <a:ext cx="890479" cy="883980"/>
                </a:xfrm>
                <a:prstGeom prst="ellipse">
                  <a:avLst/>
                </a:prstGeom>
                <a:solidFill>
                  <a:schemeClr val="accent5">
                    <a:hueOff val="-152895"/>
                    <a:lumOff val="12368"/>
                  </a:schemeClr>
                </a:solidFill>
                <a:ln w="50800" cap="flat">
                  <a:solidFill>
                    <a:schemeClr val="accent5">
                      <a:hueOff val="-152895"/>
                      <a:lumOff val="12368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825500">
                    <a:lnSpc>
                      <a:spcPct val="100000"/>
                    </a:lnSpc>
                    <a:spcBef>
                      <a:spcPts val="0"/>
                    </a:spcBef>
                    <a:defRPr sz="3200">
                      <a:solidFill>
                        <a:schemeClr val="accent6">
                          <a:satOff val="-20754"/>
                          <a:lumOff val="-16738"/>
                        </a:schemeClr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cxnSp>
              <p:nvCxnSpPr>
                <p:cNvPr id="16" name="Curved Connector 15">
                  <a:extLst>
                    <a:ext uri="{FF2B5EF4-FFF2-40B4-BE49-F238E27FC236}">
                      <a16:creationId xmlns:a16="http://schemas.microsoft.com/office/drawing/2014/main" id="{FFBBE799-5C61-4351-2FDA-63677DDA2D17}"/>
                    </a:ext>
                  </a:extLst>
                </p:cNvPr>
                <p:cNvCxnSpPr>
                  <a:cxnSpLocks/>
                  <a:stCxn id="9" idx="7"/>
                  <a:endCxn id="10" idx="1"/>
                </p:cNvCxnSpPr>
                <p:nvPr/>
              </p:nvCxnSpPr>
              <p:spPr>
                <a:xfrm rot="5400000" flipH="1" flipV="1">
                  <a:off x="1639467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7" name="Curved Connector 16">
                  <a:extLst>
                    <a:ext uri="{FF2B5EF4-FFF2-40B4-BE49-F238E27FC236}">
                      <a16:creationId xmlns:a16="http://schemas.microsoft.com/office/drawing/2014/main" id="{63E96F80-9FE2-0384-5FBC-AC16C2E4F737}"/>
                    </a:ext>
                  </a:extLst>
                </p:cNvPr>
                <p:cNvCxnSpPr>
                  <a:cxnSpLocks/>
                  <a:stCxn id="10" idx="3"/>
                  <a:endCxn id="9" idx="5"/>
                </p:cNvCxnSpPr>
                <p:nvPr/>
              </p:nvCxnSpPr>
              <p:spPr>
                <a:xfrm rot="5400000">
                  <a:off x="16394674" y="9269716"/>
                  <a:ext cx="12700" cy="798416"/>
                </a:xfrm>
                <a:prstGeom prst="curvedConnector3">
                  <a:avLst>
                    <a:gd name="adj1" fmla="val 11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8" name="Curved Connector 17">
                  <a:extLst>
                    <a:ext uri="{FF2B5EF4-FFF2-40B4-BE49-F238E27FC236}">
                      <a16:creationId xmlns:a16="http://schemas.microsoft.com/office/drawing/2014/main" id="{D03E88B0-4BDA-7EFE-67E0-7799B60A6B41}"/>
                    </a:ext>
                  </a:extLst>
                </p:cNvPr>
                <p:cNvCxnSpPr>
                  <a:cxnSpLocks/>
                  <a:stCxn id="10" idx="7"/>
                  <a:endCxn id="11" idx="1"/>
                </p:cNvCxnSpPr>
                <p:nvPr/>
              </p:nvCxnSpPr>
              <p:spPr>
                <a:xfrm rot="5400000" flipH="1" flipV="1">
                  <a:off x="17822753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9" name="Curved Connector 18">
                  <a:extLst>
                    <a:ext uri="{FF2B5EF4-FFF2-40B4-BE49-F238E27FC236}">
                      <a16:creationId xmlns:a16="http://schemas.microsoft.com/office/drawing/2014/main" id="{600A701A-FFE8-7002-7315-4196F7860883}"/>
                    </a:ext>
                  </a:extLst>
                </p:cNvPr>
                <p:cNvCxnSpPr>
                  <a:cxnSpLocks/>
                  <a:stCxn id="11" idx="3"/>
                  <a:endCxn id="10" idx="5"/>
                </p:cNvCxnSpPr>
                <p:nvPr/>
              </p:nvCxnSpPr>
              <p:spPr>
                <a:xfrm rot="5400000">
                  <a:off x="17822753" y="9269716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0" name="Curved Connector 19">
                  <a:extLst>
                    <a:ext uri="{FF2B5EF4-FFF2-40B4-BE49-F238E27FC236}">
                      <a16:creationId xmlns:a16="http://schemas.microsoft.com/office/drawing/2014/main" id="{97108E15-C0EF-877D-75E6-0E3A8DB34F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0700535" y="86319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1" name="Curved Connector 20">
                  <a:extLst>
                    <a:ext uri="{FF2B5EF4-FFF2-40B4-BE49-F238E27FC236}">
                      <a16:creationId xmlns:a16="http://schemas.microsoft.com/office/drawing/2014/main" id="{19B1CE06-8B4C-6410-F538-64FE35CE9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19261644" y="8644648"/>
                  <a:ext cx="12700" cy="798416"/>
                </a:xfrm>
                <a:prstGeom prst="curvedConnector3">
                  <a:avLst>
                    <a:gd name="adj1" fmla="val 7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2" name="Curved Connector 21">
                  <a:extLst>
                    <a:ext uri="{FF2B5EF4-FFF2-40B4-BE49-F238E27FC236}">
                      <a16:creationId xmlns:a16="http://schemas.microsoft.com/office/drawing/2014/main" id="{1AD44861-D1C5-3652-FFDE-EB6C5E1EE1F3}"/>
                    </a:ext>
                  </a:extLst>
                </p:cNvPr>
                <p:cNvCxnSpPr>
                  <a:cxnSpLocks/>
                  <a:stCxn id="14" idx="3"/>
                  <a:endCxn id="11" idx="5"/>
                </p:cNvCxnSpPr>
                <p:nvPr/>
              </p:nvCxnSpPr>
              <p:spPr>
                <a:xfrm rot="5400000">
                  <a:off x="19250833" y="9269716"/>
                  <a:ext cx="12700" cy="798417"/>
                </a:xfrm>
                <a:prstGeom prst="curvedConnector3">
                  <a:avLst>
                    <a:gd name="adj1" fmla="val 819323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3" name="Curved Connector 22">
                  <a:extLst>
                    <a:ext uri="{FF2B5EF4-FFF2-40B4-BE49-F238E27FC236}">
                      <a16:creationId xmlns:a16="http://schemas.microsoft.com/office/drawing/2014/main" id="{77D362EB-9DB0-842A-723E-95C8FD303075}"/>
                    </a:ext>
                  </a:extLst>
                </p:cNvPr>
                <p:cNvCxnSpPr>
                  <a:cxnSpLocks/>
                  <a:stCxn id="13" idx="3"/>
                  <a:endCxn id="12" idx="5"/>
                </p:cNvCxnSpPr>
                <p:nvPr/>
              </p:nvCxnSpPr>
              <p:spPr>
                <a:xfrm rot="5400000">
                  <a:off x="17792901" y="9852783"/>
                  <a:ext cx="12700" cy="2219252"/>
                </a:xfrm>
                <a:prstGeom prst="curvedConnector3">
                  <a:avLst>
                    <a:gd name="adj1" fmla="val 28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4" name="Curved Connector 23">
                  <a:extLst>
                    <a:ext uri="{FF2B5EF4-FFF2-40B4-BE49-F238E27FC236}">
                      <a16:creationId xmlns:a16="http://schemas.microsoft.com/office/drawing/2014/main" id="{9EA93FF5-2330-EE28-9D06-8DE728D5D130}"/>
                    </a:ext>
                  </a:extLst>
                </p:cNvPr>
                <p:cNvCxnSpPr>
                  <a:cxnSpLocks/>
                  <a:stCxn id="14" idx="4"/>
                  <a:endCxn id="13" idx="7"/>
                </p:cNvCxnSpPr>
                <p:nvPr/>
              </p:nvCxnSpPr>
              <p:spPr>
                <a:xfrm rot="5400000">
                  <a:off x="19479052" y="9851519"/>
                  <a:ext cx="538960" cy="432683"/>
                </a:xfrm>
                <a:prstGeom prst="curvedConnector3">
                  <a:avLst>
                    <a:gd name="adj1" fmla="val 38217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5" name="Curved Connector 24">
                  <a:extLst>
                    <a:ext uri="{FF2B5EF4-FFF2-40B4-BE49-F238E27FC236}">
                      <a16:creationId xmlns:a16="http://schemas.microsoft.com/office/drawing/2014/main" id="{AD1FFB06-2DFE-4C55-4EB1-0532B73DB803}"/>
                    </a:ext>
                  </a:extLst>
                </p:cNvPr>
                <p:cNvCxnSpPr>
                  <a:cxnSpLocks/>
                  <a:stCxn id="13" idx="6"/>
                  <a:endCxn id="15" idx="4"/>
                </p:cNvCxnSpPr>
                <p:nvPr/>
              </p:nvCxnSpPr>
              <p:spPr>
                <a:xfrm flipV="1">
                  <a:off x="19662598" y="9798380"/>
                  <a:ext cx="1730354" cy="85149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6" name="Curved Connector 25">
                  <a:extLst>
                    <a:ext uri="{FF2B5EF4-FFF2-40B4-BE49-F238E27FC236}">
                      <a16:creationId xmlns:a16="http://schemas.microsoft.com/office/drawing/2014/main" id="{DD6EF8AB-C90D-1915-CAD1-AF2776470596}"/>
                    </a:ext>
                  </a:extLst>
                </p:cNvPr>
                <p:cNvCxnSpPr>
                  <a:cxnSpLocks/>
                  <a:stCxn id="15" idx="3"/>
                </p:cNvCxnSpPr>
                <p:nvPr/>
              </p:nvCxnSpPr>
              <p:spPr>
                <a:xfrm rot="5400000">
                  <a:off x="19967646" y="9312974"/>
                  <a:ext cx="754525" cy="1466425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7" name="Curved Connector 26">
                  <a:extLst>
                    <a:ext uri="{FF2B5EF4-FFF2-40B4-BE49-F238E27FC236}">
                      <a16:creationId xmlns:a16="http://schemas.microsoft.com/office/drawing/2014/main" id="{D75A5A87-6A36-F0D7-0580-D3D31FA23E26}"/>
                    </a:ext>
                  </a:extLst>
                </p:cNvPr>
                <p:cNvCxnSpPr>
                  <a:cxnSpLocks/>
                  <a:stCxn id="12" idx="1"/>
                  <a:endCxn id="9" idx="4"/>
                </p:cNvCxnSpPr>
                <p:nvPr/>
              </p:nvCxnSpPr>
              <p:spPr>
                <a:xfrm rot="16200000" flipV="1">
                  <a:off x="15597644" y="9881371"/>
                  <a:ext cx="538960" cy="372977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8" name="Curved Connector 27">
                  <a:extLst>
                    <a:ext uri="{FF2B5EF4-FFF2-40B4-BE49-F238E27FC236}">
                      <a16:creationId xmlns:a16="http://schemas.microsoft.com/office/drawing/2014/main" id="{3117E41F-D730-84F9-CB0D-AEA3F83A7B68}"/>
                    </a:ext>
                  </a:extLst>
                </p:cNvPr>
                <p:cNvCxnSpPr>
                  <a:cxnSpLocks/>
                  <a:stCxn id="9" idx="3"/>
                  <a:endCxn id="12" idx="2"/>
                </p:cNvCxnSpPr>
                <p:nvPr/>
              </p:nvCxnSpPr>
              <p:spPr>
                <a:xfrm rot="16200000" flipH="1">
                  <a:off x="15154028" y="9880698"/>
                  <a:ext cx="980951" cy="557401"/>
                </a:xfrm>
                <a:prstGeom prst="curvedConnector2">
                  <a:avLst/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9" name="Curved Connector 28">
                  <a:extLst>
                    <a:ext uri="{FF2B5EF4-FFF2-40B4-BE49-F238E27FC236}">
                      <a16:creationId xmlns:a16="http://schemas.microsoft.com/office/drawing/2014/main" id="{A7FEEDA3-C778-E793-C987-3135BEF7C1DA}"/>
                    </a:ext>
                  </a:extLst>
                </p:cNvPr>
                <p:cNvCxnSpPr>
                  <a:cxnSpLocks/>
                  <a:stCxn id="12" idx="7"/>
                  <a:endCxn id="13" idx="1"/>
                </p:cNvCxnSpPr>
                <p:nvPr/>
              </p:nvCxnSpPr>
              <p:spPr>
                <a:xfrm rot="5400000" flipH="1" flipV="1">
                  <a:off x="17792901" y="9227714"/>
                  <a:ext cx="12700" cy="2219252"/>
                </a:xfrm>
                <a:prstGeom prst="curvedConnector3">
                  <a:avLst>
                    <a:gd name="adj1" fmla="val 1219339"/>
                  </a:avLst>
                </a:prstGeom>
                <a:noFill/>
                <a:ln w="25400" cap="flat">
                  <a:solidFill>
                    <a:srgbClr val="FF644E"/>
                  </a:solidFill>
                  <a:prstDash val="solid"/>
                  <a:miter lim="400000"/>
                  <a:tailEnd type="stealth" w="lg" len="lg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" grpId="2" animBg="1" advAuto="0"/>
      <p:bldP spid="1038" grpId="4" build="p" bldLvl="5" animBg="1" advAuto="0"/>
      <p:bldP spid="1051" grpId="3" animBg="1" advAuto="0"/>
      <p:bldP spid="1055" grpId="5" animBg="1" advAuto="0"/>
      <p:bldP spid="2" grpId="0" animBg="1"/>
    </p:bldLst>
  </p:timing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1492</Words>
  <Application>Microsoft Office PowerPoint</Application>
  <PresentationFormat>Custom</PresentationFormat>
  <Paragraphs>319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Cambria Math</vt:lpstr>
      <vt:lpstr>Helvetica Neue</vt:lpstr>
      <vt:lpstr>Helvetica Neue Medium</vt:lpstr>
      <vt:lpstr>Proxima Nova</vt:lpstr>
      <vt:lpstr>Proxima Nova Medium</vt:lpstr>
      <vt:lpstr>Wingdings</vt:lpstr>
      <vt:lpstr>30_BasicColor</vt:lpstr>
      <vt:lpstr>Transform Method for  Markov-Modulated Queues</vt:lpstr>
      <vt:lpstr>JSQ Model</vt:lpstr>
      <vt:lpstr>Asymptotic Distribution of Queue Lengths</vt:lpstr>
      <vt:lpstr>Proof Sketch</vt:lpstr>
      <vt:lpstr>State Space Collapse (SSC)</vt:lpstr>
      <vt:lpstr>Proof Sketch</vt:lpstr>
      <vt:lpstr>Heavy-Traffic Analysis in the Literature</vt:lpstr>
      <vt:lpstr>Transform Method for M/M/1 queue</vt:lpstr>
      <vt:lpstr>Transform Method Markov-Mod JSQ</vt:lpstr>
      <vt:lpstr>Transform Method Markov-Mod JSQ</vt:lpstr>
      <vt:lpstr>Poisson Equation for Transform Method</vt:lpstr>
      <vt:lpstr>Applying the Poisson Equation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 Method for  Markov-Modulated Queues</dc:title>
  <cp:lastModifiedBy>Izzy Grosof</cp:lastModifiedBy>
  <cp:revision>77</cp:revision>
  <dcterms:modified xsi:type="dcterms:W3CDTF">2025-09-18T05:53:27Z</dcterms:modified>
</cp:coreProperties>
</file>