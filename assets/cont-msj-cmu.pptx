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7" r:id="rId4"/>
    <p:sldId id="258" r:id="rId5"/>
    <p:sldId id="259" r:id="rId6"/>
    <p:sldId id="273" r:id="rId7"/>
    <p:sldId id="260" r:id="rId8"/>
    <p:sldId id="261" r:id="rId9"/>
    <p:sldId id="262" r:id="rId10"/>
    <p:sldId id="263" r:id="rId11"/>
    <p:sldId id="264" r:id="rId12"/>
    <p:sldId id="274" r:id="rId13"/>
    <p:sldId id="275" r:id="rId14"/>
    <p:sldId id="276" r:id="rId15"/>
    <p:sldId id="277" r:id="rId16"/>
    <p:sldId id="278" r:id="rId17"/>
    <p:sldId id="267" r:id="rId18"/>
    <p:sldId id="279" r:id="rId19"/>
    <p:sldId id="280" r:id="rId20"/>
    <p:sldId id="282" r:id="rId21"/>
    <p:sldId id="283" r:id="rId22"/>
    <p:sldId id="271" r:id="rId23"/>
    <p:sldId id="284" r:id="rId24"/>
    <p:sldId id="285" r:id="rId25"/>
    <p:sldId id="269" r:id="rId26"/>
    <p:sldId id="272" r:id="rId27"/>
    <p:sldId id="265" r:id="rId28"/>
    <p:sldId id="286" r:id="rId29"/>
    <p:sldId id="27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B6D2"/>
    <a:srgbClr val="FF3399"/>
    <a:srgbClr val="FF00FF"/>
    <a:srgbClr val="0000FF"/>
    <a:srgbClr val="BCB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125" autoAdjust="0"/>
  </p:normalViewPr>
  <p:slideViewPr>
    <p:cSldViewPr snapToGrid="0">
      <p:cViewPr varScale="1">
        <p:scale>
          <a:sx n="60" d="100"/>
          <a:sy n="60" d="100"/>
        </p:scale>
        <p:origin x="52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4B34E-CD6E-4FE1-BDCB-392B497F3BC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ECA99B-E017-4065-B2FC-DEE0B32E0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28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37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clumped: few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89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66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70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9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75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21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Dotted lines: over 1000, indistinguishable from unstable.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02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36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CA99B-E017-4065-B2FC-DEE0B32E073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14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F128-1044-0753-443F-7594ABB12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43355-4C35-5D18-DFDE-B57E44E31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79E9A-F042-B276-FF4D-3C4D3D5E0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B294B-6256-42D8-9005-BFF30FA1D5D6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9A923-5AD7-C6BC-0727-CFC6E3797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B5B27-D762-45D4-2D44-C1EC2B16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5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2C3E6-B63E-B86B-CCFF-341C8448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7F27A-6504-AB72-F29B-35F5ABB42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ACF4A-ECDD-0945-9610-32ED91F08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05DB-DB2A-4A92-B2EE-2B8294E89E61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41E65-5A5B-1831-C4C7-B25713DF6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259C1-A9EE-19BB-59BE-85284A11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8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416C8-E583-2035-632E-99DDF9A43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3CDB7-28C9-76B1-F726-B5F9AEDFD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547E4-B9A3-55A1-7E29-C1DACA562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D27C-72B8-40C4-A445-B5708418D737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F476A-1A3B-1FE2-F5EA-20A4ECEA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14E65-5AA9-1649-5376-FF278D6D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0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FA3B-386F-5148-EB75-F2CC9CD5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A3E2C-8FF2-1810-2FDD-419063CC9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8BE66-3504-7C81-0DEF-75ED4730A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D792F-C2CA-5696-8BF4-15955C426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6F65-0BAC-438D-A1B4-396AC3C159CA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817B8-6A45-91E2-2B68-E41C2E27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9F48D-03E9-6572-3212-B2F9273C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39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A66AA-3953-C6CC-1121-A0C9F2EF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00252-FF0E-33E7-2249-D1987B65E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9D57D-564D-3196-E924-DB9CC28C1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68B8EA-8F6F-176D-2D60-F4EA93469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CCE257-2C23-2153-03CF-20A47FDA5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B9E5E-91B3-7127-8FF0-8934197D1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1A2B-F6E7-40D0-B933-E48C8770F567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99202-E407-CAFF-8B94-9A149EB8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5D0F58-6381-1BC9-B52B-F3BDF364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94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9F6E-474C-F77C-7648-C0C98F5AE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333B1-1D60-28F8-BB8E-20886239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78862-120C-496D-9879-BF44F7FF1F8B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A9E17-FC58-4FDF-32BD-6BCDBB9B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14D13-8A14-0299-579A-53866F43C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0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5895DA-5621-A665-A933-1E4E9124D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BE7-79CA-4C3E-ABCB-47CE12AF494B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BACB99-BAFD-2F52-2889-49E546E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45497-723A-9BF0-4BD4-1AE1F5A61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20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3A492-A883-4442-75AE-8DF0D42E9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61470-3E45-3976-AAB2-D903F76B3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8078C-B4A9-7462-E7FA-7AFB890DD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C0479-06CD-27DB-EFC8-4D84AB8A6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28A6-2829-421D-AB27-9D5EC07DC40F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054D2-8BF5-8D1E-5925-5E8C64034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5675E-C77F-F905-8096-185F67B1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96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1B78-7EFD-EF92-020D-4DC75FA9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16786-E33F-8105-4F86-03A58423A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15C18-EB41-4BE3-E3F2-001DCC64D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49E67-E578-6B46-8523-5CCA6310C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9E365-0ADB-4E14-A117-ACCBC9E8228F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D4B37-4205-8ACC-583D-8A517540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A2A39-72AC-0C73-7637-7F583DFA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50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A7B41-AECE-9FBB-B92B-9C0C7824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1B82F-0FD7-29D7-6C52-E83B43F7D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C4F3A-C097-1BF6-62EE-C70788A8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4CC3B-C8EF-4F4E-B108-A9C0CD37E3B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B5BD1-068F-B298-D348-72BA9585F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C33E0-D5A6-031A-7424-840208F59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16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1ACC2C-AE27-E971-DCD7-D6D0E29A2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AED5D-AE26-03B1-D2B6-AFA3B4A8E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83CE6-3852-0D70-464C-9BCA3F63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67B11-7610-4EF5-A2D9-4511CCB627D8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83ACC-5B79-5C79-1AF9-9D0858E3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CFA78-6F9B-0959-3ACF-959AED4B9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55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38CB1F-B3EC-273B-B9D6-5F328AE7D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1FC97-0D51-6CFE-9F58-67B539AEB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B4704-BE80-4035-7EAB-DC292241F8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E05CE-EF5A-4956-AF7C-AE4D0246352E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51254-2164-9873-8113-225E48194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CMU CSD Theory Seminar, 8/28/26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B36C1-350B-17D4-1942-6FE8DFA73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0007A957-A910-43A5-89A4-EA8C5A38DB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1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B58B1-A7F4-1E99-C6E3-53F6615FD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625" y="1122363"/>
            <a:ext cx="1141095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Scheduling with Infinitely Heterogeneous Resource Requirements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68CA4-4B0F-ECF6-CD09-5BEBAEC0A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70336"/>
          </a:xfrm>
        </p:spPr>
        <p:txBody>
          <a:bodyPr>
            <a:normAutofit/>
          </a:bodyPr>
          <a:lstStyle/>
          <a:p>
            <a:r>
              <a:rPr lang="en-US" b="1" dirty="0"/>
              <a:t>Izzy Grosof</a:t>
            </a:r>
          </a:p>
          <a:p>
            <a:r>
              <a:rPr lang="en-US" dirty="0" err="1"/>
              <a:t>Heyuan</a:t>
            </a:r>
            <a:r>
              <a:rPr lang="en-US" dirty="0"/>
              <a:t> Yao</a:t>
            </a:r>
          </a:p>
          <a:p>
            <a:r>
              <a:rPr lang="en-US" dirty="0"/>
              <a:t>Willow </a:t>
            </a:r>
            <a:r>
              <a:rPr lang="en-US" dirty="0" err="1"/>
              <a:t>Kowalik</a:t>
            </a:r>
            <a:endParaRPr lang="en-US" dirty="0"/>
          </a:p>
          <a:p>
            <a:r>
              <a:rPr lang="en-US" dirty="0"/>
              <a:t>Northwestern University</a:t>
            </a:r>
          </a:p>
          <a:p>
            <a:r>
              <a:rPr lang="en-US" dirty="0"/>
              <a:t>Industrial Engineering &amp; Management Science</a:t>
            </a:r>
          </a:p>
        </p:txBody>
      </p:sp>
      <p:pic>
        <p:nvPicPr>
          <p:cNvPr id="6" name="Picture 5" descr="A person wearing glasses and a striped shirt&#10;&#10;Description automatically generated">
            <a:extLst>
              <a:ext uri="{FF2B5EF4-FFF2-40B4-BE49-F238E27FC236}">
                <a16:creationId xmlns:a16="http://schemas.microsoft.com/office/drawing/2014/main" id="{31BF9ABA-2C1A-3640-63AC-D503DF2DE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19" y="3719513"/>
            <a:ext cx="3001962" cy="3001962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210EDDE-E406-FD1D-6B5F-900E6A4D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CMU CSD Theory Seminar, 8/28/26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E49054-0F1F-B0C7-76E5-0BA8687A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3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33E3D-E844-FE7F-938D-671DD5559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Scheduling: Heterogeneous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57878-78DF-783D-9AA6-E9291EDAC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Datacenters: Huge resource capacities:</a:t>
            </a:r>
            <a:br>
              <a:rPr lang="en-US" dirty="0"/>
            </a:br>
            <a:r>
              <a:rPr lang="en-US" dirty="0"/>
              <a:t>CPUs, GPUs, memory, bandwidth, etc. </a:t>
            </a:r>
          </a:p>
          <a:p>
            <a:pPr marL="0" indent="0">
              <a:buNone/>
            </a:pPr>
            <a:r>
              <a:rPr lang="en-US" dirty="0"/>
              <a:t>Extremely heterogeneous job</a:t>
            </a:r>
            <a:br>
              <a:rPr lang="en-US" dirty="0"/>
            </a:br>
            <a:r>
              <a:rPr lang="en-US" dirty="0"/>
              <a:t>requirements: Scale &amp; resource mix</a:t>
            </a:r>
          </a:p>
          <a:p>
            <a:pPr marL="0" indent="0">
              <a:buNone/>
            </a:pPr>
            <a:r>
              <a:rPr lang="en-US" dirty="0"/>
              <a:t>Goal: Schedule to optimize performance</a:t>
            </a:r>
          </a:p>
          <a:p>
            <a:pPr marL="0" indent="0">
              <a:buNone/>
            </a:pPr>
            <a:r>
              <a:rPr lang="en-US" dirty="0"/>
              <a:t>Scheduling: What order to run the jobs?</a:t>
            </a:r>
          </a:p>
          <a:p>
            <a:pPr marL="0" indent="0">
              <a:buNone/>
            </a:pPr>
            <a:r>
              <a:rPr lang="en-US" dirty="0"/>
              <a:t>Tool: Stochastic Scheduling Theory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3F8D9-5C62-BE7F-2683-E51E20E8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482DD-BC85-F478-FB69-39C64C60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 descr="Datacenter">
            <a:extLst>
              <a:ext uri="{FF2B5EF4-FFF2-40B4-BE49-F238E27FC236}">
                <a16:creationId xmlns:a16="http://schemas.microsoft.com/office/drawing/2014/main" id="{9508B3C2-B2C2-3043-0780-04E049E36A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944" y="1270501"/>
            <a:ext cx="5214097" cy="347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6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CADA-5ACC-0F80-6CCB-AEAE8F4B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Progression of queueing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44941-2D8C-38E6-8E84-83C11C4AC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10567"/>
            <a:ext cx="11203111" cy="45663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Single server: M/G/1. Basic, lots of scheduling policies well-understood.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Multiserver</a:t>
            </a:r>
            <a:r>
              <a:rPr lang="en-US" dirty="0"/>
              <a:t>, same needs for each job: M/G/k.</a:t>
            </a:r>
            <a:br>
              <a:rPr lang="en-US" dirty="0"/>
            </a:br>
            <a:r>
              <a:rPr lang="en-US" dirty="0"/>
              <a:t>Active research, more recently advanced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Multiserver</a:t>
            </a:r>
            <a:r>
              <a:rPr lang="en-US" dirty="0"/>
              <a:t>-job model. Different needs per job.</a:t>
            </a:r>
            <a:br>
              <a:rPr lang="en-US" dirty="0"/>
            </a:br>
            <a:r>
              <a:rPr lang="en-US" dirty="0"/>
              <a:t>Our focus.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B1044A-D924-72DB-C97C-3D83BAF01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0DFCD-4AAD-1584-79FB-ECC7ED105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3</a:t>
            </a:fld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298BE94-3A15-AC5D-C8A9-0FEDB6C32F5D}"/>
              </a:ext>
            </a:extLst>
          </p:cNvPr>
          <p:cNvGrpSpPr/>
          <p:nvPr/>
        </p:nvGrpSpPr>
        <p:grpSpPr>
          <a:xfrm>
            <a:off x="6096000" y="2182955"/>
            <a:ext cx="4562890" cy="783621"/>
            <a:chOff x="5125058" y="1610566"/>
            <a:chExt cx="6375523" cy="102168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F507571-7B73-E105-B3CD-6A4A55FFAD87}"/>
                </a:ext>
              </a:extLst>
            </p:cNvPr>
            <p:cNvGrpSpPr/>
            <p:nvPr/>
          </p:nvGrpSpPr>
          <p:grpSpPr>
            <a:xfrm>
              <a:off x="5125058" y="1610566"/>
              <a:ext cx="6375523" cy="1021686"/>
              <a:chOff x="3172968" y="1612661"/>
              <a:chExt cx="6375523" cy="1021686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C9C3C81-249E-BF70-3016-FDC580814DD6}"/>
                  </a:ext>
                </a:extLst>
              </p:cNvPr>
              <p:cNvGrpSpPr/>
              <p:nvPr/>
            </p:nvGrpSpPr>
            <p:grpSpPr>
              <a:xfrm>
                <a:off x="3172968" y="1690688"/>
                <a:ext cx="5358384" cy="865632"/>
                <a:chOff x="3172968" y="1690688"/>
                <a:chExt cx="5358384" cy="865632"/>
              </a:xfrm>
            </p:grpSpPr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4F440233-956F-66FA-84AE-740FD7C01A9A}"/>
                    </a:ext>
                  </a:extLst>
                </p:cNvPr>
                <p:cNvCxnSpPr/>
                <p:nvPr/>
              </p:nvCxnSpPr>
              <p:spPr>
                <a:xfrm>
                  <a:off x="3172968" y="1690688"/>
                  <a:ext cx="5358384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09453D67-875F-3937-1DCF-55B4A6628E84}"/>
                    </a:ext>
                  </a:extLst>
                </p:cNvPr>
                <p:cNvCxnSpPr/>
                <p:nvPr/>
              </p:nvCxnSpPr>
              <p:spPr>
                <a:xfrm>
                  <a:off x="3172968" y="2556320"/>
                  <a:ext cx="5358384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E64F76B0-112F-ECD3-DF42-C55F24CD5F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31352" y="1690688"/>
                <a:ext cx="0" cy="865632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0579B8D-C3D3-A607-2042-BAD30452F6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53595" y="1690688"/>
                <a:ext cx="0" cy="865632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6DA6617-D990-6190-64F6-3EF20F9BD1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96386" y="1690688"/>
                <a:ext cx="0" cy="865632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9220E81-A0BF-76F6-67E2-5E88FB4C34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8354" y="1690688"/>
                <a:ext cx="0" cy="865632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14D483D-20E2-C8AB-76C5-3A7049422E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1762" y="1690688"/>
                <a:ext cx="0" cy="865632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C47E1F-2885-D4B0-774D-A509F34CE6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8184" y="1690688"/>
                <a:ext cx="0" cy="865632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76EB42F-5857-B551-AC14-1342513F93E6}"/>
                  </a:ext>
                </a:extLst>
              </p:cNvPr>
              <p:cNvSpPr/>
              <p:nvPr/>
            </p:nvSpPr>
            <p:spPr>
              <a:xfrm>
                <a:off x="8531352" y="1612661"/>
                <a:ext cx="1017139" cy="1021686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206C649-CC03-58CF-9EF5-5FCBCCC71A17}"/>
                </a:ext>
              </a:extLst>
            </p:cNvPr>
            <p:cNvSpPr/>
            <p:nvPr/>
          </p:nvSpPr>
          <p:spPr>
            <a:xfrm>
              <a:off x="10681000" y="1798442"/>
              <a:ext cx="595314" cy="60220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.25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C33C3EB-7553-D26C-79C8-615F2CF757FD}"/>
                </a:ext>
              </a:extLst>
            </p:cNvPr>
            <p:cNvSpPr/>
            <p:nvPr/>
          </p:nvSpPr>
          <p:spPr>
            <a:xfrm>
              <a:off x="9741347" y="1814253"/>
              <a:ext cx="595314" cy="60220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.25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8BD6DF0-9DD1-43DA-9E95-F79276A12753}"/>
                </a:ext>
              </a:extLst>
            </p:cNvPr>
            <p:cNvSpPr/>
            <p:nvPr/>
          </p:nvSpPr>
          <p:spPr>
            <a:xfrm>
              <a:off x="8746384" y="1829577"/>
              <a:ext cx="595314" cy="60220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.25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B0E68CB-0192-559B-C79C-616B877F041F}"/>
              </a:ext>
            </a:extLst>
          </p:cNvPr>
          <p:cNvGrpSpPr/>
          <p:nvPr/>
        </p:nvGrpSpPr>
        <p:grpSpPr>
          <a:xfrm>
            <a:off x="6045409" y="3560963"/>
            <a:ext cx="4616282" cy="1572407"/>
            <a:chOff x="5125058" y="2771247"/>
            <a:chExt cx="6375523" cy="2050106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B44CDF0-B4D7-3D58-FB07-A7E82A577C87}"/>
                </a:ext>
              </a:extLst>
            </p:cNvPr>
            <p:cNvGrpSpPr/>
            <p:nvPr/>
          </p:nvGrpSpPr>
          <p:grpSpPr>
            <a:xfrm>
              <a:off x="5125058" y="2771247"/>
              <a:ext cx="6375523" cy="2050106"/>
              <a:chOff x="5125058" y="2771247"/>
              <a:chExt cx="6375523" cy="2050106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630596FD-3165-8634-C83C-8E691FC7829A}"/>
                  </a:ext>
                </a:extLst>
              </p:cNvPr>
              <p:cNvGrpSpPr/>
              <p:nvPr/>
            </p:nvGrpSpPr>
            <p:grpSpPr>
              <a:xfrm>
                <a:off x="5125058" y="2771247"/>
                <a:ext cx="6375523" cy="1376475"/>
                <a:chOff x="3172968" y="1179845"/>
                <a:chExt cx="6375523" cy="1376475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9A3E7691-01F8-45FC-E636-9D430289B446}"/>
                    </a:ext>
                  </a:extLst>
                </p:cNvPr>
                <p:cNvGrpSpPr/>
                <p:nvPr/>
              </p:nvGrpSpPr>
              <p:grpSpPr>
                <a:xfrm>
                  <a:off x="3172968" y="1690688"/>
                  <a:ext cx="5358384" cy="865632"/>
                  <a:chOff x="3172968" y="1690688"/>
                  <a:chExt cx="5358384" cy="865632"/>
                </a:xfrm>
              </p:grpSpPr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508EC4FE-0F6B-C088-8E12-C20231814F63}"/>
                      </a:ext>
                    </a:extLst>
                  </p:cNvPr>
                  <p:cNvCxnSpPr/>
                  <p:nvPr/>
                </p:nvCxnSpPr>
                <p:spPr>
                  <a:xfrm>
                    <a:off x="3172968" y="1690688"/>
                    <a:ext cx="5358384" cy="0"/>
                  </a:xfrm>
                  <a:prstGeom prst="line">
                    <a:avLst/>
                  </a:prstGeom>
                  <a:ln w="254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6B48FC30-2C41-48D0-4D6C-B8234E250DCB}"/>
                      </a:ext>
                    </a:extLst>
                  </p:cNvPr>
                  <p:cNvCxnSpPr/>
                  <p:nvPr/>
                </p:nvCxnSpPr>
                <p:spPr>
                  <a:xfrm>
                    <a:off x="3172968" y="2556320"/>
                    <a:ext cx="5358384" cy="0"/>
                  </a:xfrm>
                  <a:prstGeom prst="line">
                    <a:avLst/>
                  </a:prstGeom>
                  <a:ln w="254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828C788F-5AD0-BBEE-79D4-B7F04C46A4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31352" y="1690688"/>
                  <a:ext cx="0" cy="86563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DCA7502F-4C02-5CE2-3C7B-909331CDFA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53595" y="1690688"/>
                  <a:ext cx="0" cy="86563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BF49A085-C8B9-FBE4-BE16-EBDF6D259F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96386" y="1690688"/>
                  <a:ext cx="0" cy="86563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477CAEDC-85D4-24F1-768E-188B365AE1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08354" y="1690688"/>
                  <a:ext cx="0" cy="86563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B3429F55-DF5B-6D3D-632B-7583E7F5EA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11762" y="1690688"/>
                  <a:ext cx="0" cy="86563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827B5E17-9F8B-CD99-04C1-815918DF36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28184" y="1690688"/>
                  <a:ext cx="0" cy="86563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9A7942AB-FE90-8BBB-9C18-1A9B6E6A0A75}"/>
                    </a:ext>
                  </a:extLst>
                </p:cNvPr>
                <p:cNvSpPr/>
                <p:nvPr/>
              </p:nvSpPr>
              <p:spPr>
                <a:xfrm>
                  <a:off x="8531352" y="1179845"/>
                  <a:ext cx="1017139" cy="1021686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AE22E28-7B5D-A665-51FC-74B609CDAD28}"/>
                  </a:ext>
                </a:extLst>
              </p:cNvPr>
              <p:cNvSpPr/>
              <p:nvPr/>
            </p:nvSpPr>
            <p:spPr>
              <a:xfrm>
                <a:off x="10483441" y="3799667"/>
                <a:ext cx="1017139" cy="1021686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CFF80B7-7ED4-C4A9-6043-4DB14FF8C367}"/>
                </a:ext>
              </a:extLst>
            </p:cNvPr>
            <p:cNvSpPr/>
            <p:nvPr/>
          </p:nvSpPr>
          <p:spPr>
            <a:xfrm>
              <a:off x="10694353" y="3008954"/>
              <a:ext cx="595314" cy="60220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.25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FC19802-2B31-F3CC-C1DA-8725E8515909}"/>
                </a:ext>
              </a:extLst>
            </p:cNvPr>
            <p:cNvSpPr/>
            <p:nvPr/>
          </p:nvSpPr>
          <p:spPr>
            <a:xfrm>
              <a:off x="10713064" y="3972320"/>
              <a:ext cx="595314" cy="60220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.25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6B4C564-70ED-F07C-06E7-EBF5249CBB5D}"/>
                </a:ext>
              </a:extLst>
            </p:cNvPr>
            <p:cNvSpPr/>
            <p:nvPr/>
          </p:nvSpPr>
          <p:spPr>
            <a:xfrm>
              <a:off x="9722957" y="3393403"/>
              <a:ext cx="595314" cy="60220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.25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BC258D8-08A8-8818-AA3D-F874569E27DC}"/>
              </a:ext>
            </a:extLst>
          </p:cNvPr>
          <p:cNvGrpSpPr/>
          <p:nvPr/>
        </p:nvGrpSpPr>
        <p:grpSpPr>
          <a:xfrm>
            <a:off x="6042609" y="5198943"/>
            <a:ext cx="4616282" cy="1572407"/>
            <a:chOff x="5125058" y="2771247"/>
            <a:chExt cx="6375523" cy="2050106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4A468D3-0964-8593-6EA3-863700DBA6D3}"/>
                </a:ext>
              </a:extLst>
            </p:cNvPr>
            <p:cNvGrpSpPr/>
            <p:nvPr/>
          </p:nvGrpSpPr>
          <p:grpSpPr>
            <a:xfrm>
              <a:off x="5125058" y="2771247"/>
              <a:ext cx="6375523" cy="2050106"/>
              <a:chOff x="5125058" y="2771247"/>
              <a:chExt cx="6375523" cy="2050106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15A001FE-1AF4-16B2-F164-139CEF533086}"/>
                  </a:ext>
                </a:extLst>
              </p:cNvPr>
              <p:cNvGrpSpPr/>
              <p:nvPr/>
            </p:nvGrpSpPr>
            <p:grpSpPr>
              <a:xfrm>
                <a:off x="5125058" y="2771247"/>
                <a:ext cx="6375523" cy="1376475"/>
                <a:chOff x="3172968" y="1179845"/>
                <a:chExt cx="6375523" cy="1376475"/>
              </a:xfrm>
            </p:grpSpPr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2A429C4C-B26D-60FE-9AD9-397FCA4A717D}"/>
                    </a:ext>
                  </a:extLst>
                </p:cNvPr>
                <p:cNvGrpSpPr/>
                <p:nvPr/>
              </p:nvGrpSpPr>
              <p:grpSpPr>
                <a:xfrm>
                  <a:off x="3172968" y="1690688"/>
                  <a:ext cx="5358384" cy="865632"/>
                  <a:chOff x="3172968" y="1690688"/>
                  <a:chExt cx="5358384" cy="865632"/>
                </a:xfrm>
              </p:grpSpPr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5E2F31B9-5A58-A9CC-FB8E-710181D2BACC}"/>
                      </a:ext>
                    </a:extLst>
                  </p:cNvPr>
                  <p:cNvCxnSpPr/>
                  <p:nvPr/>
                </p:nvCxnSpPr>
                <p:spPr>
                  <a:xfrm>
                    <a:off x="3172968" y="1690688"/>
                    <a:ext cx="5358384" cy="0"/>
                  </a:xfrm>
                  <a:prstGeom prst="line">
                    <a:avLst/>
                  </a:prstGeom>
                  <a:ln w="254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75B09319-2DF0-D223-F38D-A6A21E5E677D}"/>
                      </a:ext>
                    </a:extLst>
                  </p:cNvPr>
                  <p:cNvCxnSpPr/>
                  <p:nvPr/>
                </p:nvCxnSpPr>
                <p:spPr>
                  <a:xfrm>
                    <a:off x="3172968" y="2556320"/>
                    <a:ext cx="5358384" cy="0"/>
                  </a:xfrm>
                  <a:prstGeom prst="line">
                    <a:avLst/>
                  </a:prstGeom>
                  <a:ln w="254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EC06A692-E739-CEC8-D746-A9ABF24929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31352" y="1690688"/>
                  <a:ext cx="0" cy="86563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186A72EA-5C51-9376-393E-70FA4B3597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53595" y="1690688"/>
                  <a:ext cx="0" cy="86563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6619F3E0-69BD-F16B-F661-BEBC652C41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96386" y="1690688"/>
                  <a:ext cx="0" cy="86563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B0DF23A2-BAAB-BB01-EC50-EAA8075D02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08354" y="1690688"/>
                  <a:ext cx="0" cy="86563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9A544B1E-023B-B04D-A5E5-4E47C608B1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11762" y="1690688"/>
                  <a:ext cx="0" cy="86563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5DAFE042-457B-38B1-BC88-D06A8DB4E4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28184" y="1690688"/>
                  <a:ext cx="0" cy="86563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63279B29-287B-747C-C491-4730A4A657CF}"/>
                    </a:ext>
                  </a:extLst>
                </p:cNvPr>
                <p:cNvSpPr/>
                <p:nvPr/>
              </p:nvSpPr>
              <p:spPr>
                <a:xfrm>
                  <a:off x="8531352" y="1179845"/>
                  <a:ext cx="1017139" cy="1021686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0F321048-B1D4-1F16-D8B6-D989CC4E3DFC}"/>
                  </a:ext>
                </a:extLst>
              </p:cNvPr>
              <p:cNvSpPr/>
              <p:nvPr/>
            </p:nvSpPr>
            <p:spPr>
              <a:xfrm>
                <a:off x="10483441" y="3799667"/>
                <a:ext cx="1017139" cy="1021686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39FBE2D-0E70-6322-CE1F-1B02A1E056F3}"/>
                </a:ext>
              </a:extLst>
            </p:cNvPr>
            <p:cNvSpPr/>
            <p:nvPr/>
          </p:nvSpPr>
          <p:spPr>
            <a:xfrm>
              <a:off x="10694353" y="3008952"/>
              <a:ext cx="595314" cy="15225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  2</a:t>
              </a:r>
              <a:r>
                <a:rPr lang="en-US" dirty="0">
                  <a:solidFill>
                    <a:schemeClr val="accent1"/>
                  </a:solidFill>
                </a:rPr>
                <a:t>5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1D95F41-9920-7781-9105-5580ADDF34DE}"/>
                </a:ext>
              </a:extLst>
            </p:cNvPr>
            <p:cNvSpPr/>
            <p:nvPr/>
          </p:nvSpPr>
          <p:spPr>
            <a:xfrm>
              <a:off x="9722957" y="3393403"/>
              <a:ext cx="595314" cy="60220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610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5F95-AD4C-4A52-2D28-3B50D1C0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theoretical paradigm:</a:t>
            </a:r>
            <a:br>
              <a:rPr lang="en-US" dirty="0"/>
            </a:br>
            <a:r>
              <a:rPr lang="en-US" dirty="0"/>
              <a:t>Limited resource heterogeneity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FF0EE-E61F-D5E4-3035-E8A21FC6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8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Existing performance modeling theory: Heterogeneity via handful of resource requirement classes – like VMs, small, medium, large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Reality: massive heterogeneity. Google Borg scheduling trace: In first 1M jobs, 3.7k unique memory </a:t>
            </a:r>
            <a:r>
              <a:rPr lang="en-US" dirty="0" err="1"/>
              <a:t>reqs</a:t>
            </a:r>
            <a:r>
              <a:rPr lang="en-US" dirty="0"/>
              <a:t>., 540k unique CPU </a:t>
            </a:r>
            <a:r>
              <a:rPr lang="en-US" dirty="0" err="1"/>
              <a:t>reqs</a:t>
            </a:r>
            <a:r>
              <a:rPr lang="en-US" dirty="0"/>
              <a:t>., 950k unique pairs.</a:t>
            </a:r>
          </a:p>
          <a:p>
            <a:pPr marL="0" indent="0">
              <a:buNone/>
            </a:pPr>
            <a:r>
              <a:rPr lang="en-US" dirty="0"/>
              <a:t>Real systems, and corresponding simulators understand this.</a:t>
            </a:r>
            <a:br>
              <a:rPr lang="en-US" dirty="0"/>
            </a:br>
            <a:r>
              <a:rPr lang="en-US" dirty="0"/>
              <a:t>Popular policies: FCFS + Backfilling policies, learning policies.</a:t>
            </a:r>
          </a:p>
          <a:p>
            <a:pPr marL="0" indent="0">
              <a:buNone/>
            </a:pPr>
            <a:r>
              <a:rPr lang="en-US" dirty="0"/>
              <a:t>Need new theory!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DADBF-A830-9E42-CF98-9BB8EDA81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5B806-86C8-E87D-A783-E9574F37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4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C6157C-024B-9969-D24F-BC790239E665}"/>
              </a:ext>
            </a:extLst>
          </p:cNvPr>
          <p:cNvGrpSpPr/>
          <p:nvPr/>
        </p:nvGrpSpPr>
        <p:grpSpPr>
          <a:xfrm>
            <a:off x="3050333" y="2385544"/>
            <a:ext cx="6091333" cy="1615750"/>
            <a:chOff x="2932923" y="2380862"/>
            <a:chExt cx="6091333" cy="1615750"/>
          </a:xfrm>
        </p:grpSpPr>
        <p:pic>
          <p:nvPicPr>
            <p:cNvPr id="7" name="Graphic 6" descr="Laptop outline">
              <a:extLst>
                <a:ext uri="{FF2B5EF4-FFF2-40B4-BE49-F238E27FC236}">
                  <a16:creationId xmlns:a16="http://schemas.microsoft.com/office/drawing/2014/main" id="{2178F9F9-4F9D-C039-51F2-69B50EF292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32923" y="2831841"/>
              <a:ext cx="718457" cy="718457"/>
            </a:xfrm>
            <a:prstGeom prst="rect">
              <a:avLst/>
            </a:prstGeom>
          </p:spPr>
        </p:pic>
        <p:pic>
          <p:nvPicPr>
            <p:cNvPr id="8" name="Graphic 7" descr="Laptop outline">
              <a:extLst>
                <a:ext uri="{FF2B5EF4-FFF2-40B4-BE49-F238E27FC236}">
                  <a16:creationId xmlns:a16="http://schemas.microsoft.com/office/drawing/2014/main" id="{4181C15E-6E53-432F-316D-2D944B8579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63886" y="2639008"/>
              <a:ext cx="1132114" cy="1132114"/>
            </a:xfrm>
            <a:prstGeom prst="rect">
              <a:avLst/>
            </a:prstGeom>
          </p:spPr>
        </p:pic>
        <p:pic>
          <p:nvPicPr>
            <p:cNvPr id="9" name="Graphic 8" descr="Laptop outline">
              <a:extLst>
                <a:ext uri="{FF2B5EF4-FFF2-40B4-BE49-F238E27FC236}">
                  <a16:creationId xmlns:a16="http://schemas.microsoft.com/office/drawing/2014/main" id="{8D95BB6B-076C-94D8-F7CF-8310F81A4A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408506" y="2380862"/>
              <a:ext cx="1615750" cy="1615750"/>
            </a:xfrm>
            <a:prstGeom prst="rect">
              <a:avLst/>
            </a:prstGeom>
          </p:spPr>
        </p:pic>
      </p:grpSp>
      <p:pic>
        <p:nvPicPr>
          <p:cNvPr id="12" name="Graphic 11" descr="Lightbulb with solid fill">
            <a:extLst>
              <a:ext uri="{FF2B5EF4-FFF2-40B4-BE49-F238E27FC236}">
                <a16:creationId xmlns:a16="http://schemas.microsoft.com/office/drawing/2014/main" id="{0047A1A9-AD58-C69F-0624-B15ECD4270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28" y="56791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9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E5249-93D9-AB04-47E0-6EB40DB15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theoretical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D09F90-D49E-6E3F-C819-2E62EC317A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35235" cy="47847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Class-based policies: Count jobs with identical </a:t>
                </a:r>
                <a:r>
                  <a:rPr lang="en-US" dirty="0" err="1"/>
                  <a:t>reqs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MaxWeight</a:t>
                </a:r>
                <a:r>
                  <a:rPr lang="en-US" dirty="0"/>
                  <a:t>: Solve knapsack, weight by number with same </a:t>
                </a:r>
                <a:r>
                  <a:rPr lang="en-US" dirty="0" err="1"/>
                  <a:t>reqs</a:t>
                </a:r>
                <a:r>
                  <a:rPr lang="en-US" dirty="0"/>
                  <a:t> </a:t>
                </a:r>
                <a:r>
                  <a:rPr lang="en-US" sz="1600" dirty="0"/>
                  <a:t>[MSY ‘12]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𝑀𝑊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packings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⃗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sub>
                      </m:sSub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200" dirty="0"/>
              </a:p>
              <a:p>
                <a:r>
                  <a:rPr lang="en-US" dirty="0"/>
                  <a:t>Randomized Timers </a:t>
                </a:r>
                <a:r>
                  <a:rPr lang="en-US" sz="1600" dirty="0"/>
                  <a:t>[PG ’18]</a:t>
                </a:r>
                <a:r>
                  <a:rPr lang="en-US" dirty="0"/>
                  <a:t>, MSR </a:t>
                </a:r>
                <a:r>
                  <a:rPr lang="en-US" sz="1600" dirty="0"/>
                  <a:t>[C</a:t>
                </a:r>
                <a:r>
                  <a:rPr lang="en-US" sz="1600" b="1" dirty="0"/>
                  <a:t>G</a:t>
                </a:r>
                <a:r>
                  <a:rPr lang="en-US" sz="1600" dirty="0"/>
                  <a:t>B ’25]</a:t>
                </a:r>
                <a:r>
                  <a:rPr lang="en-US" dirty="0"/>
                  <a:t>: Long sequences of identical </a:t>
                </a:r>
                <a:r>
                  <a:rPr lang="en-US" dirty="0" err="1"/>
                  <a:t>reqs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Upside: Optimal throughput.</a:t>
                </a:r>
                <a:br>
                  <a:rPr lang="en-US" dirty="0"/>
                </a:br>
                <a:r>
                  <a:rPr lang="en-US" dirty="0"/>
                  <a:t>Downside: Only useful when more jobs present than classes.</a:t>
                </a:r>
              </a:p>
              <a:p>
                <a:pPr marL="0" indent="0">
                  <a:buNone/>
                </a:pPr>
                <a:r>
                  <a:rPr lang="en-US" dirty="0"/>
                  <a:t>						Policies simplify:</a:t>
                </a:r>
                <a:br>
                  <a:rPr lang="en-US" dirty="0"/>
                </a:br>
                <a:r>
                  <a:rPr lang="en-US" dirty="0"/>
                  <a:t>						</a:t>
                </a:r>
                <a:r>
                  <a:rPr lang="en-US" dirty="0" err="1"/>
                  <a:t>MaxWeight</a:t>
                </a:r>
                <a:r>
                  <a:rPr lang="en-US" dirty="0"/>
                  <a:t> → Smallest Req. First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D09F90-D49E-6E3F-C819-2E62EC317A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35235" cy="4784726"/>
              </a:xfrm>
              <a:blipFill>
                <a:blip r:embed="rId3"/>
                <a:stretch>
                  <a:fillRect l="-1135" t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CEB21-1DBC-200D-197A-A15605912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94810-3F9F-2D41-7EA0-809D6BCC5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5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26BC98-3248-E1BF-364B-1882081858F6}"/>
              </a:ext>
            </a:extLst>
          </p:cNvPr>
          <p:cNvGrpSpPr/>
          <p:nvPr/>
        </p:nvGrpSpPr>
        <p:grpSpPr>
          <a:xfrm>
            <a:off x="1259439" y="4479552"/>
            <a:ext cx="2106706" cy="2013323"/>
            <a:chOff x="412376" y="4343027"/>
            <a:chExt cx="2106706" cy="201332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ED6BAA-809D-E4F0-429D-03F50DB8E6C9}"/>
                </a:ext>
              </a:extLst>
            </p:cNvPr>
            <p:cNvSpPr/>
            <p:nvPr/>
          </p:nvSpPr>
          <p:spPr>
            <a:xfrm>
              <a:off x="1488140" y="4696199"/>
              <a:ext cx="286871" cy="2689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E2E4E9F-084A-2D3A-5736-FF9F04B7CF6B}"/>
                </a:ext>
              </a:extLst>
            </p:cNvPr>
            <p:cNvSpPr/>
            <p:nvPr/>
          </p:nvSpPr>
          <p:spPr>
            <a:xfrm>
              <a:off x="1488141" y="5049371"/>
              <a:ext cx="286871" cy="2689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00BB11-FDD7-4B1D-F677-399C297012EC}"/>
                </a:ext>
              </a:extLst>
            </p:cNvPr>
            <p:cNvSpPr/>
            <p:nvPr/>
          </p:nvSpPr>
          <p:spPr>
            <a:xfrm>
              <a:off x="1488141" y="5391804"/>
              <a:ext cx="286871" cy="2689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A1F0FD8-44F1-66DF-857A-2344B329D7BE}"/>
                </a:ext>
              </a:extLst>
            </p:cNvPr>
            <p:cNvSpPr/>
            <p:nvPr/>
          </p:nvSpPr>
          <p:spPr>
            <a:xfrm>
              <a:off x="1488141" y="5734237"/>
              <a:ext cx="286871" cy="2689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9A5B75-7417-3AD5-3526-26E972307D65}"/>
                </a:ext>
              </a:extLst>
            </p:cNvPr>
            <p:cNvSpPr/>
            <p:nvPr/>
          </p:nvSpPr>
          <p:spPr>
            <a:xfrm>
              <a:off x="1488141" y="6087409"/>
              <a:ext cx="286871" cy="2689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2E91C3-CBB5-2EC2-3B99-D413A7781AC2}"/>
                </a:ext>
              </a:extLst>
            </p:cNvPr>
            <p:cNvSpPr/>
            <p:nvPr/>
          </p:nvSpPr>
          <p:spPr>
            <a:xfrm>
              <a:off x="1488140" y="4343027"/>
              <a:ext cx="286871" cy="2689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EA04C31-B087-F7F6-1091-7937DD7A71B8}"/>
                </a:ext>
              </a:extLst>
            </p:cNvPr>
            <p:cNvSpPr/>
            <p:nvPr/>
          </p:nvSpPr>
          <p:spPr>
            <a:xfrm>
              <a:off x="1860176" y="5049371"/>
              <a:ext cx="286871" cy="26894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254339F-43AD-15C9-540A-FF5C367AD754}"/>
                </a:ext>
              </a:extLst>
            </p:cNvPr>
            <p:cNvSpPr/>
            <p:nvPr/>
          </p:nvSpPr>
          <p:spPr>
            <a:xfrm>
              <a:off x="1860176" y="5391804"/>
              <a:ext cx="286871" cy="26894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539AF0-2CAB-C427-AB61-E6AE60A21D12}"/>
                </a:ext>
              </a:extLst>
            </p:cNvPr>
            <p:cNvSpPr/>
            <p:nvPr/>
          </p:nvSpPr>
          <p:spPr>
            <a:xfrm>
              <a:off x="1860176" y="5734237"/>
              <a:ext cx="286871" cy="26894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F108812-1E27-136E-4A0B-4917DBE5724F}"/>
                </a:ext>
              </a:extLst>
            </p:cNvPr>
            <p:cNvSpPr/>
            <p:nvPr/>
          </p:nvSpPr>
          <p:spPr>
            <a:xfrm>
              <a:off x="1860176" y="6087409"/>
              <a:ext cx="286871" cy="26894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8596318-2886-BB6B-C505-4C7641469A43}"/>
                </a:ext>
              </a:extLst>
            </p:cNvPr>
            <p:cNvSpPr/>
            <p:nvPr/>
          </p:nvSpPr>
          <p:spPr>
            <a:xfrm>
              <a:off x="2232210" y="4696199"/>
              <a:ext cx="286871" cy="268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97BB6C3-C2BF-5F58-9BA0-85073E256DB7}"/>
                </a:ext>
              </a:extLst>
            </p:cNvPr>
            <p:cNvSpPr/>
            <p:nvPr/>
          </p:nvSpPr>
          <p:spPr>
            <a:xfrm>
              <a:off x="2232211" y="5049371"/>
              <a:ext cx="286871" cy="268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3795418-44FB-CAEE-7B11-7C44B8444181}"/>
                </a:ext>
              </a:extLst>
            </p:cNvPr>
            <p:cNvSpPr/>
            <p:nvPr/>
          </p:nvSpPr>
          <p:spPr>
            <a:xfrm>
              <a:off x="2232211" y="5391804"/>
              <a:ext cx="286871" cy="268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9A6CFCA-1D5C-01AB-6CE5-FB6FE714556F}"/>
                </a:ext>
              </a:extLst>
            </p:cNvPr>
            <p:cNvSpPr/>
            <p:nvPr/>
          </p:nvSpPr>
          <p:spPr>
            <a:xfrm>
              <a:off x="2232211" y="5734237"/>
              <a:ext cx="286871" cy="268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A90093-4D8A-CE48-EBE1-F525A08E7587}"/>
                </a:ext>
              </a:extLst>
            </p:cNvPr>
            <p:cNvSpPr/>
            <p:nvPr/>
          </p:nvSpPr>
          <p:spPr>
            <a:xfrm>
              <a:off x="2232211" y="6087409"/>
              <a:ext cx="286871" cy="268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miley Face 20">
              <a:extLst>
                <a:ext uri="{FF2B5EF4-FFF2-40B4-BE49-F238E27FC236}">
                  <a16:creationId xmlns:a16="http://schemas.microsoft.com/office/drawing/2014/main" id="{C492D470-487B-2E8F-B6C4-CC7CEF748003}"/>
                </a:ext>
              </a:extLst>
            </p:cNvPr>
            <p:cNvSpPr/>
            <p:nvPr/>
          </p:nvSpPr>
          <p:spPr>
            <a:xfrm>
              <a:off x="412376" y="5049371"/>
              <a:ext cx="806824" cy="786653"/>
            </a:xfrm>
            <a:prstGeom prst="smileyFace">
              <a:avLst/>
            </a:prstGeom>
            <a:solidFill>
              <a:srgbClr val="00B050"/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60A0774-F48A-2BF2-B3F8-F41258FB057C}"/>
              </a:ext>
            </a:extLst>
          </p:cNvPr>
          <p:cNvGrpSpPr/>
          <p:nvPr/>
        </p:nvGrpSpPr>
        <p:grpSpPr>
          <a:xfrm>
            <a:off x="5503916" y="4614022"/>
            <a:ext cx="4715705" cy="1603075"/>
            <a:chOff x="5503916" y="4614022"/>
            <a:chExt cx="4715705" cy="16030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C583BAB-DD10-EE2B-EA85-87B1E1C719F2}"/>
                </a:ext>
              </a:extLst>
            </p:cNvPr>
            <p:cNvSpPr/>
            <p:nvPr/>
          </p:nvSpPr>
          <p:spPr>
            <a:xfrm>
              <a:off x="5697847" y="5948156"/>
              <a:ext cx="286871" cy="26894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492E34E-B179-5F6D-05FA-09A35C866513}"/>
                </a:ext>
              </a:extLst>
            </p:cNvPr>
            <p:cNvSpPr/>
            <p:nvPr/>
          </p:nvSpPr>
          <p:spPr>
            <a:xfrm>
              <a:off x="6070203" y="5948156"/>
              <a:ext cx="286871" cy="2689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0DBEE55-BE37-10FD-B6E2-AF3A01BD7857}"/>
                </a:ext>
              </a:extLst>
            </p:cNvPr>
            <p:cNvSpPr/>
            <p:nvPr/>
          </p:nvSpPr>
          <p:spPr>
            <a:xfrm>
              <a:off x="6849651" y="5941735"/>
              <a:ext cx="286871" cy="26894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2822897-FBE1-5F13-A0E8-8C3320C6A26E}"/>
                </a:ext>
              </a:extLst>
            </p:cNvPr>
            <p:cNvSpPr/>
            <p:nvPr/>
          </p:nvSpPr>
          <p:spPr>
            <a:xfrm>
              <a:off x="7622695" y="5941735"/>
              <a:ext cx="286871" cy="26894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1AC09EE-CD19-1D5A-BDA3-C4FB6E4CF4B1}"/>
                </a:ext>
              </a:extLst>
            </p:cNvPr>
            <p:cNvSpPr/>
            <p:nvPr/>
          </p:nvSpPr>
          <p:spPr>
            <a:xfrm>
              <a:off x="8809580" y="5941735"/>
              <a:ext cx="286871" cy="26894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D9472DF-F845-B2A6-9381-D71AF4493362}"/>
                </a:ext>
              </a:extLst>
            </p:cNvPr>
            <p:cNvSpPr/>
            <p:nvPr/>
          </p:nvSpPr>
          <p:spPr>
            <a:xfrm>
              <a:off x="9560394" y="5941735"/>
              <a:ext cx="286871" cy="268941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DFF8F7B-A693-517A-0571-E805DC12822F}"/>
                </a:ext>
              </a:extLst>
            </p:cNvPr>
            <p:cNvSpPr/>
            <p:nvPr/>
          </p:nvSpPr>
          <p:spPr>
            <a:xfrm>
              <a:off x="9932750" y="5941735"/>
              <a:ext cx="286871" cy="2689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Smiley Face 35">
              <a:extLst>
                <a:ext uri="{FF2B5EF4-FFF2-40B4-BE49-F238E27FC236}">
                  <a16:creationId xmlns:a16="http://schemas.microsoft.com/office/drawing/2014/main" id="{8E853A59-4F59-C479-7F84-BA1BF05B0438}"/>
                </a:ext>
              </a:extLst>
            </p:cNvPr>
            <p:cNvSpPr/>
            <p:nvPr/>
          </p:nvSpPr>
          <p:spPr>
            <a:xfrm>
              <a:off x="5503916" y="4614022"/>
              <a:ext cx="806824" cy="786653"/>
            </a:xfrm>
            <a:prstGeom prst="smileyFace">
              <a:avLst>
                <a:gd name="adj" fmla="val -4653"/>
              </a:avLst>
            </a:prstGeom>
            <a:solidFill>
              <a:srgbClr val="FF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9476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279F-D3A3-BACC-D367-DDFA2B12D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theoretical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99144-D22A-B4D7-44C4-0AB1DB232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Index-based policies: Simple ordering, greedily place into service.</a:t>
            </a:r>
          </a:p>
          <a:p>
            <a:r>
              <a:rPr lang="en-US" dirty="0"/>
              <a:t>FCFS with HOL blocking </a:t>
            </a:r>
            <a:r>
              <a:rPr lang="en-US" sz="1600" dirty="0"/>
              <a:t>[RM ’17,</a:t>
            </a:r>
            <a:r>
              <a:rPr lang="en-US" sz="1600" b="1" dirty="0"/>
              <a:t>G</a:t>
            </a:r>
            <a:r>
              <a:rPr lang="en-US" sz="1600" dirty="0"/>
              <a:t>HHS ‘23]</a:t>
            </a:r>
            <a:r>
              <a:rPr lang="en-US" dirty="0"/>
              <a:t>. Backfilling </a:t>
            </a:r>
            <a:r>
              <a:rPr lang="en-US" sz="1600" dirty="0"/>
              <a:t>[CS ’01]</a:t>
            </a:r>
            <a:r>
              <a:rPr lang="en-US" dirty="0"/>
              <a:t> and variants.</a:t>
            </a:r>
          </a:p>
          <a:p>
            <a:pPr marL="0" indent="0">
              <a:buNone/>
            </a:pPr>
            <a:r>
              <a:rPr lang="en-US" dirty="0"/>
              <a:t>Unfortunately: Not throughput optimal – wasting some capacity.</a:t>
            </a:r>
          </a:p>
          <a:p>
            <a:pPr marL="0" indent="0">
              <a:buNone/>
            </a:pPr>
            <a:r>
              <a:rPr lang="en-US" dirty="0"/>
              <a:t>Goal: Theoretical guarantees of class-based policies,</a:t>
            </a:r>
            <a:br>
              <a:rPr lang="en-US" dirty="0"/>
            </a:br>
            <a:r>
              <a:rPr lang="en-US" dirty="0"/>
              <a:t>broad applicability of index-based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9E49C-0DEF-0CC6-FFD1-22E36AD2E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713DB-7C4F-0392-F6A9-83F1A106E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5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E3A5-276A-04B3-2095-6110C207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EEB8D-32BB-0361-2443-EF8108B88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Theoretical model</a:t>
            </a:r>
          </a:p>
          <a:p>
            <a:pPr marL="0" indent="0">
              <a:buNone/>
            </a:pPr>
            <a:r>
              <a:rPr lang="en-US" dirty="0"/>
              <a:t>New policies: Controlled Discretization</a:t>
            </a:r>
          </a:p>
          <a:p>
            <a:pPr marL="0" indent="0">
              <a:buNone/>
            </a:pPr>
            <a:r>
              <a:rPr lang="en-US" dirty="0"/>
              <a:t>Theoretical results</a:t>
            </a:r>
          </a:p>
          <a:p>
            <a:pPr marL="0" indent="0">
              <a:buNone/>
            </a:pPr>
            <a:r>
              <a:rPr lang="en-US" dirty="0"/>
              <a:t>Empirical results, including trace data</a:t>
            </a:r>
          </a:p>
          <a:p>
            <a:pPr marL="0" indent="0">
              <a:buNone/>
            </a:pPr>
            <a:r>
              <a:rPr lang="en-US" dirty="0"/>
              <a:t>Extension: Changing requirements over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AFA80-0DB3-970F-148C-AFE235EC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CF2C3-EA68-8DC5-3568-58845CC0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7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D6498C4-585A-28B0-41FC-723D921AB004}"/>
              </a:ext>
            </a:extLst>
          </p:cNvPr>
          <p:cNvGrpSpPr/>
          <p:nvPr/>
        </p:nvGrpSpPr>
        <p:grpSpPr>
          <a:xfrm>
            <a:off x="6479177" y="678655"/>
            <a:ext cx="5350873" cy="2695575"/>
            <a:chOff x="6479177" y="678655"/>
            <a:chExt cx="5350873" cy="269557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B879C69-234E-9A49-11B8-A20DA26EF1B0}"/>
                </a:ext>
              </a:extLst>
            </p:cNvPr>
            <p:cNvGrpSpPr/>
            <p:nvPr/>
          </p:nvGrpSpPr>
          <p:grpSpPr>
            <a:xfrm>
              <a:off x="7172330" y="678655"/>
              <a:ext cx="4657720" cy="2695575"/>
              <a:chOff x="6867530" y="765174"/>
              <a:chExt cx="4657720" cy="269557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604F9FC-2F38-03FA-F32E-59FAB4B8F611}"/>
                  </a:ext>
                </a:extLst>
              </p:cNvPr>
              <p:cNvSpPr/>
              <p:nvPr/>
            </p:nvSpPr>
            <p:spPr>
              <a:xfrm>
                <a:off x="8972550" y="1825625"/>
                <a:ext cx="1524000" cy="5746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52261CE-3EC2-B1B6-0356-45BE3D7D4D51}"/>
                  </a:ext>
                </a:extLst>
              </p:cNvPr>
              <p:cNvSpPr/>
              <p:nvPr/>
            </p:nvSpPr>
            <p:spPr>
              <a:xfrm>
                <a:off x="10591800" y="1448594"/>
                <a:ext cx="447673" cy="9516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3C11D36-1243-34E4-38EC-C54DA7AE7DBB}"/>
                  </a:ext>
                </a:extLst>
              </p:cNvPr>
              <p:cNvSpPr/>
              <p:nvPr/>
            </p:nvSpPr>
            <p:spPr>
              <a:xfrm>
                <a:off x="11129964" y="1962152"/>
                <a:ext cx="319086" cy="41036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.08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D5CBE04-3001-E553-EA44-C9E32042DEB0}"/>
                  </a:ext>
                </a:extLst>
              </p:cNvPr>
              <p:cNvGrpSpPr/>
              <p:nvPr/>
            </p:nvGrpSpPr>
            <p:grpSpPr>
              <a:xfrm>
                <a:off x="7943851" y="765174"/>
                <a:ext cx="3581399" cy="2695575"/>
                <a:chOff x="7943851" y="765174"/>
                <a:chExt cx="3581399" cy="2695575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5FC855CF-9C1C-1140-996E-C81D51891041}"/>
                    </a:ext>
                  </a:extLst>
                </p:cNvPr>
                <p:cNvGrpSpPr/>
                <p:nvPr/>
              </p:nvGrpSpPr>
              <p:grpSpPr>
                <a:xfrm>
                  <a:off x="8829675" y="1690688"/>
                  <a:ext cx="2695575" cy="771525"/>
                  <a:chOff x="8610600" y="1485900"/>
                  <a:chExt cx="2695575" cy="1343025"/>
                </a:xfrm>
              </p:grpSpPr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76DAD1CC-5A70-B30A-6046-938E7C4AAB1F}"/>
                      </a:ext>
                    </a:extLst>
                  </p:cNvPr>
                  <p:cNvCxnSpPr/>
                  <p:nvPr/>
                </p:nvCxnSpPr>
                <p:spPr>
                  <a:xfrm>
                    <a:off x="8610600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6D87E930-54B0-5132-9F30-F71B13C5FDA8}"/>
                      </a:ext>
                    </a:extLst>
                  </p:cNvPr>
                  <p:cNvCxnSpPr/>
                  <p:nvPr/>
                </p:nvCxnSpPr>
                <p:spPr>
                  <a:xfrm>
                    <a:off x="11306175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F6C0B8D8-7032-6DF2-9647-E2C8185680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10600" y="2828925"/>
                    <a:ext cx="2695575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965EBB3-6180-DFBF-E5B2-9C2EF453A697}"/>
                    </a:ext>
                  </a:extLst>
                </p:cNvPr>
                <p:cNvGrpSpPr/>
                <p:nvPr/>
              </p:nvGrpSpPr>
              <p:grpSpPr>
                <a:xfrm rot="16200000">
                  <a:off x="6981826" y="1727199"/>
                  <a:ext cx="2695575" cy="771525"/>
                  <a:chOff x="8610600" y="1485900"/>
                  <a:chExt cx="2695575" cy="1343025"/>
                </a:xfrm>
              </p:grpSpPr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CDA1212D-59BC-522F-AFF3-CD32E6D66358}"/>
                      </a:ext>
                    </a:extLst>
                  </p:cNvPr>
                  <p:cNvCxnSpPr/>
                  <p:nvPr/>
                </p:nvCxnSpPr>
                <p:spPr>
                  <a:xfrm>
                    <a:off x="8610600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59F3D3C2-1DF0-CE87-97A7-62CC1A8BC3CA}"/>
                      </a:ext>
                    </a:extLst>
                  </p:cNvPr>
                  <p:cNvCxnSpPr/>
                  <p:nvPr/>
                </p:nvCxnSpPr>
                <p:spPr>
                  <a:xfrm>
                    <a:off x="11306175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4F7C5F8E-AB4D-71C4-4D85-48C4B08A79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10600" y="2828925"/>
                    <a:ext cx="2695575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6E4AAE9-8E6E-62C0-6F0A-F2F92E77F3D1}"/>
                  </a:ext>
                </a:extLst>
              </p:cNvPr>
              <p:cNvCxnSpPr/>
              <p:nvPr/>
            </p:nvCxnSpPr>
            <p:spPr>
              <a:xfrm rot="16200000">
                <a:off x="8329614" y="1062831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C407E3C-285F-B7D7-CBFB-AC3A1948F586}"/>
                  </a:ext>
                </a:extLst>
              </p:cNvPr>
              <p:cNvCxnSpPr/>
              <p:nvPr/>
            </p:nvCxnSpPr>
            <p:spPr>
              <a:xfrm rot="16200000">
                <a:off x="8348663" y="1781572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79BAA8-517B-F558-E8FF-D9C263F04F0A}"/>
                  </a:ext>
                </a:extLst>
              </p:cNvPr>
              <p:cNvCxnSpPr/>
              <p:nvPr/>
            </p:nvCxnSpPr>
            <p:spPr>
              <a:xfrm rot="16200000">
                <a:off x="8329613" y="2428278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503FAC-21FA-0A72-C5BB-1C3A222150BF}"/>
                  </a:ext>
                </a:extLst>
              </p:cNvPr>
              <p:cNvSpPr/>
              <p:nvPr/>
            </p:nvSpPr>
            <p:spPr>
              <a:xfrm>
                <a:off x="6867530" y="846784"/>
                <a:ext cx="1771647" cy="5386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.9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2C482B8-18AB-5395-FDCE-B880C9D62329}"/>
                  </a:ext>
                </a:extLst>
              </p:cNvPr>
              <p:cNvSpPr/>
              <p:nvPr/>
            </p:nvSpPr>
            <p:spPr>
              <a:xfrm>
                <a:off x="7515225" y="1735186"/>
                <a:ext cx="1128715" cy="32444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28800B-B538-ABDB-E6F3-39B3007BE887}"/>
                  </a:ext>
                </a:extLst>
              </p:cNvPr>
              <p:cNvSpPr/>
              <p:nvPr/>
            </p:nvSpPr>
            <p:spPr>
              <a:xfrm>
                <a:off x="8048626" y="2191275"/>
                <a:ext cx="595314" cy="6022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.25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7D0C1C5-4C38-C230-179A-03E8966FEC07}"/>
                  </a:ext>
                </a:extLst>
              </p:cNvPr>
              <p:cNvSpPr/>
              <p:nvPr/>
            </p:nvSpPr>
            <p:spPr>
              <a:xfrm>
                <a:off x="8286750" y="2993428"/>
                <a:ext cx="366713" cy="3151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.13</a:t>
                </a:r>
              </a:p>
            </p:txBody>
          </p:sp>
        </p:grp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BD1ACAD6-3D8E-DEB6-FC13-F036D3C03C57}"/>
                </a:ext>
              </a:extLst>
            </p:cNvPr>
            <p:cNvSpPr/>
            <p:nvPr/>
          </p:nvSpPr>
          <p:spPr>
            <a:xfrm>
              <a:off x="6598106" y="1665154"/>
              <a:ext cx="1047749" cy="831321"/>
            </a:xfrm>
            <a:prstGeom prst="rightArrow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CF6AB64-0180-99BC-E9AF-7898090AA1CD}"/>
                </a:ext>
              </a:extLst>
            </p:cNvPr>
            <p:cNvSpPr/>
            <p:nvPr/>
          </p:nvSpPr>
          <p:spPr>
            <a:xfrm>
              <a:off x="6479177" y="1739106"/>
              <a:ext cx="321675" cy="636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858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1794-4D64-A521-7E84-3428C357E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B73391-3BB3-674C-B940-09657A4B27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5288" y="1932027"/>
                <a:ext cx="11110023" cy="4925973"/>
              </a:xfrm>
            </p:spPr>
            <p:txBody>
              <a:bodyPr>
                <a:normAutofit fontScale="92500" lnSpcReduction="10000"/>
              </a:bodyPr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Continuous resource distribution: Multi-resource or single resource.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service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All resources required throughout service, preemptive or </a:t>
                </a:r>
                <a:r>
                  <a:rPr lang="en-US" dirty="0" err="1"/>
                  <a:t>nonpreemptive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Goal: Throughput optimal: if a stable policy exists, our policy is stable.</a:t>
                </a:r>
              </a:p>
              <a:p>
                <a:pPr marL="0" indent="0">
                  <a:buNone/>
                </a:pPr>
                <a:r>
                  <a:rPr lang="en-US" dirty="0" err="1"/>
                  <a:t>arXiv</a:t>
                </a:r>
                <a:r>
                  <a:rPr lang="en-US" dirty="0"/>
                  <a:t>: “Throughput-Optimal </a:t>
                </a:r>
                <a:r>
                  <a:rPr lang="en-US" dirty="0" err="1"/>
                  <a:t>Multiresource</a:t>
                </a:r>
                <a:r>
                  <a:rPr lang="en-US" dirty="0"/>
                  <a:t>-Job Scheduling with Continuous Requirement Distribution”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B73391-3BB3-674C-B940-09657A4B27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5288" y="1932027"/>
                <a:ext cx="11110023" cy="4925973"/>
              </a:xfrm>
              <a:blipFill>
                <a:blip r:embed="rId2"/>
                <a:stretch>
                  <a:fillRect l="-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769FBE-E513-3EE5-E9C8-34E208FAE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92C17-EF59-CEEE-B887-29714A9B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8</a:t>
            </a:fld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D01A2CF-4CE4-B6C8-9728-9DACBFE23F88}"/>
              </a:ext>
            </a:extLst>
          </p:cNvPr>
          <p:cNvGrpSpPr/>
          <p:nvPr/>
        </p:nvGrpSpPr>
        <p:grpSpPr>
          <a:xfrm>
            <a:off x="2871789" y="946149"/>
            <a:ext cx="6357936" cy="2695575"/>
            <a:chOff x="2871789" y="946149"/>
            <a:chExt cx="6357936" cy="269557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B7A2A4D-8839-D908-86DD-3CBAE3F99363}"/>
                </a:ext>
              </a:extLst>
            </p:cNvPr>
            <p:cNvGrpSpPr/>
            <p:nvPr/>
          </p:nvGrpSpPr>
          <p:grpSpPr>
            <a:xfrm>
              <a:off x="2871789" y="946149"/>
              <a:ext cx="5891211" cy="2695575"/>
              <a:chOff x="2871789" y="946149"/>
              <a:chExt cx="5891211" cy="2695575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4450246-2360-4DB7-F9F6-D0A0B1A5AC38}"/>
                  </a:ext>
                </a:extLst>
              </p:cNvPr>
              <p:cNvGrpSpPr/>
              <p:nvPr/>
            </p:nvGrpSpPr>
            <p:grpSpPr>
              <a:xfrm>
                <a:off x="4105280" y="946149"/>
                <a:ext cx="4657720" cy="2695575"/>
                <a:chOff x="6867530" y="765174"/>
                <a:chExt cx="4657720" cy="2695575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604CE68-4338-1BBB-E31B-0EB644BC5960}"/>
                    </a:ext>
                  </a:extLst>
                </p:cNvPr>
                <p:cNvSpPr/>
                <p:nvPr/>
              </p:nvSpPr>
              <p:spPr>
                <a:xfrm>
                  <a:off x="8972550" y="1825625"/>
                  <a:ext cx="1524000" cy="57467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.7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F4DB9B6A-A559-E906-223F-2C42F6740802}"/>
                    </a:ext>
                  </a:extLst>
                </p:cNvPr>
                <p:cNvSpPr/>
                <p:nvPr/>
              </p:nvSpPr>
              <p:spPr>
                <a:xfrm>
                  <a:off x="10591800" y="1448594"/>
                  <a:ext cx="447673" cy="95169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.2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9319364-B05D-C13A-5E7A-C952F0533F48}"/>
                    </a:ext>
                  </a:extLst>
                </p:cNvPr>
                <p:cNvSpPr/>
                <p:nvPr/>
              </p:nvSpPr>
              <p:spPr>
                <a:xfrm>
                  <a:off x="11129964" y="1962152"/>
                  <a:ext cx="319086" cy="41036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.08</a:t>
                  </a:r>
                </a:p>
              </p:txBody>
            </p: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64C5CE04-2CB2-D47A-9237-1F85C9BAA183}"/>
                    </a:ext>
                  </a:extLst>
                </p:cNvPr>
                <p:cNvGrpSpPr/>
                <p:nvPr/>
              </p:nvGrpSpPr>
              <p:grpSpPr>
                <a:xfrm>
                  <a:off x="7943851" y="765174"/>
                  <a:ext cx="3581399" cy="2695575"/>
                  <a:chOff x="7943851" y="765174"/>
                  <a:chExt cx="3581399" cy="2695575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B5E4C94D-B8F5-5494-AFBF-765D872E7AF9}"/>
                      </a:ext>
                    </a:extLst>
                  </p:cNvPr>
                  <p:cNvGrpSpPr/>
                  <p:nvPr/>
                </p:nvGrpSpPr>
                <p:grpSpPr>
                  <a:xfrm>
                    <a:off x="8829675" y="1690688"/>
                    <a:ext cx="2695575" cy="771525"/>
                    <a:chOff x="8610600" y="1485900"/>
                    <a:chExt cx="2695575" cy="1343025"/>
                  </a:xfrm>
                </p:grpSpPr>
                <p:cxnSp>
                  <p:nvCxnSpPr>
                    <p:cNvPr id="8" name="Straight Connector 7">
                      <a:extLst>
                        <a:ext uri="{FF2B5EF4-FFF2-40B4-BE49-F238E27FC236}">
                          <a16:creationId xmlns:a16="http://schemas.microsoft.com/office/drawing/2014/main" id="{00BD48E3-E1FE-6832-FFC6-E491D0EC5CE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610600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" name="Straight Connector 8">
                      <a:extLst>
                        <a:ext uri="{FF2B5EF4-FFF2-40B4-BE49-F238E27FC236}">
                          <a16:creationId xmlns:a16="http://schemas.microsoft.com/office/drawing/2014/main" id="{8D694E2E-E71E-A5CF-0548-C4AAE91946A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06175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" name="Straight Connector 9">
                      <a:extLst>
                        <a:ext uri="{FF2B5EF4-FFF2-40B4-BE49-F238E27FC236}">
                          <a16:creationId xmlns:a16="http://schemas.microsoft.com/office/drawing/2014/main" id="{92500352-E140-E33A-BF05-1F5AA63F4D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610600" y="2828925"/>
                      <a:ext cx="2695575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3813034E-E21C-FDE7-F0D0-F9C0C58C89B7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6981826" y="1727199"/>
                    <a:ext cx="2695575" cy="771525"/>
                    <a:chOff x="8610600" y="1485900"/>
                    <a:chExt cx="2695575" cy="1343025"/>
                  </a:xfrm>
                </p:grpSpPr>
                <p:cxnSp>
                  <p:nvCxnSpPr>
                    <p:cNvPr id="17" name="Straight Connector 16">
                      <a:extLst>
                        <a:ext uri="{FF2B5EF4-FFF2-40B4-BE49-F238E27FC236}">
                          <a16:creationId xmlns:a16="http://schemas.microsoft.com/office/drawing/2014/main" id="{9852D730-22D3-C611-C97F-8CF604F3B3B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610600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Straight Connector 17">
                      <a:extLst>
                        <a:ext uri="{FF2B5EF4-FFF2-40B4-BE49-F238E27FC236}">
                          <a16:creationId xmlns:a16="http://schemas.microsoft.com/office/drawing/2014/main" id="{52CDE7FA-BEBF-E731-71B8-3A9AB218C3E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06175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BC8CF818-6F21-561D-A247-BB1134F54FE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610600" y="2828925"/>
                      <a:ext cx="2695575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B18C39EB-A999-21D9-2BF3-4574A93E44D8}"/>
                    </a:ext>
                  </a:extLst>
                </p:cNvPr>
                <p:cNvCxnSpPr/>
                <p:nvPr/>
              </p:nvCxnSpPr>
              <p:spPr>
                <a:xfrm rot="16200000">
                  <a:off x="8329614" y="1062831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4D8EECED-9093-9620-9711-C1681A49832A}"/>
                    </a:ext>
                  </a:extLst>
                </p:cNvPr>
                <p:cNvCxnSpPr/>
                <p:nvPr/>
              </p:nvCxnSpPr>
              <p:spPr>
                <a:xfrm rot="16200000">
                  <a:off x="8348663" y="1781572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A29ADBC4-7A51-3635-4D16-501F1D556A0D}"/>
                    </a:ext>
                  </a:extLst>
                </p:cNvPr>
                <p:cNvCxnSpPr/>
                <p:nvPr/>
              </p:nvCxnSpPr>
              <p:spPr>
                <a:xfrm rot="16200000">
                  <a:off x="8329613" y="2428278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9BC6FC9D-93B6-76DC-950F-62B5BA2F7513}"/>
                    </a:ext>
                  </a:extLst>
                </p:cNvPr>
                <p:cNvSpPr/>
                <p:nvPr/>
              </p:nvSpPr>
              <p:spPr>
                <a:xfrm>
                  <a:off x="6867530" y="846784"/>
                  <a:ext cx="1771647" cy="53865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.9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2DEB91FC-F267-5C68-9F43-9B6DCD9BDFD3}"/>
                    </a:ext>
                  </a:extLst>
                </p:cNvPr>
                <p:cNvSpPr/>
                <p:nvPr/>
              </p:nvSpPr>
              <p:spPr>
                <a:xfrm>
                  <a:off x="7524748" y="1611957"/>
                  <a:ext cx="1128715" cy="32444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.5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DB63A11F-B5DE-4AA0-50CD-BEB31843B523}"/>
                    </a:ext>
                  </a:extLst>
                </p:cNvPr>
                <p:cNvSpPr/>
                <p:nvPr/>
              </p:nvSpPr>
              <p:spPr>
                <a:xfrm>
                  <a:off x="8048626" y="2191275"/>
                  <a:ext cx="595314" cy="60220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.25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FEC6A071-C781-9941-C148-0D78A42322A9}"/>
                    </a:ext>
                  </a:extLst>
                </p:cNvPr>
                <p:cNvSpPr/>
                <p:nvPr/>
              </p:nvSpPr>
              <p:spPr>
                <a:xfrm>
                  <a:off x="8286750" y="2993428"/>
                  <a:ext cx="366713" cy="31511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.13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3906E1B-761A-8EE7-4F3D-EC2D7B09AC33}"/>
                  </a:ext>
                </a:extLst>
              </p:cNvPr>
              <p:cNvGrpSpPr/>
              <p:nvPr/>
            </p:nvGrpSpPr>
            <p:grpSpPr>
              <a:xfrm>
                <a:off x="2871789" y="1960830"/>
                <a:ext cx="1214436" cy="858569"/>
                <a:chOff x="2871789" y="1960830"/>
                <a:chExt cx="1214436" cy="858569"/>
              </a:xfrm>
            </p:grpSpPr>
            <p:sp>
              <p:nvSpPr>
                <p:cNvPr id="29" name="Arrow: Right 28">
                  <a:extLst>
                    <a:ext uri="{FF2B5EF4-FFF2-40B4-BE49-F238E27FC236}">
                      <a16:creationId xmlns:a16="http://schemas.microsoft.com/office/drawing/2014/main" id="{098E1E0E-09BA-0C5F-0608-991AEB0968EE}"/>
                    </a:ext>
                  </a:extLst>
                </p:cNvPr>
                <p:cNvSpPr/>
                <p:nvPr/>
              </p:nvSpPr>
              <p:spPr>
                <a:xfrm>
                  <a:off x="3038476" y="1960830"/>
                  <a:ext cx="1047749" cy="831321"/>
                </a:xfrm>
                <a:prstGeom prst="rightArrow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893ABFD-6290-5D3B-8318-DA11389EE213}"/>
                    </a:ext>
                  </a:extLst>
                </p:cNvPr>
                <p:cNvSpPr/>
                <p:nvPr/>
              </p:nvSpPr>
              <p:spPr>
                <a:xfrm>
                  <a:off x="2871789" y="2143127"/>
                  <a:ext cx="271464" cy="6762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290AB2F-D958-6B13-3856-B2E89B35275B}"/>
                </a:ext>
              </a:extLst>
            </p:cNvPr>
            <p:cNvCxnSpPr/>
            <p:nvPr/>
          </p:nvCxnSpPr>
          <p:spPr>
            <a:xfrm>
              <a:off x="8763000" y="2319734"/>
              <a:ext cx="46672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22CF80-022A-05F3-4E31-520F6CCE8EB1}"/>
                  </a:ext>
                </a:extLst>
              </p:cNvPr>
              <p:cNvSpPr txBox="1"/>
              <p:nvPr/>
            </p:nvSpPr>
            <p:spPr>
              <a:xfrm>
                <a:off x="1671638" y="1792932"/>
                <a:ext cx="1450439" cy="110799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Arrivals: Poisson process(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00" dirty="0"/>
                  <a:t>)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22CF80-022A-05F3-4E31-520F6CCE8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638" y="1792932"/>
                <a:ext cx="1450439" cy="1107996"/>
              </a:xfrm>
              <a:prstGeom prst="rect">
                <a:avLst/>
              </a:prstGeom>
              <a:blipFill>
                <a:blip r:embed="rId3"/>
                <a:stretch>
                  <a:fillRect l="-4098" t="-2128" b="-851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258B06EB-7FB4-39EA-C769-073049E994ED}"/>
              </a:ext>
            </a:extLst>
          </p:cNvPr>
          <p:cNvGrpSpPr/>
          <p:nvPr/>
        </p:nvGrpSpPr>
        <p:grpSpPr>
          <a:xfrm>
            <a:off x="6067425" y="2643180"/>
            <a:ext cx="3180289" cy="742839"/>
            <a:chOff x="6067425" y="2643180"/>
            <a:chExt cx="3180289" cy="742839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D9C1245-92C2-F9A8-D95B-7F2BD2F857D4}"/>
                </a:ext>
              </a:extLst>
            </p:cNvPr>
            <p:cNvSpPr txBox="1"/>
            <p:nvPr/>
          </p:nvSpPr>
          <p:spPr>
            <a:xfrm>
              <a:off x="6067425" y="2955132"/>
              <a:ext cx="3180289" cy="4308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Capacity (normalized to 1)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052E766-AE72-DF70-BE22-9B35866DEDB1}"/>
                </a:ext>
              </a:extLst>
            </p:cNvPr>
            <p:cNvCxnSpPr>
              <a:cxnSpLocks/>
            </p:cNvCxnSpPr>
            <p:nvPr/>
          </p:nvCxnSpPr>
          <p:spPr>
            <a:xfrm>
              <a:off x="7415212" y="2643180"/>
              <a:ext cx="0" cy="3312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CD72E3C-DB06-BBE5-5BE5-58E1257799DA}"/>
                  </a:ext>
                </a:extLst>
              </p:cNvPr>
              <p:cNvSpPr txBox="1"/>
              <p:nvPr/>
            </p:nvSpPr>
            <p:spPr>
              <a:xfrm>
                <a:off x="7467599" y="248228"/>
                <a:ext cx="3667125" cy="76944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Requirement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200" b="0" dirty="0"/>
                  <a:t>, </a:t>
                </a:r>
                <a:r>
                  <a:rPr lang="en-US" sz="2200" b="0" dirty="0" err="1"/>
                  <a:t>i.i.d.</a:t>
                </a:r>
                <a:endParaRPr lang="en-US" sz="2200" b="0" dirty="0"/>
              </a:p>
              <a:p>
                <a:r>
                  <a:rPr lang="en-US" sz="2200" dirty="0"/>
                  <a:t>Duration, </a:t>
                </a:r>
                <a:r>
                  <a:rPr lang="en-US" sz="2200" dirty="0" err="1"/>
                  <a:t>i.i.d.</a:t>
                </a:r>
                <a:r>
                  <a:rPr lang="en-US" sz="2200" dirty="0"/>
                  <a:t> (Here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200" dirty="0"/>
                  <a:t> Exp(1))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CD72E3C-DB06-BBE5-5BE5-58E125779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599" y="248228"/>
                <a:ext cx="3667125" cy="769441"/>
              </a:xfrm>
              <a:prstGeom prst="rect">
                <a:avLst/>
              </a:prstGeom>
              <a:blipFill>
                <a:blip r:embed="rId4"/>
                <a:stretch>
                  <a:fillRect l="-1645" t="-3030" b="-1212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45B545A5-4CE1-8EB2-9636-0515547C3434}"/>
              </a:ext>
            </a:extLst>
          </p:cNvPr>
          <p:cNvGrpSpPr/>
          <p:nvPr/>
        </p:nvGrpSpPr>
        <p:grpSpPr>
          <a:xfrm>
            <a:off x="6188870" y="632949"/>
            <a:ext cx="1545427" cy="1238714"/>
            <a:chOff x="6188870" y="632949"/>
            <a:chExt cx="1545427" cy="1238714"/>
          </a:xfrm>
        </p:grpSpPr>
        <p:sp>
          <p:nvSpPr>
            <p:cNvPr id="41" name="Right Brace 40">
              <a:extLst>
                <a:ext uri="{FF2B5EF4-FFF2-40B4-BE49-F238E27FC236}">
                  <a16:creationId xmlns:a16="http://schemas.microsoft.com/office/drawing/2014/main" id="{D1265190-3378-88FC-7088-A18052450147}"/>
                </a:ext>
              </a:extLst>
            </p:cNvPr>
            <p:cNvSpPr/>
            <p:nvPr/>
          </p:nvSpPr>
          <p:spPr>
            <a:xfrm rot="16200000">
              <a:off x="6737749" y="875114"/>
              <a:ext cx="447670" cy="1545427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Connector: Curved 51">
              <a:extLst>
                <a:ext uri="{FF2B5EF4-FFF2-40B4-BE49-F238E27FC236}">
                  <a16:creationId xmlns:a16="http://schemas.microsoft.com/office/drawing/2014/main" id="{E1C94BDB-930D-8092-148D-14BD2FFB58BC}"/>
                </a:ext>
              </a:extLst>
            </p:cNvPr>
            <p:cNvCxnSpPr>
              <a:cxnSpLocks/>
              <a:stCxn id="43" idx="1"/>
              <a:endCxn id="41" idx="1"/>
            </p:cNvCxnSpPr>
            <p:nvPr/>
          </p:nvCxnSpPr>
          <p:spPr>
            <a:xfrm rot="10800000" flipV="1">
              <a:off x="6961585" y="632949"/>
              <a:ext cx="506014" cy="791044"/>
            </a:xfrm>
            <a:prstGeom prst="curvedConnector4">
              <a:avLst>
                <a:gd name="adj1" fmla="val 99413"/>
                <a:gd name="adj2" fmla="val 1087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AE8F49D-2D68-360D-96C2-3684C7736492}"/>
              </a:ext>
            </a:extLst>
          </p:cNvPr>
          <p:cNvGrpSpPr/>
          <p:nvPr/>
        </p:nvGrpSpPr>
        <p:grpSpPr>
          <a:xfrm>
            <a:off x="8115299" y="1017670"/>
            <a:ext cx="1185863" cy="1563597"/>
            <a:chOff x="8115299" y="1017670"/>
            <a:chExt cx="1185863" cy="1563597"/>
          </a:xfrm>
        </p:grpSpPr>
        <p:sp>
          <p:nvSpPr>
            <p:cNvPr id="50" name="Right Brace 49">
              <a:extLst>
                <a:ext uri="{FF2B5EF4-FFF2-40B4-BE49-F238E27FC236}">
                  <a16:creationId xmlns:a16="http://schemas.microsoft.com/office/drawing/2014/main" id="{8A196A7F-85BD-78F6-8CB0-A1E997434B10}"/>
                </a:ext>
              </a:extLst>
            </p:cNvPr>
            <p:cNvSpPr/>
            <p:nvPr/>
          </p:nvSpPr>
          <p:spPr>
            <a:xfrm>
              <a:off x="8115299" y="1566417"/>
              <a:ext cx="447670" cy="1014850"/>
            </a:xfrm>
            <a:prstGeom prst="rightBrace">
              <a:avLst>
                <a:gd name="adj1" fmla="val 8333"/>
                <a:gd name="adj2" fmla="val 29456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Connector: Curved 68">
              <a:extLst>
                <a:ext uri="{FF2B5EF4-FFF2-40B4-BE49-F238E27FC236}">
                  <a16:creationId xmlns:a16="http://schemas.microsoft.com/office/drawing/2014/main" id="{8F5938C7-B197-809C-488E-2C443334A933}"/>
                </a:ext>
              </a:extLst>
            </p:cNvPr>
            <p:cNvCxnSpPr>
              <a:cxnSpLocks/>
              <a:stCxn id="43" idx="2"/>
              <a:endCxn id="50" idx="1"/>
            </p:cNvCxnSpPr>
            <p:nvPr/>
          </p:nvCxnSpPr>
          <p:spPr>
            <a:xfrm rot="5400000">
              <a:off x="8508225" y="1072414"/>
              <a:ext cx="847682" cy="738193"/>
            </a:xfrm>
            <a:prstGeom prst="curvedConnector4">
              <a:avLst>
                <a:gd name="adj1" fmla="val 32368"/>
                <a:gd name="adj2" fmla="val 216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7D4083F-323B-E86D-9F60-31C37B0630FA}"/>
              </a:ext>
            </a:extLst>
          </p:cNvPr>
          <p:cNvGrpSpPr/>
          <p:nvPr/>
        </p:nvGrpSpPr>
        <p:grpSpPr>
          <a:xfrm>
            <a:off x="9795095" y="1297088"/>
            <a:ext cx="2194000" cy="1734916"/>
            <a:chOff x="9802381" y="1960830"/>
            <a:chExt cx="2194000" cy="1734916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02D4A92-7AE7-0113-2DD1-F1970FE39A44}"/>
                </a:ext>
              </a:extLst>
            </p:cNvPr>
            <p:cNvSpPr/>
            <p:nvPr/>
          </p:nvSpPr>
          <p:spPr>
            <a:xfrm>
              <a:off x="10495128" y="2270576"/>
              <a:ext cx="1255594" cy="1059478"/>
            </a:xfrm>
            <a:custGeom>
              <a:avLst/>
              <a:gdLst>
                <a:gd name="connsiteX0" fmla="*/ 0 w 1255594"/>
                <a:gd name="connsiteY0" fmla="*/ 1052654 h 1059478"/>
                <a:gd name="connsiteX1" fmla="*/ 6824 w 1255594"/>
                <a:gd name="connsiteY1" fmla="*/ 104134 h 1059478"/>
                <a:gd name="connsiteX2" fmla="*/ 6824 w 1255594"/>
                <a:gd name="connsiteY2" fmla="*/ 22248 h 1059478"/>
                <a:gd name="connsiteX3" fmla="*/ 75063 w 1255594"/>
                <a:gd name="connsiteY3" fmla="*/ 83663 h 1059478"/>
                <a:gd name="connsiteX4" fmla="*/ 320723 w 1255594"/>
                <a:gd name="connsiteY4" fmla="*/ 186021 h 1059478"/>
                <a:gd name="connsiteX5" fmla="*/ 716508 w 1255594"/>
                <a:gd name="connsiteY5" fmla="*/ 90487 h 1059478"/>
                <a:gd name="connsiteX6" fmla="*/ 1071350 w 1255594"/>
                <a:gd name="connsiteY6" fmla="*/ 418033 h 1059478"/>
                <a:gd name="connsiteX7" fmla="*/ 1255594 w 1255594"/>
                <a:gd name="connsiteY7" fmla="*/ 1059478 h 105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55594" h="1059478">
                  <a:moveTo>
                    <a:pt x="0" y="1052654"/>
                  </a:moveTo>
                  <a:cubicBezTo>
                    <a:pt x="2843" y="664261"/>
                    <a:pt x="5687" y="275868"/>
                    <a:pt x="6824" y="104134"/>
                  </a:cubicBezTo>
                  <a:cubicBezTo>
                    <a:pt x="7961" y="-67600"/>
                    <a:pt x="-4549" y="25660"/>
                    <a:pt x="6824" y="22248"/>
                  </a:cubicBezTo>
                  <a:cubicBezTo>
                    <a:pt x="18197" y="18836"/>
                    <a:pt x="22747" y="56368"/>
                    <a:pt x="75063" y="83663"/>
                  </a:cubicBezTo>
                  <a:cubicBezTo>
                    <a:pt x="127379" y="110958"/>
                    <a:pt x="213816" y="184884"/>
                    <a:pt x="320723" y="186021"/>
                  </a:cubicBezTo>
                  <a:cubicBezTo>
                    <a:pt x="427630" y="187158"/>
                    <a:pt x="591404" y="51818"/>
                    <a:pt x="716508" y="90487"/>
                  </a:cubicBezTo>
                  <a:cubicBezTo>
                    <a:pt x="841612" y="129156"/>
                    <a:pt x="981502" y="256535"/>
                    <a:pt x="1071350" y="418033"/>
                  </a:cubicBezTo>
                  <a:cubicBezTo>
                    <a:pt x="1161198" y="579531"/>
                    <a:pt x="1208396" y="819504"/>
                    <a:pt x="1255594" y="1059478"/>
                  </a:cubicBezTo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96192301-95FE-90DF-C3A2-4ECA2E9AF091}"/>
                </a:ext>
              </a:extLst>
            </p:cNvPr>
            <p:cNvCxnSpPr>
              <a:stCxn id="87" idx="0"/>
            </p:cNvCxnSpPr>
            <p:nvPr/>
          </p:nvCxnSpPr>
          <p:spPr>
            <a:xfrm flipV="1">
              <a:off x="10495128" y="1960830"/>
              <a:ext cx="13648" cy="13624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1D9195DC-4172-A07C-3014-8B83CCB4BE2F}"/>
                </a:ext>
              </a:extLst>
            </p:cNvPr>
            <p:cNvCxnSpPr>
              <a:cxnSpLocks/>
            </p:cNvCxnSpPr>
            <p:nvPr/>
          </p:nvCxnSpPr>
          <p:spPr>
            <a:xfrm>
              <a:off x="10508776" y="3323230"/>
              <a:ext cx="14239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4263738-4CC0-8786-D045-6804AAD82650}"/>
                    </a:ext>
                  </a:extLst>
                </p:cNvPr>
                <p:cNvSpPr txBox="1"/>
                <p:nvPr/>
              </p:nvSpPr>
              <p:spPr>
                <a:xfrm>
                  <a:off x="9802381" y="2716262"/>
                  <a:ext cx="57959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4263738-4CC0-8786-D045-6804AAD826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2381" y="2716262"/>
                  <a:ext cx="579596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158" r="-27368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DDD703E-ED62-02AE-B4D1-9D05C1E91163}"/>
                    </a:ext>
                  </a:extLst>
                </p:cNvPr>
                <p:cNvSpPr txBox="1"/>
                <p:nvPr/>
              </p:nvSpPr>
              <p:spPr>
                <a:xfrm>
                  <a:off x="10403627" y="3326414"/>
                  <a:ext cx="15927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dirty="0"/>
                    <a:t>        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a14:m>
                  <a:r>
                    <a:rPr lang="en-US" dirty="0"/>
                    <a:t>        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DDD703E-ED62-02AE-B4D1-9D05C1E91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3627" y="3326414"/>
                  <a:ext cx="159275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0533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5" grpId="0" animBg="1"/>
      <p:bldP spid="43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0E9A-40BF-AD1A-2F0C-AB76B4B0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Policy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71841-7C2B-6C0E-838D-C055E4EDB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Pack efficiently – use all available resources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Avoid clumps of jobs of similar requirements</a:t>
            </a:r>
          </a:p>
          <a:p>
            <a:pPr marL="0" indent="0">
              <a:buNone/>
            </a:pPr>
            <a:r>
              <a:rPr lang="en-US" dirty="0"/>
              <a:t>Problem: Very few options!</a:t>
            </a:r>
          </a:p>
          <a:p>
            <a:pPr marL="0" indent="0">
              <a:buNone/>
            </a:pPr>
            <a:r>
              <a:rPr lang="en-US" dirty="0"/>
              <a:t>Multi-resource: Bottleneck on one resource</a:t>
            </a:r>
          </a:p>
          <a:p>
            <a:pPr marL="0" indent="0">
              <a:buNone/>
            </a:pPr>
            <a:r>
              <a:rPr lang="en-US" dirty="0"/>
              <a:t>Single resource: Doesn’t divide cleanly</a:t>
            </a:r>
          </a:p>
          <a:p>
            <a:pPr marL="0" indent="0">
              <a:buNone/>
            </a:pPr>
            <a:r>
              <a:rPr lang="en-US" dirty="0"/>
              <a:t>Class-based policies: prioritize jobs with many identical </a:t>
            </a:r>
            <a:r>
              <a:rPr lang="en-US" dirty="0" err="1"/>
              <a:t>reqs</a:t>
            </a:r>
            <a:r>
              <a:rPr lang="en-US" dirty="0"/>
              <a:t> present. Ex: </a:t>
            </a:r>
            <a:r>
              <a:rPr lang="en-US" dirty="0" err="1"/>
              <a:t>MaxWeight</a:t>
            </a:r>
            <a:r>
              <a:rPr lang="en-US" dirty="0"/>
              <a:t> – weight is number with same </a:t>
            </a:r>
            <a:r>
              <a:rPr lang="en-US" dirty="0" err="1"/>
              <a:t>reqs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Our policies: Prioritize jobs with many </a:t>
            </a:r>
            <a:r>
              <a:rPr lang="en-US" b="1" dirty="0"/>
              <a:t>similar</a:t>
            </a:r>
            <a:r>
              <a:rPr lang="en-US" dirty="0"/>
              <a:t> requirements present.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4F062-69E2-53B5-2C06-8DB6AB98C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EFC42-50CB-C9E2-3904-2CEFBB3B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9</a:t>
            </a:fld>
            <a:endParaRPr lang="en-US"/>
          </a:p>
        </p:txBody>
      </p:sp>
      <p:pic>
        <p:nvPicPr>
          <p:cNvPr id="6" name="Graphic 5" descr="Lightbulb with solid fill">
            <a:extLst>
              <a:ext uri="{FF2B5EF4-FFF2-40B4-BE49-F238E27FC236}">
                <a16:creationId xmlns:a16="http://schemas.microsoft.com/office/drawing/2014/main" id="{4039C7DE-35E0-6678-0F43-A937339D9D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" y="5060015"/>
            <a:ext cx="914400" cy="914400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A85BD41-C4AB-CE97-0568-24BF556AD334}"/>
              </a:ext>
            </a:extLst>
          </p:cNvPr>
          <p:cNvGrpSpPr/>
          <p:nvPr/>
        </p:nvGrpSpPr>
        <p:grpSpPr>
          <a:xfrm>
            <a:off x="7743825" y="247650"/>
            <a:ext cx="4407305" cy="1253369"/>
            <a:chOff x="7743825" y="247650"/>
            <a:chExt cx="4407305" cy="1253369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2B28C64A-B5FF-A941-4F53-CA02E4377C71}"/>
                </a:ext>
              </a:extLst>
            </p:cNvPr>
            <p:cNvGrpSpPr/>
            <p:nvPr/>
          </p:nvGrpSpPr>
          <p:grpSpPr>
            <a:xfrm>
              <a:off x="7743825" y="613598"/>
              <a:ext cx="4407305" cy="887421"/>
              <a:chOff x="7743825" y="613598"/>
              <a:chExt cx="4407305" cy="8874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46EF8337-9D22-39C8-C9FD-39ABA58D4275}"/>
                      </a:ext>
                    </a:extLst>
                  </p:cNvPr>
                  <p:cNvSpPr txBox="1"/>
                  <p:nvPr/>
                </p:nvSpPr>
                <p:spPr>
                  <a:xfrm>
                    <a:off x="7743825" y="706215"/>
                    <a:ext cx="3511955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sz="2000" dirty="0"/>
                      <a:t>s: </a:t>
                    </a:r>
                    <a:r>
                      <a:rPr lang="en-US" sz="2000" i="0" dirty="0"/>
                      <a:t>{0.08, 0.11, </a:t>
                    </a:r>
                    <a:r>
                      <a:rPr lang="en-US" sz="2000" dirty="0"/>
                      <a:t>0.23, 0.38, 0.41,</a:t>
                    </a:r>
                    <a:br>
                      <a:rPr lang="en-US" sz="2000" dirty="0"/>
                    </a:br>
                    <a:r>
                      <a:rPr lang="en-US" sz="2000" dirty="0"/>
                      <a:t>        0.52, 0.67, 0.77, 0.85, 0.95}</a:t>
                    </a: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46EF8337-9D22-39C8-C9FD-39ABA58D42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43825" y="706215"/>
                    <a:ext cx="3511955" cy="70788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5172" r="-174" b="-146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9" name="Smiley Face 88">
                <a:extLst>
                  <a:ext uri="{FF2B5EF4-FFF2-40B4-BE49-F238E27FC236}">
                    <a16:creationId xmlns:a16="http://schemas.microsoft.com/office/drawing/2014/main" id="{313D2FC5-B539-EF38-6E0C-2E51517BF56E}"/>
                  </a:ext>
                </a:extLst>
              </p:cNvPr>
              <p:cNvSpPr/>
              <p:nvPr/>
            </p:nvSpPr>
            <p:spPr>
              <a:xfrm>
                <a:off x="11255780" y="613598"/>
                <a:ext cx="895350" cy="887421"/>
              </a:xfrm>
              <a:prstGeom prst="smileyFace">
                <a:avLst/>
              </a:prstGeom>
              <a:solidFill>
                <a:srgbClr val="00B050"/>
              </a:solidFill>
              <a:ln w="254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931D0DBD-7FB6-82FF-F7CC-44E8FE67048A}"/>
                </a:ext>
              </a:extLst>
            </p:cNvPr>
            <p:cNvGrpSpPr/>
            <p:nvPr/>
          </p:nvGrpSpPr>
          <p:grpSpPr>
            <a:xfrm>
              <a:off x="7924800" y="247650"/>
              <a:ext cx="3152775" cy="388173"/>
              <a:chOff x="7924800" y="247650"/>
              <a:chExt cx="3152775" cy="388173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EACA0DFF-03E2-500D-8077-211FEA73AE06}"/>
                  </a:ext>
                </a:extLst>
              </p:cNvPr>
              <p:cNvCxnSpPr/>
              <p:nvPr/>
            </p:nvCxnSpPr>
            <p:spPr>
              <a:xfrm>
                <a:off x="7924800" y="447675"/>
                <a:ext cx="315277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A7FA4CA1-924E-260B-A654-6141F77330B9}"/>
                  </a:ext>
                </a:extLst>
              </p:cNvPr>
              <p:cNvCxnSpPr/>
              <p:nvPr/>
            </p:nvCxnSpPr>
            <p:spPr>
              <a:xfrm>
                <a:off x="815340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13290E8C-9CAE-9079-11D2-9B3415B19810}"/>
                  </a:ext>
                </a:extLst>
              </p:cNvPr>
              <p:cNvCxnSpPr/>
              <p:nvPr/>
            </p:nvCxnSpPr>
            <p:spPr>
              <a:xfrm>
                <a:off x="844867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B3A1430F-B434-752E-4BF4-608755280ED2}"/>
                  </a:ext>
                </a:extLst>
              </p:cNvPr>
              <p:cNvCxnSpPr/>
              <p:nvPr/>
            </p:nvCxnSpPr>
            <p:spPr>
              <a:xfrm>
                <a:off x="872490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95FEF11F-B017-E8FD-5988-27B868CA7F86}"/>
                  </a:ext>
                </a:extLst>
              </p:cNvPr>
              <p:cNvCxnSpPr/>
              <p:nvPr/>
            </p:nvCxnSpPr>
            <p:spPr>
              <a:xfrm>
                <a:off x="912495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4CD1F8B3-4043-2BAC-1B08-B8931D528EF2}"/>
                  </a:ext>
                </a:extLst>
              </p:cNvPr>
              <p:cNvCxnSpPr/>
              <p:nvPr/>
            </p:nvCxnSpPr>
            <p:spPr>
              <a:xfrm>
                <a:off x="934402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6A432717-A095-235A-C753-11D0D3AD8E59}"/>
                  </a:ext>
                </a:extLst>
              </p:cNvPr>
              <p:cNvCxnSpPr/>
              <p:nvPr/>
            </p:nvCxnSpPr>
            <p:spPr>
              <a:xfrm>
                <a:off x="9696450" y="260350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75C18D14-9FB2-583D-02FA-1952F9F2D8C0}"/>
                  </a:ext>
                </a:extLst>
              </p:cNvPr>
              <p:cNvCxnSpPr/>
              <p:nvPr/>
            </p:nvCxnSpPr>
            <p:spPr>
              <a:xfrm>
                <a:off x="1012507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1717CC28-2CDD-A726-A1D3-62B85317F571}"/>
                  </a:ext>
                </a:extLst>
              </p:cNvPr>
              <p:cNvCxnSpPr/>
              <p:nvPr/>
            </p:nvCxnSpPr>
            <p:spPr>
              <a:xfrm>
                <a:off x="10534650" y="247650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5F0CF76E-0EF3-511C-993F-8269BFD110C0}"/>
                  </a:ext>
                </a:extLst>
              </p:cNvPr>
              <p:cNvCxnSpPr/>
              <p:nvPr/>
            </p:nvCxnSpPr>
            <p:spPr>
              <a:xfrm>
                <a:off x="10782300" y="247650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FE898CA-1026-2835-9CB7-FF107B1C02C4}"/>
              </a:ext>
            </a:extLst>
          </p:cNvPr>
          <p:cNvGrpSpPr/>
          <p:nvPr/>
        </p:nvGrpSpPr>
        <p:grpSpPr>
          <a:xfrm>
            <a:off x="7741061" y="1557397"/>
            <a:ext cx="4393789" cy="1245552"/>
            <a:chOff x="7741061" y="1557397"/>
            <a:chExt cx="4393789" cy="1245552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A00C7B6A-C714-E285-D252-6BBA2EBF57DC}"/>
                </a:ext>
              </a:extLst>
            </p:cNvPr>
            <p:cNvGrpSpPr/>
            <p:nvPr/>
          </p:nvGrpSpPr>
          <p:grpSpPr>
            <a:xfrm>
              <a:off x="7741061" y="1915528"/>
              <a:ext cx="4393789" cy="887421"/>
              <a:chOff x="7841845" y="2393594"/>
              <a:chExt cx="4393789" cy="887421"/>
            </a:xfrm>
          </p:grpSpPr>
          <p:sp>
            <p:nvSpPr>
              <p:cNvPr id="91" name="Smiley Face 90">
                <a:extLst>
                  <a:ext uri="{FF2B5EF4-FFF2-40B4-BE49-F238E27FC236}">
                    <a16:creationId xmlns:a16="http://schemas.microsoft.com/office/drawing/2014/main" id="{C8B16568-F910-EC28-7C59-DF606781FA0C}"/>
                  </a:ext>
                </a:extLst>
              </p:cNvPr>
              <p:cNvSpPr/>
              <p:nvPr/>
            </p:nvSpPr>
            <p:spPr>
              <a:xfrm>
                <a:off x="11340284" y="2393594"/>
                <a:ext cx="895350" cy="887421"/>
              </a:xfrm>
              <a:prstGeom prst="smileyFace">
                <a:avLst>
                  <a:gd name="adj" fmla="val -4653"/>
                </a:avLst>
              </a:prstGeom>
              <a:solidFill>
                <a:srgbClr val="FF0000"/>
              </a:solidFill>
              <a:ln w="254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7D44CAAD-998B-025F-A15A-8EDBF66A333B}"/>
                      </a:ext>
                    </a:extLst>
                  </p:cNvPr>
                  <p:cNvSpPr txBox="1"/>
                  <p:nvPr/>
                </p:nvSpPr>
                <p:spPr>
                  <a:xfrm>
                    <a:off x="7841845" y="2466101"/>
                    <a:ext cx="3511955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sz="2000" dirty="0"/>
                      <a:t>s: </a:t>
                    </a:r>
                    <a:r>
                      <a:rPr lang="en-US" sz="2000" i="0" dirty="0"/>
                      <a:t>{0.381, 0.383, 0.384, </a:t>
                    </a:r>
                    <a:r>
                      <a:rPr lang="en-US" sz="2000" dirty="0"/>
                      <a:t>0.511,</a:t>
                    </a:r>
                    <a:br>
                      <a:rPr lang="en-US" sz="2000" dirty="0"/>
                    </a:br>
                    <a:r>
                      <a:rPr lang="en-US" sz="2000" dirty="0"/>
                      <a:t>        0.519, 0.522, 0.523, 0.525}</a:t>
                    </a:r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7D44CAAD-998B-025F-A15A-8EDBF66A33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41845" y="2466101"/>
                    <a:ext cx="3511955" cy="70788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4310" b="-146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50B330A7-9808-0F4C-D22A-D24276FB5A2B}"/>
                </a:ext>
              </a:extLst>
            </p:cNvPr>
            <p:cNvGrpSpPr/>
            <p:nvPr/>
          </p:nvGrpSpPr>
          <p:grpSpPr>
            <a:xfrm>
              <a:off x="7924800" y="1557397"/>
              <a:ext cx="3152775" cy="375885"/>
              <a:chOff x="7924800" y="259938"/>
              <a:chExt cx="3152775" cy="375885"/>
            </a:xfrm>
          </p:grpSpPr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D272E615-5D91-3570-6227-EC820150D943}"/>
                  </a:ext>
                </a:extLst>
              </p:cNvPr>
              <p:cNvCxnSpPr/>
              <p:nvPr/>
            </p:nvCxnSpPr>
            <p:spPr>
              <a:xfrm>
                <a:off x="7924800" y="447675"/>
                <a:ext cx="315277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139E9F7F-821D-F89B-BF05-90B34E012E37}"/>
                  </a:ext>
                </a:extLst>
              </p:cNvPr>
              <p:cNvCxnSpPr/>
              <p:nvPr/>
            </p:nvCxnSpPr>
            <p:spPr>
              <a:xfrm>
                <a:off x="863917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52A4C7C8-7E06-C625-3DD9-8C545A64A86A}"/>
                  </a:ext>
                </a:extLst>
              </p:cNvPr>
              <p:cNvCxnSpPr/>
              <p:nvPr/>
            </p:nvCxnSpPr>
            <p:spPr>
              <a:xfrm>
                <a:off x="882015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B1D0EC49-FEC6-28C2-22ED-038C1F3CFAFE}"/>
                  </a:ext>
                </a:extLst>
              </p:cNvPr>
              <p:cNvCxnSpPr/>
              <p:nvPr/>
            </p:nvCxnSpPr>
            <p:spPr>
              <a:xfrm>
                <a:off x="872490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1B82343C-5DEA-A413-3BF2-62206D80A080}"/>
                  </a:ext>
                </a:extLst>
              </p:cNvPr>
              <p:cNvCxnSpPr/>
              <p:nvPr/>
            </p:nvCxnSpPr>
            <p:spPr>
              <a:xfrm>
                <a:off x="938212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4B1E7EDF-E0AC-EB33-3B62-174A781EDFE1}"/>
                  </a:ext>
                </a:extLst>
              </p:cNvPr>
              <p:cNvCxnSpPr/>
              <p:nvPr/>
            </p:nvCxnSpPr>
            <p:spPr>
              <a:xfrm>
                <a:off x="934402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DC0F79BE-6C61-B6CB-9D84-5D6FDDFBC549}"/>
                  </a:ext>
                </a:extLst>
              </p:cNvPr>
              <p:cNvCxnSpPr/>
              <p:nvPr/>
            </p:nvCxnSpPr>
            <p:spPr>
              <a:xfrm>
                <a:off x="9696450" y="260350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E514D379-9A29-5BC1-892F-97C07010B69B}"/>
                  </a:ext>
                </a:extLst>
              </p:cNvPr>
              <p:cNvCxnSpPr/>
              <p:nvPr/>
            </p:nvCxnSpPr>
            <p:spPr>
              <a:xfrm>
                <a:off x="9801225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2DE8734F-B066-E7C1-1EA3-A8742F56A5D8}"/>
                  </a:ext>
                </a:extLst>
              </p:cNvPr>
              <p:cNvCxnSpPr/>
              <p:nvPr/>
            </p:nvCxnSpPr>
            <p:spPr>
              <a:xfrm>
                <a:off x="958215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988D4436-7D2B-225D-0F33-B292B49AAFFC}"/>
                  </a:ext>
                </a:extLst>
              </p:cNvPr>
              <p:cNvCxnSpPr/>
              <p:nvPr/>
            </p:nvCxnSpPr>
            <p:spPr>
              <a:xfrm>
                <a:off x="9501800" y="259938"/>
                <a:ext cx="0" cy="37547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5971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DF0EF-2E15-C544-42E7-4C712099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BFBE4C-47F3-2E1A-009D-224A358C26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52883" cy="4813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Requirement discretization buckets: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Choose K carefully: Too many buckets, only useful if lots of jobs present. Too few, not differentiating enough.</a:t>
                </a:r>
              </a:p>
              <a:p>
                <a:pPr marL="0" indent="0">
                  <a:buNone/>
                </a:pPr>
                <a:r>
                  <a:rPr lang="en-US" dirty="0"/>
                  <a:t>Think of a job only via its discretization bucket.</a:t>
                </a:r>
              </a:p>
              <a:p>
                <a:pPr marL="0" indent="0">
                  <a:buNone/>
                </a:pPr>
                <a:r>
                  <a:rPr lang="en-US" dirty="0"/>
                  <a:t>Consider only discretization-based service options.</a:t>
                </a:r>
              </a:p>
              <a:p>
                <a:pPr marL="0" indent="0">
                  <a:buNone/>
                </a:pPr>
                <a:r>
                  <a:rPr lang="en-US" dirty="0"/>
                  <a:t>Serve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−1,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 &amp; </m:t>
                    </m:r>
                    <m:d>
                      <m:dPr>
                        <m:begChr m:val="[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Serve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−1,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 &amp; </m:t>
                    </m:r>
                    <m:d>
                      <m:dPr>
                        <m:begChr m:val="[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−1,</m:t>
                        </m:r>
                        <m:f>
                          <m:f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: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 err="1"/>
                  <a:t>MaxWeight</a:t>
                </a:r>
                <a:r>
                  <a:rPr lang="en-US" dirty="0"/>
                  <a:t> over discretized options (or </a:t>
                </a:r>
                <a:r>
                  <a:rPr lang="en-US" dirty="0" err="1"/>
                  <a:t>nMSR</a:t>
                </a:r>
                <a:r>
                  <a:rPr lang="en-US" dirty="0"/>
                  <a:t> if </a:t>
                </a:r>
                <a:r>
                  <a:rPr lang="en-US" dirty="0" err="1"/>
                  <a:t>nonpreemptive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BFBE4C-47F3-2E1A-009D-224A358C26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52883" cy="4813300"/>
              </a:xfrm>
              <a:blipFill>
                <a:blip r:embed="rId2"/>
                <a:stretch>
                  <a:fillRect l="-1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79CA3-1F75-D3CC-0548-54EE0C0CA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AAF3D-1FBC-44A3-198B-64DD1017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10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1F69EF8-4116-EEFF-41F6-5F423D260F0D}"/>
              </a:ext>
            </a:extLst>
          </p:cNvPr>
          <p:cNvGrpSpPr/>
          <p:nvPr/>
        </p:nvGrpSpPr>
        <p:grpSpPr>
          <a:xfrm>
            <a:off x="7789918" y="2895130"/>
            <a:ext cx="3891715" cy="1466619"/>
            <a:chOff x="7850222" y="443622"/>
            <a:chExt cx="3891715" cy="146661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50623B0-FDFF-CDF9-70F5-E5C7A708453F}"/>
                </a:ext>
              </a:extLst>
            </p:cNvPr>
            <p:cNvGrpSpPr/>
            <p:nvPr/>
          </p:nvGrpSpPr>
          <p:grpSpPr>
            <a:xfrm>
              <a:off x="7850222" y="443622"/>
              <a:ext cx="3891715" cy="1466619"/>
              <a:chOff x="9458893" y="2279448"/>
              <a:chExt cx="2818605" cy="1466619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B16DCFC5-E0A1-E43C-4E31-D64A86EFEC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95128" y="2279448"/>
                <a:ext cx="6804" cy="104378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6D2BF5EF-73F3-92CB-843F-80E277D956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8776" y="3323230"/>
                <a:ext cx="176872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7CEC5430-C31D-2456-1880-16CCCE3A945C}"/>
                      </a:ext>
                    </a:extLst>
                  </p:cNvPr>
                  <p:cNvSpPr txBox="1"/>
                  <p:nvPr/>
                </p:nvSpPr>
                <p:spPr>
                  <a:xfrm>
                    <a:off x="9458893" y="2700275"/>
                    <a:ext cx="109824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Counts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7CEC5430-C31D-2456-1880-16CCCE3A94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58893" y="2700275"/>
                    <a:ext cx="1098245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614" t="-983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83B7972D-585D-0D91-CDEE-31C93A90159E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3627" y="3376735"/>
                    <a:ext cx="172727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83B7972D-585D-0D91-CDEE-31C93A9015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3627" y="3376735"/>
                    <a:ext cx="172727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03F4C1-2FE8-D6A3-8AE8-ED67D283871D}"/>
                </a:ext>
              </a:extLst>
            </p:cNvPr>
            <p:cNvSpPr/>
            <p:nvPr/>
          </p:nvSpPr>
          <p:spPr>
            <a:xfrm>
              <a:off x="9299827" y="653143"/>
              <a:ext cx="126337" cy="83107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F03C63-0FBE-BA35-7A18-C474125A7D87}"/>
                </a:ext>
              </a:extLst>
            </p:cNvPr>
            <p:cNvSpPr/>
            <p:nvPr/>
          </p:nvSpPr>
          <p:spPr>
            <a:xfrm>
              <a:off x="9426164" y="829902"/>
              <a:ext cx="126337" cy="653104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6865D3-D8A8-A901-351E-873511302DEE}"/>
                </a:ext>
              </a:extLst>
            </p:cNvPr>
            <p:cNvSpPr/>
            <p:nvPr/>
          </p:nvSpPr>
          <p:spPr>
            <a:xfrm>
              <a:off x="9554490" y="748420"/>
              <a:ext cx="126337" cy="73458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2FD071-AD2F-4C7C-7E4B-33956030BC01}"/>
                </a:ext>
              </a:extLst>
            </p:cNvPr>
            <p:cNvSpPr/>
            <p:nvPr/>
          </p:nvSpPr>
          <p:spPr>
            <a:xfrm>
              <a:off x="9678838" y="599658"/>
              <a:ext cx="126337" cy="88334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4F0279-C261-87FE-4F56-185092E894EF}"/>
                </a:ext>
              </a:extLst>
            </p:cNvPr>
            <p:cNvSpPr/>
            <p:nvPr/>
          </p:nvSpPr>
          <p:spPr>
            <a:xfrm>
              <a:off x="9805232" y="681037"/>
              <a:ext cx="126337" cy="803202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E481DA8-C464-1D4D-1F9F-7CFCC34FC89E}"/>
                </a:ext>
              </a:extLst>
            </p:cNvPr>
            <p:cNvSpPr/>
            <p:nvPr/>
          </p:nvSpPr>
          <p:spPr>
            <a:xfrm>
              <a:off x="9933095" y="799724"/>
              <a:ext cx="126337" cy="68403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9698E8-84A7-C9DA-6866-EAD095024B21}"/>
                </a:ext>
              </a:extLst>
            </p:cNvPr>
            <p:cNvSpPr/>
            <p:nvPr/>
          </p:nvSpPr>
          <p:spPr>
            <a:xfrm>
              <a:off x="10055715" y="534157"/>
              <a:ext cx="126337" cy="950284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23AC154-346B-CE4A-B97C-33F3373E5EE5}"/>
                </a:ext>
              </a:extLst>
            </p:cNvPr>
            <p:cNvSpPr/>
            <p:nvPr/>
          </p:nvSpPr>
          <p:spPr>
            <a:xfrm>
              <a:off x="10182590" y="910067"/>
              <a:ext cx="126337" cy="572938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31499E-DB60-F003-3EB6-91EDD3589DF2}"/>
                </a:ext>
              </a:extLst>
            </p:cNvPr>
            <p:cNvSpPr/>
            <p:nvPr/>
          </p:nvSpPr>
          <p:spPr>
            <a:xfrm>
              <a:off x="10304672" y="621675"/>
              <a:ext cx="126337" cy="86254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21DD935-1DDE-62E1-3058-DC7E3FB15364}"/>
                </a:ext>
              </a:extLst>
            </p:cNvPr>
            <p:cNvSpPr/>
            <p:nvPr/>
          </p:nvSpPr>
          <p:spPr>
            <a:xfrm>
              <a:off x="10431009" y="486739"/>
              <a:ext cx="126337" cy="996268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FE900C-4256-8F9E-48BA-8ABA220182EF}"/>
                </a:ext>
              </a:extLst>
            </p:cNvPr>
            <p:cNvSpPr/>
            <p:nvPr/>
          </p:nvSpPr>
          <p:spPr>
            <a:xfrm>
              <a:off x="10559335" y="778599"/>
              <a:ext cx="126337" cy="70440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91C904-4945-06BF-72C3-32B6F98AC01A}"/>
                </a:ext>
              </a:extLst>
            </p:cNvPr>
            <p:cNvSpPr/>
            <p:nvPr/>
          </p:nvSpPr>
          <p:spPr>
            <a:xfrm>
              <a:off x="10683683" y="443622"/>
              <a:ext cx="126337" cy="1039384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2D4F425-1DE6-0396-A9E5-F215D2ED1634}"/>
                </a:ext>
              </a:extLst>
            </p:cNvPr>
            <p:cNvSpPr/>
            <p:nvPr/>
          </p:nvSpPr>
          <p:spPr>
            <a:xfrm>
              <a:off x="10810077" y="681037"/>
              <a:ext cx="126337" cy="803202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F24534D-176B-8165-3EEE-EC4695A5353E}"/>
                </a:ext>
              </a:extLst>
            </p:cNvPr>
            <p:cNvSpPr/>
            <p:nvPr/>
          </p:nvSpPr>
          <p:spPr>
            <a:xfrm>
              <a:off x="10937940" y="652683"/>
              <a:ext cx="126337" cy="83107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29CA2F-66B3-0A8D-D011-2FC7893589CA}"/>
                </a:ext>
              </a:extLst>
            </p:cNvPr>
            <p:cNvSpPr/>
            <p:nvPr/>
          </p:nvSpPr>
          <p:spPr>
            <a:xfrm>
              <a:off x="11060560" y="599659"/>
              <a:ext cx="126337" cy="884782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5B67AE1-D534-7398-AED9-748BDD648600}"/>
                </a:ext>
              </a:extLst>
            </p:cNvPr>
            <p:cNvSpPr/>
            <p:nvPr/>
          </p:nvSpPr>
          <p:spPr>
            <a:xfrm>
              <a:off x="11187435" y="546156"/>
              <a:ext cx="126337" cy="93685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Cross 42">
            <a:extLst>
              <a:ext uri="{FF2B5EF4-FFF2-40B4-BE49-F238E27FC236}">
                <a16:creationId xmlns:a16="http://schemas.microsoft.com/office/drawing/2014/main" id="{1ED7B6A9-7C13-FAD7-8AD2-65A95761F74B}"/>
              </a:ext>
            </a:extLst>
          </p:cNvPr>
          <p:cNvSpPr/>
          <p:nvPr/>
        </p:nvSpPr>
        <p:spPr>
          <a:xfrm rot="18857960">
            <a:off x="5409035" y="4316441"/>
            <a:ext cx="683313" cy="697404"/>
          </a:xfrm>
          <a:prstGeom prst="plus">
            <a:avLst>
              <a:gd name="adj" fmla="val 3222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L-Shape 43">
            <a:extLst>
              <a:ext uri="{FF2B5EF4-FFF2-40B4-BE49-F238E27FC236}">
                <a16:creationId xmlns:a16="http://schemas.microsoft.com/office/drawing/2014/main" id="{31C108A6-DBA7-03A4-2C4D-FF9DDF02B97D}"/>
              </a:ext>
            </a:extLst>
          </p:cNvPr>
          <p:cNvSpPr/>
          <p:nvPr/>
        </p:nvSpPr>
        <p:spPr>
          <a:xfrm rot="18539291">
            <a:off x="5375447" y="5058478"/>
            <a:ext cx="750491" cy="452964"/>
          </a:xfrm>
          <a:prstGeom prst="corner">
            <a:avLst>
              <a:gd name="adj1" fmla="val 38138"/>
              <a:gd name="adj2" fmla="val 3631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4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3" grpId="0" animBg="1"/>
      <p:bldP spid="4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FB8C-E1FF-74CE-9689-9B14940D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K-Discretized </a:t>
            </a:r>
            <a:r>
              <a:rPr lang="en-US" dirty="0" err="1"/>
              <a:t>MaxWeight</a:t>
            </a:r>
            <a:r>
              <a:rPr lang="en-US" dirty="0"/>
              <a:t>: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E7E6C6-4EC8-6717-85D6-E0BD419DCB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620375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K-Discretized </a:t>
                </a:r>
                <a:r>
                  <a:rPr lang="en-US" dirty="0" err="1"/>
                  <a:t>MaxWeight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 is a K-discretized service option</a:t>
                </a:r>
              </a:p>
              <a:p>
                <a:pPr marL="0" indent="0">
                  <a:buNone/>
                </a:pPr>
                <a:r>
                  <a:rPr lang="en-US" dirty="0" err="1"/>
                  <a:t>Thm</a:t>
                </a:r>
                <a:r>
                  <a:rPr lang="en-US" dirty="0"/>
                  <a:t>: The K-Discretized </a:t>
                </a:r>
                <a:r>
                  <a:rPr lang="en-US" dirty="0" err="1"/>
                  <a:t>MaxWeight</a:t>
                </a:r>
                <a:r>
                  <a:rPr lang="en-US" dirty="0"/>
                  <a:t> policy family is throughput optimal.</a:t>
                </a:r>
              </a:p>
              <a:p>
                <a:pPr marL="0" indent="0">
                  <a:buNone/>
                </a:pPr>
                <a:r>
                  <a:rPr lang="en-US" dirty="0"/>
                  <a:t>For any arrival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and any Lipschitz-continuous requirement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for which a stabilizing policy exists, there exists a K such that K-</a:t>
                </a:r>
                <a:r>
                  <a:rPr lang="en-US" dirty="0" err="1"/>
                  <a:t>MaxWeight</a:t>
                </a:r>
                <a:r>
                  <a:rPr lang="en-US" dirty="0"/>
                  <a:t> is stable.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Thm</a:t>
                </a:r>
                <a:r>
                  <a:rPr lang="en-US" dirty="0"/>
                  <a:t>: Also optimal in any number of requirement dimensions</a:t>
                </a:r>
              </a:p>
              <a:p>
                <a:pPr marL="0" indent="0">
                  <a:buNone/>
                </a:pPr>
                <a:r>
                  <a:rPr lang="en-US" dirty="0" err="1"/>
                  <a:t>Thm</a:t>
                </a:r>
                <a:r>
                  <a:rPr lang="en-US" dirty="0"/>
                  <a:t>: K-discretized </a:t>
                </a:r>
                <a:r>
                  <a:rPr lang="en-US" dirty="0" err="1"/>
                  <a:t>nMSR</a:t>
                </a:r>
                <a:r>
                  <a:rPr lang="en-US" dirty="0"/>
                  <a:t> (</a:t>
                </a:r>
                <a:r>
                  <a:rPr lang="en-US" dirty="0" err="1"/>
                  <a:t>nonpreemptive</a:t>
                </a:r>
                <a:r>
                  <a:rPr lang="en-US" dirty="0"/>
                  <a:t>) also throughput optimal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E7E6C6-4EC8-6717-85D6-E0BD419DCB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620375" cy="4351338"/>
              </a:xfrm>
              <a:blipFill>
                <a:blip r:embed="rId2"/>
                <a:stretch>
                  <a:fillRect l="-1147" t="-224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FC77C-9D6F-4F19-3968-109382A93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FB2B4-E8BE-B835-F1B7-F04BDACAC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ECAF64-B904-C1B9-8731-B3B431CB573E}"/>
              </a:ext>
            </a:extLst>
          </p:cNvPr>
          <p:cNvSpPr/>
          <p:nvPr/>
        </p:nvSpPr>
        <p:spPr>
          <a:xfrm>
            <a:off x="838199" y="2882107"/>
            <a:ext cx="10801350" cy="1753394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EA651C-BC50-9EA1-30B8-84273D3D0ABA}"/>
              </a:ext>
            </a:extLst>
          </p:cNvPr>
          <p:cNvSpPr/>
          <p:nvPr/>
        </p:nvSpPr>
        <p:spPr>
          <a:xfrm>
            <a:off x="838197" y="5010151"/>
            <a:ext cx="9010651" cy="468311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B9014C-BE92-7E98-3237-5C5BEC1E1ADB}"/>
              </a:ext>
            </a:extLst>
          </p:cNvPr>
          <p:cNvSpPr/>
          <p:nvPr/>
        </p:nvSpPr>
        <p:spPr>
          <a:xfrm>
            <a:off x="838198" y="5545932"/>
            <a:ext cx="9848851" cy="468311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6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34BC-00A9-A990-E586-990FD8B0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3FD32F-FD42-445F-78DB-F785E9B6E2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9382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Key idea: Need service measure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which dominates the arrival measure.</a:t>
                </a:r>
                <a:br>
                  <a:rPr lang="en-US" dirty="0"/>
                </a:br>
                <a:r>
                  <a:rPr lang="en-US" dirty="0"/>
                  <a:t>At each req.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, service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exceeds arrival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exists a stable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then exists a continuous dominating service measure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exists a continuous dominating service measure,</a:t>
                </a:r>
                <a:br>
                  <a:rPr lang="en-US" dirty="0"/>
                </a:br>
                <a:r>
                  <a:rPr lang="en-US" dirty="0"/>
                  <a:t>then exists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and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-discretized dominating service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exists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-discretized dominating service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MaxWeight</a:t>
                </a:r>
                <a:r>
                  <a:rPr lang="en-US" dirty="0"/>
                  <a:t> is stable.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3FD32F-FD42-445F-78DB-F785E9B6E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93824" cy="4351338"/>
              </a:xfrm>
              <a:blipFill>
                <a:blip r:embed="rId2"/>
                <a:stretch>
                  <a:fillRect l="-1154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1FB69-59C5-8C94-C569-55D234DD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EA723-2AED-786B-12D8-17A9DA52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12</a:t>
            </a:fld>
            <a:endParaRPr lang="en-US"/>
          </a:p>
        </p:txBody>
      </p:sp>
      <p:sp>
        <p:nvSpPr>
          <p:cNvPr id="6" name="L-Shape 5">
            <a:extLst>
              <a:ext uri="{FF2B5EF4-FFF2-40B4-BE49-F238E27FC236}">
                <a16:creationId xmlns:a16="http://schemas.microsoft.com/office/drawing/2014/main" id="{8D59656C-7512-FDE9-1ABB-E0DA38F7B534}"/>
              </a:ext>
            </a:extLst>
          </p:cNvPr>
          <p:cNvSpPr/>
          <p:nvPr/>
        </p:nvSpPr>
        <p:spPr>
          <a:xfrm rot="18539291">
            <a:off x="175917" y="2700761"/>
            <a:ext cx="750491" cy="452964"/>
          </a:xfrm>
          <a:prstGeom prst="corner">
            <a:avLst>
              <a:gd name="adj1" fmla="val 38138"/>
              <a:gd name="adj2" fmla="val 3631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DAE62B0-7544-1283-CDFD-7EDD8BF401FB}"/>
              </a:ext>
            </a:extLst>
          </p:cNvPr>
          <p:cNvGrpSpPr/>
          <p:nvPr/>
        </p:nvGrpSpPr>
        <p:grpSpPr>
          <a:xfrm>
            <a:off x="8081568" y="321608"/>
            <a:ext cx="2979648" cy="1269067"/>
            <a:chOff x="8081568" y="321608"/>
            <a:chExt cx="2979648" cy="12690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B8D5539-E95A-053A-F762-06467CC60747}"/>
                    </a:ext>
                  </a:extLst>
                </p:cNvPr>
                <p:cNvSpPr txBox="1"/>
                <p:nvPr/>
              </p:nvSpPr>
              <p:spPr>
                <a:xfrm>
                  <a:off x="10391150" y="321608"/>
                  <a:ext cx="670066" cy="369332"/>
                </a:xfrm>
                <a:prstGeom prst="rect">
                  <a:avLst/>
                </a:prstGeom>
                <a:noFill/>
                <a:ln w="25400">
                  <a:solidFill>
                    <a:srgbClr val="00B0F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B8D5539-E95A-053A-F762-06467CC607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1150" y="321608"/>
                  <a:ext cx="670066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563"/>
                  </a:stretch>
                </a:blipFill>
                <a:ln w="25400"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7D8F18-25FC-8529-044E-E930718E53DE}"/>
                </a:ext>
              </a:extLst>
            </p:cNvPr>
            <p:cNvSpPr/>
            <p:nvPr/>
          </p:nvSpPr>
          <p:spPr>
            <a:xfrm>
              <a:off x="8081568" y="457200"/>
              <a:ext cx="2455452" cy="1133475"/>
            </a:xfrm>
            <a:custGeom>
              <a:avLst/>
              <a:gdLst>
                <a:gd name="connsiteX0" fmla="*/ 0 w 1238250"/>
                <a:gd name="connsiteY0" fmla="*/ 0 h 1133475"/>
                <a:gd name="connsiteX1" fmla="*/ 276225 w 1238250"/>
                <a:gd name="connsiteY1" fmla="*/ 190500 h 1133475"/>
                <a:gd name="connsiteX2" fmla="*/ 609600 w 1238250"/>
                <a:gd name="connsiteY2" fmla="*/ 95250 h 1133475"/>
                <a:gd name="connsiteX3" fmla="*/ 1076325 w 1238250"/>
                <a:gd name="connsiteY3" fmla="*/ 409575 h 1133475"/>
                <a:gd name="connsiteX4" fmla="*/ 1238250 w 1238250"/>
                <a:gd name="connsiteY4" fmla="*/ 1133475 h 11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0" h="1133475">
                  <a:moveTo>
                    <a:pt x="0" y="0"/>
                  </a:moveTo>
                  <a:cubicBezTo>
                    <a:pt x="87312" y="87312"/>
                    <a:pt x="174625" y="174625"/>
                    <a:pt x="276225" y="190500"/>
                  </a:cubicBezTo>
                  <a:cubicBezTo>
                    <a:pt x="377825" y="206375"/>
                    <a:pt x="476250" y="58737"/>
                    <a:pt x="609600" y="95250"/>
                  </a:cubicBezTo>
                  <a:cubicBezTo>
                    <a:pt x="742950" y="131763"/>
                    <a:pt x="971550" y="236538"/>
                    <a:pt x="1076325" y="409575"/>
                  </a:cubicBezTo>
                  <a:cubicBezTo>
                    <a:pt x="1181100" y="582612"/>
                    <a:pt x="1209675" y="858043"/>
                    <a:pt x="1238250" y="1133475"/>
                  </a:cubicBezTo>
                </a:path>
              </a:pathLst>
            </a:cu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4921065-5C54-E6BF-9069-1FC5F2C67C9F}"/>
              </a:ext>
            </a:extLst>
          </p:cNvPr>
          <p:cNvGrpSpPr/>
          <p:nvPr/>
        </p:nvGrpSpPr>
        <p:grpSpPr>
          <a:xfrm>
            <a:off x="7216158" y="239252"/>
            <a:ext cx="3845058" cy="1735043"/>
            <a:chOff x="7216158" y="239252"/>
            <a:chExt cx="3845058" cy="173504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CF71F81-36E1-6A34-AE7C-6049C240D724}"/>
                </a:ext>
              </a:extLst>
            </p:cNvPr>
            <p:cNvGrpSpPr/>
            <p:nvPr/>
          </p:nvGrpSpPr>
          <p:grpSpPr>
            <a:xfrm>
              <a:off x="7927015" y="239252"/>
              <a:ext cx="3134201" cy="1735043"/>
              <a:chOff x="10424357" y="1960830"/>
              <a:chExt cx="1592754" cy="1735043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3F3BF88E-F9E6-E184-662C-37824ABD0BEB}"/>
                  </a:ext>
                </a:extLst>
              </p:cNvPr>
              <p:cNvSpPr/>
              <p:nvPr/>
            </p:nvSpPr>
            <p:spPr>
              <a:xfrm>
                <a:off x="10495128" y="2270576"/>
                <a:ext cx="1255594" cy="1059478"/>
              </a:xfrm>
              <a:custGeom>
                <a:avLst/>
                <a:gdLst>
                  <a:gd name="connsiteX0" fmla="*/ 0 w 1255594"/>
                  <a:gd name="connsiteY0" fmla="*/ 1052654 h 1059478"/>
                  <a:gd name="connsiteX1" fmla="*/ 6824 w 1255594"/>
                  <a:gd name="connsiteY1" fmla="*/ 104134 h 1059478"/>
                  <a:gd name="connsiteX2" fmla="*/ 6824 w 1255594"/>
                  <a:gd name="connsiteY2" fmla="*/ 22248 h 1059478"/>
                  <a:gd name="connsiteX3" fmla="*/ 75063 w 1255594"/>
                  <a:gd name="connsiteY3" fmla="*/ 83663 h 1059478"/>
                  <a:gd name="connsiteX4" fmla="*/ 320723 w 1255594"/>
                  <a:gd name="connsiteY4" fmla="*/ 186021 h 1059478"/>
                  <a:gd name="connsiteX5" fmla="*/ 716508 w 1255594"/>
                  <a:gd name="connsiteY5" fmla="*/ 90487 h 1059478"/>
                  <a:gd name="connsiteX6" fmla="*/ 1071350 w 1255594"/>
                  <a:gd name="connsiteY6" fmla="*/ 418033 h 1059478"/>
                  <a:gd name="connsiteX7" fmla="*/ 1255594 w 1255594"/>
                  <a:gd name="connsiteY7" fmla="*/ 1059478 h 105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5594" h="1059478">
                    <a:moveTo>
                      <a:pt x="0" y="1052654"/>
                    </a:moveTo>
                    <a:cubicBezTo>
                      <a:pt x="2843" y="664261"/>
                      <a:pt x="5687" y="275868"/>
                      <a:pt x="6824" y="104134"/>
                    </a:cubicBezTo>
                    <a:cubicBezTo>
                      <a:pt x="7961" y="-67600"/>
                      <a:pt x="-4549" y="25660"/>
                      <a:pt x="6824" y="22248"/>
                    </a:cubicBezTo>
                    <a:cubicBezTo>
                      <a:pt x="18197" y="18836"/>
                      <a:pt x="22747" y="56368"/>
                      <a:pt x="75063" y="83663"/>
                    </a:cubicBezTo>
                    <a:cubicBezTo>
                      <a:pt x="127379" y="110958"/>
                      <a:pt x="213816" y="184884"/>
                      <a:pt x="320723" y="186021"/>
                    </a:cubicBezTo>
                    <a:cubicBezTo>
                      <a:pt x="427630" y="187158"/>
                      <a:pt x="591404" y="51818"/>
                      <a:pt x="716508" y="90487"/>
                    </a:cubicBezTo>
                    <a:cubicBezTo>
                      <a:pt x="841612" y="129156"/>
                      <a:pt x="981502" y="256535"/>
                      <a:pt x="1071350" y="418033"/>
                    </a:cubicBezTo>
                    <a:cubicBezTo>
                      <a:pt x="1161198" y="579531"/>
                      <a:pt x="1208396" y="819504"/>
                      <a:pt x="1255594" y="1059478"/>
                    </a:cubicBezTo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0D96BB4F-0414-8B40-9C41-EE302D1DA74E}"/>
                  </a:ext>
                </a:extLst>
              </p:cNvPr>
              <p:cNvCxnSpPr>
                <a:stCxn id="8" idx="0"/>
              </p:cNvCxnSpPr>
              <p:nvPr/>
            </p:nvCxnSpPr>
            <p:spPr>
              <a:xfrm flipV="1">
                <a:off x="10495128" y="1960830"/>
                <a:ext cx="13648" cy="13624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79AC9AF-2DDA-46E8-90A9-77C6C4D14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8776" y="3323230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39C1E36-AA86-9653-E478-9D4A26181021}"/>
                      </a:ext>
                    </a:extLst>
                  </p:cNvPr>
                  <p:cNvSpPr txBox="1"/>
                  <p:nvPr/>
                </p:nvSpPr>
                <p:spPr>
                  <a:xfrm>
                    <a:off x="10424357" y="3326541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39C1E36-AA86-9653-E478-9D4A261810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24357" y="3326541"/>
                    <a:ext cx="159275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0DFF652-342E-14AD-281B-8C2875A8CB98}"/>
                    </a:ext>
                  </a:extLst>
                </p:cNvPr>
                <p:cNvSpPr txBox="1"/>
                <p:nvPr/>
              </p:nvSpPr>
              <p:spPr>
                <a:xfrm>
                  <a:off x="7216158" y="894071"/>
                  <a:ext cx="670066" cy="369332"/>
                </a:xfrm>
                <a:prstGeom prst="rect">
                  <a:avLst/>
                </a:prstGeom>
                <a:noFill/>
                <a:ln w="25400"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0DFF652-342E-14AD-281B-8C2875A8CB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6158" y="894071"/>
                  <a:ext cx="67006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563"/>
                  </a:stretch>
                </a:blipFill>
                <a:ln w="25400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08109B8-177C-9320-C51C-778DEFA09790}"/>
              </a:ext>
            </a:extLst>
          </p:cNvPr>
          <p:cNvSpPr txBox="1"/>
          <p:nvPr/>
        </p:nvSpPr>
        <p:spPr>
          <a:xfrm>
            <a:off x="9762500" y="2746653"/>
            <a:ext cx="1927365" cy="7961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Time average, nonempty</a:t>
            </a:r>
          </a:p>
        </p:txBody>
      </p:sp>
      <p:sp>
        <p:nvSpPr>
          <p:cNvPr id="20" name="L-Shape 19">
            <a:extLst>
              <a:ext uri="{FF2B5EF4-FFF2-40B4-BE49-F238E27FC236}">
                <a16:creationId xmlns:a16="http://schemas.microsoft.com/office/drawing/2014/main" id="{6B00508A-766B-AACC-1370-0A479A6B7ED9}"/>
              </a:ext>
            </a:extLst>
          </p:cNvPr>
          <p:cNvSpPr/>
          <p:nvPr/>
        </p:nvSpPr>
        <p:spPr>
          <a:xfrm rot="18539291">
            <a:off x="175917" y="4371479"/>
            <a:ext cx="750491" cy="452964"/>
          </a:xfrm>
          <a:prstGeom prst="corner">
            <a:avLst>
              <a:gd name="adj1" fmla="val 38138"/>
              <a:gd name="adj2" fmla="val 3631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F8C6C5-65E5-31CB-6A48-AB89819001E0}"/>
              </a:ext>
            </a:extLst>
          </p:cNvPr>
          <p:cNvSpPr txBox="1"/>
          <p:nvPr/>
        </p:nvSpPr>
        <p:spPr>
          <a:xfrm>
            <a:off x="9107424" y="5032124"/>
            <a:ext cx="2582441" cy="76944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Standard class-based </a:t>
            </a:r>
            <a:r>
              <a:rPr lang="en-US" sz="2200" dirty="0" err="1"/>
              <a:t>MaxWeight</a:t>
            </a:r>
            <a:r>
              <a:rPr lang="en-US" sz="2200" dirty="0"/>
              <a:t> theorem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A1B181-E691-0955-8EA7-EC3F24803C9F}"/>
              </a:ext>
            </a:extLst>
          </p:cNvPr>
          <p:cNvSpPr txBox="1"/>
          <p:nvPr/>
        </p:nvSpPr>
        <p:spPr>
          <a:xfrm>
            <a:off x="259976" y="3144718"/>
            <a:ext cx="8242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400" b="1" dirty="0">
                <a:solidFill>
                  <a:schemeClr val="accent4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91D31E-D4CE-4E3A-8C2D-5E72EEA26751}"/>
              </a:ext>
            </a:extLst>
          </p:cNvPr>
          <p:cNvSpPr/>
          <p:nvPr/>
        </p:nvSpPr>
        <p:spPr>
          <a:xfrm>
            <a:off x="1333500" y="3619500"/>
            <a:ext cx="10239375" cy="868326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8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9" grpId="0" animBg="1"/>
      <p:bldP spid="20" grpId="0" animBg="1"/>
      <p:bldP spid="21" grpId="0" animBg="1"/>
      <p:bldP spid="22" grpId="0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EACE0-0ADD-D8C5-F058-FA38083B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to Discrete Service Options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BE0EB5-A772-F3DA-7142-B8DEE087CB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Challenge: Map continuous service option to discrete service option</a:t>
                </a:r>
              </a:p>
              <a:p>
                <a:pPr marL="0" indent="0">
                  <a:buNone/>
                </a:pPr>
                <a:r>
                  <a:rPr lang="en-US" b="0" dirty="0"/>
                  <a:t>Ex: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0.73, 0.21, 0.02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Approach 1: Round up.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=[0.8,0.3,0.1]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Approach 2: Round down.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=[0.7,0.2]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BE0EB5-A772-F3DA-7142-B8DEE087CB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90F32-E05D-F3FD-A57C-2268D48F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CE0FA-B46C-3C4A-FF8E-3F6833D3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13</a:t>
            </a:fld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D02ECFEB-1902-E4B6-7716-F2A33527D875}"/>
              </a:ext>
            </a:extLst>
          </p:cNvPr>
          <p:cNvSpPr/>
          <p:nvPr/>
        </p:nvSpPr>
        <p:spPr>
          <a:xfrm rot="18857960">
            <a:off x="7444023" y="2747617"/>
            <a:ext cx="683313" cy="697404"/>
          </a:xfrm>
          <a:prstGeom prst="plus">
            <a:avLst>
              <a:gd name="adj" fmla="val 3222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006120-BEEA-EE15-D6CA-FFFA909C6C21}"/>
              </a:ext>
            </a:extLst>
          </p:cNvPr>
          <p:cNvGrpSpPr/>
          <p:nvPr/>
        </p:nvGrpSpPr>
        <p:grpSpPr>
          <a:xfrm>
            <a:off x="6010406" y="4029975"/>
            <a:ext cx="5991094" cy="1702944"/>
            <a:chOff x="1747687" y="4474020"/>
            <a:chExt cx="6405712" cy="170294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71570AD-2383-2250-AC2A-D04BA5321031}"/>
                </a:ext>
              </a:extLst>
            </p:cNvPr>
            <p:cNvSpPr/>
            <p:nvPr/>
          </p:nvSpPr>
          <p:spPr>
            <a:xfrm>
              <a:off x="2714039" y="4598077"/>
              <a:ext cx="4386111" cy="1206642"/>
            </a:xfrm>
            <a:custGeom>
              <a:avLst/>
              <a:gdLst>
                <a:gd name="connsiteX0" fmla="*/ 0 w 1238250"/>
                <a:gd name="connsiteY0" fmla="*/ 0 h 1133475"/>
                <a:gd name="connsiteX1" fmla="*/ 276225 w 1238250"/>
                <a:gd name="connsiteY1" fmla="*/ 190500 h 1133475"/>
                <a:gd name="connsiteX2" fmla="*/ 609600 w 1238250"/>
                <a:gd name="connsiteY2" fmla="*/ 95250 h 1133475"/>
                <a:gd name="connsiteX3" fmla="*/ 1076325 w 1238250"/>
                <a:gd name="connsiteY3" fmla="*/ 409575 h 1133475"/>
                <a:gd name="connsiteX4" fmla="*/ 1238250 w 1238250"/>
                <a:gd name="connsiteY4" fmla="*/ 1133475 h 11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0" h="1133475">
                  <a:moveTo>
                    <a:pt x="0" y="0"/>
                  </a:moveTo>
                  <a:cubicBezTo>
                    <a:pt x="87312" y="87312"/>
                    <a:pt x="174625" y="174625"/>
                    <a:pt x="276225" y="190500"/>
                  </a:cubicBezTo>
                  <a:cubicBezTo>
                    <a:pt x="377825" y="206375"/>
                    <a:pt x="476250" y="58737"/>
                    <a:pt x="609600" y="95250"/>
                  </a:cubicBezTo>
                  <a:cubicBezTo>
                    <a:pt x="742950" y="131763"/>
                    <a:pt x="971550" y="236538"/>
                    <a:pt x="1076325" y="409575"/>
                  </a:cubicBezTo>
                  <a:cubicBezTo>
                    <a:pt x="1181100" y="582612"/>
                    <a:pt x="1209675" y="858043"/>
                    <a:pt x="1238250" y="1133475"/>
                  </a:cubicBezTo>
                </a:path>
              </a:pathLst>
            </a:cu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AF6A406-EF71-0429-7ACA-6FFC611F01CA}"/>
                </a:ext>
              </a:extLst>
            </p:cNvPr>
            <p:cNvGrpSpPr/>
            <p:nvPr/>
          </p:nvGrpSpPr>
          <p:grpSpPr>
            <a:xfrm>
              <a:off x="2579567" y="4474020"/>
              <a:ext cx="5573832" cy="1702944"/>
              <a:chOff x="10458940" y="1990876"/>
              <a:chExt cx="1592754" cy="1702944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69D1E96-7A09-39A6-457E-49D014956741}"/>
                  </a:ext>
                </a:extLst>
              </p:cNvPr>
              <p:cNvSpPr/>
              <p:nvPr/>
            </p:nvSpPr>
            <p:spPr>
              <a:xfrm>
                <a:off x="10495128" y="2270576"/>
                <a:ext cx="1255594" cy="1059478"/>
              </a:xfrm>
              <a:custGeom>
                <a:avLst/>
                <a:gdLst>
                  <a:gd name="connsiteX0" fmla="*/ 0 w 1255594"/>
                  <a:gd name="connsiteY0" fmla="*/ 1052654 h 1059478"/>
                  <a:gd name="connsiteX1" fmla="*/ 6824 w 1255594"/>
                  <a:gd name="connsiteY1" fmla="*/ 104134 h 1059478"/>
                  <a:gd name="connsiteX2" fmla="*/ 6824 w 1255594"/>
                  <a:gd name="connsiteY2" fmla="*/ 22248 h 1059478"/>
                  <a:gd name="connsiteX3" fmla="*/ 75063 w 1255594"/>
                  <a:gd name="connsiteY3" fmla="*/ 83663 h 1059478"/>
                  <a:gd name="connsiteX4" fmla="*/ 320723 w 1255594"/>
                  <a:gd name="connsiteY4" fmla="*/ 186021 h 1059478"/>
                  <a:gd name="connsiteX5" fmla="*/ 716508 w 1255594"/>
                  <a:gd name="connsiteY5" fmla="*/ 90487 h 1059478"/>
                  <a:gd name="connsiteX6" fmla="*/ 1071350 w 1255594"/>
                  <a:gd name="connsiteY6" fmla="*/ 418033 h 1059478"/>
                  <a:gd name="connsiteX7" fmla="*/ 1255594 w 1255594"/>
                  <a:gd name="connsiteY7" fmla="*/ 1059478 h 105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5594" h="1059478">
                    <a:moveTo>
                      <a:pt x="0" y="1052654"/>
                    </a:moveTo>
                    <a:cubicBezTo>
                      <a:pt x="2843" y="664261"/>
                      <a:pt x="5687" y="275868"/>
                      <a:pt x="6824" y="104134"/>
                    </a:cubicBezTo>
                    <a:cubicBezTo>
                      <a:pt x="7961" y="-67600"/>
                      <a:pt x="-4549" y="25660"/>
                      <a:pt x="6824" y="22248"/>
                    </a:cubicBezTo>
                    <a:cubicBezTo>
                      <a:pt x="18197" y="18836"/>
                      <a:pt x="22747" y="56368"/>
                      <a:pt x="75063" y="83663"/>
                    </a:cubicBezTo>
                    <a:cubicBezTo>
                      <a:pt x="127379" y="110958"/>
                      <a:pt x="213816" y="184884"/>
                      <a:pt x="320723" y="186021"/>
                    </a:cubicBezTo>
                    <a:cubicBezTo>
                      <a:pt x="427630" y="187158"/>
                      <a:pt x="591404" y="51818"/>
                      <a:pt x="716508" y="90487"/>
                    </a:cubicBezTo>
                    <a:cubicBezTo>
                      <a:pt x="841612" y="129156"/>
                      <a:pt x="981502" y="256535"/>
                      <a:pt x="1071350" y="418033"/>
                    </a:cubicBezTo>
                    <a:cubicBezTo>
                      <a:pt x="1161198" y="579531"/>
                      <a:pt x="1208396" y="819504"/>
                      <a:pt x="1255594" y="1059478"/>
                    </a:cubicBezTo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20C489A-D89C-0DF2-AE1C-07FB941039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97366" y="1990876"/>
                <a:ext cx="0" cy="135091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1B88FC3-284A-2DA5-C248-C2F191D58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5128" y="3330054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829238B-B837-E659-34EA-FD7CD5FCA4F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58940" y="3324488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             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             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829238B-B837-E659-34EA-FD7CD5FCA4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58940" y="3324488"/>
                    <a:ext cx="159275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955E6AE-6264-D4E8-2890-736A434DB936}"/>
                    </a:ext>
                  </a:extLst>
                </p:cNvPr>
                <p:cNvSpPr txBox="1"/>
                <p:nvPr/>
              </p:nvSpPr>
              <p:spPr>
                <a:xfrm>
                  <a:off x="1747687" y="5098793"/>
                  <a:ext cx="730199" cy="369332"/>
                </a:xfrm>
                <a:prstGeom prst="rect">
                  <a:avLst/>
                </a:prstGeom>
                <a:noFill/>
                <a:ln w="25400"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955E6AE-6264-D4E8-2890-736A434DB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687" y="5098793"/>
                  <a:ext cx="730199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563"/>
                  </a:stretch>
                </a:blipFill>
                <a:ln w="25400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9ED4C5B-343C-A4B9-CCDB-14C9591A915D}"/>
                    </a:ext>
                  </a:extLst>
                </p:cNvPr>
                <p:cNvSpPr txBox="1"/>
                <p:nvPr/>
              </p:nvSpPr>
              <p:spPr>
                <a:xfrm>
                  <a:off x="7215205" y="4868648"/>
                  <a:ext cx="760282" cy="369332"/>
                </a:xfrm>
                <a:prstGeom prst="rect">
                  <a:avLst/>
                </a:prstGeom>
                <a:noFill/>
                <a:ln w="25400">
                  <a:solidFill>
                    <a:srgbClr val="00B0F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9ED4C5B-343C-A4B9-CCDB-14C9591A9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5205" y="4868648"/>
                  <a:ext cx="76028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563"/>
                  </a:stretch>
                </a:blipFill>
                <a:ln w="25400"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D7B150-8564-C75D-E2EA-5848E889EE17}"/>
              </a:ext>
            </a:extLst>
          </p:cNvPr>
          <p:cNvGrpSpPr/>
          <p:nvPr/>
        </p:nvGrpSpPr>
        <p:grpSpPr>
          <a:xfrm>
            <a:off x="7297497" y="4097518"/>
            <a:ext cx="3705225" cy="1283372"/>
            <a:chOff x="7297497" y="4097518"/>
            <a:chExt cx="3705225" cy="1283372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5B54A60-041A-0527-74E7-4CC2B95A0BD5}"/>
                </a:ext>
              </a:extLst>
            </p:cNvPr>
            <p:cNvCxnSpPr/>
            <p:nvPr/>
          </p:nvCxnSpPr>
          <p:spPr>
            <a:xfrm>
              <a:off x="7297497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D8BFB91-18C7-6256-3567-3EC7D86D72C3}"/>
                </a:ext>
              </a:extLst>
            </p:cNvPr>
            <p:cNvCxnSpPr/>
            <p:nvPr/>
          </p:nvCxnSpPr>
          <p:spPr>
            <a:xfrm>
              <a:off x="7659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9D0C39-DCA5-19E4-9E8E-6289CEB727E6}"/>
                </a:ext>
              </a:extLst>
            </p:cNvPr>
            <p:cNvCxnSpPr/>
            <p:nvPr/>
          </p:nvCxnSpPr>
          <p:spPr>
            <a:xfrm>
              <a:off x="80499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89C15F-9FF5-B0FE-C536-47189F4AE217}"/>
                </a:ext>
              </a:extLst>
            </p:cNvPr>
            <p:cNvCxnSpPr/>
            <p:nvPr/>
          </p:nvCxnSpPr>
          <p:spPr>
            <a:xfrm>
              <a:off x="840239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AC2543-D80E-0CC8-078C-EDBDFAC9A9BD}"/>
                </a:ext>
              </a:extLst>
            </p:cNvPr>
            <p:cNvCxnSpPr/>
            <p:nvPr/>
          </p:nvCxnSpPr>
          <p:spPr>
            <a:xfrm>
              <a:off x="8802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E6147F0-88DC-CE8E-D5C6-87D9674AF84C}"/>
                </a:ext>
              </a:extLst>
            </p:cNvPr>
            <p:cNvCxnSpPr/>
            <p:nvPr/>
          </p:nvCxnSpPr>
          <p:spPr>
            <a:xfrm>
              <a:off x="9250122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076AA56-E3D1-21FF-D206-8C9B21D1B1DC}"/>
                </a:ext>
              </a:extLst>
            </p:cNvPr>
            <p:cNvCxnSpPr/>
            <p:nvPr/>
          </p:nvCxnSpPr>
          <p:spPr>
            <a:xfrm>
              <a:off x="96692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E24D98A-D27F-5402-962C-5D2610EF3F40}"/>
                </a:ext>
              </a:extLst>
            </p:cNvPr>
            <p:cNvCxnSpPr/>
            <p:nvPr/>
          </p:nvCxnSpPr>
          <p:spPr>
            <a:xfrm>
              <a:off x="100692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B2BBBC-9D53-3BA4-A50B-548B8719ECD5}"/>
                </a:ext>
              </a:extLst>
            </p:cNvPr>
            <p:cNvCxnSpPr/>
            <p:nvPr/>
          </p:nvCxnSpPr>
          <p:spPr>
            <a:xfrm>
              <a:off x="10493351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9EF98B0-9FAE-F92D-8815-8542A3591331}"/>
                </a:ext>
              </a:extLst>
            </p:cNvPr>
            <p:cNvCxnSpPr/>
            <p:nvPr/>
          </p:nvCxnSpPr>
          <p:spPr>
            <a:xfrm>
              <a:off x="110027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39BC0A5-6C5C-4777-CE6A-6CFE3D91FAE4}"/>
              </a:ext>
            </a:extLst>
          </p:cNvPr>
          <p:cNvGrpSpPr/>
          <p:nvPr/>
        </p:nvGrpSpPr>
        <p:grpSpPr>
          <a:xfrm>
            <a:off x="6788441" y="4029975"/>
            <a:ext cx="4235308" cy="1350916"/>
            <a:chOff x="6788441" y="4029975"/>
            <a:chExt cx="4235308" cy="135091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77CA886-90D9-0984-E09D-5DABDC910ECB}"/>
                </a:ext>
              </a:extLst>
            </p:cNvPr>
            <p:cNvSpPr/>
            <p:nvPr/>
          </p:nvSpPr>
          <p:spPr>
            <a:xfrm>
              <a:off x="6788441" y="4029975"/>
              <a:ext cx="2438999" cy="1350915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DECF6B1-B941-FE18-B1D9-315654B00FBC}"/>
                </a:ext>
              </a:extLst>
            </p:cNvPr>
            <p:cNvSpPr/>
            <p:nvPr/>
          </p:nvSpPr>
          <p:spPr>
            <a:xfrm>
              <a:off x="9691905" y="4110615"/>
              <a:ext cx="1331844" cy="127027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961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EACE0-0ADD-D8C5-F058-FA38083B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to Discrete Service Options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BE0EB5-A772-F3DA-7142-B8DEE087CB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Challenge: Map continuous service option to discrete service option</a:t>
                </a:r>
              </a:p>
              <a:p>
                <a:pPr marL="0" indent="0">
                  <a:buNone/>
                </a:pPr>
                <a:r>
                  <a:rPr lang="en-US" b="0" dirty="0"/>
                  <a:t>Ex: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0.73, 0.21, 0.02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Approach 1: Round up.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=[0.8,0.3,0.1]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Approach 2: Round down.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=[0.7,0.2]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BE0EB5-A772-F3DA-7142-B8DEE087CB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90F32-E05D-F3FD-A57C-2268D48F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CE0FA-B46C-3C4A-FF8E-3F6833D3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14</a:t>
            </a:fld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D02ECFEB-1902-E4B6-7716-F2A33527D875}"/>
              </a:ext>
            </a:extLst>
          </p:cNvPr>
          <p:cNvSpPr/>
          <p:nvPr/>
        </p:nvSpPr>
        <p:spPr>
          <a:xfrm rot="18857960">
            <a:off x="7444023" y="2747617"/>
            <a:ext cx="683313" cy="697404"/>
          </a:xfrm>
          <a:prstGeom prst="plus">
            <a:avLst>
              <a:gd name="adj" fmla="val 3222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006120-BEEA-EE15-D6CA-FFFA909C6C21}"/>
              </a:ext>
            </a:extLst>
          </p:cNvPr>
          <p:cNvGrpSpPr/>
          <p:nvPr/>
        </p:nvGrpSpPr>
        <p:grpSpPr>
          <a:xfrm>
            <a:off x="6010406" y="4029975"/>
            <a:ext cx="5991094" cy="1702944"/>
            <a:chOff x="1747687" y="4474020"/>
            <a:chExt cx="6405712" cy="170294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71570AD-2383-2250-AC2A-D04BA5321031}"/>
                </a:ext>
              </a:extLst>
            </p:cNvPr>
            <p:cNvSpPr/>
            <p:nvPr/>
          </p:nvSpPr>
          <p:spPr>
            <a:xfrm>
              <a:off x="2714039" y="4598077"/>
              <a:ext cx="4386111" cy="1206642"/>
            </a:xfrm>
            <a:custGeom>
              <a:avLst/>
              <a:gdLst>
                <a:gd name="connsiteX0" fmla="*/ 0 w 1238250"/>
                <a:gd name="connsiteY0" fmla="*/ 0 h 1133475"/>
                <a:gd name="connsiteX1" fmla="*/ 276225 w 1238250"/>
                <a:gd name="connsiteY1" fmla="*/ 190500 h 1133475"/>
                <a:gd name="connsiteX2" fmla="*/ 609600 w 1238250"/>
                <a:gd name="connsiteY2" fmla="*/ 95250 h 1133475"/>
                <a:gd name="connsiteX3" fmla="*/ 1076325 w 1238250"/>
                <a:gd name="connsiteY3" fmla="*/ 409575 h 1133475"/>
                <a:gd name="connsiteX4" fmla="*/ 1238250 w 1238250"/>
                <a:gd name="connsiteY4" fmla="*/ 1133475 h 11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0" h="1133475">
                  <a:moveTo>
                    <a:pt x="0" y="0"/>
                  </a:moveTo>
                  <a:cubicBezTo>
                    <a:pt x="87312" y="87312"/>
                    <a:pt x="174625" y="174625"/>
                    <a:pt x="276225" y="190500"/>
                  </a:cubicBezTo>
                  <a:cubicBezTo>
                    <a:pt x="377825" y="206375"/>
                    <a:pt x="476250" y="58737"/>
                    <a:pt x="609600" y="95250"/>
                  </a:cubicBezTo>
                  <a:cubicBezTo>
                    <a:pt x="742950" y="131763"/>
                    <a:pt x="971550" y="236538"/>
                    <a:pt x="1076325" y="409575"/>
                  </a:cubicBezTo>
                  <a:cubicBezTo>
                    <a:pt x="1181100" y="582612"/>
                    <a:pt x="1209675" y="858043"/>
                    <a:pt x="1238250" y="1133475"/>
                  </a:cubicBezTo>
                </a:path>
              </a:pathLst>
            </a:cu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AF6A406-EF71-0429-7ACA-6FFC611F01CA}"/>
                </a:ext>
              </a:extLst>
            </p:cNvPr>
            <p:cNvGrpSpPr/>
            <p:nvPr/>
          </p:nvGrpSpPr>
          <p:grpSpPr>
            <a:xfrm>
              <a:off x="2579567" y="4474020"/>
              <a:ext cx="5573832" cy="1702944"/>
              <a:chOff x="10458940" y="1990876"/>
              <a:chExt cx="1592754" cy="1702944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69D1E96-7A09-39A6-457E-49D014956741}"/>
                  </a:ext>
                </a:extLst>
              </p:cNvPr>
              <p:cNvSpPr/>
              <p:nvPr/>
            </p:nvSpPr>
            <p:spPr>
              <a:xfrm>
                <a:off x="10495128" y="2270576"/>
                <a:ext cx="1255594" cy="1059478"/>
              </a:xfrm>
              <a:custGeom>
                <a:avLst/>
                <a:gdLst>
                  <a:gd name="connsiteX0" fmla="*/ 0 w 1255594"/>
                  <a:gd name="connsiteY0" fmla="*/ 1052654 h 1059478"/>
                  <a:gd name="connsiteX1" fmla="*/ 6824 w 1255594"/>
                  <a:gd name="connsiteY1" fmla="*/ 104134 h 1059478"/>
                  <a:gd name="connsiteX2" fmla="*/ 6824 w 1255594"/>
                  <a:gd name="connsiteY2" fmla="*/ 22248 h 1059478"/>
                  <a:gd name="connsiteX3" fmla="*/ 75063 w 1255594"/>
                  <a:gd name="connsiteY3" fmla="*/ 83663 h 1059478"/>
                  <a:gd name="connsiteX4" fmla="*/ 320723 w 1255594"/>
                  <a:gd name="connsiteY4" fmla="*/ 186021 h 1059478"/>
                  <a:gd name="connsiteX5" fmla="*/ 716508 w 1255594"/>
                  <a:gd name="connsiteY5" fmla="*/ 90487 h 1059478"/>
                  <a:gd name="connsiteX6" fmla="*/ 1071350 w 1255594"/>
                  <a:gd name="connsiteY6" fmla="*/ 418033 h 1059478"/>
                  <a:gd name="connsiteX7" fmla="*/ 1255594 w 1255594"/>
                  <a:gd name="connsiteY7" fmla="*/ 1059478 h 105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5594" h="1059478">
                    <a:moveTo>
                      <a:pt x="0" y="1052654"/>
                    </a:moveTo>
                    <a:cubicBezTo>
                      <a:pt x="2843" y="664261"/>
                      <a:pt x="5687" y="275868"/>
                      <a:pt x="6824" y="104134"/>
                    </a:cubicBezTo>
                    <a:cubicBezTo>
                      <a:pt x="7961" y="-67600"/>
                      <a:pt x="-4549" y="25660"/>
                      <a:pt x="6824" y="22248"/>
                    </a:cubicBezTo>
                    <a:cubicBezTo>
                      <a:pt x="18197" y="18836"/>
                      <a:pt x="22747" y="56368"/>
                      <a:pt x="75063" y="83663"/>
                    </a:cubicBezTo>
                    <a:cubicBezTo>
                      <a:pt x="127379" y="110958"/>
                      <a:pt x="213816" y="184884"/>
                      <a:pt x="320723" y="186021"/>
                    </a:cubicBezTo>
                    <a:cubicBezTo>
                      <a:pt x="427630" y="187158"/>
                      <a:pt x="591404" y="51818"/>
                      <a:pt x="716508" y="90487"/>
                    </a:cubicBezTo>
                    <a:cubicBezTo>
                      <a:pt x="841612" y="129156"/>
                      <a:pt x="981502" y="256535"/>
                      <a:pt x="1071350" y="418033"/>
                    </a:cubicBezTo>
                    <a:cubicBezTo>
                      <a:pt x="1161198" y="579531"/>
                      <a:pt x="1208396" y="819504"/>
                      <a:pt x="1255594" y="1059478"/>
                    </a:cubicBezTo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20C489A-D89C-0DF2-AE1C-07FB941039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97366" y="1990876"/>
                <a:ext cx="0" cy="135091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1B88FC3-284A-2DA5-C248-C2F191D58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5128" y="3330054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829238B-B837-E659-34EA-FD7CD5FCA4F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58940" y="3324488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             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             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829238B-B837-E659-34EA-FD7CD5FCA4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58940" y="3324488"/>
                    <a:ext cx="159275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955E6AE-6264-D4E8-2890-736A434DB936}"/>
                    </a:ext>
                  </a:extLst>
                </p:cNvPr>
                <p:cNvSpPr txBox="1"/>
                <p:nvPr/>
              </p:nvSpPr>
              <p:spPr>
                <a:xfrm>
                  <a:off x="1747687" y="5098793"/>
                  <a:ext cx="730199" cy="369332"/>
                </a:xfrm>
                <a:prstGeom prst="rect">
                  <a:avLst/>
                </a:prstGeom>
                <a:noFill/>
                <a:ln w="25400"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955E6AE-6264-D4E8-2890-736A434DB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687" y="5098793"/>
                  <a:ext cx="730199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563"/>
                  </a:stretch>
                </a:blipFill>
                <a:ln w="25400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9ED4C5B-343C-A4B9-CCDB-14C9591A915D}"/>
                    </a:ext>
                  </a:extLst>
                </p:cNvPr>
                <p:cNvSpPr txBox="1"/>
                <p:nvPr/>
              </p:nvSpPr>
              <p:spPr>
                <a:xfrm>
                  <a:off x="7215205" y="4868648"/>
                  <a:ext cx="760282" cy="369332"/>
                </a:xfrm>
                <a:prstGeom prst="rect">
                  <a:avLst/>
                </a:prstGeom>
                <a:noFill/>
                <a:ln w="25400">
                  <a:solidFill>
                    <a:srgbClr val="00B0F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9ED4C5B-343C-A4B9-CCDB-14C9591A9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5205" y="4868648"/>
                  <a:ext cx="76028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563"/>
                  </a:stretch>
                </a:blipFill>
                <a:ln w="25400"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D7B150-8564-C75D-E2EA-5848E889EE17}"/>
              </a:ext>
            </a:extLst>
          </p:cNvPr>
          <p:cNvGrpSpPr/>
          <p:nvPr/>
        </p:nvGrpSpPr>
        <p:grpSpPr>
          <a:xfrm>
            <a:off x="7297497" y="4097518"/>
            <a:ext cx="3705225" cy="1283372"/>
            <a:chOff x="7297497" y="4097518"/>
            <a:chExt cx="3705225" cy="1283372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5B54A60-041A-0527-74E7-4CC2B95A0BD5}"/>
                </a:ext>
              </a:extLst>
            </p:cNvPr>
            <p:cNvCxnSpPr/>
            <p:nvPr/>
          </p:nvCxnSpPr>
          <p:spPr>
            <a:xfrm>
              <a:off x="7297497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D8BFB91-18C7-6256-3567-3EC7D86D72C3}"/>
                </a:ext>
              </a:extLst>
            </p:cNvPr>
            <p:cNvCxnSpPr/>
            <p:nvPr/>
          </p:nvCxnSpPr>
          <p:spPr>
            <a:xfrm>
              <a:off x="7659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9D0C39-DCA5-19E4-9E8E-6289CEB727E6}"/>
                </a:ext>
              </a:extLst>
            </p:cNvPr>
            <p:cNvCxnSpPr/>
            <p:nvPr/>
          </p:nvCxnSpPr>
          <p:spPr>
            <a:xfrm>
              <a:off x="80499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89C15F-9FF5-B0FE-C536-47189F4AE217}"/>
                </a:ext>
              </a:extLst>
            </p:cNvPr>
            <p:cNvCxnSpPr/>
            <p:nvPr/>
          </p:nvCxnSpPr>
          <p:spPr>
            <a:xfrm>
              <a:off x="840239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AC2543-D80E-0CC8-078C-EDBDFAC9A9BD}"/>
                </a:ext>
              </a:extLst>
            </p:cNvPr>
            <p:cNvCxnSpPr/>
            <p:nvPr/>
          </p:nvCxnSpPr>
          <p:spPr>
            <a:xfrm>
              <a:off x="8802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E6147F0-88DC-CE8E-D5C6-87D9674AF84C}"/>
                </a:ext>
              </a:extLst>
            </p:cNvPr>
            <p:cNvCxnSpPr/>
            <p:nvPr/>
          </p:nvCxnSpPr>
          <p:spPr>
            <a:xfrm>
              <a:off x="9250122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076AA56-E3D1-21FF-D206-8C9B21D1B1DC}"/>
                </a:ext>
              </a:extLst>
            </p:cNvPr>
            <p:cNvCxnSpPr/>
            <p:nvPr/>
          </p:nvCxnSpPr>
          <p:spPr>
            <a:xfrm>
              <a:off x="96692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E24D98A-D27F-5402-962C-5D2610EF3F40}"/>
                </a:ext>
              </a:extLst>
            </p:cNvPr>
            <p:cNvCxnSpPr/>
            <p:nvPr/>
          </p:nvCxnSpPr>
          <p:spPr>
            <a:xfrm>
              <a:off x="100692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B2BBBC-9D53-3BA4-A50B-548B8719ECD5}"/>
                </a:ext>
              </a:extLst>
            </p:cNvPr>
            <p:cNvCxnSpPr/>
            <p:nvPr/>
          </p:nvCxnSpPr>
          <p:spPr>
            <a:xfrm>
              <a:off x="10493351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9EF98B0-9FAE-F92D-8815-8542A3591331}"/>
                </a:ext>
              </a:extLst>
            </p:cNvPr>
            <p:cNvCxnSpPr/>
            <p:nvPr/>
          </p:nvCxnSpPr>
          <p:spPr>
            <a:xfrm>
              <a:off x="110027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39BC0A5-6C5C-4777-CE6A-6CFE3D91FAE4}"/>
              </a:ext>
            </a:extLst>
          </p:cNvPr>
          <p:cNvGrpSpPr/>
          <p:nvPr/>
        </p:nvGrpSpPr>
        <p:grpSpPr>
          <a:xfrm>
            <a:off x="6788441" y="4029975"/>
            <a:ext cx="4235308" cy="1350916"/>
            <a:chOff x="6788441" y="4029975"/>
            <a:chExt cx="4235308" cy="135091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77CA886-90D9-0984-E09D-5DABDC910ECB}"/>
                </a:ext>
              </a:extLst>
            </p:cNvPr>
            <p:cNvSpPr/>
            <p:nvPr/>
          </p:nvSpPr>
          <p:spPr>
            <a:xfrm>
              <a:off x="6788441" y="4029975"/>
              <a:ext cx="2438999" cy="1350915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DECF6B1-B941-FE18-B1D9-315654B00FBC}"/>
                </a:ext>
              </a:extLst>
            </p:cNvPr>
            <p:cNvSpPr/>
            <p:nvPr/>
          </p:nvSpPr>
          <p:spPr>
            <a:xfrm>
              <a:off x="9691905" y="4110615"/>
              <a:ext cx="1331844" cy="127027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4E36753-FA06-2B8B-5773-FBB95EE81A58}"/>
              </a:ext>
            </a:extLst>
          </p:cNvPr>
          <p:cNvSpPr/>
          <p:nvPr/>
        </p:nvSpPr>
        <p:spPr>
          <a:xfrm>
            <a:off x="9266913" y="3123447"/>
            <a:ext cx="378281" cy="127027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D47E8E-F1B5-1B8F-970B-904D82D8313E}"/>
              </a:ext>
            </a:extLst>
          </p:cNvPr>
          <p:cNvCxnSpPr>
            <a:cxnSpLocks/>
          </p:cNvCxnSpPr>
          <p:nvPr/>
        </p:nvCxnSpPr>
        <p:spPr>
          <a:xfrm>
            <a:off x="9250122" y="4309675"/>
            <a:ext cx="4191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219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EACE0-0ADD-D8C5-F058-FA38083B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to Discrete Service Options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BE0EB5-A772-F3DA-7142-B8DEE087CB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Challenge: Map continuous service option to discrete service option</a:t>
                </a:r>
              </a:p>
              <a:p>
                <a:pPr marL="0" indent="0">
                  <a:buNone/>
                </a:pPr>
                <a:r>
                  <a:rPr lang="en-US" b="0" dirty="0"/>
                  <a:t>Ex: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0.73, 0.21, 0.02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Approach 1: Round up.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=[0.8,0.3,0.1]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Approach 2: Round down.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=[0.7,0.2]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Due to Lipschitz continuity,</a:t>
                </a:r>
                <a:br>
                  <a:rPr lang="en-US" dirty="0"/>
                </a:b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large enough,</a:t>
                </a:r>
                <a:br>
                  <a:rPr lang="en-US" dirty="0"/>
                </a:br>
                <a:r>
                  <a:rPr lang="en-US" dirty="0"/>
                  <a:t>round-down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 is dominating*.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BE0EB5-A772-F3DA-7142-B8DEE087CB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90F32-E05D-F3FD-A57C-2268D48F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CE0FA-B46C-3C4A-FF8E-3F6833D3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15</a:t>
            </a:fld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D02ECFEB-1902-E4B6-7716-F2A33527D875}"/>
              </a:ext>
            </a:extLst>
          </p:cNvPr>
          <p:cNvSpPr/>
          <p:nvPr/>
        </p:nvSpPr>
        <p:spPr>
          <a:xfrm rot="18857960">
            <a:off x="7444023" y="2747617"/>
            <a:ext cx="683313" cy="697404"/>
          </a:xfrm>
          <a:prstGeom prst="plus">
            <a:avLst>
              <a:gd name="adj" fmla="val 3222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006120-BEEA-EE15-D6CA-FFFA909C6C21}"/>
              </a:ext>
            </a:extLst>
          </p:cNvPr>
          <p:cNvGrpSpPr/>
          <p:nvPr/>
        </p:nvGrpSpPr>
        <p:grpSpPr>
          <a:xfrm>
            <a:off x="6010406" y="4029975"/>
            <a:ext cx="5991094" cy="1702944"/>
            <a:chOff x="1747687" y="4474020"/>
            <a:chExt cx="6405712" cy="170294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71570AD-2383-2250-AC2A-D04BA5321031}"/>
                </a:ext>
              </a:extLst>
            </p:cNvPr>
            <p:cNvSpPr/>
            <p:nvPr/>
          </p:nvSpPr>
          <p:spPr>
            <a:xfrm>
              <a:off x="2714039" y="4598077"/>
              <a:ext cx="4386111" cy="1206642"/>
            </a:xfrm>
            <a:custGeom>
              <a:avLst/>
              <a:gdLst>
                <a:gd name="connsiteX0" fmla="*/ 0 w 1238250"/>
                <a:gd name="connsiteY0" fmla="*/ 0 h 1133475"/>
                <a:gd name="connsiteX1" fmla="*/ 276225 w 1238250"/>
                <a:gd name="connsiteY1" fmla="*/ 190500 h 1133475"/>
                <a:gd name="connsiteX2" fmla="*/ 609600 w 1238250"/>
                <a:gd name="connsiteY2" fmla="*/ 95250 h 1133475"/>
                <a:gd name="connsiteX3" fmla="*/ 1076325 w 1238250"/>
                <a:gd name="connsiteY3" fmla="*/ 409575 h 1133475"/>
                <a:gd name="connsiteX4" fmla="*/ 1238250 w 1238250"/>
                <a:gd name="connsiteY4" fmla="*/ 1133475 h 11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0" h="1133475">
                  <a:moveTo>
                    <a:pt x="0" y="0"/>
                  </a:moveTo>
                  <a:cubicBezTo>
                    <a:pt x="87312" y="87312"/>
                    <a:pt x="174625" y="174625"/>
                    <a:pt x="276225" y="190500"/>
                  </a:cubicBezTo>
                  <a:cubicBezTo>
                    <a:pt x="377825" y="206375"/>
                    <a:pt x="476250" y="58737"/>
                    <a:pt x="609600" y="95250"/>
                  </a:cubicBezTo>
                  <a:cubicBezTo>
                    <a:pt x="742950" y="131763"/>
                    <a:pt x="971550" y="236538"/>
                    <a:pt x="1076325" y="409575"/>
                  </a:cubicBezTo>
                  <a:cubicBezTo>
                    <a:pt x="1181100" y="582612"/>
                    <a:pt x="1209675" y="858043"/>
                    <a:pt x="1238250" y="1133475"/>
                  </a:cubicBezTo>
                </a:path>
              </a:pathLst>
            </a:cu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AF6A406-EF71-0429-7ACA-6FFC611F01CA}"/>
                </a:ext>
              </a:extLst>
            </p:cNvPr>
            <p:cNvGrpSpPr/>
            <p:nvPr/>
          </p:nvGrpSpPr>
          <p:grpSpPr>
            <a:xfrm>
              <a:off x="2579567" y="4474020"/>
              <a:ext cx="5573832" cy="1702944"/>
              <a:chOff x="10458940" y="1990876"/>
              <a:chExt cx="1592754" cy="1702944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69D1E96-7A09-39A6-457E-49D014956741}"/>
                  </a:ext>
                </a:extLst>
              </p:cNvPr>
              <p:cNvSpPr/>
              <p:nvPr/>
            </p:nvSpPr>
            <p:spPr>
              <a:xfrm>
                <a:off x="10495128" y="2270576"/>
                <a:ext cx="1255594" cy="1059478"/>
              </a:xfrm>
              <a:custGeom>
                <a:avLst/>
                <a:gdLst>
                  <a:gd name="connsiteX0" fmla="*/ 0 w 1255594"/>
                  <a:gd name="connsiteY0" fmla="*/ 1052654 h 1059478"/>
                  <a:gd name="connsiteX1" fmla="*/ 6824 w 1255594"/>
                  <a:gd name="connsiteY1" fmla="*/ 104134 h 1059478"/>
                  <a:gd name="connsiteX2" fmla="*/ 6824 w 1255594"/>
                  <a:gd name="connsiteY2" fmla="*/ 22248 h 1059478"/>
                  <a:gd name="connsiteX3" fmla="*/ 75063 w 1255594"/>
                  <a:gd name="connsiteY3" fmla="*/ 83663 h 1059478"/>
                  <a:gd name="connsiteX4" fmla="*/ 320723 w 1255594"/>
                  <a:gd name="connsiteY4" fmla="*/ 186021 h 1059478"/>
                  <a:gd name="connsiteX5" fmla="*/ 716508 w 1255594"/>
                  <a:gd name="connsiteY5" fmla="*/ 90487 h 1059478"/>
                  <a:gd name="connsiteX6" fmla="*/ 1071350 w 1255594"/>
                  <a:gd name="connsiteY6" fmla="*/ 418033 h 1059478"/>
                  <a:gd name="connsiteX7" fmla="*/ 1255594 w 1255594"/>
                  <a:gd name="connsiteY7" fmla="*/ 1059478 h 105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5594" h="1059478">
                    <a:moveTo>
                      <a:pt x="0" y="1052654"/>
                    </a:moveTo>
                    <a:cubicBezTo>
                      <a:pt x="2843" y="664261"/>
                      <a:pt x="5687" y="275868"/>
                      <a:pt x="6824" y="104134"/>
                    </a:cubicBezTo>
                    <a:cubicBezTo>
                      <a:pt x="7961" y="-67600"/>
                      <a:pt x="-4549" y="25660"/>
                      <a:pt x="6824" y="22248"/>
                    </a:cubicBezTo>
                    <a:cubicBezTo>
                      <a:pt x="18197" y="18836"/>
                      <a:pt x="22747" y="56368"/>
                      <a:pt x="75063" y="83663"/>
                    </a:cubicBezTo>
                    <a:cubicBezTo>
                      <a:pt x="127379" y="110958"/>
                      <a:pt x="213816" y="184884"/>
                      <a:pt x="320723" y="186021"/>
                    </a:cubicBezTo>
                    <a:cubicBezTo>
                      <a:pt x="427630" y="187158"/>
                      <a:pt x="591404" y="51818"/>
                      <a:pt x="716508" y="90487"/>
                    </a:cubicBezTo>
                    <a:cubicBezTo>
                      <a:pt x="841612" y="129156"/>
                      <a:pt x="981502" y="256535"/>
                      <a:pt x="1071350" y="418033"/>
                    </a:cubicBezTo>
                    <a:cubicBezTo>
                      <a:pt x="1161198" y="579531"/>
                      <a:pt x="1208396" y="819504"/>
                      <a:pt x="1255594" y="1059478"/>
                    </a:cubicBezTo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20C489A-D89C-0DF2-AE1C-07FB941039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97366" y="1990876"/>
                <a:ext cx="0" cy="135091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1B88FC3-284A-2DA5-C248-C2F191D58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95128" y="3330054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829238B-B837-E659-34EA-FD7CD5FCA4F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58940" y="3324488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             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                     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829238B-B837-E659-34EA-FD7CD5FCA4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58940" y="3324488"/>
                    <a:ext cx="159275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955E6AE-6264-D4E8-2890-736A434DB936}"/>
                    </a:ext>
                  </a:extLst>
                </p:cNvPr>
                <p:cNvSpPr txBox="1"/>
                <p:nvPr/>
              </p:nvSpPr>
              <p:spPr>
                <a:xfrm>
                  <a:off x="1747687" y="5098793"/>
                  <a:ext cx="730199" cy="369332"/>
                </a:xfrm>
                <a:prstGeom prst="rect">
                  <a:avLst/>
                </a:prstGeom>
                <a:noFill/>
                <a:ln w="25400"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955E6AE-6264-D4E8-2890-736A434DB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687" y="5098793"/>
                  <a:ext cx="730199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563"/>
                  </a:stretch>
                </a:blipFill>
                <a:ln w="25400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9ED4C5B-343C-A4B9-CCDB-14C9591A915D}"/>
                    </a:ext>
                  </a:extLst>
                </p:cNvPr>
                <p:cNvSpPr txBox="1"/>
                <p:nvPr/>
              </p:nvSpPr>
              <p:spPr>
                <a:xfrm>
                  <a:off x="7215205" y="4868648"/>
                  <a:ext cx="760282" cy="369332"/>
                </a:xfrm>
                <a:prstGeom prst="rect">
                  <a:avLst/>
                </a:prstGeom>
                <a:noFill/>
                <a:ln w="25400">
                  <a:solidFill>
                    <a:srgbClr val="00B0F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9ED4C5B-343C-A4B9-CCDB-14C9591A9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5205" y="4868648"/>
                  <a:ext cx="76028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563"/>
                  </a:stretch>
                </a:blipFill>
                <a:ln w="25400"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D7B150-8564-C75D-E2EA-5848E889EE17}"/>
              </a:ext>
            </a:extLst>
          </p:cNvPr>
          <p:cNvGrpSpPr/>
          <p:nvPr/>
        </p:nvGrpSpPr>
        <p:grpSpPr>
          <a:xfrm>
            <a:off x="7297497" y="4097518"/>
            <a:ext cx="3705225" cy="1283372"/>
            <a:chOff x="7297497" y="4097518"/>
            <a:chExt cx="3705225" cy="1283372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5B54A60-041A-0527-74E7-4CC2B95A0BD5}"/>
                </a:ext>
              </a:extLst>
            </p:cNvPr>
            <p:cNvCxnSpPr/>
            <p:nvPr/>
          </p:nvCxnSpPr>
          <p:spPr>
            <a:xfrm>
              <a:off x="7297497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D8BFB91-18C7-6256-3567-3EC7D86D72C3}"/>
                </a:ext>
              </a:extLst>
            </p:cNvPr>
            <p:cNvCxnSpPr/>
            <p:nvPr/>
          </p:nvCxnSpPr>
          <p:spPr>
            <a:xfrm>
              <a:off x="7659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9D0C39-DCA5-19E4-9E8E-6289CEB727E6}"/>
                </a:ext>
              </a:extLst>
            </p:cNvPr>
            <p:cNvCxnSpPr/>
            <p:nvPr/>
          </p:nvCxnSpPr>
          <p:spPr>
            <a:xfrm>
              <a:off x="80499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89C15F-9FF5-B0FE-C536-47189F4AE217}"/>
                </a:ext>
              </a:extLst>
            </p:cNvPr>
            <p:cNvCxnSpPr/>
            <p:nvPr/>
          </p:nvCxnSpPr>
          <p:spPr>
            <a:xfrm>
              <a:off x="840239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AC2543-D80E-0CC8-078C-EDBDFAC9A9BD}"/>
                </a:ext>
              </a:extLst>
            </p:cNvPr>
            <p:cNvCxnSpPr/>
            <p:nvPr/>
          </p:nvCxnSpPr>
          <p:spPr>
            <a:xfrm>
              <a:off x="8802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E6147F0-88DC-CE8E-D5C6-87D9674AF84C}"/>
                </a:ext>
              </a:extLst>
            </p:cNvPr>
            <p:cNvCxnSpPr/>
            <p:nvPr/>
          </p:nvCxnSpPr>
          <p:spPr>
            <a:xfrm>
              <a:off x="9250122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076AA56-E3D1-21FF-D206-8C9B21D1B1DC}"/>
                </a:ext>
              </a:extLst>
            </p:cNvPr>
            <p:cNvCxnSpPr/>
            <p:nvPr/>
          </p:nvCxnSpPr>
          <p:spPr>
            <a:xfrm>
              <a:off x="96692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E24D98A-D27F-5402-962C-5D2610EF3F40}"/>
                </a:ext>
              </a:extLst>
            </p:cNvPr>
            <p:cNvCxnSpPr/>
            <p:nvPr/>
          </p:nvCxnSpPr>
          <p:spPr>
            <a:xfrm>
              <a:off x="100692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B2BBBC-9D53-3BA4-A50B-548B8719ECD5}"/>
                </a:ext>
              </a:extLst>
            </p:cNvPr>
            <p:cNvCxnSpPr/>
            <p:nvPr/>
          </p:nvCxnSpPr>
          <p:spPr>
            <a:xfrm>
              <a:off x="10493351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9EF98B0-9FAE-F92D-8815-8542A3591331}"/>
                </a:ext>
              </a:extLst>
            </p:cNvPr>
            <p:cNvCxnSpPr/>
            <p:nvPr/>
          </p:nvCxnSpPr>
          <p:spPr>
            <a:xfrm>
              <a:off x="110027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39BC0A5-6C5C-4777-CE6A-6CFE3D91FAE4}"/>
              </a:ext>
            </a:extLst>
          </p:cNvPr>
          <p:cNvGrpSpPr/>
          <p:nvPr/>
        </p:nvGrpSpPr>
        <p:grpSpPr>
          <a:xfrm>
            <a:off x="6788442" y="4029975"/>
            <a:ext cx="4235307" cy="1350916"/>
            <a:chOff x="6788442" y="4029975"/>
            <a:chExt cx="4235307" cy="135091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77CA886-90D9-0984-E09D-5DABDC910ECB}"/>
                </a:ext>
              </a:extLst>
            </p:cNvPr>
            <p:cNvSpPr/>
            <p:nvPr/>
          </p:nvSpPr>
          <p:spPr>
            <a:xfrm>
              <a:off x="6788442" y="4029975"/>
              <a:ext cx="1997168" cy="1350915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DECF6B1-B941-FE18-B1D9-315654B00FBC}"/>
                </a:ext>
              </a:extLst>
            </p:cNvPr>
            <p:cNvSpPr/>
            <p:nvPr/>
          </p:nvSpPr>
          <p:spPr>
            <a:xfrm>
              <a:off x="9265388" y="4110615"/>
              <a:ext cx="1758361" cy="127027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L-Shape 20">
            <a:extLst>
              <a:ext uri="{FF2B5EF4-FFF2-40B4-BE49-F238E27FC236}">
                <a16:creationId xmlns:a16="http://schemas.microsoft.com/office/drawing/2014/main" id="{74B719B1-F10F-4EC0-F2C7-EE9333FCDF5B}"/>
              </a:ext>
            </a:extLst>
          </p:cNvPr>
          <p:cNvSpPr/>
          <p:nvPr/>
        </p:nvSpPr>
        <p:spPr>
          <a:xfrm rot="18539291">
            <a:off x="7410433" y="3436873"/>
            <a:ext cx="750491" cy="452964"/>
          </a:xfrm>
          <a:prstGeom prst="corner">
            <a:avLst>
              <a:gd name="adj1" fmla="val 38138"/>
              <a:gd name="adj2" fmla="val 3631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D47E8E-F1B5-1B8F-970B-904D82D8313E}"/>
              </a:ext>
            </a:extLst>
          </p:cNvPr>
          <p:cNvCxnSpPr>
            <a:cxnSpLocks/>
          </p:cNvCxnSpPr>
          <p:nvPr/>
        </p:nvCxnSpPr>
        <p:spPr>
          <a:xfrm>
            <a:off x="8792922" y="4309675"/>
            <a:ext cx="448056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C006717-117C-CA0F-E261-86DBA5ABE44C}"/>
              </a:ext>
            </a:extLst>
          </p:cNvPr>
          <p:cNvSpPr/>
          <p:nvPr/>
        </p:nvSpPr>
        <p:spPr>
          <a:xfrm>
            <a:off x="8823031" y="3024300"/>
            <a:ext cx="406066" cy="127027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24DBEF-CDE3-A3A3-F724-5D1CBA77D459}"/>
              </a:ext>
            </a:extLst>
          </p:cNvPr>
          <p:cNvCxnSpPr/>
          <p:nvPr/>
        </p:nvCxnSpPr>
        <p:spPr>
          <a:xfrm flipH="1">
            <a:off x="9240978" y="4309675"/>
            <a:ext cx="259638" cy="0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49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F6D1E-497F-EF30-412E-6A9DD8E9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cases &amp; key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398B39-1DC8-A0F5-B30A-5897F9D2EF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Boundary jobs: [1], or [{0.2, 1, 0.3}] in multidimensional setting.</a:t>
                </a:r>
              </a:p>
              <a:p>
                <a:r>
                  <a:rPr lang="en-US" dirty="0"/>
                  <a:t>Jobs with zero round-down density.</a:t>
                </a:r>
              </a:p>
              <a:p>
                <a:r>
                  <a:rPr lang="en-US" dirty="0"/>
                  <a:t>Jobs with very low mean density in discretization box.</a:t>
                </a:r>
              </a:p>
              <a:p>
                <a:pPr marL="0" indent="0">
                  <a:buNone/>
                </a:pPr>
                <a:r>
                  <a:rPr lang="en-US" dirty="0"/>
                  <a:t>By Lipschitz continuity, all three are rare. Handle with single-job service.</a:t>
                </a:r>
              </a:p>
              <a:p>
                <a:pPr marL="0" indent="0">
                  <a:buNone/>
                </a:pPr>
                <a:r>
                  <a:rPr lang="en-US" dirty="0" err="1"/>
                  <a:t>Lem</a:t>
                </a:r>
                <a:r>
                  <a:rPr lang="en-US" dirty="0"/>
                  <a:t>: Given continuous dominant service measure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select large enough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such that round-down + rare single-service gives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 which achieves discrete service dominance.</a:t>
                </a:r>
              </a:p>
              <a:p>
                <a:pPr marL="0" indent="0">
                  <a:buNone/>
                </a:pPr>
                <a:r>
                  <a:rPr lang="en-US" dirty="0"/>
                  <a:t>Implies main result: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MaxWeight</a:t>
                </a:r>
                <a:r>
                  <a:rPr lang="en-US" dirty="0"/>
                  <a:t> is throughput optimal.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398B39-1DC8-A0F5-B30A-5897F9D2EF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CD959-C555-C4CB-318D-0EB935D4D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1EC79-DF00-B9C6-72F2-E6FD686A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618FFC-6DEB-6972-CA80-D994A8919AD1}"/>
              </a:ext>
            </a:extLst>
          </p:cNvPr>
          <p:cNvSpPr/>
          <p:nvPr/>
        </p:nvSpPr>
        <p:spPr>
          <a:xfrm>
            <a:off x="838200" y="3917576"/>
            <a:ext cx="10233212" cy="1156448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6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C0E9-5277-434E-64D1-5E7F002B8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Smaller search space: more 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9ACFD3-AE84-E741-C3EF-5AF32C137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11175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Full </a:t>
                </a:r>
                <a:r>
                  <a:rPr lang="en-US" dirty="0" err="1"/>
                  <a:t>MaxWeight</a:t>
                </a:r>
                <a:r>
                  <a:rPr lang="en-US" dirty="0"/>
                  <a:t> is rather inefficient to compute. NP-hard.</a:t>
                </a:r>
              </a:p>
              <a:p>
                <a:pPr marL="0" indent="0">
                  <a:buNone/>
                </a:pPr>
                <a:r>
                  <a:rPr lang="en-US" dirty="0"/>
                  <a:t>We can get away with considering fewer options!</a:t>
                </a:r>
              </a:p>
              <a:p>
                <a:pPr marL="0" indent="0">
                  <a:buNone/>
                </a:pPr>
                <a:r>
                  <a:rPr lang="en-US" dirty="0"/>
                  <a:t>Extreme vertices </a:t>
                </a:r>
                <a:r>
                  <a:rPr lang="en-US" dirty="0" err="1"/>
                  <a:t>thm</a:t>
                </a:r>
                <a:r>
                  <a:rPr lang="en-US" dirty="0"/>
                  <a:t>: Don’t need to 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{0.5,0.3,0.2}</m:t>
                    </m:r>
                  </m:oMath>
                </a14:m>
                <a:r>
                  <a:rPr lang="en-US" dirty="0"/>
                  <a:t>, just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0.5,0.5 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{0.3,0.3,0.2,0.2}</m:t>
                    </m:r>
                  </m:oMath>
                </a14:m>
                <a:r>
                  <a:rPr lang="en-US" dirty="0"/>
                  <a:t>. Only extreme vertices of the service-option polytope.</a:t>
                </a:r>
              </a:p>
              <a:p>
                <a:pPr marL="0" indent="0">
                  <a:buNone/>
                </a:pPr>
                <a:r>
                  <a:rPr lang="en-US" dirty="0"/>
                  <a:t>Symmetry </a:t>
                </a:r>
                <a:r>
                  <a:rPr lang="en-US" dirty="0" err="1"/>
                  <a:t>thm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’s density is symmetric around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only need to consider 2-job service options.</a:t>
                </a:r>
              </a:p>
              <a:p>
                <a:pPr marL="0" indent="0">
                  <a:buNone/>
                </a:pPr>
                <a:r>
                  <a:rPr lang="en-US" dirty="0"/>
                  <a:t>Decreasing </a:t>
                </a:r>
                <a:r>
                  <a:rPr lang="en-US" dirty="0" err="1"/>
                  <a:t>thm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’s density is decreasing, only need to consider 2-bucket service options &amp; Lipschitz unnecessary.</a:t>
                </a:r>
              </a:p>
              <a:p>
                <a:pPr marL="0" indent="0">
                  <a:buNone/>
                </a:pPr>
                <a:r>
                  <a:rPr lang="en-US" dirty="0"/>
                  <a:t>Exponential # of options -&gt; linear # of options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9ACFD3-AE84-E741-C3EF-5AF32C137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111754" cy="4351338"/>
              </a:xfrm>
              <a:blipFill>
                <a:blip r:embed="rId2"/>
                <a:stretch>
                  <a:fillRect l="-1097" t="-2241" r="-1207" b="-3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447F4-4E98-16FF-E666-A653BE829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131DE-F9F5-49A8-53C2-F46283C8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17</a:t>
            </a:fld>
            <a:endParaRPr lang="en-US"/>
          </a:p>
        </p:txBody>
      </p:sp>
      <p:pic>
        <p:nvPicPr>
          <p:cNvPr id="6" name="Graphic 5" descr="Lightbulb with solid fill">
            <a:extLst>
              <a:ext uri="{FF2B5EF4-FFF2-40B4-BE49-F238E27FC236}">
                <a16:creationId xmlns:a16="http://schemas.microsoft.com/office/drawing/2014/main" id="{71B312DC-C8FF-F5F2-CC19-FA9C0DEE0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76" y="2116790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B394A3E-5E0C-3D8B-DFBA-B663A196DF70}"/>
              </a:ext>
            </a:extLst>
          </p:cNvPr>
          <p:cNvSpPr/>
          <p:nvPr/>
        </p:nvSpPr>
        <p:spPr>
          <a:xfrm>
            <a:off x="838198" y="2792413"/>
            <a:ext cx="11004178" cy="9144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C503E7-9739-FCE1-0264-08488A2D61E1}"/>
              </a:ext>
            </a:extLst>
          </p:cNvPr>
          <p:cNvSpPr/>
          <p:nvPr/>
        </p:nvSpPr>
        <p:spPr>
          <a:xfrm>
            <a:off x="838199" y="3706813"/>
            <a:ext cx="11004177" cy="1049055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488731-2A25-8234-FFBF-9E30BF8FEDF4}"/>
              </a:ext>
            </a:extLst>
          </p:cNvPr>
          <p:cNvSpPr/>
          <p:nvPr/>
        </p:nvSpPr>
        <p:spPr>
          <a:xfrm>
            <a:off x="838199" y="4784443"/>
            <a:ext cx="11004177" cy="858837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7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F795-CAE7-49A5-A2BB-410E7E8AA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Decreasing density: 2-bucket service options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D523-EC5C-033F-F82D-5D0210D8B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05201"/>
                <a:ext cx="10515600" cy="26717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Select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as power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 (Ex: 8).</a:t>
                </a:r>
              </a:p>
              <a:p>
                <a:pPr marL="0" indent="0">
                  <a:buNone/>
                </a:pPr>
                <a:r>
                  <a:rPr lang="en-US" dirty="0"/>
                  <a:t>Service options: pair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. Pair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2.</m:t>
                    </m:r>
                  </m:oMath>
                </a14:m>
                <a:r>
                  <a:rPr lang="en-US" dirty="0"/>
                  <a:t> Etc.</a:t>
                </a:r>
              </a:p>
              <a:p>
                <a:pPr marL="0" indent="0">
                  <a:buNone/>
                </a:pPr>
                <a:r>
                  <a:rPr lang="en-US" dirty="0"/>
                  <a:t>Ex: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,[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8]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2-Bucket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MaxWeight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D523-EC5C-033F-F82D-5D0210D8B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05201"/>
                <a:ext cx="10515600" cy="2671762"/>
              </a:xfrm>
              <a:blipFill>
                <a:blip r:embed="rId2"/>
                <a:stretch>
                  <a:fillRect l="-1217" t="-3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256BF-4001-C37A-B5F8-B3D52644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39D66-E751-95CA-F7EA-806008EB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18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5E9ED7C-9570-436B-5FF6-B22914B9EC83}"/>
              </a:ext>
            </a:extLst>
          </p:cNvPr>
          <p:cNvGrpSpPr/>
          <p:nvPr/>
        </p:nvGrpSpPr>
        <p:grpSpPr>
          <a:xfrm>
            <a:off x="2019299" y="1540113"/>
            <a:ext cx="6762752" cy="1694895"/>
            <a:chOff x="2019299" y="1540113"/>
            <a:chExt cx="6762752" cy="169489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5641643-FA48-4DF2-9D0B-C6CB5620F4B3}"/>
                </a:ext>
              </a:extLst>
            </p:cNvPr>
            <p:cNvGrpSpPr/>
            <p:nvPr/>
          </p:nvGrpSpPr>
          <p:grpSpPr>
            <a:xfrm>
              <a:off x="2019299" y="1540113"/>
              <a:ext cx="6762752" cy="1694895"/>
              <a:chOff x="7573354" y="276089"/>
              <a:chExt cx="3578587" cy="169489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7059D6FC-608E-7654-0976-367843FF48F2}"/>
                  </a:ext>
                </a:extLst>
              </p:cNvPr>
              <p:cNvGrpSpPr/>
              <p:nvPr/>
            </p:nvGrpSpPr>
            <p:grpSpPr>
              <a:xfrm>
                <a:off x="8017740" y="276089"/>
                <a:ext cx="3134201" cy="1694895"/>
                <a:chOff x="10470462" y="1997667"/>
                <a:chExt cx="1592754" cy="1694895"/>
              </a:xfrm>
            </p:grpSpPr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C0B75DED-6460-084E-0191-5F7FB69FCB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08776" y="1997667"/>
                  <a:ext cx="0" cy="1325563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07FD4B0B-27FB-EDC3-BA27-1D4D7335DE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8776" y="3323230"/>
                  <a:ext cx="1423917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4C29E22-B659-80E1-3ABF-A11521C4A2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70462" y="3323230"/>
                      <a:ext cx="15927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a14:m>
                      <a:r>
                        <a:rPr lang="en-US" dirty="0"/>
                        <a:t>      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a14:m>
                      <a:r>
                        <a:rPr lang="en-US" dirty="0"/>
                        <a:t>         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4C29E22-B659-80E1-3ABF-A11521C4A2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70462" y="3323230"/>
                      <a:ext cx="159275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E7024E3-8E0B-BA1B-55FD-D342ECB0423B}"/>
                      </a:ext>
                    </a:extLst>
                  </p:cNvPr>
                  <p:cNvSpPr txBox="1"/>
                  <p:nvPr/>
                </p:nvSpPr>
                <p:spPr>
                  <a:xfrm>
                    <a:off x="7573354" y="894460"/>
                    <a:ext cx="388474" cy="369332"/>
                  </a:xfrm>
                  <a:prstGeom prst="rect">
                    <a:avLst/>
                  </a:prstGeom>
                  <a:noFill/>
                  <a:ln w="25400">
                    <a:solidFill>
                      <a:srgbClr val="7030A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E7024E3-8E0B-BA1B-55FD-D342ECB042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73354" y="894460"/>
                    <a:ext cx="38847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25400">
                    <a:solidFill>
                      <a:srgbClr val="7030A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A9B2020-00EE-9681-E002-425B3F7E2F44}"/>
                </a:ext>
              </a:extLst>
            </p:cNvPr>
            <p:cNvSpPr/>
            <p:nvPr/>
          </p:nvSpPr>
          <p:spPr>
            <a:xfrm>
              <a:off x="2990850" y="1828800"/>
              <a:ext cx="4448175" cy="1028700"/>
            </a:xfrm>
            <a:custGeom>
              <a:avLst/>
              <a:gdLst>
                <a:gd name="connsiteX0" fmla="*/ 0 w 4448175"/>
                <a:gd name="connsiteY0" fmla="*/ 0 h 1028700"/>
                <a:gd name="connsiteX1" fmla="*/ 0 w 4448175"/>
                <a:gd name="connsiteY1" fmla="*/ 0 h 1028700"/>
                <a:gd name="connsiteX2" fmla="*/ 85725 w 4448175"/>
                <a:gd name="connsiteY2" fmla="*/ 38100 h 1028700"/>
                <a:gd name="connsiteX3" fmla="*/ 152400 w 4448175"/>
                <a:gd name="connsiteY3" fmla="*/ 57150 h 1028700"/>
                <a:gd name="connsiteX4" fmla="*/ 190500 w 4448175"/>
                <a:gd name="connsiteY4" fmla="*/ 76200 h 1028700"/>
                <a:gd name="connsiteX5" fmla="*/ 219075 w 4448175"/>
                <a:gd name="connsiteY5" fmla="*/ 85725 h 1028700"/>
                <a:gd name="connsiteX6" fmla="*/ 266700 w 4448175"/>
                <a:gd name="connsiteY6" fmla="*/ 104775 h 1028700"/>
                <a:gd name="connsiteX7" fmla="*/ 342900 w 4448175"/>
                <a:gd name="connsiteY7" fmla="*/ 200025 h 1028700"/>
                <a:gd name="connsiteX8" fmla="*/ 381000 w 4448175"/>
                <a:gd name="connsiteY8" fmla="*/ 228600 h 1028700"/>
                <a:gd name="connsiteX9" fmla="*/ 409575 w 4448175"/>
                <a:gd name="connsiteY9" fmla="*/ 247650 h 1028700"/>
                <a:gd name="connsiteX10" fmla="*/ 438150 w 4448175"/>
                <a:gd name="connsiteY10" fmla="*/ 276225 h 1028700"/>
                <a:gd name="connsiteX11" fmla="*/ 647700 w 4448175"/>
                <a:gd name="connsiteY11" fmla="*/ 304800 h 1028700"/>
                <a:gd name="connsiteX12" fmla="*/ 952500 w 4448175"/>
                <a:gd name="connsiteY12" fmla="*/ 323850 h 1028700"/>
                <a:gd name="connsiteX13" fmla="*/ 1057275 w 4448175"/>
                <a:gd name="connsiteY13" fmla="*/ 352425 h 1028700"/>
                <a:gd name="connsiteX14" fmla="*/ 1104900 w 4448175"/>
                <a:gd name="connsiteY14" fmla="*/ 381000 h 1028700"/>
                <a:gd name="connsiteX15" fmla="*/ 1133475 w 4448175"/>
                <a:gd name="connsiteY15" fmla="*/ 390525 h 1028700"/>
                <a:gd name="connsiteX16" fmla="*/ 1219200 w 4448175"/>
                <a:gd name="connsiteY16" fmla="*/ 438150 h 1028700"/>
                <a:gd name="connsiteX17" fmla="*/ 1247775 w 4448175"/>
                <a:gd name="connsiteY17" fmla="*/ 447675 h 1028700"/>
                <a:gd name="connsiteX18" fmla="*/ 1390650 w 4448175"/>
                <a:gd name="connsiteY18" fmla="*/ 466725 h 1028700"/>
                <a:gd name="connsiteX19" fmla="*/ 1419225 w 4448175"/>
                <a:gd name="connsiteY19" fmla="*/ 476250 h 1028700"/>
                <a:gd name="connsiteX20" fmla="*/ 1638300 w 4448175"/>
                <a:gd name="connsiteY20" fmla="*/ 495300 h 1028700"/>
                <a:gd name="connsiteX21" fmla="*/ 1752600 w 4448175"/>
                <a:gd name="connsiteY21" fmla="*/ 485775 h 1028700"/>
                <a:gd name="connsiteX22" fmla="*/ 1885950 w 4448175"/>
                <a:gd name="connsiteY22" fmla="*/ 495300 h 1028700"/>
                <a:gd name="connsiteX23" fmla="*/ 1971675 w 4448175"/>
                <a:gd name="connsiteY23" fmla="*/ 504825 h 1028700"/>
                <a:gd name="connsiteX24" fmla="*/ 2057400 w 4448175"/>
                <a:gd name="connsiteY24" fmla="*/ 523875 h 1028700"/>
                <a:gd name="connsiteX25" fmla="*/ 2105025 w 4448175"/>
                <a:gd name="connsiteY25" fmla="*/ 552450 h 1028700"/>
                <a:gd name="connsiteX26" fmla="*/ 2133600 w 4448175"/>
                <a:gd name="connsiteY26" fmla="*/ 561975 h 1028700"/>
                <a:gd name="connsiteX27" fmla="*/ 2200275 w 4448175"/>
                <a:gd name="connsiteY27" fmla="*/ 609600 h 1028700"/>
                <a:gd name="connsiteX28" fmla="*/ 2238375 w 4448175"/>
                <a:gd name="connsiteY28" fmla="*/ 619125 h 1028700"/>
                <a:gd name="connsiteX29" fmla="*/ 2266950 w 4448175"/>
                <a:gd name="connsiteY29" fmla="*/ 628650 h 1028700"/>
                <a:gd name="connsiteX30" fmla="*/ 2314575 w 4448175"/>
                <a:gd name="connsiteY30" fmla="*/ 638175 h 1028700"/>
                <a:gd name="connsiteX31" fmla="*/ 2390775 w 4448175"/>
                <a:gd name="connsiteY31" fmla="*/ 666750 h 1028700"/>
                <a:gd name="connsiteX32" fmla="*/ 2428875 w 4448175"/>
                <a:gd name="connsiteY32" fmla="*/ 676275 h 1028700"/>
                <a:gd name="connsiteX33" fmla="*/ 3086100 w 4448175"/>
                <a:gd name="connsiteY33" fmla="*/ 685800 h 1028700"/>
                <a:gd name="connsiteX34" fmla="*/ 3143250 w 4448175"/>
                <a:gd name="connsiteY34" fmla="*/ 704850 h 1028700"/>
                <a:gd name="connsiteX35" fmla="*/ 3190875 w 4448175"/>
                <a:gd name="connsiteY35" fmla="*/ 714375 h 1028700"/>
                <a:gd name="connsiteX36" fmla="*/ 3228975 w 4448175"/>
                <a:gd name="connsiteY36" fmla="*/ 733425 h 1028700"/>
                <a:gd name="connsiteX37" fmla="*/ 3314700 w 4448175"/>
                <a:gd name="connsiteY37" fmla="*/ 752475 h 1028700"/>
                <a:gd name="connsiteX38" fmla="*/ 3343275 w 4448175"/>
                <a:gd name="connsiteY38" fmla="*/ 762000 h 1028700"/>
                <a:gd name="connsiteX39" fmla="*/ 3400425 w 4448175"/>
                <a:gd name="connsiteY39" fmla="*/ 771525 h 1028700"/>
                <a:gd name="connsiteX40" fmla="*/ 3429000 w 4448175"/>
                <a:gd name="connsiteY40" fmla="*/ 781050 h 1028700"/>
                <a:gd name="connsiteX41" fmla="*/ 3495675 w 4448175"/>
                <a:gd name="connsiteY41" fmla="*/ 790575 h 1028700"/>
                <a:gd name="connsiteX42" fmla="*/ 3552825 w 4448175"/>
                <a:gd name="connsiteY42" fmla="*/ 809625 h 1028700"/>
                <a:gd name="connsiteX43" fmla="*/ 3590925 w 4448175"/>
                <a:gd name="connsiteY43" fmla="*/ 828675 h 1028700"/>
                <a:gd name="connsiteX44" fmla="*/ 3629025 w 4448175"/>
                <a:gd name="connsiteY44" fmla="*/ 838200 h 1028700"/>
                <a:gd name="connsiteX45" fmla="*/ 3657600 w 4448175"/>
                <a:gd name="connsiteY45" fmla="*/ 847725 h 1028700"/>
                <a:gd name="connsiteX46" fmla="*/ 3867150 w 4448175"/>
                <a:gd name="connsiteY46" fmla="*/ 857250 h 1028700"/>
                <a:gd name="connsiteX47" fmla="*/ 4057650 w 4448175"/>
                <a:gd name="connsiteY47" fmla="*/ 876300 h 1028700"/>
                <a:gd name="connsiteX48" fmla="*/ 4114800 w 4448175"/>
                <a:gd name="connsiteY48" fmla="*/ 885825 h 1028700"/>
                <a:gd name="connsiteX49" fmla="*/ 4152900 w 4448175"/>
                <a:gd name="connsiteY49" fmla="*/ 914400 h 1028700"/>
                <a:gd name="connsiteX50" fmla="*/ 4257675 w 4448175"/>
                <a:gd name="connsiteY50" fmla="*/ 952500 h 1028700"/>
                <a:gd name="connsiteX51" fmla="*/ 4286250 w 4448175"/>
                <a:gd name="connsiteY51" fmla="*/ 971550 h 1028700"/>
                <a:gd name="connsiteX52" fmla="*/ 4371975 w 4448175"/>
                <a:gd name="connsiteY52" fmla="*/ 981075 h 1028700"/>
                <a:gd name="connsiteX53" fmla="*/ 4400550 w 4448175"/>
                <a:gd name="connsiteY53" fmla="*/ 1009650 h 1028700"/>
                <a:gd name="connsiteX54" fmla="*/ 4448175 w 4448175"/>
                <a:gd name="connsiteY54" fmla="*/ 1019175 h 1028700"/>
                <a:gd name="connsiteX55" fmla="*/ 19050 w 4448175"/>
                <a:gd name="connsiteY55" fmla="*/ 1028700 h 1028700"/>
                <a:gd name="connsiteX56" fmla="*/ 0 w 4448175"/>
                <a:gd name="connsiteY56" fmla="*/ 0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448175" h="1028700">
                  <a:moveTo>
                    <a:pt x="0" y="0"/>
                  </a:moveTo>
                  <a:lnTo>
                    <a:pt x="0" y="0"/>
                  </a:lnTo>
                  <a:cubicBezTo>
                    <a:pt x="28575" y="12700"/>
                    <a:pt x="56860" y="26073"/>
                    <a:pt x="85725" y="38100"/>
                  </a:cubicBezTo>
                  <a:cubicBezTo>
                    <a:pt x="154807" y="66884"/>
                    <a:pt x="67938" y="25477"/>
                    <a:pt x="152400" y="57150"/>
                  </a:cubicBezTo>
                  <a:cubicBezTo>
                    <a:pt x="165695" y="62136"/>
                    <a:pt x="177449" y="70607"/>
                    <a:pt x="190500" y="76200"/>
                  </a:cubicBezTo>
                  <a:cubicBezTo>
                    <a:pt x="199728" y="80155"/>
                    <a:pt x="209674" y="82200"/>
                    <a:pt x="219075" y="85725"/>
                  </a:cubicBezTo>
                  <a:cubicBezTo>
                    <a:pt x="235084" y="91728"/>
                    <a:pt x="250825" y="98425"/>
                    <a:pt x="266700" y="104775"/>
                  </a:cubicBezTo>
                  <a:cubicBezTo>
                    <a:pt x="289510" y="138990"/>
                    <a:pt x="311302" y="172941"/>
                    <a:pt x="342900" y="200025"/>
                  </a:cubicBezTo>
                  <a:cubicBezTo>
                    <a:pt x="354953" y="210356"/>
                    <a:pt x="368082" y="219373"/>
                    <a:pt x="381000" y="228600"/>
                  </a:cubicBezTo>
                  <a:cubicBezTo>
                    <a:pt x="390315" y="235254"/>
                    <a:pt x="400781" y="240321"/>
                    <a:pt x="409575" y="247650"/>
                  </a:cubicBezTo>
                  <a:cubicBezTo>
                    <a:pt x="419923" y="256274"/>
                    <a:pt x="425371" y="271965"/>
                    <a:pt x="438150" y="276225"/>
                  </a:cubicBezTo>
                  <a:cubicBezTo>
                    <a:pt x="475953" y="288826"/>
                    <a:pt x="603211" y="301093"/>
                    <a:pt x="647700" y="304800"/>
                  </a:cubicBezTo>
                  <a:cubicBezTo>
                    <a:pt x="756524" y="313869"/>
                    <a:pt x="841388" y="317677"/>
                    <a:pt x="952500" y="323850"/>
                  </a:cubicBezTo>
                  <a:cubicBezTo>
                    <a:pt x="980843" y="329519"/>
                    <a:pt x="1033105" y="337923"/>
                    <a:pt x="1057275" y="352425"/>
                  </a:cubicBezTo>
                  <a:cubicBezTo>
                    <a:pt x="1073150" y="361950"/>
                    <a:pt x="1088341" y="372721"/>
                    <a:pt x="1104900" y="381000"/>
                  </a:cubicBezTo>
                  <a:cubicBezTo>
                    <a:pt x="1113880" y="385490"/>
                    <a:pt x="1124495" y="386035"/>
                    <a:pt x="1133475" y="390525"/>
                  </a:cubicBezTo>
                  <a:cubicBezTo>
                    <a:pt x="1205730" y="426653"/>
                    <a:pt x="1154989" y="410631"/>
                    <a:pt x="1219200" y="438150"/>
                  </a:cubicBezTo>
                  <a:cubicBezTo>
                    <a:pt x="1228428" y="442105"/>
                    <a:pt x="1238121" y="444917"/>
                    <a:pt x="1247775" y="447675"/>
                  </a:cubicBezTo>
                  <a:cubicBezTo>
                    <a:pt x="1306675" y="464503"/>
                    <a:pt x="1308259" y="459235"/>
                    <a:pt x="1390650" y="466725"/>
                  </a:cubicBezTo>
                  <a:cubicBezTo>
                    <a:pt x="1400175" y="469900"/>
                    <a:pt x="1409485" y="473815"/>
                    <a:pt x="1419225" y="476250"/>
                  </a:cubicBezTo>
                  <a:cubicBezTo>
                    <a:pt x="1496298" y="495518"/>
                    <a:pt x="1545010" y="490117"/>
                    <a:pt x="1638300" y="495300"/>
                  </a:cubicBezTo>
                  <a:cubicBezTo>
                    <a:pt x="1676400" y="492125"/>
                    <a:pt x="1714368" y="485775"/>
                    <a:pt x="1752600" y="485775"/>
                  </a:cubicBezTo>
                  <a:cubicBezTo>
                    <a:pt x="1797163" y="485775"/>
                    <a:pt x="1841554" y="491440"/>
                    <a:pt x="1885950" y="495300"/>
                  </a:cubicBezTo>
                  <a:cubicBezTo>
                    <a:pt x="1914593" y="497791"/>
                    <a:pt x="1943213" y="500759"/>
                    <a:pt x="1971675" y="504825"/>
                  </a:cubicBezTo>
                  <a:cubicBezTo>
                    <a:pt x="1999890" y="508856"/>
                    <a:pt x="2029669" y="516942"/>
                    <a:pt x="2057400" y="523875"/>
                  </a:cubicBezTo>
                  <a:cubicBezTo>
                    <a:pt x="2073275" y="533400"/>
                    <a:pt x="2088466" y="544171"/>
                    <a:pt x="2105025" y="552450"/>
                  </a:cubicBezTo>
                  <a:cubicBezTo>
                    <a:pt x="2114005" y="556940"/>
                    <a:pt x="2124883" y="556994"/>
                    <a:pt x="2133600" y="561975"/>
                  </a:cubicBezTo>
                  <a:cubicBezTo>
                    <a:pt x="2143358" y="567551"/>
                    <a:pt x="2185533" y="603282"/>
                    <a:pt x="2200275" y="609600"/>
                  </a:cubicBezTo>
                  <a:cubicBezTo>
                    <a:pt x="2212307" y="614757"/>
                    <a:pt x="2225788" y="615529"/>
                    <a:pt x="2238375" y="619125"/>
                  </a:cubicBezTo>
                  <a:cubicBezTo>
                    <a:pt x="2248029" y="621883"/>
                    <a:pt x="2257210" y="626215"/>
                    <a:pt x="2266950" y="628650"/>
                  </a:cubicBezTo>
                  <a:cubicBezTo>
                    <a:pt x="2282656" y="632577"/>
                    <a:pt x="2299068" y="633523"/>
                    <a:pt x="2314575" y="638175"/>
                  </a:cubicBezTo>
                  <a:cubicBezTo>
                    <a:pt x="2515872" y="698564"/>
                    <a:pt x="2261214" y="629733"/>
                    <a:pt x="2390775" y="666750"/>
                  </a:cubicBezTo>
                  <a:cubicBezTo>
                    <a:pt x="2403362" y="670346"/>
                    <a:pt x="2415789" y="675916"/>
                    <a:pt x="2428875" y="676275"/>
                  </a:cubicBezTo>
                  <a:cubicBezTo>
                    <a:pt x="2647891" y="682275"/>
                    <a:pt x="2867025" y="682625"/>
                    <a:pt x="3086100" y="685800"/>
                  </a:cubicBezTo>
                  <a:cubicBezTo>
                    <a:pt x="3105150" y="692150"/>
                    <a:pt x="3123877" y="699566"/>
                    <a:pt x="3143250" y="704850"/>
                  </a:cubicBezTo>
                  <a:cubicBezTo>
                    <a:pt x="3158869" y="709110"/>
                    <a:pt x="3175516" y="709255"/>
                    <a:pt x="3190875" y="714375"/>
                  </a:cubicBezTo>
                  <a:cubicBezTo>
                    <a:pt x="3204345" y="718865"/>
                    <a:pt x="3215680" y="728439"/>
                    <a:pt x="3228975" y="733425"/>
                  </a:cubicBezTo>
                  <a:cubicBezTo>
                    <a:pt x="3248531" y="740758"/>
                    <a:pt x="3296595" y="747949"/>
                    <a:pt x="3314700" y="752475"/>
                  </a:cubicBezTo>
                  <a:cubicBezTo>
                    <a:pt x="3324440" y="754910"/>
                    <a:pt x="3333474" y="759822"/>
                    <a:pt x="3343275" y="762000"/>
                  </a:cubicBezTo>
                  <a:cubicBezTo>
                    <a:pt x="3362128" y="766190"/>
                    <a:pt x="3381572" y="767335"/>
                    <a:pt x="3400425" y="771525"/>
                  </a:cubicBezTo>
                  <a:cubicBezTo>
                    <a:pt x="3410226" y="773703"/>
                    <a:pt x="3419155" y="779081"/>
                    <a:pt x="3429000" y="781050"/>
                  </a:cubicBezTo>
                  <a:cubicBezTo>
                    <a:pt x="3451015" y="785453"/>
                    <a:pt x="3473450" y="787400"/>
                    <a:pt x="3495675" y="790575"/>
                  </a:cubicBezTo>
                  <a:cubicBezTo>
                    <a:pt x="3514725" y="796925"/>
                    <a:pt x="3534864" y="800645"/>
                    <a:pt x="3552825" y="809625"/>
                  </a:cubicBezTo>
                  <a:cubicBezTo>
                    <a:pt x="3565525" y="815975"/>
                    <a:pt x="3577630" y="823689"/>
                    <a:pt x="3590925" y="828675"/>
                  </a:cubicBezTo>
                  <a:cubicBezTo>
                    <a:pt x="3603182" y="833272"/>
                    <a:pt x="3616438" y="834604"/>
                    <a:pt x="3629025" y="838200"/>
                  </a:cubicBezTo>
                  <a:cubicBezTo>
                    <a:pt x="3638679" y="840958"/>
                    <a:pt x="3647592" y="846924"/>
                    <a:pt x="3657600" y="847725"/>
                  </a:cubicBezTo>
                  <a:cubicBezTo>
                    <a:pt x="3727299" y="853301"/>
                    <a:pt x="3797300" y="854075"/>
                    <a:pt x="3867150" y="857250"/>
                  </a:cubicBezTo>
                  <a:lnTo>
                    <a:pt x="4057650" y="876300"/>
                  </a:lnTo>
                  <a:cubicBezTo>
                    <a:pt x="4076835" y="878514"/>
                    <a:pt x="4096869" y="878652"/>
                    <a:pt x="4114800" y="885825"/>
                  </a:cubicBezTo>
                  <a:cubicBezTo>
                    <a:pt x="4129540" y="891721"/>
                    <a:pt x="4139023" y="906690"/>
                    <a:pt x="4152900" y="914400"/>
                  </a:cubicBezTo>
                  <a:cubicBezTo>
                    <a:pt x="4188865" y="934381"/>
                    <a:pt x="4219895" y="935709"/>
                    <a:pt x="4257675" y="952500"/>
                  </a:cubicBezTo>
                  <a:cubicBezTo>
                    <a:pt x="4268136" y="957149"/>
                    <a:pt x="4275144" y="968774"/>
                    <a:pt x="4286250" y="971550"/>
                  </a:cubicBezTo>
                  <a:cubicBezTo>
                    <a:pt x="4314142" y="978523"/>
                    <a:pt x="4343400" y="977900"/>
                    <a:pt x="4371975" y="981075"/>
                  </a:cubicBezTo>
                  <a:cubicBezTo>
                    <a:pt x="4381500" y="990600"/>
                    <a:pt x="4389342" y="1002178"/>
                    <a:pt x="4400550" y="1009650"/>
                  </a:cubicBezTo>
                  <a:cubicBezTo>
                    <a:pt x="4417850" y="1021183"/>
                    <a:pt x="4430026" y="1019175"/>
                    <a:pt x="4448175" y="1019175"/>
                  </a:cubicBezTo>
                  <a:lnTo>
                    <a:pt x="19050" y="1028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E2C66C-B00C-9966-4B19-B3F53D396155}"/>
              </a:ext>
            </a:extLst>
          </p:cNvPr>
          <p:cNvGrpSpPr/>
          <p:nvPr/>
        </p:nvGrpSpPr>
        <p:grpSpPr>
          <a:xfrm>
            <a:off x="3485273" y="1599766"/>
            <a:ext cx="3953749" cy="1283372"/>
            <a:chOff x="7297497" y="4097518"/>
            <a:chExt cx="2771775" cy="1283372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CE117C6-228D-AD9B-F0E7-B7CDBA2264AC}"/>
                </a:ext>
              </a:extLst>
            </p:cNvPr>
            <p:cNvCxnSpPr/>
            <p:nvPr/>
          </p:nvCxnSpPr>
          <p:spPr>
            <a:xfrm>
              <a:off x="7297497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3E69476-11E3-36F0-2ED2-999B1568E7A5}"/>
                </a:ext>
              </a:extLst>
            </p:cNvPr>
            <p:cNvCxnSpPr/>
            <p:nvPr/>
          </p:nvCxnSpPr>
          <p:spPr>
            <a:xfrm>
              <a:off x="7659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56673E6-19BE-013F-E349-A2C591C69B7C}"/>
                </a:ext>
              </a:extLst>
            </p:cNvPr>
            <p:cNvCxnSpPr/>
            <p:nvPr/>
          </p:nvCxnSpPr>
          <p:spPr>
            <a:xfrm>
              <a:off x="80499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045FD3B-DC5E-8A69-B797-6654C0874FE5}"/>
                </a:ext>
              </a:extLst>
            </p:cNvPr>
            <p:cNvCxnSpPr/>
            <p:nvPr/>
          </p:nvCxnSpPr>
          <p:spPr>
            <a:xfrm>
              <a:off x="840239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BFAAF32-8C2E-0121-B7C8-D8302F770CB9}"/>
                </a:ext>
              </a:extLst>
            </p:cNvPr>
            <p:cNvCxnSpPr/>
            <p:nvPr/>
          </p:nvCxnSpPr>
          <p:spPr>
            <a:xfrm>
              <a:off x="8802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6F89C5B-4709-7F9F-C8B6-D5C3F158E140}"/>
                </a:ext>
              </a:extLst>
            </p:cNvPr>
            <p:cNvCxnSpPr/>
            <p:nvPr/>
          </p:nvCxnSpPr>
          <p:spPr>
            <a:xfrm>
              <a:off x="9250122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F2FD61-ED12-C0B3-63F5-EFEC402615E3}"/>
                </a:ext>
              </a:extLst>
            </p:cNvPr>
            <p:cNvCxnSpPr/>
            <p:nvPr/>
          </p:nvCxnSpPr>
          <p:spPr>
            <a:xfrm>
              <a:off x="96692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0BE4750-C01B-734C-51F6-B7436F326997}"/>
                </a:ext>
              </a:extLst>
            </p:cNvPr>
            <p:cNvCxnSpPr/>
            <p:nvPr/>
          </p:nvCxnSpPr>
          <p:spPr>
            <a:xfrm>
              <a:off x="100692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0CC88E-6EF0-7762-CCE2-F3C799F507E2}"/>
              </a:ext>
            </a:extLst>
          </p:cNvPr>
          <p:cNvGrpSpPr/>
          <p:nvPr/>
        </p:nvGrpSpPr>
        <p:grpSpPr>
          <a:xfrm>
            <a:off x="3230931" y="2864329"/>
            <a:ext cx="3350437" cy="411937"/>
            <a:chOff x="3230931" y="2864329"/>
            <a:chExt cx="3941390" cy="411937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E9D8A81-D6DE-57BE-E147-D7E41581E3E4}"/>
                </a:ext>
              </a:extLst>
            </p:cNvPr>
            <p:cNvSpPr/>
            <p:nvPr/>
          </p:nvSpPr>
          <p:spPr>
            <a:xfrm>
              <a:off x="4848775" y="2864329"/>
              <a:ext cx="466175" cy="145686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2F61420-00D1-9D20-76C8-B9BC980FEFEA}"/>
                </a:ext>
              </a:extLst>
            </p:cNvPr>
            <p:cNvSpPr/>
            <p:nvPr/>
          </p:nvSpPr>
          <p:spPr>
            <a:xfrm>
              <a:off x="4324352" y="2873853"/>
              <a:ext cx="1581140" cy="18867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1BC52EB-3FF1-A4BA-7122-D6B2DFD67F04}"/>
                </a:ext>
              </a:extLst>
            </p:cNvPr>
            <p:cNvSpPr/>
            <p:nvPr/>
          </p:nvSpPr>
          <p:spPr>
            <a:xfrm>
              <a:off x="3751243" y="2878219"/>
              <a:ext cx="2839651" cy="31118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7450486-DFA5-257A-02B8-67C8CFCFB660}"/>
                </a:ext>
              </a:extLst>
            </p:cNvPr>
            <p:cNvSpPr/>
            <p:nvPr/>
          </p:nvSpPr>
          <p:spPr>
            <a:xfrm>
              <a:off x="3230931" y="2906935"/>
              <a:ext cx="3941390" cy="369331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6783AF3-0B0F-F7E6-FDDC-0BFBE45DCAD4}"/>
              </a:ext>
            </a:extLst>
          </p:cNvPr>
          <p:cNvGrpSpPr/>
          <p:nvPr/>
        </p:nvGrpSpPr>
        <p:grpSpPr>
          <a:xfrm>
            <a:off x="3164256" y="3220411"/>
            <a:ext cx="1179144" cy="208589"/>
            <a:chOff x="4476752" y="2947930"/>
            <a:chExt cx="1581140" cy="266997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F88429-AD3C-2138-58DD-F1D6CC469741}"/>
                </a:ext>
              </a:extLst>
            </p:cNvPr>
            <p:cNvSpPr/>
            <p:nvPr/>
          </p:nvSpPr>
          <p:spPr>
            <a:xfrm>
              <a:off x="4986243" y="2947930"/>
              <a:ext cx="523875" cy="142989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50800">
              <a:solidFill>
                <a:srgbClr val="FF3399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5057DD9-8EE0-59ED-E7E7-E3DA6AB0F87B}"/>
                </a:ext>
              </a:extLst>
            </p:cNvPr>
            <p:cNvSpPr/>
            <p:nvPr/>
          </p:nvSpPr>
          <p:spPr>
            <a:xfrm>
              <a:off x="4476752" y="3026253"/>
              <a:ext cx="1581140" cy="18867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50800">
              <a:solidFill>
                <a:srgbClr val="FF3399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4394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F795-CAE7-49A5-A2BB-410E7E8AA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Decreasing density: 2-bucket service options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D523-EC5C-033F-F82D-5D0210D8B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05201"/>
                <a:ext cx="10515600" cy="26717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Thm: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of decreasing density, and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2B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MaxWeight</a:t>
                </a:r>
                <a:r>
                  <a:rPr lang="en-US" dirty="0"/>
                  <a:t> is stable for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“Full throughput”: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is always necessary for stability,</a:t>
                </a:r>
                <a:br>
                  <a:rPr lang="en-US" dirty="0"/>
                </a:br>
                <a:r>
                  <a:rPr lang="en-US" dirty="0"/>
                  <a:t>not sufficient in general.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D523-EC5C-033F-F82D-5D0210D8B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05201"/>
                <a:ext cx="10515600" cy="2671762"/>
              </a:xfrm>
              <a:blipFill>
                <a:blip r:embed="rId2"/>
                <a:stretch>
                  <a:fillRect l="-1217" t="-3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256BF-4001-C37A-B5F8-B3D52644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39D66-E751-95CA-F7EA-806008EB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19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5E9ED7C-9570-436B-5FF6-B22914B9EC83}"/>
              </a:ext>
            </a:extLst>
          </p:cNvPr>
          <p:cNvGrpSpPr/>
          <p:nvPr/>
        </p:nvGrpSpPr>
        <p:grpSpPr>
          <a:xfrm>
            <a:off x="2019299" y="1540113"/>
            <a:ext cx="6762752" cy="1694895"/>
            <a:chOff x="2019299" y="1540113"/>
            <a:chExt cx="6762752" cy="169489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5641643-FA48-4DF2-9D0B-C6CB5620F4B3}"/>
                </a:ext>
              </a:extLst>
            </p:cNvPr>
            <p:cNvGrpSpPr/>
            <p:nvPr/>
          </p:nvGrpSpPr>
          <p:grpSpPr>
            <a:xfrm>
              <a:off x="2019299" y="1540113"/>
              <a:ext cx="6762752" cy="1694895"/>
              <a:chOff x="7573354" y="276089"/>
              <a:chExt cx="3578587" cy="169489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7059D6FC-608E-7654-0976-367843FF48F2}"/>
                  </a:ext>
                </a:extLst>
              </p:cNvPr>
              <p:cNvGrpSpPr/>
              <p:nvPr/>
            </p:nvGrpSpPr>
            <p:grpSpPr>
              <a:xfrm>
                <a:off x="8017740" y="276089"/>
                <a:ext cx="3134201" cy="1694895"/>
                <a:chOff x="10470462" y="1997667"/>
                <a:chExt cx="1592754" cy="1694895"/>
              </a:xfrm>
            </p:grpSpPr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C0B75DED-6460-084E-0191-5F7FB69FCB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08776" y="1997667"/>
                  <a:ext cx="0" cy="1325563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07FD4B0B-27FB-EDC3-BA27-1D4D7335DE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8776" y="3323230"/>
                  <a:ext cx="1423917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4C29E22-B659-80E1-3ABF-A11521C4A2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70462" y="3323230"/>
                      <a:ext cx="15927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a14:m>
                      <a:r>
                        <a:rPr lang="en-US" dirty="0"/>
                        <a:t>      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a14:m>
                      <a:r>
                        <a:rPr lang="en-US" dirty="0"/>
                        <a:t>         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4C29E22-B659-80E1-3ABF-A11521C4A2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70462" y="3323230"/>
                      <a:ext cx="159275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E7024E3-8E0B-BA1B-55FD-D342ECB0423B}"/>
                      </a:ext>
                    </a:extLst>
                  </p:cNvPr>
                  <p:cNvSpPr txBox="1"/>
                  <p:nvPr/>
                </p:nvSpPr>
                <p:spPr>
                  <a:xfrm>
                    <a:off x="7573354" y="894460"/>
                    <a:ext cx="388474" cy="369332"/>
                  </a:xfrm>
                  <a:prstGeom prst="rect">
                    <a:avLst/>
                  </a:prstGeom>
                  <a:noFill/>
                  <a:ln w="25400">
                    <a:solidFill>
                      <a:srgbClr val="7030A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E7024E3-8E0B-BA1B-55FD-D342ECB042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73354" y="894460"/>
                    <a:ext cx="38847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25400">
                    <a:solidFill>
                      <a:srgbClr val="7030A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A9B2020-00EE-9681-E002-425B3F7E2F44}"/>
                </a:ext>
              </a:extLst>
            </p:cNvPr>
            <p:cNvSpPr/>
            <p:nvPr/>
          </p:nvSpPr>
          <p:spPr>
            <a:xfrm>
              <a:off x="2990850" y="1828800"/>
              <a:ext cx="4448175" cy="1028700"/>
            </a:xfrm>
            <a:custGeom>
              <a:avLst/>
              <a:gdLst>
                <a:gd name="connsiteX0" fmla="*/ 0 w 4448175"/>
                <a:gd name="connsiteY0" fmla="*/ 0 h 1028700"/>
                <a:gd name="connsiteX1" fmla="*/ 0 w 4448175"/>
                <a:gd name="connsiteY1" fmla="*/ 0 h 1028700"/>
                <a:gd name="connsiteX2" fmla="*/ 85725 w 4448175"/>
                <a:gd name="connsiteY2" fmla="*/ 38100 h 1028700"/>
                <a:gd name="connsiteX3" fmla="*/ 152400 w 4448175"/>
                <a:gd name="connsiteY3" fmla="*/ 57150 h 1028700"/>
                <a:gd name="connsiteX4" fmla="*/ 190500 w 4448175"/>
                <a:gd name="connsiteY4" fmla="*/ 76200 h 1028700"/>
                <a:gd name="connsiteX5" fmla="*/ 219075 w 4448175"/>
                <a:gd name="connsiteY5" fmla="*/ 85725 h 1028700"/>
                <a:gd name="connsiteX6" fmla="*/ 266700 w 4448175"/>
                <a:gd name="connsiteY6" fmla="*/ 104775 h 1028700"/>
                <a:gd name="connsiteX7" fmla="*/ 342900 w 4448175"/>
                <a:gd name="connsiteY7" fmla="*/ 200025 h 1028700"/>
                <a:gd name="connsiteX8" fmla="*/ 381000 w 4448175"/>
                <a:gd name="connsiteY8" fmla="*/ 228600 h 1028700"/>
                <a:gd name="connsiteX9" fmla="*/ 409575 w 4448175"/>
                <a:gd name="connsiteY9" fmla="*/ 247650 h 1028700"/>
                <a:gd name="connsiteX10" fmla="*/ 438150 w 4448175"/>
                <a:gd name="connsiteY10" fmla="*/ 276225 h 1028700"/>
                <a:gd name="connsiteX11" fmla="*/ 647700 w 4448175"/>
                <a:gd name="connsiteY11" fmla="*/ 304800 h 1028700"/>
                <a:gd name="connsiteX12" fmla="*/ 952500 w 4448175"/>
                <a:gd name="connsiteY12" fmla="*/ 323850 h 1028700"/>
                <a:gd name="connsiteX13" fmla="*/ 1057275 w 4448175"/>
                <a:gd name="connsiteY13" fmla="*/ 352425 h 1028700"/>
                <a:gd name="connsiteX14" fmla="*/ 1104900 w 4448175"/>
                <a:gd name="connsiteY14" fmla="*/ 381000 h 1028700"/>
                <a:gd name="connsiteX15" fmla="*/ 1133475 w 4448175"/>
                <a:gd name="connsiteY15" fmla="*/ 390525 h 1028700"/>
                <a:gd name="connsiteX16" fmla="*/ 1219200 w 4448175"/>
                <a:gd name="connsiteY16" fmla="*/ 438150 h 1028700"/>
                <a:gd name="connsiteX17" fmla="*/ 1247775 w 4448175"/>
                <a:gd name="connsiteY17" fmla="*/ 447675 h 1028700"/>
                <a:gd name="connsiteX18" fmla="*/ 1390650 w 4448175"/>
                <a:gd name="connsiteY18" fmla="*/ 466725 h 1028700"/>
                <a:gd name="connsiteX19" fmla="*/ 1419225 w 4448175"/>
                <a:gd name="connsiteY19" fmla="*/ 476250 h 1028700"/>
                <a:gd name="connsiteX20" fmla="*/ 1638300 w 4448175"/>
                <a:gd name="connsiteY20" fmla="*/ 495300 h 1028700"/>
                <a:gd name="connsiteX21" fmla="*/ 1752600 w 4448175"/>
                <a:gd name="connsiteY21" fmla="*/ 485775 h 1028700"/>
                <a:gd name="connsiteX22" fmla="*/ 1885950 w 4448175"/>
                <a:gd name="connsiteY22" fmla="*/ 495300 h 1028700"/>
                <a:gd name="connsiteX23" fmla="*/ 1971675 w 4448175"/>
                <a:gd name="connsiteY23" fmla="*/ 504825 h 1028700"/>
                <a:gd name="connsiteX24" fmla="*/ 2057400 w 4448175"/>
                <a:gd name="connsiteY24" fmla="*/ 523875 h 1028700"/>
                <a:gd name="connsiteX25" fmla="*/ 2105025 w 4448175"/>
                <a:gd name="connsiteY25" fmla="*/ 552450 h 1028700"/>
                <a:gd name="connsiteX26" fmla="*/ 2133600 w 4448175"/>
                <a:gd name="connsiteY26" fmla="*/ 561975 h 1028700"/>
                <a:gd name="connsiteX27" fmla="*/ 2200275 w 4448175"/>
                <a:gd name="connsiteY27" fmla="*/ 609600 h 1028700"/>
                <a:gd name="connsiteX28" fmla="*/ 2238375 w 4448175"/>
                <a:gd name="connsiteY28" fmla="*/ 619125 h 1028700"/>
                <a:gd name="connsiteX29" fmla="*/ 2266950 w 4448175"/>
                <a:gd name="connsiteY29" fmla="*/ 628650 h 1028700"/>
                <a:gd name="connsiteX30" fmla="*/ 2314575 w 4448175"/>
                <a:gd name="connsiteY30" fmla="*/ 638175 h 1028700"/>
                <a:gd name="connsiteX31" fmla="*/ 2390775 w 4448175"/>
                <a:gd name="connsiteY31" fmla="*/ 666750 h 1028700"/>
                <a:gd name="connsiteX32" fmla="*/ 2428875 w 4448175"/>
                <a:gd name="connsiteY32" fmla="*/ 676275 h 1028700"/>
                <a:gd name="connsiteX33" fmla="*/ 3086100 w 4448175"/>
                <a:gd name="connsiteY33" fmla="*/ 685800 h 1028700"/>
                <a:gd name="connsiteX34" fmla="*/ 3143250 w 4448175"/>
                <a:gd name="connsiteY34" fmla="*/ 704850 h 1028700"/>
                <a:gd name="connsiteX35" fmla="*/ 3190875 w 4448175"/>
                <a:gd name="connsiteY35" fmla="*/ 714375 h 1028700"/>
                <a:gd name="connsiteX36" fmla="*/ 3228975 w 4448175"/>
                <a:gd name="connsiteY36" fmla="*/ 733425 h 1028700"/>
                <a:gd name="connsiteX37" fmla="*/ 3314700 w 4448175"/>
                <a:gd name="connsiteY37" fmla="*/ 752475 h 1028700"/>
                <a:gd name="connsiteX38" fmla="*/ 3343275 w 4448175"/>
                <a:gd name="connsiteY38" fmla="*/ 762000 h 1028700"/>
                <a:gd name="connsiteX39" fmla="*/ 3400425 w 4448175"/>
                <a:gd name="connsiteY39" fmla="*/ 771525 h 1028700"/>
                <a:gd name="connsiteX40" fmla="*/ 3429000 w 4448175"/>
                <a:gd name="connsiteY40" fmla="*/ 781050 h 1028700"/>
                <a:gd name="connsiteX41" fmla="*/ 3495675 w 4448175"/>
                <a:gd name="connsiteY41" fmla="*/ 790575 h 1028700"/>
                <a:gd name="connsiteX42" fmla="*/ 3552825 w 4448175"/>
                <a:gd name="connsiteY42" fmla="*/ 809625 h 1028700"/>
                <a:gd name="connsiteX43" fmla="*/ 3590925 w 4448175"/>
                <a:gd name="connsiteY43" fmla="*/ 828675 h 1028700"/>
                <a:gd name="connsiteX44" fmla="*/ 3629025 w 4448175"/>
                <a:gd name="connsiteY44" fmla="*/ 838200 h 1028700"/>
                <a:gd name="connsiteX45" fmla="*/ 3657600 w 4448175"/>
                <a:gd name="connsiteY45" fmla="*/ 847725 h 1028700"/>
                <a:gd name="connsiteX46" fmla="*/ 3867150 w 4448175"/>
                <a:gd name="connsiteY46" fmla="*/ 857250 h 1028700"/>
                <a:gd name="connsiteX47" fmla="*/ 4057650 w 4448175"/>
                <a:gd name="connsiteY47" fmla="*/ 876300 h 1028700"/>
                <a:gd name="connsiteX48" fmla="*/ 4114800 w 4448175"/>
                <a:gd name="connsiteY48" fmla="*/ 885825 h 1028700"/>
                <a:gd name="connsiteX49" fmla="*/ 4152900 w 4448175"/>
                <a:gd name="connsiteY49" fmla="*/ 914400 h 1028700"/>
                <a:gd name="connsiteX50" fmla="*/ 4257675 w 4448175"/>
                <a:gd name="connsiteY50" fmla="*/ 952500 h 1028700"/>
                <a:gd name="connsiteX51" fmla="*/ 4286250 w 4448175"/>
                <a:gd name="connsiteY51" fmla="*/ 971550 h 1028700"/>
                <a:gd name="connsiteX52" fmla="*/ 4371975 w 4448175"/>
                <a:gd name="connsiteY52" fmla="*/ 981075 h 1028700"/>
                <a:gd name="connsiteX53" fmla="*/ 4400550 w 4448175"/>
                <a:gd name="connsiteY53" fmla="*/ 1009650 h 1028700"/>
                <a:gd name="connsiteX54" fmla="*/ 4448175 w 4448175"/>
                <a:gd name="connsiteY54" fmla="*/ 1019175 h 1028700"/>
                <a:gd name="connsiteX55" fmla="*/ 19050 w 4448175"/>
                <a:gd name="connsiteY55" fmla="*/ 1028700 h 1028700"/>
                <a:gd name="connsiteX56" fmla="*/ 0 w 4448175"/>
                <a:gd name="connsiteY56" fmla="*/ 0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448175" h="1028700">
                  <a:moveTo>
                    <a:pt x="0" y="0"/>
                  </a:moveTo>
                  <a:lnTo>
                    <a:pt x="0" y="0"/>
                  </a:lnTo>
                  <a:cubicBezTo>
                    <a:pt x="28575" y="12700"/>
                    <a:pt x="56860" y="26073"/>
                    <a:pt x="85725" y="38100"/>
                  </a:cubicBezTo>
                  <a:cubicBezTo>
                    <a:pt x="154807" y="66884"/>
                    <a:pt x="67938" y="25477"/>
                    <a:pt x="152400" y="57150"/>
                  </a:cubicBezTo>
                  <a:cubicBezTo>
                    <a:pt x="165695" y="62136"/>
                    <a:pt x="177449" y="70607"/>
                    <a:pt x="190500" y="76200"/>
                  </a:cubicBezTo>
                  <a:cubicBezTo>
                    <a:pt x="199728" y="80155"/>
                    <a:pt x="209674" y="82200"/>
                    <a:pt x="219075" y="85725"/>
                  </a:cubicBezTo>
                  <a:cubicBezTo>
                    <a:pt x="235084" y="91728"/>
                    <a:pt x="250825" y="98425"/>
                    <a:pt x="266700" y="104775"/>
                  </a:cubicBezTo>
                  <a:cubicBezTo>
                    <a:pt x="289510" y="138990"/>
                    <a:pt x="311302" y="172941"/>
                    <a:pt x="342900" y="200025"/>
                  </a:cubicBezTo>
                  <a:cubicBezTo>
                    <a:pt x="354953" y="210356"/>
                    <a:pt x="368082" y="219373"/>
                    <a:pt x="381000" y="228600"/>
                  </a:cubicBezTo>
                  <a:cubicBezTo>
                    <a:pt x="390315" y="235254"/>
                    <a:pt x="400781" y="240321"/>
                    <a:pt x="409575" y="247650"/>
                  </a:cubicBezTo>
                  <a:cubicBezTo>
                    <a:pt x="419923" y="256274"/>
                    <a:pt x="425371" y="271965"/>
                    <a:pt x="438150" y="276225"/>
                  </a:cubicBezTo>
                  <a:cubicBezTo>
                    <a:pt x="475953" y="288826"/>
                    <a:pt x="603211" y="301093"/>
                    <a:pt x="647700" y="304800"/>
                  </a:cubicBezTo>
                  <a:cubicBezTo>
                    <a:pt x="756524" y="313869"/>
                    <a:pt x="841388" y="317677"/>
                    <a:pt x="952500" y="323850"/>
                  </a:cubicBezTo>
                  <a:cubicBezTo>
                    <a:pt x="980843" y="329519"/>
                    <a:pt x="1033105" y="337923"/>
                    <a:pt x="1057275" y="352425"/>
                  </a:cubicBezTo>
                  <a:cubicBezTo>
                    <a:pt x="1073150" y="361950"/>
                    <a:pt x="1088341" y="372721"/>
                    <a:pt x="1104900" y="381000"/>
                  </a:cubicBezTo>
                  <a:cubicBezTo>
                    <a:pt x="1113880" y="385490"/>
                    <a:pt x="1124495" y="386035"/>
                    <a:pt x="1133475" y="390525"/>
                  </a:cubicBezTo>
                  <a:cubicBezTo>
                    <a:pt x="1205730" y="426653"/>
                    <a:pt x="1154989" y="410631"/>
                    <a:pt x="1219200" y="438150"/>
                  </a:cubicBezTo>
                  <a:cubicBezTo>
                    <a:pt x="1228428" y="442105"/>
                    <a:pt x="1238121" y="444917"/>
                    <a:pt x="1247775" y="447675"/>
                  </a:cubicBezTo>
                  <a:cubicBezTo>
                    <a:pt x="1306675" y="464503"/>
                    <a:pt x="1308259" y="459235"/>
                    <a:pt x="1390650" y="466725"/>
                  </a:cubicBezTo>
                  <a:cubicBezTo>
                    <a:pt x="1400175" y="469900"/>
                    <a:pt x="1409485" y="473815"/>
                    <a:pt x="1419225" y="476250"/>
                  </a:cubicBezTo>
                  <a:cubicBezTo>
                    <a:pt x="1496298" y="495518"/>
                    <a:pt x="1545010" y="490117"/>
                    <a:pt x="1638300" y="495300"/>
                  </a:cubicBezTo>
                  <a:cubicBezTo>
                    <a:pt x="1676400" y="492125"/>
                    <a:pt x="1714368" y="485775"/>
                    <a:pt x="1752600" y="485775"/>
                  </a:cubicBezTo>
                  <a:cubicBezTo>
                    <a:pt x="1797163" y="485775"/>
                    <a:pt x="1841554" y="491440"/>
                    <a:pt x="1885950" y="495300"/>
                  </a:cubicBezTo>
                  <a:cubicBezTo>
                    <a:pt x="1914593" y="497791"/>
                    <a:pt x="1943213" y="500759"/>
                    <a:pt x="1971675" y="504825"/>
                  </a:cubicBezTo>
                  <a:cubicBezTo>
                    <a:pt x="1999890" y="508856"/>
                    <a:pt x="2029669" y="516942"/>
                    <a:pt x="2057400" y="523875"/>
                  </a:cubicBezTo>
                  <a:cubicBezTo>
                    <a:pt x="2073275" y="533400"/>
                    <a:pt x="2088466" y="544171"/>
                    <a:pt x="2105025" y="552450"/>
                  </a:cubicBezTo>
                  <a:cubicBezTo>
                    <a:pt x="2114005" y="556940"/>
                    <a:pt x="2124883" y="556994"/>
                    <a:pt x="2133600" y="561975"/>
                  </a:cubicBezTo>
                  <a:cubicBezTo>
                    <a:pt x="2143358" y="567551"/>
                    <a:pt x="2185533" y="603282"/>
                    <a:pt x="2200275" y="609600"/>
                  </a:cubicBezTo>
                  <a:cubicBezTo>
                    <a:pt x="2212307" y="614757"/>
                    <a:pt x="2225788" y="615529"/>
                    <a:pt x="2238375" y="619125"/>
                  </a:cubicBezTo>
                  <a:cubicBezTo>
                    <a:pt x="2248029" y="621883"/>
                    <a:pt x="2257210" y="626215"/>
                    <a:pt x="2266950" y="628650"/>
                  </a:cubicBezTo>
                  <a:cubicBezTo>
                    <a:pt x="2282656" y="632577"/>
                    <a:pt x="2299068" y="633523"/>
                    <a:pt x="2314575" y="638175"/>
                  </a:cubicBezTo>
                  <a:cubicBezTo>
                    <a:pt x="2515872" y="698564"/>
                    <a:pt x="2261214" y="629733"/>
                    <a:pt x="2390775" y="666750"/>
                  </a:cubicBezTo>
                  <a:cubicBezTo>
                    <a:pt x="2403362" y="670346"/>
                    <a:pt x="2415789" y="675916"/>
                    <a:pt x="2428875" y="676275"/>
                  </a:cubicBezTo>
                  <a:cubicBezTo>
                    <a:pt x="2647891" y="682275"/>
                    <a:pt x="2867025" y="682625"/>
                    <a:pt x="3086100" y="685800"/>
                  </a:cubicBezTo>
                  <a:cubicBezTo>
                    <a:pt x="3105150" y="692150"/>
                    <a:pt x="3123877" y="699566"/>
                    <a:pt x="3143250" y="704850"/>
                  </a:cubicBezTo>
                  <a:cubicBezTo>
                    <a:pt x="3158869" y="709110"/>
                    <a:pt x="3175516" y="709255"/>
                    <a:pt x="3190875" y="714375"/>
                  </a:cubicBezTo>
                  <a:cubicBezTo>
                    <a:pt x="3204345" y="718865"/>
                    <a:pt x="3215680" y="728439"/>
                    <a:pt x="3228975" y="733425"/>
                  </a:cubicBezTo>
                  <a:cubicBezTo>
                    <a:pt x="3248531" y="740758"/>
                    <a:pt x="3296595" y="747949"/>
                    <a:pt x="3314700" y="752475"/>
                  </a:cubicBezTo>
                  <a:cubicBezTo>
                    <a:pt x="3324440" y="754910"/>
                    <a:pt x="3333474" y="759822"/>
                    <a:pt x="3343275" y="762000"/>
                  </a:cubicBezTo>
                  <a:cubicBezTo>
                    <a:pt x="3362128" y="766190"/>
                    <a:pt x="3381572" y="767335"/>
                    <a:pt x="3400425" y="771525"/>
                  </a:cubicBezTo>
                  <a:cubicBezTo>
                    <a:pt x="3410226" y="773703"/>
                    <a:pt x="3419155" y="779081"/>
                    <a:pt x="3429000" y="781050"/>
                  </a:cubicBezTo>
                  <a:cubicBezTo>
                    <a:pt x="3451015" y="785453"/>
                    <a:pt x="3473450" y="787400"/>
                    <a:pt x="3495675" y="790575"/>
                  </a:cubicBezTo>
                  <a:cubicBezTo>
                    <a:pt x="3514725" y="796925"/>
                    <a:pt x="3534864" y="800645"/>
                    <a:pt x="3552825" y="809625"/>
                  </a:cubicBezTo>
                  <a:cubicBezTo>
                    <a:pt x="3565525" y="815975"/>
                    <a:pt x="3577630" y="823689"/>
                    <a:pt x="3590925" y="828675"/>
                  </a:cubicBezTo>
                  <a:cubicBezTo>
                    <a:pt x="3603182" y="833272"/>
                    <a:pt x="3616438" y="834604"/>
                    <a:pt x="3629025" y="838200"/>
                  </a:cubicBezTo>
                  <a:cubicBezTo>
                    <a:pt x="3638679" y="840958"/>
                    <a:pt x="3647592" y="846924"/>
                    <a:pt x="3657600" y="847725"/>
                  </a:cubicBezTo>
                  <a:cubicBezTo>
                    <a:pt x="3727299" y="853301"/>
                    <a:pt x="3797300" y="854075"/>
                    <a:pt x="3867150" y="857250"/>
                  </a:cubicBezTo>
                  <a:lnTo>
                    <a:pt x="4057650" y="876300"/>
                  </a:lnTo>
                  <a:cubicBezTo>
                    <a:pt x="4076835" y="878514"/>
                    <a:pt x="4096869" y="878652"/>
                    <a:pt x="4114800" y="885825"/>
                  </a:cubicBezTo>
                  <a:cubicBezTo>
                    <a:pt x="4129540" y="891721"/>
                    <a:pt x="4139023" y="906690"/>
                    <a:pt x="4152900" y="914400"/>
                  </a:cubicBezTo>
                  <a:cubicBezTo>
                    <a:pt x="4188865" y="934381"/>
                    <a:pt x="4219895" y="935709"/>
                    <a:pt x="4257675" y="952500"/>
                  </a:cubicBezTo>
                  <a:cubicBezTo>
                    <a:pt x="4268136" y="957149"/>
                    <a:pt x="4275144" y="968774"/>
                    <a:pt x="4286250" y="971550"/>
                  </a:cubicBezTo>
                  <a:cubicBezTo>
                    <a:pt x="4314142" y="978523"/>
                    <a:pt x="4343400" y="977900"/>
                    <a:pt x="4371975" y="981075"/>
                  </a:cubicBezTo>
                  <a:cubicBezTo>
                    <a:pt x="4381500" y="990600"/>
                    <a:pt x="4389342" y="1002178"/>
                    <a:pt x="4400550" y="1009650"/>
                  </a:cubicBezTo>
                  <a:cubicBezTo>
                    <a:pt x="4417850" y="1021183"/>
                    <a:pt x="4430026" y="1019175"/>
                    <a:pt x="4448175" y="1019175"/>
                  </a:cubicBezTo>
                  <a:lnTo>
                    <a:pt x="19050" y="1028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E2C66C-B00C-9966-4B19-B3F53D396155}"/>
              </a:ext>
            </a:extLst>
          </p:cNvPr>
          <p:cNvGrpSpPr/>
          <p:nvPr/>
        </p:nvGrpSpPr>
        <p:grpSpPr>
          <a:xfrm>
            <a:off x="3485276" y="1593670"/>
            <a:ext cx="3953749" cy="1283372"/>
            <a:chOff x="7297497" y="4097518"/>
            <a:chExt cx="2771775" cy="1283372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CE117C6-228D-AD9B-F0E7-B7CDBA2264AC}"/>
                </a:ext>
              </a:extLst>
            </p:cNvPr>
            <p:cNvCxnSpPr/>
            <p:nvPr/>
          </p:nvCxnSpPr>
          <p:spPr>
            <a:xfrm>
              <a:off x="7297497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3E69476-11E3-36F0-2ED2-999B1568E7A5}"/>
                </a:ext>
              </a:extLst>
            </p:cNvPr>
            <p:cNvCxnSpPr/>
            <p:nvPr/>
          </p:nvCxnSpPr>
          <p:spPr>
            <a:xfrm>
              <a:off x="7659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56673E6-19BE-013F-E349-A2C591C69B7C}"/>
                </a:ext>
              </a:extLst>
            </p:cNvPr>
            <p:cNvCxnSpPr/>
            <p:nvPr/>
          </p:nvCxnSpPr>
          <p:spPr>
            <a:xfrm>
              <a:off x="80499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045FD3B-DC5E-8A69-B797-6654C0874FE5}"/>
                </a:ext>
              </a:extLst>
            </p:cNvPr>
            <p:cNvCxnSpPr/>
            <p:nvPr/>
          </p:nvCxnSpPr>
          <p:spPr>
            <a:xfrm>
              <a:off x="840239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BFAAF32-8C2E-0121-B7C8-D8302F770CB9}"/>
                </a:ext>
              </a:extLst>
            </p:cNvPr>
            <p:cNvCxnSpPr/>
            <p:nvPr/>
          </p:nvCxnSpPr>
          <p:spPr>
            <a:xfrm>
              <a:off x="8802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6F89C5B-4709-7F9F-C8B6-D5C3F158E140}"/>
                </a:ext>
              </a:extLst>
            </p:cNvPr>
            <p:cNvCxnSpPr/>
            <p:nvPr/>
          </p:nvCxnSpPr>
          <p:spPr>
            <a:xfrm>
              <a:off x="9250122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F2FD61-ED12-C0B3-63F5-EFEC402615E3}"/>
                </a:ext>
              </a:extLst>
            </p:cNvPr>
            <p:cNvCxnSpPr/>
            <p:nvPr/>
          </p:nvCxnSpPr>
          <p:spPr>
            <a:xfrm>
              <a:off x="96692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0BE4750-C01B-734C-51F6-B7436F326997}"/>
                </a:ext>
              </a:extLst>
            </p:cNvPr>
            <p:cNvCxnSpPr/>
            <p:nvPr/>
          </p:nvCxnSpPr>
          <p:spPr>
            <a:xfrm>
              <a:off x="100692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0CC88E-6EF0-7762-CCE2-F3C799F507E2}"/>
              </a:ext>
            </a:extLst>
          </p:cNvPr>
          <p:cNvGrpSpPr/>
          <p:nvPr/>
        </p:nvGrpSpPr>
        <p:grpSpPr>
          <a:xfrm>
            <a:off x="3230931" y="2864329"/>
            <a:ext cx="3350437" cy="411937"/>
            <a:chOff x="3230931" y="2864329"/>
            <a:chExt cx="3941390" cy="411937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E9D8A81-D6DE-57BE-E147-D7E41581E3E4}"/>
                </a:ext>
              </a:extLst>
            </p:cNvPr>
            <p:cNvSpPr/>
            <p:nvPr/>
          </p:nvSpPr>
          <p:spPr>
            <a:xfrm>
              <a:off x="4848775" y="2864329"/>
              <a:ext cx="466175" cy="145686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2F61420-00D1-9D20-76C8-B9BC980FEFEA}"/>
                </a:ext>
              </a:extLst>
            </p:cNvPr>
            <p:cNvSpPr/>
            <p:nvPr/>
          </p:nvSpPr>
          <p:spPr>
            <a:xfrm>
              <a:off x="4324352" y="2873853"/>
              <a:ext cx="1581140" cy="18867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1BC52EB-3FF1-A4BA-7122-D6B2DFD67F04}"/>
                </a:ext>
              </a:extLst>
            </p:cNvPr>
            <p:cNvSpPr/>
            <p:nvPr/>
          </p:nvSpPr>
          <p:spPr>
            <a:xfrm>
              <a:off x="3751243" y="2878219"/>
              <a:ext cx="2839651" cy="31118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7450486-DFA5-257A-02B8-67C8CFCFB660}"/>
                </a:ext>
              </a:extLst>
            </p:cNvPr>
            <p:cNvSpPr/>
            <p:nvPr/>
          </p:nvSpPr>
          <p:spPr>
            <a:xfrm>
              <a:off x="3230931" y="2906935"/>
              <a:ext cx="3941390" cy="369331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6783AF3-0B0F-F7E6-FDDC-0BFBE45DCAD4}"/>
              </a:ext>
            </a:extLst>
          </p:cNvPr>
          <p:cNvGrpSpPr/>
          <p:nvPr/>
        </p:nvGrpSpPr>
        <p:grpSpPr>
          <a:xfrm>
            <a:off x="3164256" y="3220411"/>
            <a:ext cx="1179144" cy="208589"/>
            <a:chOff x="4476752" y="2947930"/>
            <a:chExt cx="1581140" cy="266997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F88429-AD3C-2138-58DD-F1D6CC469741}"/>
                </a:ext>
              </a:extLst>
            </p:cNvPr>
            <p:cNvSpPr/>
            <p:nvPr/>
          </p:nvSpPr>
          <p:spPr>
            <a:xfrm>
              <a:off x="4986243" y="2947930"/>
              <a:ext cx="523875" cy="142989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50800">
              <a:solidFill>
                <a:srgbClr val="FF3399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5057DD9-8EE0-59ED-E7E7-E3DA6AB0F87B}"/>
                </a:ext>
              </a:extLst>
            </p:cNvPr>
            <p:cNvSpPr/>
            <p:nvPr/>
          </p:nvSpPr>
          <p:spPr>
            <a:xfrm>
              <a:off x="4476752" y="3026253"/>
              <a:ext cx="1581140" cy="18867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50800">
              <a:solidFill>
                <a:srgbClr val="FF3399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F71FCCC-70CF-6AA2-3529-1B82B46F4F87}"/>
              </a:ext>
            </a:extLst>
          </p:cNvPr>
          <p:cNvSpPr/>
          <p:nvPr/>
        </p:nvSpPr>
        <p:spPr>
          <a:xfrm>
            <a:off x="838200" y="3511507"/>
            <a:ext cx="9489141" cy="107842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0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F795-CAE7-49A5-A2BB-410E7E8AA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Decreasing density: 2-bucket service options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D523-EC5C-033F-F82D-5D0210D8B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05201"/>
                <a:ext cx="10515600" cy="26717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Constructing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: Greedy from largest requirement downward.</a:t>
                </a:r>
              </a:p>
              <a:p>
                <a:pPr marL="0" indent="0">
                  <a:buNone/>
                </a:pPr>
                <a:r>
                  <a:rPr lang="en-US" dirty="0" err="1"/>
                  <a:t>Lem</a:t>
                </a:r>
                <a:r>
                  <a:rPr lang="en-US" dirty="0"/>
                  <a:t>: Remaining distribution is again decreasing. Recurse!</a:t>
                </a:r>
              </a:p>
              <a:p>
                <a:pPr marL="0" indent="0">
                  <a:buNone/>
                </a:pPr>
                <a:r>
                  <a:rPr lang="en-US" dirty="0"/>
                  <a:t>Only overhead is from round-down, easy to bound.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5D523-EC5C-033F-F82D-5D0210D8B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05201"/>
                <a:ext cx="10515600" cy="2671762"/>
              </a:xfrm>
              <a:blipFill>
                <a:blip r:embed="rId2"/>
                <a:stretch>
                  <a:fillRect l="-1217" t="-3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256BF-4001-C37A-B5F8-B3D52644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39D66-E751-95CA-F7EA-806008EB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20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5E9ED7C-9570-436B-5FF6-B22914B9EC83}"/>
              </a:ext>
            </a:extLst>
          </p:cNvPr>
          <p:cNvGrpSpPr/>
          <p:nvPr/>
        </p:nvGrpSpPr>
        <p:grpSpPr>
          <a:xfrm>
            <a:off x="2019299" y="1540113"/>
            <a:ext cx="6762752" cy="1694895"/>
            <a:chOff x="2019299" y="1540113"/>
            <a:chExt cx="6762752" cy="169489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5641643-FA48-4DF2-9D0B-C6CB5620F4B3}"/>
                </a:ext>
              </a:extLst>
            </p:cNvPr>
            <p:cNvGrpSpPr/>
            <p:nvPr/>
          </p:nvGrpSpPr>
          <p:grpSpPr>
            <a:xfrm>
              <a:off x="2019299" y="1540113"/>
              <a:ext cx="6762752" cy="1694895"/>
              <a:chOff x="7573354" y="276089"/>
              <a:chExt cx="3578587" cy="169489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7059D6FC-608E-7654-0976-367843FF48F2}"/>
                  </a:ext>
                </a:extLst>
              </p:cNvPr>
              <p:cNvGrpSpPr/>
              <p:nvPr/>
            </p:nvGrpSpPr>
            <p:grpSpPr>
              <a:xfrm>
                <a:off x="8017740" y="276089"/>
                <a:ext cx="3134201" cy="1694895"/>
                <a:chOff x="10470462" y="1997667"/>
                <a:chExt cx="1592754" cy="1694895"/>
              </a:xfrm>
            </p:grpSpPr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C0B75DED-6460-084E-0191-5F7FB69FCB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08776" y="1997667"/>
                  <a:ext cx="0" cy="1325563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07FD4B0B-27FB-EDC3-BA27-1D4D7335DE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8776" y="3323230"/>
                  <a:ext cx="1423917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4C29E22-B659-80E1-3ABF-A11521C4A2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70462" y="3323230"/>
                      <a:ext cx="15927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a14:m>
                      <a:r>
                        <a:rPr lang="en-US" dirty="0"/>
                        <a:t>      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a14:m>
                      <a:r>
                        <a:rPr lang="en-US" dirty="0"/>
                        <a:t>                                        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4C29E22-B659-80E1-3ABF-A11521C4A2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70462" y="3323230"/>
                      <a:ext cx="159275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E7024E3-8E0B-BA1B-55FD-D342ECB0423B}"/>
                      </a:ext>
                    </a:extLst>
                  </p:cNvPr>
                  <p:cNvSpPr txBox="1"/>
                  <p:nvPr/>
                </p:nvSpPr>
                <p:spPr>
                  <a:xfrm>
                    <a:off x="7573354" y="894460"/>
                    <a:ext cx="388474" cy="369332"/>
                  </a:xfrm>
                  <a:prstGeom prst="rect">
                    <a:avLst/>
                  </a:prstGeom>
                  <a:noFill/>
                  <a:ln w="25400">
                    <a:solidFill>
                      <a:srgbClr val="7030A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3E7024E3-8E0B-BA1B-55FD-D342ECB042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73354" y="894460"/>
                    <a:ext cx="38847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25400">
                    <a:solidFill>
                      <a:srgbClr val="7030A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A9B2020-00EE-9681-E002-425B3F7E2F44}"/>
                </a:ext>
              </a:extLst>
            </p:cNvPr>
            <p:cNvSpPr/>
            <p:nvPr/>
          </p:nvSpPr>
          <p:spPr>
            <a:xfrm>
              <a:off x="2990850" y="1828800"/>
              <a:ext cx="4448175" cy="1028700"/>
            </a:xfrm>
            <a:custGeom>
              <a:avLst/>
              <a:gdLst>
                <a:gd name="connsiteX0" fmla="*/ 0 w 4448175"/>
                <a:gd name="connsiteY0" fmla="*/ 0 h 1028700"/>
                <a:gd name="connsiteX1" fmla="*/ 0 w 4448175"/>
                <a:gd name="connsiteY1" fmla="*/ 0 h 1028700"/>
                <a:gd name="connsiteX2" fmla="*/ 85725 w 4448175"/>
                <a:gd name="connsiteY2" fmla="*/ 38100 h 1028700"/>
                <a:gd name="connsiteX3" fmla="*/ 152400 w 4448175"/>
                <a:gd name="connsiteY3" fmla="*/ 57150 h 1028700"/>
                <a:gd name="connsiteX4" fmla="*/ 190500 w 4448175"/>
                <a:gd name="connsiteY4" fmla="*/ 76200 h 1028700"/>
                <a:gd name="connsiteX5" fmla="*/ 219075 w 4448175"/>
                <a:gd name="connsiteY5" fmla="*/ 85725 h 1028700"/>
                <a:gd name="connsiteX6" fmla="*/ 266700 w 4448175"/>
                <a:gd name="connsiteY6" fmla="*/ 104775 h 1028700"/>
                <a:gd name="connsiteX7" fmla="*/ 342900 w 4448175"/>
                <a:gd name="connsiteY7" fmla="*/ 200025 h 1028700"/>
                <a:gd name="connsiteX8" fmla="*/ 381000 w 4448175"/>
                <a:gd name="connsiteY8" fmla="*/ 228600 h 1028700"/>
                <a:gd name="connsiteX9" fmla="*/ 409575 w 4448175"/>
                <a:gd name="connsiteY9" fmla="*/ 247650 h 1028700"/>
                <a:gd name="connsiteX10" fmla="*/ 438150 w 4448175"/>
                <a:gd name="connsiteY10" fmla="*/ 276225 h 1028700"/>
                <a:gd name="connsiteX11" fmla="*/ 647700 w 4448175"/>
                <a:gd name="connsiteY11" fmla="*/ 304800 h 1028700"/>
                <a:gd name="connsiteX12" fmla="*/ 952500 w 4448175"/>
                <a:gd name="connsiteY12" fmla="*/ 323850 h 1028700"/>
                <a:gd name="connsiteX13" fmla="*/ 1057275 w 4448175"/>
                <a:gd name="connsiteY13" fmla="*/ 352425 h 1028700"/>
                <a:gd name="connsiteX14" fmla="*/ 1104900 w 4448175"/>
                <a:gd name="connsiteY14" fmla="*/ 381000 h 1028700"/>
                <a:gd name="connsiteX15" fmla="*/ 1133475 w 4448175"/>
                <a:gd name="connsiteY15" fmla="*/ 390525 h 1028700"/>
                <a:gd name="connsiteX16" fmla="*/ 1219200 w 4448175"/>
                <a:gd name="connsiteY16" fmla="*/ 438150 h 1028700"/>
                <a:gd name="connsiteX17" fmla="*/ 1247775 w 4448175"/>
                <a:gd name="connsiteY17" fmla="*/ 447675 h 1028700"/>
                <a:gd name="connsiteX18" fmla="*/ 1390650 w 4448175"/>
                <a:gd name="connsiteY18" fmla="*/ 466725 h 1028700"/>
                <a:gd name="connsiteX19" fmla="*/ 1419225 w 4448175"/>
                <a:gd name="connsiteY19" fmla="*/ 476250 h 1028700"/>
                <a:gd name="connsiteX20" fmla="*/ 1638300 w 4448175"/>
                <a:gd name="connsiteY20" fmla="*/ 495300 h 1028700"/>
                <a:gd name="connsiteX21" fmla="*/ 1752600 w 4448175"/>
                <a:gd name="connsiteY21" fmla="*/ 485775 h 1028700"/>
                <a:gd name="connsiteX22" fmla="*/ 1885950 w 4448175"/>
                <a:gd name="connsiteY22" fmla="*/ 495300 h 1028700"/>
                <a:gd name="connsiteX23" fmla="*/ 1971675 w 4448175"/>
                <a:gd name="connsiteY23" fmla="*/ 504825 h 1028700"/>
                <a:gd name="connsiteX24" fmla="*/ 2057400 w 4448175"/>
                <a:gd name="connsiteY24" fmla="*/ 523875 h 1028700"/>
                <a:gd name="connsiteX25" fmla="*/ 2105025 w 4448175"/>
                <a:gd name="connsiteY25" fmla="*/ 552450 h 1028700"/>
                <a:gd name="connsiteX26" fmla="*/ 2133600 w 4448175"/>
                <a:gd name="connsiteY26" fmla="*/ 561975 h 1028700"/>
                <a:gd name="connsiteX27" fmla="*/ 2200275 w 4448175"/>
                <a:gd name="connsiteY27" fmla="*/ 609600 h 1028700"/>
                <a:gd name="connsiteX28" fmla="*/ 2238375 w 4448175"/>
                <a:gd name="connsiteY28" fmla="*/ 619125 h 1028700"/>
                <a:gd name="connsiteX29" fmla="*/ 2266950 w 4448175"/>
                <a:gd name="connsiteY29" fmla="*/ 628650 h 1028700"/>
                <a:gd name="connsiteX30" fmla="*/ 2314575 w 4448175"/>
                <a:gd name="connsiteY30" fmla="*/ 638175 h 1028700"/>
                <a:gd name="connsiteX31" fmla="*/ 2390775 w 4448175"/>
                <a:gd name="connsiteY31" fmla="*/ 666750 h 1028700"/>
                <a:gd name="connsiteX32" fmla="*/ 2428875 w 4448175"/>
                <a:gd name="connsiteY32" fmla="*/ 676275 h 1028700"/>
                <a:gd name="connsiteX33" fmla="*/ 3086100 w 4448175"/>
                <a:gd name="connsiteY33" fmla="*/ 685800 h 1028700"/>
                <a:gd name="connsiteX34" fmla="*/ 3143250 w 4448175"/>
                <a:gd name="connsiteY34" fmla="*/ 704850 h 1028700"/>
                <a:gd name="connsiteX35" fmla="*/ 3190875 w 4448175"/>
                <a:gd name="connsiteY35" fmla="*/ 714375 h 1028700"/>
                <a:gd name="connsiteX36" fmla="*/ 3228975 w 4448175"/>
                <a:gd name="connsiteY36" fmla="*/ 733425 h 1028700"/>
                <a:gd name="connsiteX37" fmla="*/ 3314700 w 4448175"/>
                <a:gd name="connsiteY37" fmla="*/ 752475 h 1028700"/>
                <a:gd name="connsiteX38" fmla="*/ 3343275 w 4448175"/>
                <a:gd name="connsiteY38" fmla="*/ 762000 h 1028700"/>
                <a:gd name="connsiteX39" fmla="*/ 3400425 w 4448175"/>
                <a:gd name="connsiteY39" fmla="*/ 771525 h 1028700"/>
                <a:gd name="connsiteX40" fmla="*/ 3429000 w 4448175"/>
                <a:gd name="connsiteY40" fmla="*/ 781050 h 1028700"/>
                <a:gd name="connsiteX41" fmla="*/ 3495675 w 4448175"/>
                <a:gd name="connsiteY41" fmla="*/ 790575 h 1028700"/>
                <a:gd name="connsiteX42" fmla="*/ 3552825 w 4448175"/>
                <a:gd name="connsiteY42" fmla="*/ 809625 h 1028700"/>
                <a:gd name="connsiteX43" fmla="*/ 3590925 w 4448175"/>
                <a:gd name="connsiteY43" fmla="*/ 828675 h 1028700"/>
                <a:gd name="connsiteX44" fmla="*/ 3629025 w 4448175"/>
                <a:gd name="connsiteY44" fmla="*/ 838200 h 1028700"/>
                <a:gd name="connsiteX45" fmla="*/ 3657600 w 4448175"/>
                <a:gd name="connsiteY45" fmla="*/ 847725 h 1028700"/>
                <a:gd name="connsiteX46" fmla="*/ 3867150 w 4448175"/>
                <a:gd name="connsiteY46" fmla="*/ 857250 h 1028700"/>
                <a:gd name="connsiteX47" fmla="*/ 4057650 w 4448175"/>
                <a:gd name="connsiteY47" fmla="*/ 876300 h 1028700"/>
                <a:gd name="connsiteX48" fmla="*/ 4114800 w 4448175"/>
                <a:gd name="connsiteY48" fmla="*/ 885825 h 1028700"/>
                <a:gd name="connsiteX49" fmla="*/ 4152900 w 4448175"/>
                <a:gd name="connsiteY49" fmla="*/ 914400 h 1028700"/>
                <a:gd name="connsiteX50" fmla="*/ 4257675 w 4448175"/>
                <a:gd name="connsiteY50" fmla="*/ 952500 h 1028700"/>
                <a:gd name="connsiteX51" fmla="*/ 4286250 w 4448175"/>
                <a:gd name="connsiteY51" fmla="*/ 971550 h 1028700"/>
                <a:gd name="connsiteX52" fmla="*/ 4371975 w 4448175"/>
                <a:gd name="connsiteY52" fmla="*/ 981075 h 1028700"/>
                <a:gd name="connsiteX53" fmla="*/ 4400550 w 4448175"/>
                <a:gd name="connsiteY53" fmla="*/ 1009650 h 1028700"/>
                <a:gd name="connsiteX54" fmla="*/ 4448175 w 4448175"/>
                <a:gd name="connsiteY54" fmla="*/ 1019175 h 1028700"/>
                <a:gd name="connsiteX55" fmla="*/ 19050 w 4448175"/>
                <a:gd name="connsiteY55" fmla="*/ 1028700 h 1028700"/>
                <a:gd name="connsiteX56" fmla="*/ 0 w 4448175"/>
                <a:gd name="connsiteY56" fmla="*/ 0 h 102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448175" h="1028700">
                  <a:moveTo>
                    <a:pt x="0" y="0"/>
                  </a:moveTo>
                  <a:lnTo>
                    <a:pt x="0" y="0"/>
                  </a:lnTo>
                  <a:cubicBezTo>
                    <a:pt x="28575" y="12700"/>
                    <a:pt x="56860" y="26073"/>
                    <a:pt x="85725" y="38100"/>
                  </a:cubicBezTo>
                  <a:cubicBezTo>
                    <a:pt x="154807" y="66884"/>
                    <a:pt x="67938" y="25477"/>
                    <a:pt x="152400" y="57150"/>
                  </a:cubicBezTo>
                  <a:cubicBezTo>
                    <a:pt x="165695" y="62136"/>
                    <a:pt x="177449" y="70607"/>
                    <a:pt x="190500" y="76200"/>
                  </a:cubicBezTo>
                  <a:cubicBezTo>
                    <a:pt x="199728" y="80155"/>
                    <a:pt x="209674" y="82200"/>
                    <a:pt x="219075" y="85725"/>
                  </a:cubicBezTo>
                  <a:cubicBezTo>
                    <a:pt x="235084" y="91728"/>
                    <a:pt x="250825" y="98425"/>
                    <a:pt x="266700" y="104775"/>
                  </a:cubicBezTo>
                  <a:cubicBezTo>
                    <a:pt x="289510" y="138990"/>
                    <a:pt x="311302" y="172941"/>
                    <a:pt x="342900" y="200025"/>
                  </a:cubicBezTo>
                  <a:cubicBezTo>
                    <a:pt x="354953" y="210356"/>
                    <a:pt x="368082" y="219373"/>
                    <a:pt x="381000" y="228600"/>
                  </a:cubicBezTo>
                  <a:cubicBezTo>
                    <a:pt x="390315" y="235254"/>
                    <a:pt x="400781" y="240321"/>
                    <a:pt x="409575" y="247650"/>
                  </a:cubicBezTo>
                  <a:cubicBezTo>
                    <a:pt x="419923" y="256274"/>
                    <a:pt x="425371" y="271965"/>
                    <a:pt x="438150" y="276225"/>
                  </a:cubicBezTo>
                  <a:cubicBezTo>
                    <a:pt x="475953" y="288826"/>
                    <a:pt x="603211" y="301093"/>
                    <a:pt x="647700" y="304800"/>
                  </a:cubicBezTo>
                  <a:cubicBezTo>
                    <a:pt x="756524" y="313869"/>
                    <a:pt x="841388" y="317677"/>
                    <a:pt x="952500" y="323850"/>
                  </a:cubicBezTo>
                  <a:cubicBezTo>
                    <a:pt x="980843" y="329519"/>
                    <a:pt x="1033105" y="337923"/>
                    <a:pt x="1057275" y="352425"/>
                  </a:cubicBezTo>
                  <a:cubicBezTo>
                    <a:pt x="1073150" y="361950"/>
                    <a:pt x="1088341" y="372721"/>
                    <a:pt x="1104900" y="381000"/>
                  </a:cubicBezTo>
                  <a:cubicBezTo>
                    <a:pt x="1113880" y="385490"/>
                    <a:pt x="1124495" y="386035"/>
                    <a:pt x="1133475" y="390525"/>
                  </a:cubicBezTo>
                  <a:cubicBezTo>
                    <a:pt x="1205730" y="426653"/>
                    <a:pt x="1154989" y="410631"/>
                    <a:pt x="1219200" y="438150"/>
                  </a:cubicBezTo>
                  <a:cubicBezTo>
                    <a:pt x="1228428" y="442105"/>
                    <a:pt x="1238121" y="444917"/>
                    <a:pt x="1247775" y="447675"/>
                  </a:cubicBezTo>
                  <a:cubicBezTo>
                    <a:pt x="1306675" y="464503"/>
                    <a:pt x="1308259" y="459235"/>
                    <a:pt x="1390650" y="466725"/>
                  </a:cubicBezTo>
                  <a:cubicBezTo>
                    <a:pt x="1400175" y="469900"/>
                    <a:pt x="1409485" y="473815"/>
                    <a:pt x="1419225" y="476250"/>
                  </a:cubicBezTo>
                  <a:cubicBezTo>
                    <a:pt x="1496298" y="495518"/>
                    <a:pt x="1545010" y="490117"/>
                    <a:pt x="1638300" y="495300"/>
                  </a:cubicBezTo>
                  <a:cubicBezTo>
                    <a:pt x="1676400" y="492125"/>
                    <a:pt x="1714368" y="485775"/>
                    <a:pt x="1752600" y="485775"/>
                  </a:cubicBezTo>
                  <a:cubicBezTo>
                    <a:pt x="1797163" y="485775"/>
                    <a:pt x="1841554" y="491440"/>
                    <a:pt x="1885950" y="495300"/>
                  </a:cubicBezTo>
                  <a:cubicBezTo>
                    <a:pt x="1914593" y="497791"/>
                    <a:pt x="1943213" y="500759"/>
                    <a:pt x="1971675" y="504825"/>
                  </a:cubicBezTo>
                  <a:cubicBezTo>
                    <a:pt x="1999890" y="508856"/>
                    <a:pt x="2029669" y="516942"/>
                    <a:pt x="2057400" y="523875"/>
                  </a:cubicBezTo>
                  <a:cubicBezTo>
                    <a:pt x="2073275" y="533400"/>
                    <a:pt x="2088466" y="544171"/>
                    <a:pt x="2105025" y="552450"/>
                  </a:cubicBezTo>
                  <a:cubicBezTo>
                    <a:pt x="2114005" y="556940"/>
                    <a:pt x="2124883" y="556994"/>
                    <a:pt x="2133600" y="561975"/>
                  </a:cubicBezTo>
                  <a:cubicBezTo>
                    <a:pt x="2143358" y="567551"/>
                    <a:pt x="2185533" y="603282"/>
                    <a:pt x="2200275" y="609600"/>
                  </a:cubicBezTo>
                  <a:cubicBezTo>
                    <a:pt x="2212307" y="614757"/>
                    <a:pt x="2225788" y="615529"/>
                    <a:pt x="2238375" y="619125"/>
                  </a:cubicBezTo>
                  <a:cubicBezTo>
                    <a:pt x="2248029" y="621883"/>
                    <a:pt x="2257210" y="626215"/>
                    <a:pt x="2266950" y="628650"/>
                  </a:cubicBezTo>
                  <a:cubicBezTo>
                    <a:pt x="2282656" y="632577"/>
                    <a:pt x="2299068" y="633523"/>
                    <a:pt x="2314575" y="638175"/>
                  </a:cubicBezTo>
                  <a:cubicBezTo>
                    <a:pt x="2515872" y="698564"/>
                    <a:pt x="2261214" y="629733"/>
                    <a:pt x="2390775" y="666750"/>
                  </a:cubicBezTo>
                  <a:cubicBezTo>
                    <a:pt x="2403362" y="670346"/>
                    <a:pt x="2415789" y="675916"/>
                    <a:pt x="2428875" y="676275"/>
                  </a:cubicBezTo>
                  <a:cubicBezTo>
                    <a:pt x="2647891" y="682275"/>
                    <a:pt x="2867025" y="682625"/>
                    <a:pt x="3086100" y="685800"/>
                  </a:cubicBezTo>
                  <a:cubicBezTo>
                    <a:pt x="3105150" y="692150"/>
                    <a:pt x="3123877" y="699566"/>
                    <a:pt x="3143250" y="704850"/>
                  </a:cubicBezTo>
                  <a:cubicBezTo>
                    <a:pt x="3158869" y="709110"/>
                    <a:pt x="3175516" y="709255"/>
                    <a:pt x="3190875" y="714375"/>
                  </a:cubicBezTo>
                  <a:cubicBezTo>
                    <a:pt x="3204345" y="718865"/>
                    <a:pt x="3215680" y="728439"/>
                    <a:pt x="3228975" y="733425"/>
                  </a:cubicBezTo>
                  <a:cubicBezTo>
                    <a:pt x="3248531" y="740758"/>
                    <a:pt x="3296595" y="747949"/>
                    <a:pt x="3314700" y="752475"/>
                  </a:cubicBezTo>
                  <a:cubicBezTo>
                    <a:pt x="3324440" y="754910"/>
                    <a:pt x="3333474" y="759822"/>
                    <a:pt x="3343275" y="762000"/>
                  </a:cubicBezTo>
                  <a:cubicBezTo>
                    <a:pt x="3362128" y="766190"/>
                    <a:pt x="3381572" y="767335"/>
                    <a:pt x="3400425" y="771525"/>
                  </a:cubicBezTo>
                  <a:cubicBezTo>
                    <a:pt x="3410226" y="773703"/>
                    <a:pt x="3419155" y="779081"/>
                    <a:pt x="3429000" y="781050"/>
                  </a:cubicBezTo>
                  <a:cubicBezTo>
                    <a:pt x="3451015" y="785453"/>
                    <a:pt x="3473450" y="787400"/>
                    <a:pt x="3495675" y="790575"/>
                  </a:cubicBezTo>
                  <a:cubicBezTo>
                    <a:pt x="3514725" y="796925"/>
                    <a:pt x="3534864" y="800645"/>
                    <a:pt x="3552825" y="809625"/>
                  </a:cubicBezTo>
                  <a:cubicBezTo>
                    <a:pt x="3565525" y="815975"/>
                    <a:pt x="3577630" y="823689"/>
                    <a:pt x="3590925" y="828675"/>
                  </a:cubicBezTo>
                  <a:cubicBezTo>
                    <a:pt x="3603182" y="833272"/>
                    <a:pt x="3616438" y="834604"/>
                    <a:pt x="3629025" y="838200"/>
                  </a:cubicBezTo>
                  <a:cubicBezTo>
                    <a:pt x="3638679" y="840958"/>
                    <a:pt x="3647592" y="846924"/>
                    <a:pt x="3657600" y="847725"/>
                  </a:cubicBezTo>
                  <a:cubicBezTo>
                    <a:pt x="3727299" y="853301"/>
                    <a:pt x="3797300" y="854075"/>
                    <a:pt x="3867150" y="857250"/>
                  </a:cubicBezTo>
                  <a:lnTo>
                    <a:pt x="4057650" y="876300"/>
                  </a:lnTo>
                  <a:cubicBezTo>
                    <a:pt x="4076835" y="878514"/>
                    <a:pt x="4096869" y="878652"/>
                    <a:pt x="4114800" y="885825"/>
                  </a:cubicBezTo>
                  <a:cubicBezTo>
                    <a:pt x="4129540" y="891721"/>
                    <a:pt x="4139023" y="906690"/>
                    <a:pt x="4152900" y="914400"/>
                  </a:cubicBezTo>
                  <a:cubicBezTo>
                    <a:pt x="4188865" y="934381"/>
                    <a:pt x="4219895" y="935709"/>
                    <a:pt x="4257675" y="952500"/>
                  </a:cubicBezTo>
                  <a:cubicBezTo>
                    <a:pt x="4268136" y="957149"/>
                    <a:pt x="4275144" y="968774"/>
                    <a:pt x="4286250" y="971550"/>
                  </a:cubicBezTo>
                  <a:cubicBezTo>
                    <a:pt x="4314142" y="978523"/>
                    <a:pt x="4343400" y="977900"/>
                    <a:pt x="4371975" y="981075"/>
                  </a:cubicBezTo>
                  <a:cubicBezTo>
                    <a:pt x="4381500" y="990600"/>
                    <a:pt x="4389342" y="1002178"/>
                    <a:pt x="4400550" y="1009650"/>
                  </a:cubicBezTo>
                  <a:cubicBezTo>
                    <a:pt x="4417850" y="1021183"/>
                    <a:pt x="4430026" y="1019175"/>
                    <a:pt x="4448175" y="1019175"/>
                  </a:cubicBezTo>
                  <a:lnTo>
                    <a:pt x="19050" y="1028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E2C66C-B00C-9966-4B19-B3F53D396155}"/>
              </a:ext>
            </a:extLst>
          </p:cNvPr>
          <p:cNvGrpSpPr/>
          <p:nvPr/>
        </p:nvGrpSpPr>
        <p:grpSpPr>
          <a:xfrm>
            <a:off x="3485276" y="1593670"/>
            <a:ext cx="3953749" cy="1283372"/>
            <a:chOff x="7297497" y="4097518"/>
            <a:chExt cx="2771775" cy="1283372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CE117C6-228D-AD9B-F0E7-B7CDBA2264AC}"/>
                </a:ext>
              </a:extLst>
            </p:cNvPr>
            <p:cNvCxnSpPr/>
            <p:nvPr/>
          </p:nvCxnSpPr>
          <p:spPr>
            <a:xfrm>
              <a:off x="7297497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3E69476-11E3-36F0-2ED2-999B1568E7A5}"/>
                </a:ext>
              </a:extLst>
            </p:cNvPr>
            <p:cNvCxnSpPr/>
            <p:nvPr/>
          </p:nvCxnSpPr>
          <p:spPr>
            <a:xfrm>
              <a:off x="7659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56673E6-19BE-013F-E349-A2C591C69B7C}"/>
                </a:ext>
              </a:extLst>
            </p:cNvPr>
            <p:cNvCxnSpPr/>
            <p:nvPr/>
          </p:nvCxnSpPr>
          <p:spPr>
            <a:xfrm>
              <a:off x="80499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045FD3B-DC5E-8A69-B797-6654C0874FE5}"/>
                </a:ext>
              </a:extLst>
            </p:cNvPr>
            <p:cNvCxnSpPr/>
            <p:nvPr/>
          </p:nvCxnSpPr>
          <p:spPr>
            <a:xfrm>
              <a:off x="840239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BFAAF32-8C2E-0121-B7C8-D8302F770CB9}"/>
                </a:ext>
              </a:extLst>
            </p:cNvPr>
            <p:cNvCxnSpPr/>
            <p:nvPr/>
          </p:nvCxnSpPr>
          <p:spPr>
            <a:xfrm>
              <a:off x="8802447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6F89C5B-4709-7F9F-C8B6-D5C3F158E140}"/>
                </a:ext>
              </a:extLst>
            </p:cNvPr>
            <p:cNvCxnSpPr/>
            <p:nvPr/>
          </p:nvCxnSpPr>
          <p:spPr>
            <a:xfrm>
              <a:off x="9250122" y="4097518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F2FD61-ED12-C0B3-63F5-EFEC402615E3}"/>
                </a:ext>
              </a:extLst>
            </p:cNvPr>
            <p:cNvCxnSpPr/>
            <p:nvPr/>
          </p:nvCxnSpPr>
          <p:spPr>
            <a:xfrm>
              <a:off x="966922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0BE4750-C01B-734C-51F6-B7436F326997}"/>
                </a:ext>
              </a:extLst>
            </p:cNvPr>
            <p:cNvCxnSpPr/>
            <p:nvPr/>
          </p:nvCxnSpPr>
          <p:spPr>
            <a:xfrm>
              <a:off x="10069272" y="4110614"/>
              <a:ext cx="0" cy="1270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0CC88E-6EF0-7762-CCE2-F3C799F507E2}"/>
              </a:ext>
            </a:extLst>
          </p:cNvPr>
          <p:cNvGrpSpPr/>
          <p:nvPr/>
        </p:nvGrpSpPr>
        <p:grpSpPr>
          <a:xfrm>
            <a:off x="3230931" y="2864329"/>
            <a:ext cx="3350437" cy="411937"/>
            <a:chOff x="3230931" y="2864329"/>
            <a:chExt cx="3941390" cy="411937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E9D8A81-D6DE-57BE-E147-D7E41581E3E4}"/>
                </a:ext>
              </a:extLst>
            </p:cNvPr>
            <p:cNvSpPr/>
            <p:nvPr/>
          </p:nvSpPr>
          <p:spPr>
            <a:xfrm>
              <a:off x="4848775" y="2864329"/>
              <a:ext cx="466175" cy="145686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2F61420-00D1-9D20-76C8-B9BC980FEFEA}"/>
                </a:ext>
              </a:extLst>
            </p:cNvPr>
            <p:cNvSpPr/>
            <p:nvPr/>
          </p:nvSpPr>
          <p:spPr>
            <a:xfrm>
              <a:off x="4324352" y="2873853"/>
              <a:ext cx="1581140" cy="18867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1BC52EB-3FF1-A4BA-7122-D6B2DFD67F04}"/>
                </a:ext>
              </a:extLst>
            </p:cNvPr>
            <p:cNvSpPr/>
            <p:nvPr/>
          </p:nvSpPr>
          <p:spPr>
            <a:xfrm>
              <a:off x="3751243" y="2878219"/>
              <a:ext cx="2839651" cy="31118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7450486-DFA5-257A-02B8-67C8CFCFB660}"/>
                </a:ext>
              </a:extLst>
            </p:cNvPr>
            <p:cNvSpPr/>
            <p:nvPr/>
          </p:nvSpPr>
          <p:spPr>
            <a:xfrm>
              <a:off x="3230931" y="2906935"/>
              <a:ext cx="3941390" cy="369331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6783AF3-0B0F-F7E6-FDDC-0BFBE45DCAD4}"/>
              </a:ext>
            </a:extLst>
          </p:cNvPr>
          <p:cNvGrpSpPr/>
          <p:nvPr/>
        </p:nvGrpSpPr>
        <p:grpSpPr>
          <a:xfrm>
            <a:off x="3164256" y="3220411"/>
            <a:ext cx="1179144" cy="208589"/>
            <a:chOff x="4476752" y="2947930"/>
            <a:chExt cx="1581140" cy="266997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F88429-AD3C-2138-58DD-F1D6CC469741}"/>
                </a:ext>
              </a:extLst>
            </p:cNvPr>
            <p:cNvSpPr/>
            <p:nvPr/>
          </p:nvSpPr>
          <p:spPr>
            <a:xfrm>
              <a:off x="4986243" y="2947930"/>
              <a:ext cx="523875" cy="142989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50800">
              <a:solidFill>
                <a:srgbClr val="FF3399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5057DD9-8EE0-59ED-E7E7-E3DA6AB0F87B}"/>
                </a:ext>
              </a:extLst>
            </p:cNvPr>
            <p:cNvSpPr/>
            <p:nvPr/>
          </p:nvSpPr>
          <p:spPr>
            <a:xfrm>
              <a:off x="4476752" y="3026253"/>
              <a:ext cx="1581140" cy="188674"/>
            </a:xfrm>
            <a:custGeom>
              <a:avLst/>
              <a:gdLst>
                <a:gd name="connsiteX0" fmla="*/ 0 w 523875"/>
                <a:gd name="connsiteY0" fmla="*/ 19050 h 142989"/>
                <a:gd name="connsiteX1" fmla="*/ 295275 w 523875"/>
                <a:gd name="connsiteY1" fmla="*/ 142875 h 142989"/>
                <a:gd name="connsiteX2" fmla="*/ 523875 w 523875"/>
                <a:gd name="connsiteY2" fmla="*/ 0 h 14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3875" h="142989">
                  <a:moveTo>
                    <a:pt x="0" y="19050"/>
                  </a:moveTo>
                  <a:cubicBezTo>
                    <a:pt x="103981" y="82550"/>
                    <a:pt x="207963" y="146050"/>
                    <a:pt x="295275" y="142875"/>
                  </a:cubicBezTo>
                  <a:cubicBezTo>
                    <a:pt x="382587" y="139700"/>
                    <a:pt x="453231" y="69850"/>
                    <a:pt x="523875" y="0"/>
                  </a:cubicBezTo>
                </a:path>
              </a:pathLst>
            </a:custGeom>
            <a:noFill/>
            <a:ln w="50800">
              <a:solidFill>
                <a:srgbClr val="FF3399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31F3F48-DAFE-D1CA-4687-D88C8C391CB5}"/>
              </a:ext>
            </a:extLst>
          </p:cNvPr>
          <p:cNvGrpSpPr/>
          <p:nvPr/>
        </p:nvGrpSpPr>
        <p:grpSpPr>
          <a:xfrm>
            <a:off x="2943226" y="2330549"/>
            <a:ext cx="4512333" cy="410740"/>
            <a:chOff x="2943226" y="2330549"/>
            <a:chExt cx="4512333" cy="41074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94075E9-C30E-09C9-3004-BE4983D9BBC7}"/>
                </a:ext>
              </a:extLst>
            </p:cNvPr>
            <p:cNvCxnSpPr>
              <a:cxnSpLocks/>
            </p:cNvCxnSpPr>
            <p:nvPr/>
          </p:nvCxnSpPr>
          <p:spPr>
            <a:xfrm>
              <a:off x="6874534" y="2737927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8CE73A2-040F-C0A1-36C1-3DD09298C022}"/>
                </a:ext>
              </a:extLst>
            </p:cNvPr>
            <p:cNvCxnSpPr>
              <a:cxnSpLocks/>
            </p:cNvCxnSpPr>
            <p:nvPr/>
          </p:nvCxnSpPr>
          <p:spPr>
            <a:xfrm>
              <a:off x="6285969" y="2633379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FCCFDE-5791-542C-A5C5-3026A3B8D2CF}"/>
                </a:ext>
              </a:extLst>
            </p:cNvPr>
            <p:cNvCxnSpPr>
              <a:cxnSpLocks/>
            </p:cNvCxnSpPr>
            <p:nvPr/>
          </p:nvCxnSpPr>
          <p:spPr>
            <a:xfrm>
              <a:off x="5674818" y="2537670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CFE8F03-0D4C-492B-8626-D01B6E7FECCF}"/>
                </a:ext>
              </a:extLst>
            </p:cNvPr>
            <p:cNvCxnSpPr>
              <a:cxnSpLocks/>
            </p:cNvCxnSpPr>
            <p:nvPr/>
          </p:nvCxnSpPr>
          <p:spPr>
            <a:xfrm>
              <a:off x="5050960" y="2466197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376B418-B03B-A454-406D-105D0DD6904B}"/>
                </a:ext>
              </a:extLst>
            </p:cNvPr>
            <p:cNvCxnSpPr>
              <a:cxnSpLocks/>
            </p:cNvCxnSpPr>
            <p:nvPr/>
          </p:nvCxnSpPr>
          <p:spPr>
            <a:xfrm>
              <a:off x="4526426" y="2330549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FC53671-9FC2-43D7-00A5-D958F7A2D8D2}"/>
                </a:ext>
              </a:extLst>
            </p:cNvPr>
            <p:cNvCxnSpPr>
              <a:cxnSpLocks/>
            </p:cNvCxnSpPr>
            <p:nvPr/>
          </p:nvCxnSpPr>
          <p:spPr>
            <a:xfrm>
              <a:off x="4002961" y="2467212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87A883E-1599-39B9-436E-FB98D4FCE971}"/>
                </a:ext>
              </a:extLst>
            </p:cNvPr>
            <p:cNvCxnSpPr>
              <a:cxnSpLocks/>
            </p:cNvCxnSpPr>
            <p:nvPr/>
          </p:nvCxnSpPr>
          <p:spPr>
            <a:xfrm>
              <a:off x="3420548" y="2534308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F7795B3-E3AF-4A21-2E93-15F0EA3E40E1}"/>
                </a:ext>
              </a:extLst>
            </p:cNvPr>
            <p:cNvCxnSpPr>
              <a:cxnSpLocks/>
            </p:cNvCxnSpPr>
            <p:nvPr/>
          </p:nvCxnSpPr>
          <p:spPr>
            <a:xfrm>
              <a:off x="2943226" y="2627229"/>
              <a:ext cx="581025" cy="3362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DC021785-B74F-5263-AEE9-77247CD22288}"/>
              </a:ext>
            </a:extLst>
          </p:cNvPr>
          <p:cNvSpPr/>
          <p:nvPr/>
        </p:nvSpPr>
        <p:spPr>
          <a:xfrm>
            <a:off x="2812289" y="1678463"/>
            <a:ext cx="1812946" cy="999021"/>
          </a:xfrm>
          <a:prstGeom prst="ellipse">
            <a:avLst/>
          </a:prstGeom>
          <a:noFill/>
          <a:ln w="50800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2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E3A5-276A-04B3-2095-6110C207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EEB8D-32BB-0361-2443-EF8108B88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Theoretical model</a:t>
            </a:r>
          </a:p>
          <a:p>
            <a:pPr marL="0" indent="0">
              <a:buNone/>
            </a:pPr>
            <a:r>
              <a:rPr lang="en-US" dirty="0"/>
              <a:t>New policies: Controlled Discretization</a:t>
            </a:r>
          </a:p>
          <a:p>
            <a:pPr marL="0" indent="0">
              <a:buNone/>
            </a:pPr>
            <a:r>
              <a:rPr lang="en-US" dirty="0"/>
              <a:t>Theoretical results</a:t>
            </a:r>
          </a:p>
          <a:p>
            <a:pPr marL="0" indent="0">
              <a:buNone/>
            </a:pPr>
            <a:r>
              <a:rPr lang="en-US" dirty="0"/>
              <a:t>Empirical results, including trace data</a:t>
            </a:r>
          </a:p>
          <a:p>
            <a:pPr marL="0" indent="0">
              <a:buNone/>
            </a:pPr>
            <a:r>
              <a:rPr lang="en-US" dirty="0"/>
              <a:t>Extension: Changing requirements over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AFA80-0DB3-970F-148C-AFE235EC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CF2C3-EA68-8DC5-3568-58845CC0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21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D6498C4-585A-28B0-41FC-723D921AB004}"/>
              </a:ext>
            </a:extLst>
          </p:cNvPr>
          <p:cNvGrpSpPr/>
          <p:nvPr/>
        </p:nvGrpSpPr>
        <p:grpSpPr>
          <a:xfrm>
            <a:off x="6479177" y="678655"/>
            <a:ext cx="5350873" cy="2695575"/>
            <a:chOff x="6479177" y="678655"/>
            <a:chExt cx="5350873" cy="269557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B879C69-234E-9A49-11B8-A20DA26EF1B0}"/>
                </a:ext>
              </a:extLst>
            </p:cNvPr>
            <p:cNvGrpSpPr/>
            <p:nvPr/>
          </p:nvGrpSpPr>
          <p:grpSpPr>
            <a:xfrm>
              <a:off x="7172330" y="678655"/>
              <a:ext cx="4657720" cy="2695575"/>
              <a:chOff x="6867530" y="765174"/>
              <a:chExt cx="4657720" cy="269557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604F9FC-2F38-03FA-F32E-59FAB4B8F611}"/>
                  </a:ext>
                </a:extLst>
              </p:cNvPr>
              <p:cNvSpPr/>
              <p:nvPr/>
            </p:nvSpPr>
            <p:spPr>
              <a:xfrm>
                <a:off x="8972550" y="1825625"/>
                <a:ext cx="1524000" cy="5746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52261CE-3EC2-B1B6-0356-45BE3D7D4D51}"/>
                  </a:ext>
                </a:extLst>
              </p:cNvPr>
              <p:cNvSpPr/>
              <p:nvPr/>
            </p:nvSpPr>
            <p:spPr>
              <a:xfrm>
                <a:off x="10591800" y="1448594"/>
                <a:ext cx="447673" cy="95169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3C11D36-1243-34E4-38EC-C54DA7AE7DBB}"/>
                  </a:ext>
                </a:extLst>
              </p:cNvPr>
              <p:cNvSpPr/>
              <p:nvPr/>
            </p:nvSpPr>
            <p:spPr>
              <a:xfrm>
                <a:off x="11129964" y="1962152"/>
                <a:ext cx="319086" cy="41036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.08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D5CBE04-3001-E553-EA44-C9E32042DEB0}"/>
                  </a:ext>
                </a:extLst>
              </p:cNvPr>
              <p:cNvGrpSpPr/>
              <p:nvPr/>
            </p:nvGrpSpPr>
            <p:grpSpPr>
              <a:xfrm>
                <a:off x="7943851" y="765174"/>
                <a:ext cx="3581399" cy="2695575"/>
                <a:chOff x="7943851" y="765174"/>
                <a:chExt cx="3581399" cy="2695575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5FC855CF-9C1C-1140-996E-C81D51891041}"/>
                    </a:ext>
                  </a:extLst>
                </p:cNvPr>
                <p:cNvGrpSpPr/>
                <p:nvPr/>
              </p:nvGrpSpPr>
              <p:grpSpPr>
                <a:xfrm>
                  <a:off x="8829675" y="1690688"/>
                  <a:ext cx="2695575" cy="771525"/>
                  <a:chOff x="8610600" y="1485900"/>
                  <a:chExt cx="2695575" cy="1343025"/>
                </a:xfrm>
              </p:grpSpPr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76DAD1CC-5A70-B30A-6046-938E7C4AAB1F}"/>
                      </a:ext>
                    </a:extLst>
                  </p:cNvPr>
                  <p:cNvCxnSpPr/>
                  <p:nvPr/>
                </p:nvCxnSpPr>
                <p:spPr>
                  <a:xfrm>
                    <a:off x="8610600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6D87E930-54B0-5132-9F30-F71B13C5FDA8}"/>
                      </a:ext>
                    </a:extLst>
                  </p:cNvPr>
                  <p:cNvCxnSpPr/>
                  <p:nvPr/>
                </p:nvCxnSpPr>
                <p:spPr>
                  <a:xfrm>
                    <a:off x="11306175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F6C0B8D8-7032-6DF2-9647-E2C8185680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10600" y="2828925"/>
                    <a:ext cx="2695575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965EBB3-6180-DFBF-E5B2-9C2EF453A697}"/>
                    </a:ext>
                  </a:extLst>
                </p:cNvPr>
                <p:cNvGrpSpPr/>
                <p:nvPr/>
              </p:nvGrpSpPr>
              <p:grpSpPr>
                <a:xfrm rot="16200000">
                  <a:off x="6981826" y="1727199"/>
                  <a:ext cx="2695575" cy="771525"/>
                  <a:chOff x="8610600" y="1485900"/>
                  <a:chExt cx="2695575" cy="1343025"/>
                </a:xfrm>
              </p:grpSpPr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CDA1212D-59BC-522F-AFF3-CD32E6D66358}"/>
                      </a:ext>
                    </a:extLst>
                  </p:cNvPr>
                  <p:cNvCxnSpPr/>
                  <p:nvPr/>
                </p:nvCxnSpPr>
                <p:spPr>
                  <a:xfrm>
                    <a:off x="8610600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59F3D3C2-1DF0-CE87-97A7-62CC1A8BC3CA}"/>
                      </a:ext>
                    </a:extLst>
                  </p:cNvPr>
                  <p:cNvCxnSpPr/>
                  <p:nvPr/>
                </p:nvCxnSpPr>
                <p:spPr>
                  <a:xfrm>
                    <a:off x="11306175" y="1485900"/>
                    <a:ext cx="0" cy="13430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4F7C5F8E-AB4D-71C4-4D85-48C4B08A79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10600" y="2828925"/>
                    <a:ext cx="2695575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6E4AAE9-8E6E-62C0-6F0A-F2F92E77F3D1}"/>
                  </a:ext>
                </a:extLst>
              </p:cNvPr>
              <p:cNvCxnSpPr/>
              <p:nvPr/>
            </p:nvCxnSpPr>
            <p:spPr>
              <a:xfrm rot="16200000">
                <a:off x="8329614" y="1062831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C407E3C-285F-B7D7-CBFB-AC3A1948F586}"/>
                  </a:ext>
                </a:extLst>
              </p:cNvPr>
              <p:cNvCxnSpPr/>
              <p:nvPr/>
            </p:nvCxnSpPr>
            <p:spPr>
              <a:xfrm rot="16200000">
                <a:off x="8348663" y="1781572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79BAA8-517B-F558-E8FF-D9C263F04F0A}"/>
                  </a:ext>
                </a:extLst>
              </p:cNvPr>
              <p:cNvCxnSpPr/>
              <p:nvPr/>
            </p:nvCxnSpPr>
            <p:spPr>
              <a:xfrm rot="16200000">
                <a:off x="8329613" y="2428278"/>
                <a:ext cx="0" cy="771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503FAC-21FA-0A72-C5BB-1C3A222150BF}"/>
                  </a:ext>
                </a:extLst>
              </p:cNvPr>
              <p:cNvSpPr/>
              <p:nvPr/>
            </p:nvSpPr>
            <p:spPr>
              <a:xfrm>
                <a:off x="6867530" y="846784"/>
                <a:ext cx="1771647" cy="5386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.9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2C482B8-18AB-5395-FDCE-B880C9D62329}"/>
                  </a:ext>
                </a:extLst>
              </p:cNvPr>
              <p:cNvSpPr/>
              <p:nvPr/>
            </p:nvSpPr>
            <p:spPr>
              <a:xfrm>
                <a:off x="7515225" y="1735186"/>
                <a:ext cx="1128715" cy="32444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28800B-B538-ABDB-E6F3-39B3007BE887}"/>
                  </a:ext>
                </a:extLst>
              </p:cNvPr>
              <p:cNvSpPr/>
              <p:nvPr/>
            </p:nvSpPr>
            <p:spPr>
              <a:xfrm>
                <a:off x="8048626" y="2191275"/>
                <a:ext cx="595314" cy="6022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.25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7D0C1C5-4C38-C230-179A-03E8966FEC07}"/>
                  </a:ext>
                </a:extLst>
              </p:cNvPr>
              <p:cNvSpPr/>
              <p:nvPr/>
            </p:nvSpPr>
            <p:spPr>
              <a:xfrm>
                <a:off x="8286750" y="2993428"/>
                <a:ext cx="366713" cy="3151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.13</a:t>
                </a:r>
              </a:p>
            </p:txBody>
          </p:sp>
        </p:grp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BD1ACAD6-3D8E-DEB6-FC13-F036D3C03C57}"/>
                </a:ext>
              </a:extLst>
            </p:cNvPr>
            <p:cNvSpPr/>
            <p:nvPr/>
          </p:nvSpPr>
          <p:spPr>
            <a:xfrm>
              <a:off x="6598106" y="1665154"/>
              <a:ext cx="1047749" cy="831321"/>
            </a:xfrm>
            <a:prstGeom prst="rightArrow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CF6AB64-0180-99BC-E9AF-7898090AA1CD}"/>
                </a:ext>
              </a:extLst>
            </p:cNvPr>
            <p:cNvSpPr/>
            <p:nvPr/>
          </p:nvSpPr>
          <p:spPr>
            <a:xfrm>
              <a:off x="6479177" y="1739106"/>
              <a:ext cx="321675" cy="636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0FCA0F7-7AE7-3F34-7491-D49AF0C06B7F}"/>
              </a:ext>
            </a:extLst>
          </p:cNvPr>
          <p:cNvSpPr/>
          <p:nvPr/>
        </p:nvSpPr>
        <p:spPr>
          <a:xfrm>
            <a:off x="776783" y="1555994"/>
            <a:ext cx="5802271" cy="181823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94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7383C-F24A-BFCB-BC9D-614B728A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Practical: Discretized </a:t>
            </a:r>
            <a:r>
              <a:rPr lang="en-US" dirty="0" err="1"/>
              <a:t>MaxWeight</a:t>
            </a:r>
            <a:r>
              <a:rPr lang="en-US" dirty="0"/>
              <a:t> + Backfilling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E54A5D-E9BA-9F51-B6C7-F66C67386F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the best service option using the </a:t>
                </a:r>
                <a:r>
                  <a:rPr lang="en-US" dirty="0" err="1"/>
                  <a:t>MaxWeight</a:t>
                </a:r>
                <a:r>
                  <a:rPr lang="en-US" dirty="0"/>
                  <a:t> optimization</a:t>
                </a:r>
                <a:br>
                  <a:rPr lang="en-US" dirty="0"/>
                </a:br>
                <a:r>
                  <a:rPr lang="en-US" dirty="0"/>
                  <a:t>(or efficient subset):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Backfilling: Walk through jobs in FCFS order, greedily add anything that fits, ignoring discretization.</a:t>
                </a:r>
              </a:p>
              <a:p>
                <a:pPr marL="0" indent="0">
                  <a:buNone/>
                </a:pPr>
                <a:r>
                  <a:rPr lang="en-US" dirty="0"/>
                  <a:t>Optimality still holds, better practical performance.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E54A5D-E9BA-9F51-B6C7-F66C67386F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87DFD2-9272-D677-57FD-2701C15B2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587B9-6732-69EC-C522-F2C38284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3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BF0B701-C837-76D0-35D6-71E55503DD4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Empirical evaluation – Triangular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BF0B701-C837-76D0-35D6-71E55503DD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FCABD-57ED-2889-794B-CFA457EB9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Centered triangular, support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FCABD-57ED-2889-794B-CFA457EB9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68EB1-3568-49E2-B6FE-70E4387AA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9D651-04C3-65A5-1E49-A7C9941B4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23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B99E87-5E56-B0FB-89E3-F95009F97CBE}"/>
              </a:ext>
            </a:extLst>
          </p:cNvPr>
          <p:cNvGrpSpPr/>
          <p:nvPr/>
        </p:nvGrpSpPr>
        <p:grpSpPr>
          <a:xfrm>
            <a:off x="8969300" y="868474"/>
            <a:ext cx="2194000" cy="1734916"/>
            <a:chOff x="9159800" y="582713"/>
            <a:chExt cx="2194000" cy="173491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136A45B-7F2E-1CE8-73B8-EEA6A2930956}"/>
                </a:ext>
              </a:extLst>
            </p:cNvPr>
            <p:cNvGrpSpPr/>
            <p:nvPr/>
          </p:nvGrpSpPr>
          <p:grpSpPr>
            <a:xfrm>
              <a:off x="9159800" y="582713"/>
              <a:ext cx="2194000" cy="1734916"/>
              <a:chOff x="9802381" y="1960830"/>
              <a:chExt cx="2194000" cy="1734916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5AE9C1FA-1570-B72E-41FF-49C0FBE5C0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95128" y="1960830"/>
                <a:ext cx="13648" cy="13624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597F9087-3FCC-5EE6-1E0A-7A081B045C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8776" y="3323230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F490158F-2127-5D00-1838-9ED21020DED2}"/>
                      </a:ext>
                    </a:extLst>
                  </p:cNvPr>
                  <p:cNvSpPr txBox="1"/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A4263738-4CC0-8786-D045-6804AAD826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158" r="-27368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908364A-ADED-DDE7-D695-0CA2DA2F6697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4DDD703E-ED62-02AE-B4D1-9D05C1E911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6E45AC5D-D4E9-706F-F4FE-0897FE4DBE8C}"/>
                </a:ext>
              </a:extLst>
            </p:cNvPr>
            <p:cNvSpPr/>
            <p:nvPr/>
          </p:nvSpPr>
          <p:spPr>
            <a:xfrm>
              <a:off x="10119273" y="743626"/>
              <a:ext cx="438150" cy="1189038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4F14A3E-7972-2894-7F35-76EB43A620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50" y="2636123"/>
            <a:ext cx="11087100" cy="338177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4B82064-DF5D-2DC1-20A0-EE2456B68344}"/>
              </a:ext>
            </a:extLst>
          </p:cNvPr>
          <p:cNvGrpSpPr/>
          <p:nvPr/>
        </p:nvGrpSpPr>
        <p:grpSpPr>
          <a:xfrm>
            <a:off x="1371599" y="2699287"/>
            <a:ext cx="10515600" cy="3137386"/>
            <a:chOff x="1371599" y="2699287"/>
            <a:chExt cx="10515600" cy="313738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80C458-5EBC-8D62-9342-A8E82BE7CE68}"/>
                </a:ext>
              </a:extLst>
            </p:cNvPr>
            <p:cNvSpPr/>
            <p:nvPr/>
          </p:nvSpPr>
          <p:spPr>
            <a:xfrm>
              <a:off x="1371599" y="2699287"/>
              <a:ext cx="10315575" cy="26728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3FA58E5-6EE8-06DB-6DAC-DCCF7C099EAD}"/>
                </a:ext>
              </a:extLst>
            </p:cNvPr>
            <p:cNvSpPr/>
            <p:nvPr/>
          </p:nvSpPr>
          <p:spPr>
            <a:xfrm>
              <a:off x="9709672" y="3163860"/>
              <a:ext cx="2177527" cy="26728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3253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BF0B701-C837-76D0-35D6-71E55503DD4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Empirical evaluation – Triangular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BF0B701-C837-76D0-35D6-71E55503DD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FCABD-57ED-2889-794B-CFA457EB9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Centered triangular, support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FCABD-57ED-2889-794B-CFA457EB9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68EB1-3568-49E2-B6FE-70E4387AA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9D651-04C3-65A5-1E49-A7C9941B4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24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B99E87-5E56-B0FB-89E3-F95009F97CBE}"/>
              </a:ext>
            </a:extLst>
          </p:cNvPr>
          <p:cNvGrpSpPr/>
          <p:nvPr/>
        </p:nvGrpSpPr>
        <p:grpSpPr>
          <a:xfrm>
            <a:off x="8969300" y="868474"/>
            <a:ext cx="2194000" cy="1734916"/>
            <a:chOff x="9159800" y="582713"/>
            <a:chExt cx="2194000" cy="173491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136A45B-7F2E-1CE8-73B8-EEA6A2930956}"/>
                </a:ext>
              </a:extLst>
            </p:cNvPr>
            <p:cNvGrpSpPr/>
            <p:nvPr/>
          </p:nvGrpSpPr>
          <p:grpSpPr>
            <a:xfrm>
              <a:off x="9159800" y="582713"/>
              <a:ext cx="2194000" cy="1734916"/>
              <a:chOff x="9802381" y="1960830"/>
              <a:chExt cx="2194000" cy="1734916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5AE9C1FA-1570-B72E-41FF-49C0FBE5C0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95128" y="1960830"/>
                <a:ext cx="13648" cy="13624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597F9087-3FCC-5EE6-1E0A-7A081B045C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8776" y="3323230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F490158F-2127-5D00-1838-9ED21020DED2}"/>
                      </a:ext>
                    </a:extLst>
                  </p:cNvPr>
                  <p:cNvSpPr txBox="1"/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F490158F-2127-5D00-1838-9ED21020DE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158" r="-27368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908364A-ADED-DDE7-D695-0CA2DA2F6697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F908364A-ADED-DDE7-D695-0CA2DA2F66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6E45AC5D-D4E9-706F-F4FE-0897FE4DBE8C}"/>
                </a:ext>
              </a:extLst>
            </p:cNvPr>
            <p:cNvSpPr/>
            <p:nvPr/>
          </p:nvSpPr>
          <p:spPr>
            <a:xfrm>
              <a:off x="10119273" y="743626"/>
              <a:ext cx="438150" cy="1189038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4F14A3E-7972-2894-7F35-76EB43A620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50" y="2636123"/>
            <a:ext cx="11087100" cy="3381779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8B3D51F-9B9D-D4B2-6176-B333DA84A5A7}"/>
              </a:ext>
            </a:extLst>
          </p:cNvPr>
          <p:cNvGrpSpPr/>
          <p:nvPr/>
        </p:nvGrpSpPr>
        <p:grpSpPr>
          <a:xfrm>
            <a:off x="3198495" y="3429000"/>
            <a:ext cx="1544955" cy="646331"/>
            <a:chOff x="3198495" y="3429000"/>
            <a:chExt cx="1544955" cy="646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9C2F7B-8A94-68C7-EBED-E006EEDB8297}"/>
                </a:ext>
              </a:extLst>
            </p:cNvPr>
            <p:cNvSpPr txBox="1"/>
            <p:nvPr/>
          </p:nvSpPr>
          <p:spPr>
            <a:xfrm>
              <a:off x="3474720" y="3429000"/>
              <a:ext cx="1268730" cy="64633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7B6D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Naïve </a:t>
              </a:r>
              <a:r>
                <a:rPr lang="en-US" dirty="0" err="1"/>
                <a:t>MaxWeight</a:t>
              </a:r>
              <a:endParaRPr lang="en-US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464DFA8-E0BC-F964-5024-D7AFA86F1262}"/>
                </a:ext>
              </a:extLst>
            </p:cNvPr>
            <p:cNvCxnSpPr/>
            <p:nvPr/>
          </p:nvCxnSpPr>
          <p:spPr>
            <a:xfrm flipH="1">
              <a:off x="3198495" y="3806825"/>
              <a:ext cx="276225" cy="0"/>
            </a:xfrm>
            <a:prstGeom prst="straightConnector1">
              <a:avLst/>
            </a:prstGeom>
            <a:ln w="38100">
              <a:solidFill>
                <a:srgbClr val="F7B6D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1856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732A-BA7C-1C39-C5DC-A4907AD9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evaluation – CPU </a:t>
            </a:r>
            <a:r>
              <a:rPr lang="en-US" dirty="0" err="1"/>
              <a:t>reqs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7B2369-9BEF-A930-CFFE-626EF2FE1A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Google Borg scheduling trace </a:t>
                </a:r>
                <a:r>
                  <a:rPr lang="en-US" sz="1600" dirty="0"/>
                  <a:t>[</a:t>
                </a:r>
                <a:r>
                  <a:rPr lang="en-US" sz="1600" dirty="0" err="1"/>
                  <a:t>Tirmazi</a:t>
                </a:r>
                <a:r>
                  <a:rPr lang="en-US" sz="1600" dirty="0"/>
                  <a:t> ’19]</a:t>
                </a:r>
                <a:r>
                  <a:rPr lang="en-US" dirty="0"/>
                  <a:t>: CPU </a:t>
                </a:r>
                <a:r>
                  <a:rPr lang="en-US" dirty="0" err="1"/>
                  <a:t>reqs</a:t>
                </a:r>
                <a:r>
                  <a:rPr lang="en-US" dirty="0"/>
                  <a:t>, memory </a:t>
                </a:r>
                <a:r>
                  <a:rPr lang="en-US" dirty="0" err="1"/>
                  <a:t>reqs</a:t>
                </a:r>
                <a:r>
                  <a:rPr lang="en-US" dirty="0"/>
                  <a:t>. Not </a:t>
                </a:r>
                <a:r>
                  <a:rPr lang="en-US" dirty="0" err="1"/>
                  <a:t>i.i.d.</a:t>
                </a:r>
                <a:br>
                  <a:rPr lang="en-US" dirty="0"/>
                </a:br>
                <a:r>
                  <a:rPr lang="en-US" dirty="0"/>
                  <a:t>Focus on 90% of jobs with lower requirements, normalize.</a:t>
                </a:r>
              </a:p>
              <a:p>
                <a:pPr marL="0" indent="0">
                  <a:buNone/>
                </a:pPr>
                <a:r>
                  <a:rPr lang="en-US" dirty="0"/>
                  <a:t>					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=64 </m:t>
                    </m:r>
                  </m:oMath>
                </a14:m>
                <a:r>
                  <a:rPr lang="en-US" dirty="0"/>
                  <a:t>buckets,</a:t>
                </a:r>
                <a:br>
                  <a:rPr lang="en-US" dirty="0"/>
                </a:br>
                <a:r>
                  <a:rPr lang="en-US" dirty="0"/>
                  <a:t>                                                                               power-of-two pairing,</a:t>
                </a:r>
                <a:br>
                  <a:rPr lang="en-US" dirty="0"/>
                </a:br>
                <a:r>
                  <a:rPr lang="en-US" dirty="0"/>
                  <a:t>                                                                               backfilling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7B2369-9BEF-A930-CFFE-626EF2FE1A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1E081-158F-FB9E-04D0-E2463EE6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6F20D-3AE3-EF18-E334-98586423A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675462-119C-221E-DB1B-98D6AF1B3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535" y="2576007"/>
            <a:ext cx="5916130" cy="378034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A3268C7-F38E-9A86-CD6B-E7C9CF02025B}"/>
              </a:ext>
            </a:extLst>
          </p:cNvPr>
          <p:cNvGrpSpPr/>
          <p:nvPr/>
        </p:nvGrpSpPr>
        <p:grpSpPr>
          <a:xfrm>
            <a:off x="5772150" y="4599528"/>
            <a:ext cx="4495800" cy="707886"/>
            <a:chOff x="5772150" y="4599528"/>
            <a:chExt cx="4495800" cy="7078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43E713-4711-407C-6E23-B84DEDBD7387}"/>
                    </a:ext>
                  </a:extLst>
                </p:cNvPr>
                <p:cNvSpPr txBox="1"/>
                <p:nvPr/>
              </p:nvSpPr>
              <p:spPr>
                <a:xfrm>
                  <a:off x="7239000" y="4599528"/>
                  <a:ext cx="3028950" cy="707886"/>
                </a:xfrm>
                <a:prstGeom prst="rect">
                  <a:avLst/>
                </a:prstGeom>
                <a:noFill/>
                <a:ln w="38100">
                  <a:solidFill>
                    <a:srgbClr val="F7B6D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500k unique requirements, naïve </a:t>
                  </a:r>
                  <a:r>
                    <a:rPr lang="en-US" sz="2000" dirty="0" err="1"/>
                    <a:t>MaxWeight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sz="2000" dirty="0"/>
                    <a:t> LSF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43E713-4711-407C-6E23-B84DEDBD7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00" y="4599528"/>
                  <a:ext cx="3028950" cy="707886"/>
                </a:xfrm>
                <a:prstGeom prst="rect">
                  <a:avLst/>
                </a:prstGeom>
                <a:blipFill>
                  <a:blip r:embed="rId5"/>
                  <a:stretch>
                    <a:fillRect l="-1594" t="-2459" r="-1793" b="-11475"/>
                  </a:stretch>
                </a:blipFill>
                <a:ln w="38100">
                  <a:solidFill>
                    <a:srgbClr val="F7B6D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B3C3EB0-934F-B2D2-5B4F-E6D84CE334D6}"/>
                </a:ext>
              </a:extLst>
            </p:cNvPr>
            <p:cNvCxnSpPr/>
            <p:nvPr/>
          </p:nvCxnSpPr>
          <p:spPr>
            <a:xfrm flipH="1">
              <a:off x="5772150" y="4800600"/>
              <a:ext cx="1466850" cy="0"/>
            </a:xfrm>
            <a:prstGeom prst="straightConnector1">
              <a:avLst/>
            </a:prstGeom>
            <a:ln w="38100">
              <a:solidFill>
                <a:srgbClr val="F7B6D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EEF6C65-3C9F-810D-1DB1-A2D78479A0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1775" y="5095875"/>
              <a:ext cx="657225" cy="0"/>
            </a:xfrm>
            <a:prstGeom prst="straightConnector1">
              <a:avLst/>
            </a:prstGeom>
            <a:ln w="38100">
              <a:solidFill>
                <a:srgbClr val="F7B6D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95BF3A0-0EFD-A2AE-94A1-4E0D72178942}"/>
              </a:ext>
            </a:extLst>
          </p:cNvPr>
          <p:cNvSpPr/>
          <p:nvPr/>
        </p:nvSpPr>
        <p:spPr>
          <a:xfrm>
            <a:off x="7239000" y="2739624"/>
            <a:ext cx="3371850" cy="1175657"/>
          </a:xfrm>
          <a:prstGeom prst="rect">
            <a:avLst/>
          </a:prstGeom>
          <a:noFill/>
          <a:ln w="38100">
            <a:solidFill>
              <a:srgbClr val="BCBD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4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732A-BA7C-1C39-C5DC-A4907AD9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evaluation – Memory </a:t>
            </a:r>
            <a:r>
              <a:rPr lang="en-US" dirty="0" err="1"/>
              <a:t>reqs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7B2369-9BEF-A930-CFFE-626EF2FE1A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81150" y="135579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	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=64 </m:t>
                    </m:r>
                  </m:oMath>
                </a14:m>
                <a:r>
                  <a:rPr lang="en-US" dirty="0"/>
                  <a:t>buckets,</a:t>
                </a:r>
                <a:br>
                  <a:rPr lang="en-US" dirty="0"/>
                </a:br>
                <a:r>
                  <a:rPr lang="en-US" dirty="0"/>
                  <a:t>                                                                               power-of-two pairing,</a:t>
                </a:r>
                <a:br>
                  <a:rPr lang="en-US" dirty="0"/>
                </a:br>
                <a:r>
                  <a:rPr lang="en-US" dirty="0"/>
                  <a:t>                                                                               backfilling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7B2369-9BEF-A930-CFFE-626EF2FE1A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81150" y="1355795"/>
                <a:ext cx="10515600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1E081-158F-FB9E-04D0-E2463EE6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6F20D-3AE3-EF18-E334-98586423A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26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5BF3A0-0EFD-A2AE-94A1-4E0D72178942}"/>
              </a:ext>
            </a:extLst>
          </p:cNvPr>
          <p:cNvSpPr/>
          <p:nvPr/>
        </p:nvSpPr>
        <p:spPr>
          <a:xfrm>
            <a:off x="7991475" y="1899400"/>
            <a:ext cx="3267075" cy="1154723"/>
          </a:xfrm>
          <a:prstGeom prst="rect">
            <a:avLst/>
          </a:prstGeom>
          <a:noFill/>
          <a:ln w="38100">
            <a:solidFill>
              <a:srgbClr val="BCBD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E1D52E-818E-E617-9CAA-23F3249DF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819" y="1402074"/>
            <a:ext cx="7500850" cy="477488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A3268C7-F38E-9A86-CD6B-E7C9CF02025B}"/>
              </a:ext>
            </a:extLst>
          </p:cNvPr>
          <p:cNvGrpSpPr/>
          <p:nvPr/>
        </p:nvGrpSpPr>
        <p:grpSpPr>
          <a:xfrm>
            <a:off x="6410326" y="4026685"/>
            <a:ext cx="4943474" cy="707886"/>
            <a:chOff x="5772150" y="4599528"/>
            <a:chExt cx="4943474" cy="7078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43E713-4711-407C-6E23-B84DEDBD7387}"/>
                    </a:ext>
                  </a:extLst>
                </p:cNvPr>
                <p:cNvSpPr txBox="1"/>
                <p:nvPr/>
              </p:nvSpPr>
              <p:spPr>
                <a:xfrm>
                  <a:off x="7238999" y="4599528"/>
                  <a:ext cx="3476625" cy="707886"/>
                </a:xfrm>
                <a:prstGeom prst="rect">
                  <a:avLst/>
                </a:prstGeom>
                <a:noFill/>
                <a:ln w="38100">
                  <a:solidFill>
                    <a:srgbClr val="F7B6D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Only 3.7k unique requirements, still naïve </a:t>
                  </a:r>
                  <a:r>
                    <a:rPr lang="en-US" sz="2000" dirty="0" err="1"/>
                    <a:t>MaxWeight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sz="2000" dirty="0"/>
                    <a:t> LSF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43E713-4711-407C-6E23-B84DEDBD7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8999" y="4599528"/>
                  <a:ext cx="3476625" cy="707886"/>
                </a:xfrm>
                <a:prstGeom prst="rect">
                  <a:avLst/>
                </a:prstGeom>
                <a:blipFill>
                  <a:blip r:embed="rId5"/>
                  <a:stretch>
                    <a:fillRect l="-1213" t="-2459" r="-2080" b="-11475"/>
                  </a:stretch>
                </a:blipFill>
                <a:ln w="38100">
                  <a:solidFill>
                    <a:srgbClr val="F7B6D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B3C3EB0-934F-B2D2-5B4F-E6D84CE334D6}"/>
                </a:ext>
              </a:extLst>
            </p:cNvPr>
            <p:cNvCxnSpPr/>
            <p:nvPr/>
          </p:nvCxnSpPr>
          <p:spPr>
            <a:xfrm flipH="1">
              <a:off x="5772150" y="4800600"/>
              <a:ext cx="1466850" cy="0"/>
            </a:xfrm>
            <a:prstGeom prst="straightConnector1">
              <a:avLst/>
            </a:prstGeom>
            <a:ln w="38100">
              <a:solidFill>
                <a:srgbClr val="F7B6D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EEF6C65-3C9F-810D-1DB1-A2D78479A0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1775" y="5095875"/>
              <a:ext cx="657225" cy="0"/>
            </a:xfrm>
            <a:prstGeom prst="straightConnector1">
              <a:avLst/>
            </a:prstGeom>
            <a:ln w="38100">
              <a:solidFill>
                <a:srgbClr val="F7B6D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34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D9A1-F5CA-6CB4-DA2F-F722645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Ongoing: Changing requirements over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052206-D438-30F7-FB44-D2E57DE575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01375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Requirement stochastic process, per job.</a:t>
                </a:r>
              </a:p>
              <a:p>
                <a:pPr marL="0" indent="0">
                  <a:buNone/>
                </a:pPr>
                <a:r>
                  <a:rPr lang="en-US" dirty="0"/>
                  <a:t>Overrun: Preempt-</a:t>
                </a:r>
                <a:r>
                  <a:rPr lang="en-US" b="1" dirty="0"/>
                  <a:t>restart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Motivation: Resource requirement as a fraction of a GPU</a:t>
                </a:r>
              </a:p>
              <a:p>
                <a:pPr marL="0" indent="0">
                  <a:buNone/>
                </a:pPr>
                <a:r>
                  <a:rPr lang="en-US" dirty="0"/>
                  <a:t>Scaling: Large capacity, no individual job needs much.</a:t>
                </a:r>
              </a:p>
              <a:p>
                <a:pPr marL="0" indent="0">
                  <a:buNone/>
                </a:pPr>
                <a:r>
                  <a:rPr lang="en-US" dirty="0"/>
                  <a:t>Goal: Throughput-optimality, by avoiding empty capacity &amp; preemption</a:t>
                </a:r>
              </a:p>
              <a:p>
                <a:pPr marL="0" indent="0">
                  <a:buNone/>
                </a:pPr>
                <a:r>
                  <a:rPr lang="en-US" dirty="0"/>
                  <a:t>Key idea: Overlapping service, spaced-out start times</a:t>
                </a:r>
              </a:p>
              <a:p>
                <a:pPr marL="0" indent="0">
                  <a:buNone/>
                </a:pPr>
                <a:r>
                  <a:rPr lang="en-US" dirty="0"/>
                  <a:t>Poisson process,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</m:oMath>
                </a14:m>
                <a:r>
                  <a:rPr lang="en-US" dirty="0"/>
                  <a:t> spare capacity (sub-</a:t>
                </a:r>
                <a:r>
                  <a:rPr lang="en-US" dirty="0" err="1"/>
                  <a:t>Halfin</a:t>
                </a:r>
                <a:r>
                  <a:rPr lang="en-US" dirty="0"/>
                  <a:t>-Whitt):</a:t>
                </a:r>
                <a:br>
                  <a:rPr lang="en-US" dirty="0"/>
                </a:br>
                <a:r>
                  <a:rPr lang="en-US" dirty="0"/>
                  <a:t>No capacity overruns (forced preemption) in asymptotic limit, optimal!</a:t>
                </a:r>
              </a:p>
              <a:p>
                <a:pPr marL="0" indent="0">
                  <a:buNone/>
                </a:pPr>
                <a:r>
                  <a:rPr lang="en-US" dirty="0"/>
                  <a:t>Assumption: Either increasing or Lipschitz-continuous requirements.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052206-D438-30F7-FB44-D2E57DE575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01375" cy="4895850"/>
              </a:xfrm>
              <a:blipFill>
                <a:blip r:embed="rId2"/>
                <a:stretch>
                  <a:fillRect l="-1108" t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98B90-05A8-9186-35C7-E48932B4A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3C05D-A9E4-40E8-0592-91D1E232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27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C01234F-7984-FD59-0884-718A5DF690CA}"/>
              </a:ext>
            </a:extLst>
          </p:cNvPr>
          <p:cNvGrpSpPr/>
          <p:nvPr/>
        </p:nvGrpSpPr>
        <p:grpSpPr>
          <a:xfrm>
            <a:off x="7265955" y="1226958"/>
            <a:ext cx="4383120" cy="1702944"/>
            <a:chOff x="5863793" y="1350783"/>
            <a:chExt cx="6223301" cy="170294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76297B-6175-319F-7236-239F1DF43486}"/>
                </a:ext>
              </a:extLst>
            </p:cNvPr>
            <p:cNvSpPr/>
            <p:nvPr/>
          </p:nvSpPr>
          <p:spPr>
            <a:xfrm>
              <a:off x="7000874" y="1457325"/>
              <a:ext cx="3530968" cy="1228725"/>
            </a:xfrm>
            <a:custGeom>
              <a:avLst/>
              <a:gdLst>
                <a:gd name="connsiteX0" fmla="*/ 0 w 2219325"/>
                <a:gd name="connsiteY0" fmla="*/ 962025 h 1228725"/>
                <a:gd name="connsiteX1" fmla="*/ 685800 w 2219325"/>
                <a:gd name="connsiteY1" fmla="*/ 514350 h 1228725"/>
                <a:gd name="connsiteX2" fmla="*/ 2219325 w 2219325"/>
                <a:gd name="connsiteY2" fmla="*/ 0 h 1228725"/>
                <a:gd name="connsiteX3" fmla="*/ 2219325 w 2219325"/>
                <a:gd name="connsiteY3" fmla="*/ 1219200 h 1228725"/>
                <a:gd name="connsiteX4" fmla="*/ 0 w 2219325"/>
                <a:gd name="connsiteY4" fmla="*/ 1228725 h 1228725"/>
                <a:gd name="connsiteX5" fmla="*/ 0 w 2219325"/>
                <a:gd name="connsiteY5" fmla="*/ 962025 h 12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9325" h="1228725">
                  <a:moveTo>
                    <a:pt x="0" y="962025"/>
                  </a:moveTo>
                  <a:lnTo>
                    <a:pt x="685800" y="514350"/>
                  </a:lnTo>
                  <a:lnTo>
                    <a:pt x="2219325" y="0"/>
                  </a:lnTo>
                  <a:lnTo>
                    <a:pt x="2219325" y="1219200"/>
                  </a:lnTo>
                  <a:lnTo>
                    <a:pt x="0" y="1228725"/>
                  </a:lnTo>
                  <a:lnTo>
                    <a:pt x="0" y="96202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5E7305A-34EB-0587-9BF0-08D08CDEB366}"/>
                </a:ext>
              </a:extLst>
            </p:cNvPr>
            <p:cNvGrpSpPr/>
            <p:nvPr/>
          </p:nvGrpSpPr>
          <p:grpSpPr>
            <a:xfrm>
              <a:off x="5863793" y="1350783"/>
              <a:ext cx="6223301" cy="1702944"/>
              <a:chOff x="1499410" y="4474020"/>
              <a:chExt cx="6653989" cy="1702944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1247B33-F6B7-3C99-0F66-EC77885072D8}"/>
                  </a:ext>
                </a:extLst>
              </p:cNvPr>
              <p:cNvGrpSpPr/>
              <p:nvPr/>
            </p:nvGrpSpPr>
            <p:grpSpPr>
              <a:xfrm>
                <a:off x="2579567" y="4474020"/>
                <a:ext cx="5573832" cy="1702944"/>
                <a:chOff x="10458940" y="1990876"/>
                <a:chExt cx="1592754" cy="1702944"/>
              </a:xfrm>
            </p:grpSpPr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954D0A77-2772-CA20-A18B-127809C966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97366" y="1990876"/>
                  <a:ext cx="0" cy="1350915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7573C00A-2C8E-C9FD-ADCF-E82AD885B6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95128" y="3330054"/>
                  <a:ext cx="1423917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B1416B4C-EBB8-251B-17E1-EBFD531F4F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58940" y="3324488"/>
                      <a:ext cx="15927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a14:m>
                      <a:r>
                        <a:rPr lang="en-US" dirty="0"/>
                        <a:t>                      time </a:t>
                      </a:r>
                      <a14:m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B1416B4C-EBB8-251B-17E1-EBFD531F4FD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458940" y="3324488"/>
                      <a:ext cx="159275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819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D7E2EE1-AC18-6BAB-DBF9-DFC505CF03A9}"/>
                      </a:ext>
                    </a:extLst>
                  </p:cNvPr>
                  <p:cNvSpPr txBox="1"/>
                  <p:nvPr/>
                </p:nvSpPr>
                <p:spPr>
                  <a:xfrm>
                    <a:off x="1499410" y="5060577"/>
                    <a:ext cx="730199" cy="369332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D7E2EE1-AC18-6BAB-DBF9-DFC505CF03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99410" y="5060577"/>
                    <a:ext cx="730199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797" r="-82278" b="-13115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15DAFBB8-078B-0B4C-6FD8-A2C6FB890719}"/>
              </a:ext>
            </a:extLst>
          </p:cNvPr>
          <p:cNvSpPr/>
          <p:nvPr/>
        </p:nvSpPr>
        <p:spPr>
          <a:xfrm>
            <a:off x="838200" y="4841593"/>
            <a:ext cx="10410826" cy="1022598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0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4102-7883-4DA8-3446-63D5D000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Lots of future directions!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FAC85-3491-6B25-4767-83E80E88C4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Continuous-first policies – no discretization.</a:t>
                </a:r>
              </a:p>
              <a:p>
                <a:pPr marL="0" indent="0">
                  <a:buNone/>
                </a:pPr>
                <a:r>
                  <a:rPr lang="en-US" dirty="0"/>
                  <a:t>Adaptive policies – no “sufficiently large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”.</a:t>
                </a:r>
              </a:p>
              <a:p>
                <a:pPr marL="0" indent="0">
                  <a:buNone/>
                </a:pPr>
                <a:r>
                  <a:rPr lang="en-US" dirty="0"/>
                  <a:t>Beyond Lipschitz: density asymptote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r>
                  <a:rPr lang="en-US" dirty="0"/>
                  <a:t>Mean response time?</a:t>
                </a:r>
              </a:p>
              <a:p>
                <a:pPr marL="0" indent="0">
                  <a:buNone/>
                </a:pPr>
                <a:r>
                  <a:rPr lang="en-US" dirty="0"/>
                  <a:t>Changing requirements with large-capacity jobs?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FAC85-3491-6B25-4767-83E80E88C4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A41D62-6E7A-BA77-DDD8-BAB0841B9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3FAC0-AF0F-631D-5389-5C4FFE02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28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A111C77-4936-162B-43DC-DEFC307E9FAD}"/>
              </a:ext>
            </a:extLst>
          </p:cNvPr>
          <p:cNvGrpSpPr/>
          <p:nvPr/>
        </p:nvGrpSpPr>
        <p:grpSpPr>
          <a:xfrm>
            <a:off x="7788200" y="365125"/>
            <a:ext cx="2194000" cy="3214503"/>
            <a:chOff x="8706959" y="9525"/>
            <a:chExt cx="2194000" cy="32145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2E581F2-8428-BA5B-24AC-72C9608CA505}"/>
                </a:ext>
              </a:extLst>
            </p:cNvPr>
            <p:cNvSpPr/>
            <p:nvPr/>
          </p:nvSpPr>
          <p:spPr>
            <a:xfrm>
              <a:off x="9399625" y="9525"/>
              <a:ext cx="211100" cy="1990725"/>
            </a:xfrm>
            <a:custGeom>
              <a:avLst/>
              <a:gdLst>
                <a:gd name="connsiteX0" fmla="*/ 211100 w 211100"/>
                <a:gd name="connsiteY0" fmla="*/ 1962150 h 1990725"/>
                <a:gd name="connsiteX1" fmla="*/ 211100 w 211100"/>
                <a:gd name="connsiteY1" fmla="*/ 1962150 h 1990725"/>
                <a:gd name="connsiteX2" fmla="*/ 144425 w 211100"/>
                <a:gd name="connsiteY2" fmla="*/ 1905000 h 1990725"/>
                <a:gd name="connsiteX3" fmla="*/ 134900 w 211100"/>
                <a:gd name="connsiteY3" fmla="*/ 1847850 h 1990725"/>
                <a:gd name="connsiteX4" fmla="*/ 125375 w 211100"/>
                <a:gd name="connsiteY4" fmla="*/ 1238250 h 1990725"/>
                <a:gd name="connsiteX5" fmla="*/ 115850 w 211100"/>
                <a:gd name="connsiteY5" fmla="*/ 1200150 h 1990725"/>
                <a:gd name="connsiteX6" fmla="*/ 106325 w 211100"/>
                <a:gd name="connsiteY6" fmla="*/ 1133475 h 1990725"/>
                <a:gd name="connsiteX7" fmla="*/ 87275 w 211100"/>
                <a:gd name="connsiteY7" fmla="*/ 1095375 h 1990725"/>
                <a:gd name="connsiteX8" fmla="*/ 68225 w 211100"/>
                <a:gd name="connsiteY8" fmla="*/ 857250 h 1990725"/>
                <a:gd name="connsiteX9" fmla="*/ 58700 w 211100"/>
                <a:gd name="connsiteY9" fmla="*/ 828675 h 1990725"/>
                <a:gd name="connsiteX10" fmla="*/ 49175 w 211100"/>
                <a:gd name="connsiteY10" fmla="*/ 790575 h 1990725"/>
                <a:gd name="connsiteX11" fmla="*/ 39650 w 211100"/>
                <a:gd name="connsiteY11" fmla="*/ 133350 h 1990725"/>
                <a:gd name="connsiteX12" fmla="*/ 20600 w 211100"/>
                <a:gd name="connsiteY12" fmla="*/ 66675 h 1990725"/>
                <a:gd name="connsiteX13" fmla="*/ 1550 w 211100"/>
                <a:gd name="connsiteY13" fmla="*/ 38100 h 1990725"/>
                <a:gd name="connsiteX14" fmla="*/ 1550 w 211100"/>
                <a:gd name="connsiteY14" fmla="*/ 0 h 1990725"/>
                <a:gd name="connsiteX15" fmla="*/ 30125 w 211100"/>
                <a:gd name="connsiteY15" fmla="*/ 1990725 h 1990725"/>
                <a:gd name="connsiteX16" fmla="*/ 211100 w 211100"/>
                <a:gd name="connsiteY16" fmla="*/ 1962150 h 199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1100" h="1990725">
                  <a:moveTo>
                    <a:pt x="211100" y="1962150"/>
                  </a:moveTo>
                  <a:lnTo>
                    <a:pt x="211100" y="1962150"/>
                  </a:lnTo>
                  <a:cubicBezTo>
                    <a:pt x="188875" y="1943100"/>
                    <a:pt x="160662" y="1929356"/>
                    <a:pt x="144425" y="1905000"/>
                  </a:cubicBezTo>
                  <a:cubicBezTo>
                    <a:pt x="133712" y="1888931"/>
                    <a:pt x="135452" y="1867155"/>
                    <a:pt x="134900" y="1847850"/>
                  </a:cubicBezTo>
                  <a:cubicBezTo>
                    <a:pt x="129096" y="1644708"/>
                    <a:pt x="131350" y="1441387"/>
                    <a:pt x="125375" y="1238250"/>
                  </a:cubicBezTo>
                  <a:cubicBezTo>
                    <a:pt x="124990" y="1225165"/>
                    <a:pt x="118192" y="1213030"/>
                    <a:pt x="115850" y="1200150"/>
                  </a:cubicBezTo>
                  <a:cubicBezTo>
                    <a:pt x="111834" y="1178061"/>
                    <a:pt x="112232" y="1155135"/>
                    <a:pt x="106325" y="1133475"/>
                  </a:cubicBezTo>
                  <a:cubicBezTo>
                    <a:pt x="102589" y="1119776"/>
                    <a:pt x="93625" y="1108075"/>
                    <a:pt x="87275" y="1095375"/>
                  </a:cubicBezTo>
                  <a:cubicBezTo>
                    <a:pt x="83700" y="1034600"/>
                    <a:pt x="80928" y="927115"/>
                    <a:pt x="68225" y="857250"/>
                  </a:cubicBezTo>
                  <a:cubicBezTo>
                    <a:pt x="66429" y="847372"/>
                    <a:pt x="61458" y="838329"/>
                    <a:pt x="58700" y="828675"/>
                  </a:cubicBezTo>
                  <a:cubicBezTo>
                    <a:pt x="55104" y="816088"/>
                    <a:pt x="52350" y="803275"/>
                    <a:pt x="49175" y="790575"/>
                  </a:cubicBezTo>
                  <a:cubicBezTo>
                    <a:pt x="46000" y="571500"/>
                    <a:pt x="45650" y="352366"/>
                    <a:pt x="39650" y="133350"/>
                  </a:cubicBezTo>
                  <a:cubicBezTo>
                    <a:pt x="39473" y="126893"/>
                    <a:pt x="25227" y="75930"/>
                    <a:pt x="20600" y="66675"/>
                  </a:cubicBezTo>
                  <a:cubicBezTo>
                    <a:pt x="15480" y="56436"/>
                    <a:pt x="4695" y="49107"/>
                    <a:pt x="1550" y="38100"/>
                  </a:cubicBezTo>
                  <a:cubicBezTo>
                    <a:pt x="-1939" y="25889"/>
                    <a:pt x="1550" y="12700"/>
                    <a:pt x="1550" y="0"/>
                  </a:cubicBezTo>
                  <a:lnTo>
                    <a:pt x="30125" y="1990725"/>
                  </a:lnTo>
                  <a:lnTo>
                    <a:pt x="211100" y="1962150"/>
                  </a:lnTo>
                  <a:close/>
                </a:path>
              </a:pathLst>
            </a:cu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B681896-7BAF-ACF9-B205-F9318CA5983E}"/>
                </a:ext>
              </a:extLst>
            </p:cNvPr>
            <p:cNvGrpSpPr/>
            <p:nvPr/>
          </p:nvGrpSpPr>
          <p:grpSpPr>
            <a:xfrm>
              <a:off x="8706959" y="1489112"/>
              <a:ext cx="2194000" cy="1734916"/>
              <a:chOff x="9802381" y="1960830"/>
              <a:chExt cx="2194000" cy="1734916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3C9A7CB-EC63-91F8-41A7-CB2FE575A50C}"/>
                  </a:ext>
                </a:extLst>
              </p:cNvPr>
              <p:cNvSpPr/>
              <p:nvPr/>
            </p:nvSpPr>
            <p:spPr>
              <a:xfrm>
                <a:off x="10495128" y="2270576"/>
                <a:ext cx="1255594" cy="1059478"/>
              </a:xfrm>
              <a:custGeom>
                <a:avLst/>
                <a:gdLst>
                  <a:gd name="connsiteX0" fmla="*/ 0 w 1255594"/>
                  <a:gd name="connsiteY0" fmla="*/ 1052654 h 1059478"/>
                  <a:gd name="connsiteX1" fmla="*/ 6824 w 1255594"/>
                  <a:gd name="connsiteY1" fmla="*/ 104134 h 1059478"/>
                  <a:gd name="connsiteX2" fmla="*/ 6824 w 1255594"/>
                  <a:gd name="connsiteY2" fmla="*/ 22248 h 1059478"/>
                  <a:gd name="connsiteX3" fmla="*/ 75063 w 1255594"/>
                  <a:gd name="connsiteY3" fmla="*/ 83663 h 1059478"/>
                  <a:gd name="connsiteX4" fmla="*/ 320723 w 1255594"/>
                  <a:gd name="connsiteY4" fmla="*/ 186021 h 1059478"/>
                  <a:gd name="connsiteX5" fmla="*/ 716508 w 1255594"/>
                  <a:gd name="connsiteY5" fmla="*/ 90487 h 1059478"/>
                  <a:gd name="connsiteX6" fmla="*/ 1071350 w 1255594"/>
                  <a:gd name="connsiteY6" fmla="*/ 418033 h 1059478"/>
                  <a:gd name="connsiteX7" fmla="*/ 1255594 w 1255594"/>
                  <a:gd name="connsiteY7" fmla="*/ 1059478 h 105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5594" h="1059478">
                    <a:moveTo>
                      <a:pt x="0" y="1052654"/>
                    </a:moveTo>
                    <a:cubicBezTo>
                      <a:pt x="2843" y="664261"/>
                      <a:pt x="5687" y="275868"/>
                      <a:pt x="6824" y="104134"/>
                    </a:cubicBezTo>
                    <a:cubicBezTo>
                      <a:pt x="7961" y="-67600"/>
                      <a:pt x="-4549" y="25660"/>
                      <a:pt x="6824" y="22248"/>
                    </a:cubicBezTo>
                    <a:cubicBezTo>
                      <a:pt x="18197" y="18836"/>
                      <a:pt x="22747" y="56368"/>
                      <a:pt x="75063" y="83663"/>
                    </a:cubicBezTo>
                    <a:cubicBezTo>
                      <a:pt x="127379" y="110958"/>
                      <a:pt x="213816" y="184884"/>
                      <a:pt x="320723" y="186021"/>
                    </a:cubicBezTo>
                    <a:cubicBezTo>
                      <a:pt x="427630" y="187158"/>
                      <a:pt x="591404" y="51818"/>
                      <a:pt x="716508" y="90487"/>
                    </a:cubicBezTo>
                    <a:cubicBezTo>
                      <a:pt x="841612" y="129156"/>
                      <a:pt x="981502" y="256535"/>
                      <a:pt x="1071350" y="418033"/>
                    </a:cubicBezTo>
                    <a:cubicBezTo>
                      <a:pt x="1161198" y="579531"/>
                      <a:pt x="1208396" y="819504"/>
                      <a:pt x="1255594" y="1059478"/>
                    </a:cubicBezTo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A06D9AD9-D115-D478-5CB2-3EA4505C6F05}"/>
                  </a:ext>
                </a:extLst>
              </p:cNvPr>
              <p:cNvCxnSpPr>
                <a:stCxn id="7" idx="0"/>
              </p:cNvCxnSpPr>
              <p:nvPr/>
            </p:nvCxnSpPr>
            <p:spPr>
              <a:xfrm flipV="1">
                <a:off x="10495128" y="1960830"/>
                <a:ext cx="13648" cy="13624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014D8C9C-6CFD-96C1-D7A5-5CB134211B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8776" y="3323230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7D847FDB-91B9-E3B4-A800-659A3812DC21}"/>
                      </a:ext>
                    </a:extLst>
                  </p:cNvPr>
                  <p:cNvSpPr txBox="1"/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A4263738-4CC0-8786-D045-6804AAD826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158" r="-27368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C742092E-4BE4-F1AC-FEFB-9C99682F9536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4DDD703E-ED62-02AE-B4D1-9D05C1E911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53741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ABF96-C8CA-1073-EDCC-4B55D134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8A297-D2E6-847F-3F69-5A5675B3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CMU CSD Theory Seminar, 8/28/26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99961-242A-D03E-DC62-5F51F02AF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A957-A910-43A5-89A4-EA8C5A38DB64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E24F1A-60F3-235C-CA28-BC68EB6FFEF5}"/>
                  </a:ext>
                </a:extLst>
              </p:cNvPr>
              <p:cNvSpPr txBox="1"/>
              <p:nvPr/>
            </p:nvSpPr>
            <p:spPr>
              <a:xfrm>
                <a:off x="838200" y="4791532"/>
                <a:ext cx="3486150" cy="87729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400" dirty="0"/>
                  <a:t>K-Discretized </a:t>
                </a:r>
                <a:r>
                  <a:rPr lang="en-US" sz="2400" dirty="0" err="1"/>
                  <a:t>MaxWeight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⟨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E24F1A-60F3-235C-CA28-BC68EB6FF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91532"/>
                <a:ext cx="3486150" cy="877291"/>
              </a:xfrm>
              <a:prstGeom prst="rect">
                <a:avLst/>
              </a:prstGeom>
              <a:blipFill>
                <a:blip r:embed="rId3"/>
                <a:stretch>
                  <a:fillRect l="-520" t="-3333" r="-520" b="-200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2F4B8CB-BBB2-95FF-86C7-B0A569B581DD}"/>
                  </a:ext>
                </a:extLst>
              </p:cNvPr>
              <p:cNvSpPr txBox="1"/>
              <p:nvPr/>
            </p:nvSpPr>
            <p:spPr>
              <a:xfrm>
                <a:off x="5886450" y="4696279"/>
                <a:ext cx="5600699" cy="1200329"/>
              </a:xfrm>
              <a:prstGeom prst="rect">
                <a:avLst/>
              </a:prstGeom>
              <a:noFill/>
              <a:ln w="38100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400" dirty="0"/>
                  <a:t>Thm: The K-Discretized </a:t>
                </a:r>
                <a:r>
                  <a:rPr lang="en-US" sz="2400" dirty="0" err="1"/>
                  <a:t>MaxWeight</a:t>
                </a:r>
                <a:r>
                  <a:rPr lang="en-US" sz="2400" dirty="0"/>
                  <a:t> policy family is throughput optimal, for any Lipschitz-continuous req. dist.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2F4B8CB-BBB2-95FF-86C7-B0A569B58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50" y="4696279"/>
                <a:ext cx="5600699" cy="1200329"/>
              </a:xfrm>
              <a:prstGeom prst="rect">
                <a:avLst/>
              </a:prstGeom>
              <a:blipFill>
                <a:blip r:embed="rId4"/>
                <a:stretch>
                  <a:fillRect t="-2463" r="-108" b="-8867"/>
                </a:stretch>
              </a:blipFill>
              <a:ln w="38100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DDFE3860-5D48-24B9-39B8-0395C73FB235}"/>
              </a:ext>
            </a:extLst>
          </p:cNvPr>
          <p:cNvGrpSpPr/>
          <p:nvPr/>
        </p:nvGrpSpPr>
        <p:grpSpPr>
          <a:xfrm>
            <a:off x="1671639" y="1066142"/>
            <a:ext cx="9117306" cy="3080407"/>
            <a:chOff x="1671639" y="1066142"/>
            <a:chExt cx="9117306" cy="308040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217A0D9-F3CA-97EE-0688-00CBC9F22B1F}"/>
                </a:ext>
              </a:extLst>
            </p:cNvPr>
            <p:cNvGrpSpPr/>
            <p:nvPr/>
          </p:nvGrpSpPr>
          <p:grpSpPr>
            <a:xfrm>
              <a:off x="1671639" y="1450974"/>
              <a:ext cx="5891211" cy="2695575"/>
              <a:chOff x="2871789" y="946149"/>
              <a:chExt cx="5891211" cy="269557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C5C8744-129F-E03F-58D3-1DCD7A885078}"/>
                  </a:ext>
                </a:extLst>
              </p:cNvPr>
              <p:cNvGrpSpPr/>
              <p:nvPr/>
            </p:nvGrpSpPr>
            <p:grpSpPr>
              <a:xfrm>
                <a:off x="4105280" y="946149"/>
                <a:ext cx="4657720" cy="2695575"/>
                <a:chOff x="6867530" y="765174"/>
                <a:chExt cx="4657720" cy="2695575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6A2984B-AA47-C9D3-8E3E-AB87BEFBDEA5}"/>
                    </a:ext>
                  </a:extLst>
                </p:cNvPr>
                <p:cNvSpPr/>
                <p:nvPr/>
              </p:nvSpPr>
              <p:spPr>
                <a:xfrm>
                  <a:off x="8972550" y="1825625"/>
                  <a:ext cx="1524000" cy="57467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.7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E4A710F-549E-A068-9C59-9836C5D2918D}"/>
                    </a:ext>
                  </a:extLst>
                </p:cNvPr>
                <p:cNvSpPr/>
                <p:nvPr/>
              </p:nvSpPr>
              <p:spPr>
                <a:xfrm>
                  <a:off x="10591800" y="1448594"/>
                  <a:ext cx="447673" cy="95169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.2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3477CE50-9A04-6290-D2CC-52CCE61B4D3D}"/>
                    </a:ext>
                  </a:extLst>
                </p:cNvPr>
                <p:cNvSpPr/>
                <p:nvPr/>
              </p:nvSpPr>
              <p:spPr>
                <a:xfrm>
                  <a:off x="11129964" y="1962152"/>
                  <a:ext cx="319086" cy="41036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.08</a:t>
                  </a: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115EC49A-8ACD-00A0-ECA1-3928A7973514}"/>
                    </a:ext>
                  </a:extLst>
                </p:cNvPr>
                <p:cNvGrpSpPr/>
                <p:nvPr/>
              </p:nvGrpSpPr>
              <p:grpSpPr>
                <a:xfrm>
                  <a:off x="7943851" y="765174"/>
                  <a:ext cx="3581399" cy="2695575"/>
                  <a:chOff x="7943851" y="765174"/>
                  <a:chExt cx="3581399" cy="2695575"/>
                </a:xfrm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1510F867-C381-27AA-1023-86A9780BA37F}"/>
                      </a:ext>
                    </a:extLst>
                  </p:cNvPr>
                  <p:cNvGrpSpPr/>
                  <p:nvPr/>
                </p:nvGrpSpPr>
                <p:grpSpPr>
                  <a:xfrm>
                    <a:off x="8829675" y="1690688"/>
                    <a:ext cx="2695575" cy="771525"/>
                    <a:chOff x="8610600" y="1485900"/>
                    <a:chExt cx="2695575" cy="1343025"/>
                  </a:xfrm>
                </p:grpSpPr>
                <p:cxnSp>
                  <p:nvCxnSpPr>
                    <p:cNvPr id="27" name="Straight Connector 26">
                      <a:extLst>
                        <a:ext uri="{FF2B5EF4-FFF2-40B4-BE49-F238E27FC236}">
                          <a16:creationId xmlns:a16="http://schemas.microsoft.com/office/drawing/2014/main" id="{BAC1294A-A647-60F8-FED5-BC965370F09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610600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Straight Connector 27">
                      <a:extLst>
                        <a:ext uri="{FF2B5EF4-FFF2-40B4-BE49-F238E27FC236}">
                          <a16:creationId xmlns:a16="http://schemas.microsoft.com/office/drawing/2014/main" id="{7A662B75-795A-3890-E170-98125744D1D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06175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Straight Connector 28">
                      <a:extLst>
                        <a:ext uri="{FF2B5EF4-FFF2-40B4-BE49-F238E27FC236}">
                          <a16:creationId xmlns:a16="http://schemas.microsoft.com/office/drawing/2014/main" id="{0FB8D930-53AF-3988-FACC-BB48CB7277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610600" y="2828925"/>
                      <a:ext cx="2695575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92FDA8EF-BF4F-E878-B867-BAC4B71D4C50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6981826" y="1727199"/>
                    <a:ext cx="2695575" cy="771525"/>
                    <a:chOff x="8610600" y="1485900"/>
                    <a:chExt cx="2695575" cy="1343025"/>
                  </a:xfrm>
                </p:grpSpPr>
                <p:cxnSp>
                  <p:nvCxnSpPr>
                    <p:cNvPr id="24" name="Straight Connector 23">
                      <a:extLst>
                        <a:ext uri="{FF2B5EF4-FFF2-40B4-BE49-F238E27FC236}">
                          <a16:creationId xmlns:a16="http://schemas.microsoft.com/office/drawing/2014/main" id="{F78E493F-B472-AB5B-87A9-E0E7095C66F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610600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A3CB6B53-BBA2-0DA7-4AE3-DF69D5203C4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1306175" y="1485900"/>
                      <a:ext cx="0" cy="1343025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Straight Connector 25">
                      <a:extLst>
                        <a:ext uri="{FF2B5EF4-FFF2-40B4-BE49-F238E27FC236}">
                          <a16:creationId xmlns:a16="http://schemas.microsoft.com/office/drawing/2014/main" id="{E84BC69A-F4FD-0293-A524-C45B39AFD7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610600" y="2828925"/>
                      <a:ext cx="2695575" cy="0"/>
                    </a:xfrm>
                    <a:prstGeom prst="line">
                      <a:avLst/>
                    </a:prstGeom>
                    <a:ln w="381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D46F6258-3410-D9ED-DBD0-C7A92D0C1ECC}"/>
                    </a:ext>
                  </a:extLst>
                </p:cNvPr>
                <p:cNvCxnSpPr/>
                <p:nvPr/>
              </p:nvCxnSpPr>
              <p:spPr>
                <a:xfrm rot="16200000">
                  <a:off x="8329614" y="1062831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8C9EEED6-6CC6-A080-B83B-815686C70A9F}"/>
                    </a:ext>
                  </a:extLst>
                </p:cNvPr>
                <p:cNvCxnSpPr/>
                <p:nvPr/>
              </p:nvCxnSpPr>
              <p:spPr>
                <a:xfrm rot="16200000">
                  <a:off x="8348663" y="1781572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A45EC15F-DB52-8DE0-43E9-29DA5D68525F}"/>
                    </a:ext>
                  </a:extLst>
                </p:cNvPr>
                <p:cNvCxnSpPr/>
                <p:nvPr/>
              </p:nvCxnSpPr>
              <p:spPr>
                <a:xfrm rot="16200000">
                  <a:off x="8329613" y="2428278"/>
                  <a:ext cx="0" cy="77152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D5B4C05-FDD6-902C-1FF0-E2942914FD11}"/>
                    </a:ext>
                  </a:extLst>
                </p:cNvPr>
                <p:cNvSpPr/>
                <p:nvPr/>
              </p:nvSpPr>
              <p:spPr>
                <a:xfrm>
                  <a:off x="6867530" y="846784"/>
                  <a:ext cx="1771647" cy="53865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.9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0EBEF6F-BD99-EC72-DEC4-E45BC79C0377}"/>
                    </a:ext>
                  </a:extLst>
                </p:cNvPr>
                <p:cNvSpPr/>
                <p:nvPr/>
              </p:nvSpPr>
              <p:spPr>
                <a:xfrm>
                  <a:off x="7524748" y="1611957"/>
                  <a:ext cx="1128715" cy="32444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.5</a:t>
                  </a: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2AAA1C3-A99A-2DA4-9E1B-B12EC59B02C7}"/>
                    </a:ext>
                  </a:extLst>
                </p:cNvPr>
                <p:cNvSpPr/>
                <p:nvPr/>
              </p:nvSpPr>
              <p:spPr>
                <a:xfrm>
                  <a:off x="8048626" y="2191275"/>
                  <a:ext cx="595314" cy="60220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.25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1E401BC-B22F-7AB9-83C9-17AF7132D93E}"/>
                    </a:ext>
                  </a:extLst>
                </p:cNvPr>
                <p:cNvSpPr/>
                <p:nvPr/>
              </p:nvSpPr>
              <p:spPr>
                <a:xfrm>
                  <a:off x="8286750" y="2993428"/>
                  <a:ext cx="366713" cy="31511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dirty="0"/>
                    <a:t>.13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E6ED7F4E-3A2F-DF91-C640-9598983BACA5}"/>
                  </a:ext>
                </a:extLst>
              </p:cNvPr>
              <p:cNvGrpSpPr/>
              <p:nvPr/>
            </p:nvGrpSpPr>
            <p:grpSpPr>
              <a:xfrm>
                <a:off x="2871789" y="1960830"/>
                <a:ext cx="1214436" cy="858569"/>
                <a:chOff x="2871789" y="1960830"/>
                <a:chExt cx="1214436" cy="858569"/>
              </a:xfrm>
            </p:grpSpPr>
            <p:sp>
              <p:nvSpPr>
                <p:cNvPr id="9" name="Arrow: Right 8">
                  <a:extLst>
                    <a:ext uri="{FF2B5EF4-FFF2-40B4-BE49-F238E27FC236}">
                      <a16:creationId xmlns:a16="http://schemas.microsoft.com/office/drawing/2014/main" id="{6E886CD2-B5DC-7E20-2C50-7C4DDE433693}"/>
                    </a:ext>
                  </a:extLst>
                </p:cNvPr>
                <p:cNvSpPr/>
                <p:nvPr/>
              </p:nvSpPr>
              <p:spPr>
                <a:xfrm>
                  <a:off x="3038476" y="1960830"/>
                  <a:ext cx="1047749" cy="831321"/>
                </a:xfrm>
                <a:prstGeom prst="rightArrow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E21D15FA-21DE-A986-DCEF-D7C501F86B0E}"/>
                    </a:ext>
                  </a:extLst>
                </p:cNvPr>
                <p:cNvSpPr/>
                <p:nvPr/>
              </p:nvSpPr>
              <p:spPr>
                <a:xfrm>
                  <a:off x="2871789" y="2143127"/>
                  <a:ext cx="271464" cy="6762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E4E94DF-C58D-89C8-0ABE-531E4F1267B9}"/>
                </a:ext>
              </a:extLst>
            </p:cNvPr>
            <p:cNvGrpSpPr/>
            <p:nvPr/>
          </p:nvGrpSpPr>
          <p:grpSpPr>
            <a:xfrm>
              <a:off x="8594945" y="1801913"/>
              <a:ext cx="2194000" cy="1734916"/>
              <a:chOff x="9802381" y="1960830"/>
              <a:chExt cx="2194000" cy="1734916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E46814F-B7F6-9062-6405-91BC28778517}"/>
                  </a:ext>
                </a:extLst>
              </p:cNvPr>
              <p:cNvSpPr/>
              <p:nvPr/>
            </p:nvSpPr>
            <p:spPr>
              <a:xfrm>
                <a:off x="10495128" y="2270576"/>
                <a:ext cx="1255594" cy="1059478"/>
              </a:xfrm>
              <a:custGeom>
                <a:avLst/>
                <a:gdLst>
                  <a:gd name="connsiteX0" fmla="*/ 0 w 1255594"/>
                  <a:gd name="connsiteY0" fmla="*/ 1052654 h 1059478"/>
                  <a:gd name="connsiteX1" fmla="*/ 6824 w 1255594"/>
                  <a:gd name="connsiteY1" fmla="*/ 104134 h 1059478"/>
                  <a:gd name="connsiteX2" fmla="*/ 6824 w 1255594"/>
                  <a:gd name="connsiteY2" fmla="*/ 22248 h 1059478"/>
                  <a:gd name="connsiteX3" fmla="*/ 75063 w 1255594"/>
                  <a:gd name="connsiteY3" fmla="*/ 83663 h 1059478"/>
                  <a:gd name="connsiteX4" fmla="*/ 320723 w 1255594"/>
                  <a:gd name="connsiteY4" fmla="*/ 186021 h 1059478"/>
                  <a:gd name="connsiteX5" fmla="*/ 716508 w 1255594"/>
                  <a:gd name="connsiteY5" fmla="*/ 90487 h 1059478"/>
                  <a:gd name="connsiteX6" fmla="*/ 1071350 w 1255594"/>
                  <a:gd name="connsiteY6" fmla="*/ 418033 h 1059478"/>
                  <a:gd name="connsiteX7" fmla="*/ 1255594 w 1255594"/>
                  <a:gd name="connsiteY7" fmla="*/ 1059478 h 1059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55594" h="1059478">
                    <a:moveTo>
                      <a:pt x="0" y="1052654"/>
                    </a:moveTo>
                    <a:cubicBezTo>
                      <a:pt x="2843" y="664261"/>
                      <a:pt x="5687" y="275868"/>
                      <a:pt x="6824" y="104134"/>
                    </a:cubicBezTo>
                    <a:cubicBezTo>
                      <a:pt x="7961" y="-67600"/>
                      <a:pt x="-4549" y="25660"/>
                      <a:pt x="6824" y="22248"/>
                    </a:cubicBezTo>
                    <a:cubicBezTo>
                      <a:pt x="18197" y="18836"/>
                      <a:pt x="22747" y="56368"/>
                      <a:pt x="75063" y="83663"/>
                    </a:cubicBezTo>
                    <a:cubicBezTo>
                      <a:pt x="127379" y="110958"/>
                      <a:pt x="213816" y="184884"/>
                      <a:pt x="320723" y="186021"/>
                    </a:cubicBezTo>
                    <a:cubicBezTo>
                      <a:pt x="427630" y="187158"/>
                      <a:pt x="591404" y="51818"/>
                      <a:pt x="716508" y="90487"/>
                    </a:cubicBezTo>
                    <a:cubicBezTo>
                      <a:pt x="841612" y="129156"/>
                      <a:pt x="981502" y="256535"/>
                      <a:pt x="1071350" y="418033"/>
                    </a:cubicBezTo>
                    <a:cubicBezTo>
                      <a:pt x="1161198" y="579531"/>
                      <a:pt x="1208396" y="819504"/>
                      <a:pt x="1255594" y="1059478"/>
                    </a:cubicBezTo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07704BC-BCCB-AD13-9794-5B03624D87A0}"/>
                  </a:ext>
                </a:extLst>
              </p:cNvPr>
              <p:cNvCxnSpPr>
                <a:stCxn id="31" idx="0"/>
              </p:cNvCxnSpPr>
              <p:nvPr/>
            </p:nvCxnSpPr>
            <p:spPr>
              <a:xfrm flipV="1">
                <a:off x="10495128" y="1960830"/>
                <a:ext cx="13648" cy="13624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183D571-6814-BCF9-5F15-02F2A0768E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8776" y="3323230"/>
                <a:ext cx="142391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B96CCB35-EFD2-BED7-6C36-5605E6B62D26}"/>
                      </a:ext>
                    </a:extLst>
                  </p:cNvPr>
                  <p:cNvSpPr txBox="1"/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B96CCB35-EFD2-BED7-6C36-5605E6B62D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02381" y="2716262"/>
                    <a:ext cx="57959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158" r="-27368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A75C307D-C603-538B-8BE2-B46CD5D413B2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dirty="0"/>
                      <a:t>        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A75C307D-C603-538B-8BE2-B46CD5D413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3627" y="3326414"/>
                    <a:ext cx="1592754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DD7BBA2-AE46-7585-2642-281569B3782A}"/>
                </a:ext>
              </a:extLst>
            </p:cNvPr>
            <p:cNvSpPr txBox="1"/>
            <p:nvPr/>
          </p:nvSpPr>
          <p:spPr>
            <a:xfrm>
              <a:off x="4939121" y="1066142"/>
              <a:ext cx="3486150" cy="83099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2400" dirty="0"/>
                <a:t>Continuous requirement distributions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681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51255</TotalTime>
  <Words>2087</Words>
  <Application>Microsoft Office PowerPoint</Application>
  <PresentationFormat>Widescreen</PresentationFormat>
  <Paragraphs>313</Paragraphs>
  <Slides>29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Office Theme</vt:lpstr>
      <vt:lpstr>Scheduling with Infinitely Heterogeneous Resource Requirements</vt:lpstr>
      <vt:lpstr>Datacenter Scheduling: Heterogeneous resources</vt:lpstr>
      <vt:lpstr>Progression of queueing models</vt:lpstr>
      <vt:lpstr>Existing theoretical paradigm: Limited resource heterogeneity</vt:lpstr>
      <vt:lpstr>Prior theoretical work</vt:lpstr>
      <vt:lpstr>Prior theoretical work</vt:lpstr>
      <vt:lpstr>Outline</vt:lpstr>
      <vt:lpstr>Model</vt:lpstr>
      <vt:lpstr>Policy Intuition</vt:lpstr>
      <vt:lpstr>Discretization</vt:lpstr>
      <vt:lpstr>K-Discretized MaxWeight: Result</vt:lpstr>
      <vt:lpstr>Proof sketch</vt:lpstr>
      <vt:lpstr>Continuous to Discrete Service Options</vt:lpstr>
      <vt:lpstr>Continuous to Discrete Service Options</vt:lpstr>
      <vt:lpstr>Continuous to Discrete Service Options</vt:lpstr>
      <vt:lpstr>Special cases &amp; key result</vt:lpstr>
      <vt:lpstr>Smaller search space: more efficient</vt:lpstr>
      <vt:lpstr>Decreasing density: 2-bucket service options</vt:lpstr>
      <vt:lpstr>Decreasing density: 2-bucket service options</vt:lpstr>
      <vt:lpstr>Decreasing density: 2-bucket service options</vt:lpstr>
      <vt:lpstr>Outline</vt:lpstr>
      <vt:lpstr>Practical: Discretized MaxWeight + Backfilling</vt:lpstr>
      <vt:lpstr>Empirical evaluation – Triangular V.</vt:lpstr>
      <vt:lpstr>Empirical evaluation – Triangular V.</vt:lpstr>
      <vt:lpstr>Empirical evaluation – CPU reqs.</vt:lpstr>
      <vt:lpstr>Empirical evaluation – Memory reqs.</vt:lpstr>
      <vt:lpstr>Ongoing: Changing requirements over time</vt:lpstr>
      <vt:lpstr>Lots of future directions!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Scheduling with Massively Heterogeneous Resource Requirements</dc:title>
  <dc:creator>Izzy Grosof</dc:creator>
  <cp:lastModifiedBy>Izzy Grosof</cp:lastModifiedBy>
  <cp:revision>69</cp:revision>
  <dcterms:created xsi:type="dcterms:W3CDTF">2026-05-04T20:55:02Z</dcterms:created>
  <dcterms:modified xsi:type="dcterms:W3CDTF">2026-08-28T15:58:42Z</dcterms:modified>
</cp:coreProperties>
</file>