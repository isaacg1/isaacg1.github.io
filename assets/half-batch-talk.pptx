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67" r:id="rId4"/>
    <p:sldId id="258" r:id="rId5"/>
    <p:sldId id="260" r:id="rId6"/>
    <p:sldId id="268" r:id="rId7"/>
    <p:sldId id="269" r:id="rId8"/>
    <p:sldId id="270" r:id="rId9"/>
    <p:sldId id="261" r:id="rId10"/>
    <p:sldId id="262" r:id="rId11"/>
    <p:sldId id="263" r:id="rId12"/>
    <p:sldId id="264" r:id="rId13"/>
    <p:sldId id="271" r:id="rId14"/>
    <p:sldId id="265" r:id="rId15"/>
    <p:sldId id="26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0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98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7573E2-AC15-4471-B7AE-1832F7ED10F3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491A47-3D71-4177-9E8D-F577FE809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37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53020-57F2-A6A2-1D7F-54A573873A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A1B762-3CEE-27AE-EC43-B004071B8A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5124CD-2935-0553-B848-6FDC31606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D700C-51D6-4559-899C-1D6F6D1058CC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31FB40-7A71-A0F4-BF4A-866E05708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Allerton Conference, 9-16-26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F6510C-72F2-0882-35F3-B53FC6B60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85CE2-2EC4-4027-8BA4-D2509B7ADC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054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D1410-F3B9-B1FA-D0F1-C0B911EDC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8535D-6405-DC3E-4819-14A05DFF16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9C03E5-5603-268E-28FF-83735BEC0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5C608-C3D5-4601-873C-0F19333C3541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2E0E6F-3659-3D5C-D4C2-5FCD32F0C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Allerton Conference, 9-16-26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603FAA-3BE2-0AD6-AEEB-DA5E04797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85CE2-2EC4-4027-8BA4-D2509B7ADC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122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91512-829A-7C33-ADEF-96FA10AF3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238170-5F00-A8A9-50EB-E02D763BB5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D9E8ED-459D-4442-B0D1-A155EE7DA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B5000-5F3D-4FF1-B483-95E87768BEAA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4D7518-311E-E119-7860-FFFEF38AE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Allerton Conference, 9-16-26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5D1DB-B37E-097C-AD36-20405D64B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85CE2-2EC4-4027-8BA4-D2509B7ADC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650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CD812-9EAD-6720-1214-3959125D5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C5B9D-24A9-8CC1-2F2A-FC9497FC96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B1488B-150A-AE83-D63A-9A36A9C09E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6924A0-111C-B28A-5409-E6B0C6F90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32945-83E8-4EF8-85F4-9995FAFF139A}" type="datetime1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C7664C-0A71-7DDD-06C7-441BEEDDE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Allerton Conference, 9-16-26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8FEC71-690F-26A4-9FFC-126C1B7E0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85CE2-2EC4-4027-8BA4-D2509B7ADC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259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52045-802E-A5F1-3597-61F0B7455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55F997-0643-D768-4FFC-88C56ED59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B5AB08-C9F0-43F7-BA27-B2BFAD69E0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B52520-885B-6DE3-1900-A8B9C86CF1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474F28-23C9-8F40-4665-B59336CF28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819D58-27AE-064F-7B2A-E40FCDD6D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92AC2-6EB7-439B-A9C7-84E11CE6592A}" type="datetime1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85E7C3-5CAC-C0F1-F44F-E506B5A7E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Allerton Conference, 9-16-26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840279-F3A4-B101-9C31-F9384144E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85CE2-2EC4-4027-8BA4-D2509B7ADC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395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287B6-7487-A118-5992-0A7744D4B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04FCC2-82DA-4CE8-0523-403F0B01A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24470-B18F-4666-B4FA-62BE4604C79F}" type="datetime1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87C1A3-20FB-BE42-FE9C-BA74F2BA8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Allerton Conference, 9-16-26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21AD84-A674-4274-06D9-E2B0CC8F4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85CE2-2EC4-4027-8BA4-D2509B7ADC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191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9103C1-A071-345F-B804-D5D32F27B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467C9-1888-48D4-B1BD-D90299CA2C6C}" type="datetime1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BE8E46-6C59-58B3-5898-52919CF2F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Allerton Conference, 9-16-26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02E7A8-FF7D-A580-4E80-2DA5FC389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85CE2-2EC4-4027-8BA4-D2509B7ADC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05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5A63D-2753-CED8-D26D-F7BA90FD9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4A5C6-F6AD-09D6-6F44-D391A5AE32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0F5277-D7EB-1489-4D72-4B279F9744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A65B34-C83C-4946-6B11-0FF4503A5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EBF1B-57C8-48F2-82D1-EE5C76FFECEB}" type="datetime1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14EB23-76AF-9EDA-865B-6F26BE567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Allerton Conference, 9-16-26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A9704B-DECC-D63C-981D-36760469B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85CE2-2EC4-4027-8BA4-D2509B7ADC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415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2BE81-3BBB-94BE-1823-80EB69B4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E6EBD8-F4D3-EE5E-1C6E-08446EFA00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54562A-CB98-220D-ADDF-7E123AD41D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2AA9BD-2C4D-22BA-22E6-D3631C520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41C84-B42D-4430-9C28-2BA476911127}" type="datetime1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60BCC-FFE5-55F1-8541-E17BF6322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Allerton Conference, 9-16-26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AEFD3A-49D9-6007-53CF-A592E3234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85CE2-2EC4-4027-8BA4-D2509B7ADC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24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F7418-EBEA-DAD6-6A9E-C4BB6F9C7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41899C-DB7D-E709-AEED-0C94A7D819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C74379-ED32-E909-E19A-07938156C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2A2F9-2EE2-478B-BA01-DC18E8DDED30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76763E-807E-D333-D53C-EB8CE04CB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Allerton Conference, 9-16-26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A9FCA4-81B0-3F39-F9F5-B6A1CB45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85CE2-2EC4-4027-8BA4-D2509B7ADC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914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A5068C-2B56-9990-26F5-B8D944D575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2E0EA2-F47E-B205-CB82-59AE52A1A0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9FAE0D-3025-5377-4603-8CAA03A8C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890F8-E0EA-4438-8E8E-27D3144C17D7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CFF22-3A15-498D-E4FC-47D7C380C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Allerton Conference, 9-16-26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2BC32-AEA9-3CD3-A7A3-B823668D0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85CE2-2EC4-4027-8BA4-D2509B7ADC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530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E3578C-E3A4-F17B-8E98-3FA5A820F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84C2DF-E8E1-D211-66D7-5BFA5F1FC0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05F80-A7F0-AE64-947B-AED836AFA6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A35343-6C06-4E2D-AC23-F8D78B04803D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C0AC7C-C56B-7B33-AD49-5BECAC0C34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Allerton Conference, 9-16-26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3C28D6-E3C7-09BC-D188-D42A2835E2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fld id="{C5985CE2-2EC4-4027-8BA4-D2509B7ADC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978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CC27E-09D7-4271-56FF-1EA2C6AB38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9868" y="1139141"/>
            <a:ext cx="9552264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Pareto-Optimal Scheduling in the Half-Batch Multiserver-job Model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DCB2DE-C833-C6A3-35BF-62BB149E07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Ziyuan</a:t>
            </a:r>
            <a:r>
              <a:rPr lang="en-US" dirty="0"/>
              <a:t> Wang and </a:t>
            </a:r>
            <a:r>
              <a:rPr lang="en-US" b="1" dirty="0"/>
              <a:t>Izzy Grosof</a:t>
            </a:r>
          </a:p>
          <a:p>
            <a:r>
              <a:rPr lang="en-US" dirty="0"/>
              <a:t>Northwestern University, IEMS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87F189-64BB-448C-1FE2-1D314AEFC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Allerton Conference, 9-16-26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5D1B72-24BF-7894-1FEB-9BEF6FE1D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85CE2-2EC4-4027-8BA4-D2509B7ADC92}" type="slidenum">
              <a:rPr lang="en-US" smtClean="0"/>
              <a:t>1</a:t>
            </a:fld>
            <a:endParaRPr lang="en-US"/>
          </a:p>
        </p:txBody>
      </p:sp>
      <p:pic>
        <p:nvPicPr>
          <p:cNvPr id="6" name="Picture 5" descr="A person wearing glasses and a black jacket&#10;&#10;Description automatically generated">
            <a:extLst>
              <a:ext uri="{FF2B5EF4-FFF2-40B4-BE49-F238E27FC236}">
                <a16:creationId xmlns:a16="http://schemas.microsoft.com/office/drawing/2014/main" id="{62D7D25A-2D43-D695-3156-278DBB0C58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300" y="3526741"/>
            <a:ext cx="3099100" cy="2928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0899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CF3B2-7192-B655-941A-A3AF29FCC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Motivation: Supercomputing Scheduling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6BC73-3016-7637-8DEC-4B5348668F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42518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Extremely large supercomputers (Frontier, Aurora, etc.)</a:t>
            </a:r>
          </a:p>
          <a:p>
            <a:pPr marL="0" indent="0">
              <a:buNone/>
            </a:pPr>
            <a:r>
              <a:rPr lang="en-US" dirty="0"/>
              <a:t>Jobs specify # of nodes needed.</a:t>
            </a:r>
            <a:br>
              <a:rPr lang="en-US" dirty="0"/>
            </a:br>
            <a:r>
              <a:rPr lang="en-US" dirty="0"/>
              <a:t>Fixed number throughout service.</a:t>
            </a:r>
          </a:p>
          <a:p>
            <a:pPr marL="0" indent="0">
              <a:buNone/>
            </a:pPr>
            <a:r>
              <a:rPr lang="en-US" dirty="0"/>
              <a:t>Multiserver-job model</a:t>
            </a:r>
          </a:p>
          <a:p>
            <a:pPr marL="0" indent="0">
              <a:buNone/>
            </a:pPr>
            <a:r>
              <a:rPr lang="en-US" dirty="0" err="1"/>
              <a:t>Nonpreemptible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Which jobs to serve at which time?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8A62D5-DE76-8FC6-F318-001092B4A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Allerton Conference, 9-16-26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B49F43-9C98-8F7A-755B-E4D23964B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85CE2-2EC4-4027-8BA4-D2509B7ADC92}" type="slidenum">
              <a:rPr lang="en-US" smtClean="0"/>
              <a:t>2</a:t>
            </a:fld>
            <a:endParaRPr lang="en-US"/>
          </a:p>
        </p:txBody>
      </p:sp>
      <p:pic>
        <p:nvPicPr>
          <p:cNvPr id="6" name="Content Placeholder 4" descr="A room with black boxes with wires and cables&#10;&#10;AI-generated content may be incorrect.">
            <a:extLst>
              <a:ext uri="{FF2B5EF4-FFF2-40B4-BE49-F238E27FC236}">
                <a16:creationId xmlns:a16="http://schemas.microsoft.com/office/drawing/2014/main" id="{BC8F9D24-A651-3934-DAD3-C8524C2239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23" r="9909" b="2"/>
          <a:stretch/>
        </p:blipFill>
        <p:spPr>
          <a:xfrm>
            <a:off x="6799335" y="1443521"/>
            <a:ext cx="4956809" cy="4733442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436892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CF3B2-7192-B655-941A-A3AF29FCC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Prioritizing Large-requirement jobs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6BC73-3016-7637-8DEC-4B5348668F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282265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Priority: “Leadership-class jobs”:</a:t>
            </a:r>
            <a:br>
              <a:rPr lang="en-US" dirty="0"/>
            </a:br>
            <a:r>
              <a:rPr lang="en-US" dirty="0"/>
              <a:t>&gt;6k nodes out of 10k nodes available.</a:t>
            </a:r>
          </a:p>
          <a:p>
            <a:pPr marL="0" indent="0">
              <a:buNone/>
            </a:pPr>
            <a:r>
              <a:rPr lang="en-US" dirty="0"/>
              <a:t>Mid-tier: 2k-6k nodes</a:t>
            </a:r>
          </a:p>
          <a:p>
            <a:pPr marL="0" indent="0">
              <a:buNone/>
            </a:pPr>
            <a:r>
              <a:rPr lang="en-US" dirty="0"/>
              <a:t>Low-priority: &lt;2k nodes</a:t>
            </a:r>
          </a:p>
          <a:p>
            <a:pPr marL="0" indent="0">
              <a:buNone/>
            </a:pPr>
            <a:r>
              <a:rPr lang="en-US" dirty="0"/>
              <a:t>Goals:</a:t>
            </a:r>
          </a:p>
          <a:p>
            <a:r>
              <a:rPr lang="en-US" dirty="0"/>
              <a:t>Low latency for leadership-class jobs</a:t>
            </a:r>
          </a:p>
          <a:p>
            <a:r>
              <a:rPr lang="en-US" dirty="0"/>
              <a:t>High total throughput</a:t>
            </a:r>
          </a:p>
          <a:p>
            <a:pPr marL="0" indent="0">
              <a:buNone/>
            </a:pPr>
            <a:r>
              <a:rPr lang="en-US" dirty="0"/>
              <a:t>Tradeoff!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8A62D5-DE76-8FC6-F318-001092B4A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Allerton Conference, 9-16-26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B49F43-9C98-8F7A-755B-E4D23964B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85CE2-2EC4-4027-8BA4-D2509B7ADC92}" type="slidenum">
              <a:rPr lang="en-US" smtClean="0"/>
              <a:t>3</a:t>
            </a:fld>
            <a:endParaRPr lang="en-US"/>
          </a:p>
        </p:txBody>
      </p:sp>
      <p:pic>
        <p:nvPicPr>
          <p:cNvPr id="6" name="Content Placeholder 4" descr="A room with black boxes with wires and cables&#10;&#10;AI-generated content may be incorrect.">
            <a:extLst>
              <a:ext uri="{FF2B5EF4-FFF2-40B4-BE49-F238E27FC236}">
                <a16:creationId xmlns:a16="http://schemas.microsoft.com/office/drawing/2014/main" id="{D94646C5-73CD-12D3-D122-F04873A080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23" r="9909" b="2"/>
          <a:stretch/>
        </p:blipFill>
        <p:spPr>
          <a:xfrm>
            <a:off x="6799335" y="1443521"/>
            <a:ext cx="4956809" cy="4733442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198723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50198-3521-535F-0A54-DEF429AC2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Existing MSJ Models can’t capture tradeoff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881571-EF7F-0B20-F10C-C519732866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Open MSJ model: External arrivals</a:t>
                </a:r>
                <a:br>
                  <a:rPr lang="en-US" dirty="0"/>
                </a:br>
                <a:r>
                  <a:rPr lang="en-US" dirty="0"/>
                  <a:t>Better throughput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Better latency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Closed MSJ model: Completions trigger arrivals</a:t>
                </a:r>
                <a:br>
                  <a:rPr lang="en-US" dirty="0"/>
                </a:br>
                <a:r>
                  <a:rPr lang="en-US" dirty="0"/>
                  <a:t>Latency is not affected by scheduling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New model: Open larges, Closed smalls</a:t>
                </a:r>
              </a:p>
              <a:p>
                <a:pPr marL="0" indent="0">
                  <a:buNone/>
                </a:pPr>
                <a:r>
                  <a:rPr lang="en-US" dirty="0"/>
                  <a:t>Bicriterion: Large job response time, small job throughput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881571-EF7F-0B20-F10C-C519732866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17C04F-9BCA-CC1A-6946-85CD0B8F8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Allerton Conference, 9-16-26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C569E0-1432-CA53-1AE7-BE5216B8D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85CE2-2EC4-4027-8BA4-D2509B7ADC92}" type="slidenum">
              <a:rPr lang="en-US" smtClean="0"/>
              <a:t>4</a:t>
            </a:fld>
            <a:endParaRPr lang="en-US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C9EFDCFE-2986-A748-F82B-A53E86B28AB9}"/>
              </a:ext>
            </a:extLst>
          </p:cNvPr>
          <p:cNvGrpSpPr/>
          <p:nvPr/>
        </p:nvGrpSpPr>
        <p:grpSpPr>
          <a:xfrm>
            <a:off x="7241596" y="1375300"/>
            <a:ext cx="4897120" cy="1578614"/>
            <a:chOff x="3764420" y="1416302"/>
            <a:chExt cx="4897120" cy="2651125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524ED3AF-4004-A36C-6ED9-A45D5EB0828E}"/>
                </a:ext>
              </a:extLst>
            </p:cNvPr>
            <p:cNvGrpSpPr/>
            <p:nvPr/>
          </p:nvGrpSpPr>
          <p:grpSpPr>
            <a:xfrm>
              <a:off x="3764420" y="1416302"/>
              <a:ext cx="4897120" cy="2651125"/>
              <a:chOff x="3847948" y="1287144"/>
              <a:chExt cx="4897120" cy="2651125"/>
            </a:xfrm>
          </p:grpSpPr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41ED352A-C56F-9FBF-502B-8640512494ED}"/>
                  </a:ext>
                </a:extLst>
              </p:cNvPr>
              <p:cNvCxnSpPr/>
              <p:nvPr/>
            </p:nvCxnSpPr>
            <p:spPr>
              <a:xfrm flipV="1">
                <a:off x="8098638" y="2618662"/>
                <a:ext cx="646430" cy="3811"/>
              </a:xfrm>
              <a:prstGeom prst="straightConnector1">
                <a:avLst/>
              </a:prstGeom>
              <a:ln w="63500">
                <a:solidFill>
                  <a:schemeClr val="tx1"/>
                </a:solidFill>
                <a:tailEnd type="arrow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803C85FE-30D8-E7FD-957C-B06D6CA18D52}"/>
                  </a:ext>
                </a:extLst>
              </p:cNvPr>
              <p:cNvGrpSpPr/>
              <p:nvPr/>
            </p:nvGrpSpPr>
            <p:grpSpPr>
              <a:xfrm>
                <a:off x="3847948" y="1287144"/>
                <a:ext cx="4014470" cy="2651125"/>
                <a:chOff x="9087" y="1748"/>
                <a:chExt cx="6322" cy="4175"/>
              </a:xfrm>
            </p:grpSpPr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08D998DE-C658-5E64-814D-8A0BA6017170}"/>
                    </a:ext>
                  </a:extLst>
                </p:cNvPr>
                <p:cNvSpPr/>
                <p:nvPr/>
              </p:nvSpPr>
              <p:spPr>
                <a:xfrm>
                  <a:off x="14954" y="5466"/>
                  <a:ext cx="455" cy="457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54ED06E6-095C-63E7-C0D4-669F294F31F1}"/>
                    </a:ext>
                  </a:extLst>
                </p:cNvPr>
                <p:cNvSpPr/>
                <p:nvPr/>
              </p:nvSpPr>
              <p:spPr>
                <a:xfrm>
                  <a:off x="14954" y="3325"/>
                  <a:ext cx="455" cy="457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DCC16B4D-184D-C656-6308-81B8C4518A9F}"/>
                    </a:ext>
                  </a:extLst>
                </p:cNvPr>
                <p:cNvSpPr/>
                <p:nvPr/>
              </p:nvSpPr>
              <p:spPr>
                <a:xfrm>
                  <a:off x="14954" y="3837"/>
                  <a:ext cx="455" cy="457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1323E60A-6ADD-F9C3-DBBF-DB49F9DBEF29}"/>
                    </a:ext>
                  </a:extLst>
                </p:cNvPr>
                <p:cNvSpPr/>
                <p:nvPr/>
              </p:nvSpPr>
              <p:spPr>
                <a:xfrm>
                  <a:off x="14954" y="4367"/>
                  <a:ext cx="455" cy="457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D39B365C-C277-7C1C-6464-147622985AD4}"/>
                    </a:ext>
                  </a:extLst>
                </p:cNvPr>
                <p:cNvSpPr/>
                <p:nvPr/>
              </p:nvSpPr>
              <p:spPr>
                <a:xfrm>
                  <a:off x="14954" y="4910"/>
                  <a:ext cx="455" cy="457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168FAF01-89C6-3668-B0EB-3C2244BB9ACC}"/>
                    </a:ext>
                  </a:extLst>
                </p:cNvPr>
                <p:cNvSpPr/>
                <p:nvPr/>
              </p:nvSpPr>
              <p:spPr>
                <a:xfrm>
                  <a:off x="14954" y="1748"/>
                  <a:ext cx="455" cy="457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A003106D-835E-9760-9C02-DF0CDA865ADF}"/>
                    </a:ext>
                  </a:extLst>
                </p:cNvPr>
                <p:cNvSpPr/>
                <p:nvPr/>
              </p:nvSpPr>
              <p:spPr>
                <a:xfrm>
                  <a:off x="14954" y="2278"/>
                  <a:ext cx="455" cy="457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CD13BD49-B430-1E53-3B2B-0A99503E5D65}"/>
                    </a:ext>
                  </a:extLst>
                </p:cNvPr>
                <p:cNvSpPr/>
                <p:nvPr/>
              </p:nvSpPr>
              <p:spPr>
                <a:xfrm>
                  <a:off x="14954" y="2821"/>
                  <a:ext cx="455" cy="457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37" name="Group 36">
                  <a:extLst>
                    <a:ext uri="{FF2B5EF4-FFF2-40B4-BE49-F238E27FC236}">
                      <a16:creationId xmlns:a16="http://schemas.microsoft.com/office/drawing/2014/main" id="{9F9300D8-25C9-56FC-C072-99571764D2F2}"/>
                    </a:ext>
                  </a:extLst>
                </p:cNvPr>
                <p:cNvGrpSpPr/>
                <p:nvPr/>
              </p:nvGrpSpPr>
              <p:grpSpPr>
                <a:xfrm>
                  <a:off x="9087" y="2989"/>
                  <a:ext cx="5752" cy="1729"/>
                  <a:chOff x="4612" y="3721"/>
                  <a:chExt cx="5752" cy="1729"/>
                </a:xfrm>
              </p:grpSpPr>
              <p:grpSp>
                <p:nvGrpSpPr>
                  <p:cNvPr id="38" name="Group 37">
                    <a:extLst>
                      <a:ext uri="{FF2B5EF4-FFF2-40B4-BE49-F238E27FC236}">
                        <a16:creationId xmlns:a16="http://schemas.microsoft.com/office/drawing/2014/main" id="{5D07C626-04A0-DA51-8532-14AFBF5FD89C}"/>
                      </a:ext>
                    </a:extLst>
                  </p:cNvPr>
                  <p:cNvGrpSpPr/>
                  <p:nvPr/>
                </p:nvGrpSpPr>
                <p:grpSpPr>
                  <a:xfrm>
                    <a:off x="5630" y="3721"/>
                    <a:ext cx="4734" cy="1729"/>
                    <a:chOff x="5630" y="3721"/>
                    <a:chExt cx="4734" cy="1729"/>
                  </a:xfrm>
                </p:grpSpPr>
                <p:sp>
                  <p:nvSpPr>
                    <p:cNvPr id="40" name="Rectangles 39">
                      <a:extLst>
                        <a:ext uri="{FF2B5EF4-FFF2-40B4-BE49-F238E27FC236}">
                          <a16:creationId xmlns:a16="http://schemas.microsoft.com/office/drawing/2014/main" id="{C6C7471E-ED3D-CBB6-7FFE-BB99B36C218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96" y="3735"/>
                      <a:ext cx="942" cy="1714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38100">
                      <a:solidFill>
                        <a:srgbClr val="20202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41" name="Rectangles 40">
                      <a:extLst>
                        <a:ext uri="{FF2B5EF4-FFF2-40B4-BE49-F238E27FC236}">
                          <a16:creationId xmlns:a16="http://schemas.microsoft.com/office/drawing/2014/main" id="{95D5A054-2A52-6056-AF06-E9EEE11A788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38" y="3735"/>
                      <a:ext cx="942" cy="1714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38100">
                      <a:solidFill>
                        <a:srgbClr val="20202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42" name="Rectangles 41">
                      <a:extLst>
                        <a:ext uri="{FF2B5EF4-FFF2-40B4-BE49-F238E27FC236}">
                          <a16:creationId xmlns:a16="http://schemas.microsoft.com/office/drawing/2014/main" id="{354887C5-9534-8D2F-3F1D-71A14841B0E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80" y="3735"/>
                      <a:ext cx="942" cy="1714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38100">
                      <a:solidFill>
                        <a:srgbClr val="20202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43" name="Rectangles 42">
                      <a:extLst>
                        <a:ext uri="{FF2B5EF4-FFF2-40B4-BE49-F238E27FC236}">
                          <a16:creationId xmlns:a16="http://schemas.microsoft.com/office/drawing/2014/main" id="{6447F16E-D391-C9D0-7321-870A511858F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22" y="3735"/>
                      <a:ext cx="942" cy="1714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38100">
                      <a:solidFill>
                        <a:srgbClr val="20202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cxnSp>
                  <p:nvCxnSpPr>
                    <p:cNvPr id="44" name="Straight Connector 43">
                      <a:extLst>
                        <a:ext uri="{FF2B5EF4-FFF2-40B4-BE49-F238E27FC236}">
                          <a16:creationId xmlns:a16="http://schemas.microsoft.com/office/drawing/2014/main" id="{F661039A-EC10-07D3-A080-10CF632E1D60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5630" y="3721"/>
                      <a:ext cx="966" cy="15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5" name="Straight Connector 44">
                      <a:extLst>
                        <a:ext uri="{FF2B5EF4-FFF2-40B4-BE49-F238E27FC236}">
                          <a16:creationId xmlns:a16="http://schemas.microsoft.com/office/drawing/2014/main" id="{305EF3B6-5098-B729-3F36-721126BEFD95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5630" y="5435"/>
                      <a:ext cx="966" cy="15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39" name="Straight Arrow Connector 38">
                    <a:extLst>
                      <a:ext uri="{FF2B5EF4-FFF2-40B4-BE49-F238E27FC236}">
                        <a16:creationId xmlns:a16="http://schemas.microsoft.com/office/drawing/2014/main" id="{74C0F9DA-40E1-16E3-B80F-BD33033C478D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4612" y="4647"/>
                    <a:ext cx="1018" cy="6"/>
                  </a:xfrm>
                  <a:prstGeom prst="straightConnector1">
                    <a:avLst/>
                  </a:prstGeom>
                  <a:ln w="63500">
                    <a:solidFill>
                      <a:schemeClr val="tx1"/>
                    </a:solidFill>
                    <a:tailEnd type="arrow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CB202096-E4C4-01F1-B90E-CC42237665A8}"/>
                </a:ext>
              </a:extLst>
            </p:cNvPr>
            <p:cNvGrpSpPr/>
            <p:nvPr/>
          </p:nvGrpSpPr>
          <p:grpSpPr>
            <a:xfrm>
              <a:off x="5674486" y="1420547"/>
              <a:ext cx="2626457" cy="2299486"/>
              <a:chOff x="5758014" y="1291389"/>
              <a:chExt cx="2626457" cy="2299486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B1BCFDB3-AC03-EE93-DAE6-D877A25DFE17}"/>
                  </a:ext>
                </a:extLst>
              </p:cNvPr>
              <p:cNvSpPr/>
              <p:nvPr/>
            </p:nvSpPr>
            <p:spPr>
              <a:xfrm>
                <a:off x="6960083" y="1453784"/>
                <a:ext cx="464845" cy="188536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n</a:t>
                </a:r>
              </a:p>
            </p:txBody>
          </p:sp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94706476-FF2F-6248-D53E-6A8CEDEEE5BB}"/>
                  </a:ext>
                </a:extLst>
              </p:cNvPr>
              <p:cNvGrpSpPr/>
              <p:nvPr/>
            </p:nvGrpSpPr>
            <p:grpSpPr>
              <a:xfrm>
                <a:off x="7715166" y="1291389"/>
                <a:ext cx="669305" cy="2299486"/>
                <a:chOff x="7715166" y="1291389"/>
                <a:chExt cx="669305" cy="2299486"/>
              </a:xfrm>
            </p:grpSpPr>
            <p:grpSp>
              <p:nvGrpSpPr>
                <p:cNvPr id="51" name="Group 50">
                  <a:extLst>
                    <a:ext uri="{FF2B5EF4-FFF2-40B4-BE49-F238E27FC236}">
                      <a16:creationId xmlns:a16="http://schemas.microsoft.com/office/drawing/2014/main" id="{FEC85119-74D2-EBE9-4878-777BA523234A}"/>
                    </a:ext>
                  </a:extLst>
                </p:cNvPr>
                <p:cNvGrpSpPr/>
                <p:nvPr/>
              </p:nvGrpSpPr>
              <p:grpSpPr>
                <a:xfrm>
                  <a:off x="7715167" y="1291389"/>
                  <a:ext cx="669304" cy="1259405"/>
                  <a:chOff x="5010345" y="2366127"/>
                  <a:chExt cx="669304" cy="1885362"/>
                </a:xfrm>
              </p:grpSpPr>
              <p:sp>
                <p:nvSpPr>
                  <p:cNvPr id="56" name="Rectangle 55">
                    <a:extLst>
                      <a:ext uri="{FF2B5EF4-FFF2-40B4-BE49-F238E27FC236}">
                        <a16:creationId xmlns:a16="http://schemas.microsoft.com/office/drawing/2014/main" id="{C928404F-0D76-502F-7F83-6EC8227542F3}"/>
                      </a:ext>
                    </a:extLst>
                  </p:cNvPr>
                  <p:cNvSpPr/>
                  <p:nvPr/>
                </p:nvSpPr>
                <p:spPr>
                  <a:xfrm>
                    <a:off x="5010346" y="2366127"/>
                    <a:ext cx="669303" cy="405353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1</a:t>
                    </a:r>
                  </a:p>
                </p:txBody>
              </p:sp>
              <p:sp>
                <p:nvSpPr>
                  <p:cNvPr id="57" name="Rectangle 56">
                    <a:extLst>
                      <a:ext uri="{FF2B5EF4-FFF2-40B4-BE49-F238E27FC236}">
                        <a16:creationId xmlns:a16="http://schemas.microsoft.com/office/drawing/2014/main" id="{873FD253-7D32-EA26-B0EC-56C284166438}"/>
                      </a:ext>
                    </a:extLst>
                  </p:cNvPr>
                  <p:cNvSpPr/>
                  <p:nvPr/>
                </p:nvSpPr>
                <p:spPr>
                  <a:xfrm>
                    <a:off x="5010346" y="2903455"/>
                    <a:ext cx="669303" cy="405353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1</a:t>
                    </a:r>
                  </a:p>
                </p:txBody>
              </p:sp>
              <p:sp>
                <p:nvSpPr>
                  <p:cNvPr id="58" name="Rectangle 57">
                    <a:extLst>
                      <a:ext uri="{FF2B5EF4-FFF2-40B4-BE49-F238E27FC236}">
                        <a16:creationId xmlns:a16="http://schemas.microsoft.com/office/drawing/2014/main" id="{9DE669C4-22BB-EC1A-A69E-3B3BED6F5251}"/>
                      </a:ext>
                    </a:extLst>
                  </p:cNvPr>
                  <p:cNvSpPr/>
                  <p:nvPr/>
                </p:nvSpPr>
                <p:spPr>
                  <a:xfrm>
                    <a:off x="5010345" y="3381865"/>
                    <a:ext cx="669303" cy="405353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1</a:t>
                    </a:r>
                  </a:p>
                </p:txBody>
              </p:sp>
              <p:sp>
                <p:nvSpPr>
                  <p:cNvPr id="59" name="Rectangle 58">
                    <a:extLst>
                      <a:ext uri="{FF2B5EF4-FFF2-40B4-BE49-F238E27FC236}">
                        <a16:creationId xmlns:a16="http://schemas.microsoft.com/office/drawing/2014/main" id="{BDC02CBF-8D73-FCE5-8309-2BB7661B094E}"/>
                      </a:ext>
                    </a:extLst>
                  </p:cNvPr>
                  <p:cNvSpPr/>
                  <p:nvPr/>
                </p:nvSpPr>
                <p:spPr>
                  <a:xfrm>
                    <a:off x="5010345" y="3883844"/>
                    <a:ext cx="669303" cy="367645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1</a:t>
                    </a:r>
                  </a:p>
                </p:txBody>
              </p:sp>
            </p:grpSp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16B58671-33F1-BAE1-6BCC-4AD4360EA202}"/>
                    </a:ext>
                  </a:extLst>
                </p:cNvPr>
                <p:cNvGrpSpPr/>
                <p:nvPr/>
              </p:nvGrpSpPr>
              <p:grpSpPr>
                <a:xfrm>
                  <a:off x="7715166" y="2641599"/>
                  <a:ext cx="669304" cy="949276"/>
                  <a:chOff x="5010345" y="2366127"/>
                  <a:chExt cx="669304" cy="1421091"/>
                </a:xfrm>
              </p:grpSpPr>
              <p:sp>
                <p:nvSpPr>
                  <p:cNvPr id="53" name="Rectangle 52">
                    <a:extLst>
                      <a:ext uri="{FF2B5EF4-FFF2-40B4-BE49-F238E27FC236}">
                        <a16:creationId xmlns:a16="http://schemas.microsoft.com/office/drawing/2014/main" id="{5F16EE25-2F5F-F1C5-59E7-0101579D50C7}"/>
                      </a:ext>
                    </a:extLst>
                  </p:cNvPr>
                  <p:cNvSpPr/>
                  <p:nvPr/>
                </p:nvSpPr>
                <p:spPr>
                  <a:xfrm>
                    <a:off x="5010346" y="2366127"/>
                    <a:ext cx="669303" cy="405353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1</a:t>
                    </a:r>
                  </a:p>
                </p:txBody>
              </p:sp>
              <p:sp>
                <p:nvSpPr>
                  <p:cNvPr id="54" name="Rectangle 53">
                    <a:extLst>
                      <a:ext uri="{FF2B5EF4-FFF2-40B4-BE49-F238E27FC236}">
                        <a16:creationId xmlns:a16="http://schemas.microsoft.com/office/drawing/2014/main" id="{30C10888-59CA-EC8C-F232-40641888DA82}"/>
                      </a:ext>
                    </a:extLst>
                  </p:cNvPr>
                  <p:cNvSpPr/>
                  <p:nvPr/>
                </p:nvSpPr>
                <p:spPr>
                  <a:xfrm>
                    <a:off x="5010346" y="2903455"/>
                    <a:ext cx="669303" cy="405353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1</a:t>
                    </a:r>
                  </a:p>
                </p:txBody>
              </p:sp>
              <p:sp>
                <p:nvSpPr>
                  <p:cNvPr id="55" name="Rectangle 54">
                    <a:extLst>
                      <a:ext uri="{FF2B5EF4-FFF2-40B4-BE49-F238E27FC236}">
                        <a16:creationId xmlns:a16="http://schemas.microsoft.com/office/drawing/2014/main" id="{8C652EF8-24EF-403E-3573-9E99AA185CE4}"/>
                      </a:ext>
                    </a:extLst>
                  </p:cNvPr>
                  <p:cNvSpPr/>
                  <p:nvPr/>
                </p:nvSpPr>
                <p:spPr>
                  <a:xfrm>
                    <a:off x="5010345" y="3381865"/>
                    <a:ext cx="669303" cy="405353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1</a:t>
                    </a:r>
                  </a:p>
                </p:txBody>
              </p:sp>
            </p:grpSp>
          </p:grp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C8254A81-DF84-E662-01C1-FF46410F3CB2}"/>
                  </a:ext>
                </a:extLst>
              </p:cNvPr>
              <p:cNvSpPr/>
              <p:nvPr/>
            </p:nvSpPr>
            <p:spPr>
              <a:xfrm>
                <a:off x="6361913" y="2729757"/>
                <a:ext cx="494058" cy="27077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CAA807EC-35AA-3895-3BA2-1F54B77AAAEC}"/>
                  </a:ext>
                </a:extLst>
              </p:cNvPr>
              <p:cNvSpPr/>
              <p:nvPr/>
            </p:nvSpPr>
            <p:spPr>
              <a:xfrm>
                <a:off x="5758014" y="2729757"/>
                <a:ext cx="494058" cy="27077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</p:grp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F25BD454-F58C-DAA3-2D41-E1EA62C1A67B}"/>
              </a:ext>
            </a:extLst>
          </p:cNvPr>
          <p:cNvGrpSpPr/>
          <p:nvPr/>
        </p:nvGrpSpPr>
        <p:grpSpPr>
          <a:xfrm>
            <a:off x="7241596" y="3096367"/>
            <a:ext cx="4768159" cy="1702778"/>
            <a:chOff x="6938701" y="3421072"/>
            <a:chExt cx="4768159" cy="1702778"/>
          </a:xfrm>
        </p:grpSpPr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51F4CAD3-E354-DD6D-556A-D68D9750FCE9}"/>
                </a:ext>
              </a:extLst>
            </p:cNvPr>
            <p:cNvGrpSpPr/>
            <p:nvPr/>
          </p:nvGrpSpPr>
          <p:grpSpPr>
            <a:xfrm>
              <a:off x="6938701" y="3421072"/>
              <a:ext cx="4768159" cy="1578614"/>
              <a:chOff x="3764420" y="1416302"/>
              <a:chExt cx="4768159" cy="2651125"/>
            </a:xfrm>
          </p:grpSpPr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49480C33-A745-2D63-2251-011AC3399F99}"/>
                  </a:ext>
                </a:extLst>
              </p:cNvPr>
              <p:cNvGrpSpPr/>
              <p:nvPr/>
            </p:nvGrpSpPr>
            <p:grpSpPr>
              <a:xfrm>
                <a:off x="3764420" y="1416302"/>
                <a:ext cx="4768159" cy="2651125"/>
                <a:chOff x="3847948" y="1287144"/>
                <a:chExt cx="4768159" cy="2651125"/>
              </a:xfrm>
            </p:grpSpPr>
            <p:cxnSp>
              <p:nvCxnSpPr>
                <p:cNvPr id="112" name="Straight Arrow Connector 111">
                  <a:extLst>
                    <a:ext uri="{FF2B5EF4-FFF2-40B4-BE49-F238E27FC236}">
                      <a16:creationId xmlns:a16="http://schemas.microsoft.com/office/drawing/2014/main" id="{497CCE01-F628-B584-36F2-2BE2F62B558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098638" y="2591759"/>
                  <a:ext cx="517469" cy="10004"/>
                </a:xfrm>
                <a:prstGeom prst="straightConnector1">
                  <a:avLst/>
                </a:prstGeom>
                <a:ln w="63500">
                  <a:solidFill>
                    <a:schemeClr val="tx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13" name="Group 112">
                  <a:extLst>
                    <a:ext uri="{FF2B5EF4-FFF2-40B4-BE49-F238E27FC236}">
                      <a16:creationId xmlns:a16="http://schemas.microsoft.com/office/drawing/2014/main" id="{A3A883CD-B90C-6261-B98E-C51FB4C1DE15}"/>
                    </a:ext>
                  </a:extLst>
                </p:cNvPr>
                <p:cNvGrpSpPr/>
                <p:nvPr/>
              </p:nvGrpSpPr>
              <p:grpSpPr>
                <a:xfrm>
                  <a:off x="3847948" y="1287144"/>
                  <a:ext cx="4014470" cy="2651125"/>
                  <a:chOff x="9087" y="1748"/>
                  <a:chExt cx="6322" cy="4175"/>
                </a:xfrm>
              </p:grpSpPr>
              <p:sp>
                <p:nvSpPr>
                  <p:cNvPr id="114" name="Oval 113">
                    <a:extLst>
                      <a:ext uri="{FF2B5EF4-FFF2-40B4-BE49-F238E27FC236}">
                        <a16:creationId xmlns:a16="http://schemas.microsoft.com/office/drawing/2014/main" id="{134411BF-0C2F-45BA-F0FD-34B5C7318D49}"/>
                      </a:ext>
                    </a:extLst>
                  </p:cNvPr>
                  <p:cNvSpPr/>
                  <p:nvPr/>
                </p:nvSpPr>
                <p:spPr>
                  <a:xfrm>
                    <a:off x="14954" y="5466"/>
                    <a:ext cx="455" cy="457"/>
                  </a:xfrm>
                  <a:prstGeom prst="ellipse">
                    <a:avLst/>
                  </a:prstGeom>
                  <a:solidFill>
                    <a:schemeClr val="bg1"/>
                  </a:solidFill>
                  <a:ln w="381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5" name="Oval 114">
                    <a:extLst>
                      <a:ext uri="{FF2B5EF4-FFF2-40B4-BE49-F238E27FC236}">
                        <a16:creationId xmlns:a16="http://schemas.microsoft.com/office/drawing/2014/main" id="{1A438EBA-A825-9FEC-BA65-DA177272A18A}"/>
                      </a:ext>
                    </a:extLst>
                  </p:cNvPr>
                  <p:cNvSpPr/>
                  <p:nvPr/>
                </p:nvSpPr>
                <p:spPr>
                  <a:xfrm>
                    <a:off x="14954" y="3325"/>
                    <a:ext cx="455" cy="457"/>
                  </a:xfrm>
                  <a:prstGeom prst="ellipse">
                    <a:avLst/>
                  </a:prstGeom>
                  <a:solidFill>
                    <a:schemeClr val="bg1"/>
                  </a:solidFill>
                  <a:ln w="381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6" name="Oval 115">
                    <a:extLst>
                      <a:ext uri="{FF2B5EF4-FFF2-40B4-BE49-F238E27FC236}">
                        <a16:creationId xmlns:a16="http://schemas.microsoft.com/office/drawing/2014/main" id="{254CE717-F61D-C1AC-14A8-71D414C689AC}"/>
                      </a:ext>
                    </a:extLst>
                  </p:cNvPr>
                  <p:cNvSpPr/>
                  <p:nvPr/>
                </p:nvSpPr>
                <p:spPr>
                  <a:xfrm>
                    <a:off x="14954" y="3837"/>
                    <a:ext cx="455" cy="457"/>
                  </a:xfrm>
                  <a:prstGeom prst="ellipse">
                    <a:avLst/>
                  </a:prstGeom>
                  <a:solidFill>
                    <a:schemeClr val="bg1"/>
                  </a:solidFill>
                  <a:ln w="381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7" name="Oval 116">
                    <a:extLst>
                      <a:ext uri="{FF2B5EF4-FFF2-40B4-BE49-F238E27FC236}">
                        <a16:creationId xmlns:a16="http://schemas.microsoft.com/office/drawing/2014/main" id="{59709CF3-701E-DF32-E638-6F899F46E947}"/>
                      </a:ext>
                    </a:extLst>
                  </p:cNvPr>
                  <p:cNvSpPr/>
                  <p:nvPr/>
                </p:nvSpPr>
                <p:spPr>
                  <a:xfrm>
                    <a:off x="14954" y="4367"/>
                    <a:ext cx="455" cy="457"/>
                  </a:xfrm>
                  <a:prstGeom prst="ellipse">
                    <a:avLst/>
                  </a:prstGeom>
                  <a:solidFill>
                    <a:schemeClr val="bg1"/>
                  </a:solidFill>
                  <a:ln w="381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8" name="Oval 117">
                    <a:extLst>
                      <a:ext uri="{FF2B5EF4-FFF2-40B4-BE49-F238E27FC236}">
                        <a16:creationId xmlns:a16="http://schemas.microsoft.com/office/drawing/2014/main" id="{5B7F41B5-6C7F-182A-18DD-0390AF60BFD2}"/>
                      </a:ext>
                    </a:extLst>
                  </p:cNvPr>
                  <p:cNvSpPr/>
                  <p:nvPr/>
                </p:nvSpPr>
                <p:spPr>
                  <a:xfrm>
                    <a:off x="14954" y="4910"/>
                    <a:ext cx="455" cy="457"/>
                  </a:xfrm>
                  <a:prstGeom prst="ellipse">
                    <a:avLst/>
                  </a:prstGeom>
                  <a:solidFill>
                    <a:schemeClr val="bg1"/>
                  </a:solidFill>
                  <a:ln w="381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9" name="Oval 118">
                    <a:extLst>
                      <a:ext uri="{FF2B5EF4-FFF2-40B4-BE49-F238E27FC236}">
                        <a16:creationId xmlns:a16="http://schemas.microsoft.com/office/drawing/2014/main" id="{F725A7A1-D993-E9DF-9B94-B54A5C30AAEE}"/>
                      </a:ext>
                    </a:extLst>
                  </p:cNvPr>
                  <p:cNvSpPr/>
                  <p:nvPr/>
                </p:nvSpPr>
                <p:spPr>
                  <a:xfrm>
                    <a:off x="14954" y="1748"/>
                    <a:ext cx="455" cy="457"/>
                  </a:xfrm>
                  <a:prstGeom prst="ellipse">
                    <a:avLst/>
                  </a:prstGeom>
                  <a:solidFill>
                    <a:schemeClr val="bg1"/>
                  </a:solidFill>
                  <a:ln w="381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0" name="Oval 119">
                    <a:extLst>
                      <a:ext uri="{FF2B5EF4-FFF2-40B4-BE49-F238E27FC236}">
                        <a16:creationId xmlns:a16="http://schemas.microsoft.com/office/drawing/2014/main" id="{CB9580A6-5930-BE54-F43C-A952A6902CA1}"/>
                      </a:ext>
                    </a:extLst>
                  </p:cNvPr>
                  <p:cNvSpPr/>
                  <p:nvPr/>
                </p:nvSpPr>
                <p:spPr>
                  <a:xfrm>
                    <a:off x="14954" y="2278"/>
                    <a:ext cx="455" cy="457"/>
                  </a:xfrm>
                  <a:prstGeom prst="ellipse">
                    <a:avLst/>
                  </a:prstGeom>
                  <a:solidFill>
                    <a:schemeClr val="bg1"/>
                  </a:solidFill>
                  <a:ln w="381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1" name="Oval 120">
                    <a:extLst>
                      <a:ext uri="{FF2B5EF4-FFF2-40B4-BE49-F238E27FC236}">
                        <a16:creationId xmlns:a16="http://schemas.microsoft.com/office/drawing/2014/main" id="{4A621803-8599-5A63-28BC-600C9775F1DE}"/>
                      </a:ext>
                    </a:extLst>
                  </p:cNvPr>
                  <p:cNvSpPr/>
                  <p:nvPr/>
                </p:nvSpPr>
                <p:spPr>
                  <a:xfrm>
                    <a:off x="14954" y="2821"/>
                    <a:ext cx="455" cy="457"/>
                  </a:xfrm>
                  <a:prstGeom prst="ellipse">
                    <a:avLst/>
                  </a:prstGeom>
                  <a:solidFill>
                    <a:schemeClr val="bg1"/>
                  </a:solidFill>
                  <a:ln w="381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122" name="Group 121">
                    <a:extLst>
                      <a:ext uri="{FF2B5EF4-FFF2-40B4-BE49-F238E27FC236}">
                        <a16:creationId xmlns:a16="http://schemas.microsoft.com/office/drawing/2014/main" id="{7AE46E2B-F61C-2402-0FA3-00B8C5035B20}"/>
                      </a:ext>
                    </a:extLst>
                  </p:cNvPr>
                  <p:cNvGrpSpPr/>
                  <p:nvPr/>
                </p:nvGrpSpPr>
                <p:grpSpPr>
                  <a:xfrm>
                    <a:off x="9087" y="2989"/>
                    <a:ext cx="5752" cy="1729"/>
                    <a:chOff x="4612" y="3721"/>
                    <a:chExt cx="5752" cy="1729"/>
                  </a:xfrm>
                </p:grpSpPr>
                <p:grpSp>
                  <p:nvGrpSpPr>
                    <p:cNvPr id="123" name="Group 122">
                      <a:extLst>
                        <a:ext uri="{FF2B5EF4-FFF2-40B4-BE49-F238E27FC236}">
                          <a16:creationId xmlns:a16="http://schemas.microsoft.com/office/drawing/2014/main" id="{F03E1609-C698-D3C9-698D-3F1E1BCFAF0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630" y="3721"/>
                      <a:ext cx="4734" cy="1729"/>
                      <a:chOff x="5630" y="3721"/>
                      <a:chExt cx="4734" cy="1729"/>
                    </a:xfrm>
                  </p:grpSpPr>
                  <p:sp>
                    <p:nvSpPr>
                      <p:cNvPr id="125" name="Rectangles 39">
                        <a:extLst>
                          <a:ext uri="{FF2B5EF4-FFF2-40B4-BE49-F238E27FC236}">
                            <a16:creationId xmlns:a16="http://schemas.microsoft.com/office/drawing/2014/main" id="{6A3664BC-5445-7F7D-6D18-AD4AE04E48F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596" y="3735"/>
                        <a:ext cx="942" cy="1714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solidFill>
                          <a:srgbClr val="202020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26" name="Rectangles 40">
                        <a:extLst>
                          <a:ext uri="{FF2B5EF4-FFF2-40B4-BE49-F238E27FC236}">
                            <a16:creationId xmlns:a16="http://schemas.microsoft.com/office/drawing/2014/main" id="{95003C44-1A7A-BD7B-95AF-909596ECD06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538" y="3735"/>
                        <a:ext cx="942" cy="1714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solidFill>
                          <a:srgbClr val="202020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27" name="Rectangles 41">
                        <a:extLst>
                          <a:ext uri="{FF2B5EF4-FFF2-40B4-BE49-F238E27FC236}">
                            <a16:creationId xmlns:a16="http://schemas.microsoft.com/office/drawing/2014/main" id="{3EF56A51-C3FB-B981-1DFF-F72993B725A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80" y="3735"/>
                        <a:ext cx="942" cy="1714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solidFill>
                          <a:srgbClr val="202020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28" name="Rectangles 42">
                        <a:extLst>
                          <a:ext uri="{FF2B5EF4-FFF2-40B4-BE49-F238E27FC236}">
                            <a16:creationId xmlns:a16="http://schemas.microsoft.com/office/drawing/2014/main" id="{607BFA78-B274-458C-D52F-C04753BFBD3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22" y="3735"/>
                        <a:ext cx="942" cy="1714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solidFill>
                          <a:srgbClr val="202020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cxnSp>
                    <p:nvCxnSpPr>
                      <p:cNvPr id="129" name="Straight Connector 128">
                        <a:extLst>
                          <a:ext uri="{FF2B5EF4-FFF2-40B4-BE49-F238E27FC236}">
                            <a16:creationId xmlns:a16="http://schemas.microsoft.com/office/drawing/2014/main" id="{84554DC1-90F6-C35D-6190-BE9F2443A093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5630" y="3721"/>
                        <a:ext cx="966" cy="15"/>
                      </a:xfrm>
                      <a:prstGeom prst="line">
                        <a:avLst/>
                      </a:prstGeom>
                      <a:ln w="381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30" name="Straight Connector 129">
                        <a:extLst>
                          <a:ext uri="{FF2B5EF4-FFF2-40B4-BE49-F238E27FC236}">
                            <a16:creationId xmlns:a16="http://schemas.microsoft.com/office/drawing/2014/main" id="{B730FD34-139A-40CF-0643-CE2F36943332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5630" y="5435"/>
                        <a:ext cx="966" cy="15"/>
                      </a:xfrm>
                      <a:prstGeom prst="line">
                        <a:avLst/>
                      </a:prstGeom>
                      <a:ln w="381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124" name="Straight Arrow Connector 123">
                      <a:extLst>
                        <a:ext uri="{FF2B5EF4-FFF2-40B4-BE49-F238E27FC236}">
                          <a16:creationId xmlns:a16="http://schemas.microsoft.com/office/drawing/2014/main" id="{BDAC674A-6CB5-4B3F-AEE1-F79225B59E2C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4612" y="4647"/>
                      <a:ext cx="1018" cy="6"/>
                    </a:xfrm>
                    <a:prstGeom prst="straightConnector1">
                      <a:avLst/>
                    </a:prstGeom>
                    <a:ln w="63500">
                      <a:solidFill>
                        <a:schemeClr val="tx1"/>
                      </a:solidFill>
                      <a:tailEnd type="arrow" w="lg" len="lg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  <p:grpSp>
            <p:nvGrpSpPr>
              <p:cNvPr id="98" name="Group 97">
                <a:extLst>
                  <a:ext uri="{FF2B5EF4-FFF2-40B4-BE49-F238E27FC236}">
                    <a16:creationId xmlns:a16="http://schemas.microsoft.com/office/drawing/2014/main" id="{77780A24-C3CC-200B-B1E8-6605DB920730}"/>
                  </a:ext>
                </a:extLst>
              </p:cNvPr>
              <p:cNvGrpSpPr/>
              <p:nvPr/>
            </p:nvGrpSpPr>
            <p:grpSpPr>
              <a:xfrm>
                <a:off x="5674486" y="1420547"/>
                <a:ext cx="2626457" cy="2299486"/>
                <a:chOff x="5758014" y="1291389"/>
                <a:chExt cx="2626457" cy="2299486"/>
              </a:xfrm>
            </p:grpSpPr>
            <p:sp>
              <p:nvSpPr>
                <p:cNvPr id="99" name="Rectangle 98">
                  <a:extLst>
                    <a:ext uri="{FF2B5EF4-FFF2-40B4-BE49-F238E27FC236}">
                      <a16:creationId xmlns:a16="http://schemas.microsoft.com/office/drawing/2014/main" id="{A52B9713-C94E-8233-16CA-8E55B912CD1B}"/>
                    </a:ext>
                  </a:extLst>
                </p:cNvPr>
                <p:cNvSpPr/>
                <p:nvPr/>
              </p:nvSpPr>
              <p:spPr>
                <a:xfrm>
                  <a:off x="6960083" y="1453784"/>
                  <a:ext cx="464845" cy="1885361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n</a:t>
                  </a:r>
                </a:p>
              </p:txBody>
            </p:sp>
            <p:grpSp>
              <p:nvGrpSpPr>
                <p:cNvPr id="100" name="Group 99">
                  <a:extLst>
                    <a:ext uri="{FF2B5EF4-FFF2-40B4-BE49-F238E27FC236}">
                      <a16:creationId xmlns:a16="http://schemas.microsoft.com/office/drawing/2014/main" id="{92C2259E-57D0-5A90-CF6B-57F4CEE17E47}"/>
                    </a:ext>
                  </a:extLst>
                </p:cNvPr>
                <p:cNvGrpSpPr/>
                <p:nvPr/>
              </p:nvGrpSpPr>
              <p:grpSpPr>
                <a:xfrm>
                  <a:off x="7715166" y="1291389"/>
                  <a:ext cx="669305" cy="2299486"/>
                  <a:chOff x="7715166" y="1291389"/>
                  <a:chExt cx="669305" cy="2299486"/>
                </a:xfrm>
              </p:grpSpPr>
              <p:grpSp>
                <p:nvGrpSpPr>
                  <p:cNvPr id="103" name="Group 102">
                    <a:extLst>
                      <a:ext uri="{FF2B5EF4-FFF2-40B4-BE49-F238E27FC236}">
                        <a16:creationId xmlns:a16="http://schemas.microsoft.com/office/drawing/2014/main" id="{D4078F6A-9807-C11D-668D-27D24FC956F2}"/>
                      </a:ext>
                    </a:extLst>
                  </p:cNvPr>
                  <p:cNvGrpSpPr/>
                  <p:nvPr/>
                </p:nvGrpSpPr>
                <p:grpSpPr>
                  <a:xfrm>
                    <a:off x="7715167" y="1291389"/>
                    <a:ext cx="669304" cy="1259405"/>
                    <a:chOff x="5010345" y="2366127"/>
                    <a:chExt cx="669304" cy="1885362"/>
                  </a:xfrm>
                </p:grpSpPr>
                <p:sp>
                  <p:nvSpPr>
                    <p:cNvPr id="108" name="Rectangle 107">
                      <a:extLst>
                        <a:ext uri="{FF2B5EF4-FFF2-40B4-BE49-F238E27FC236}">
                          <a16:creationId xmlns:a16="http://schemas.microsoft.com/office/drawing/2014/main" id="{9859EE47-4AAB-3E1E-8838-A14F0BEC66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10346" y="2366127"/>
                      <a:ext cx="669303" cy="405353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p:txBody>
                </p:sp>
                <p:sp>
                  <p:nvSpPr>
                    <p:cNvPr id="109" name="Rectangle 108">
                      <a:extLst>
                        <a:ext uri="{FF2B5EF4-FFF2-40B4-BE49-F238E27FC236}">
                          <a16:creationId xmlns:a16="http://schemas.microsoft.com/office/drawing/2014/main" id="{0DF0F80A-D2CD-44BD-A500-BAB6F52F348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10346" y="2903455"/>
                      <a:ext cx="669303" cy="405353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p:txBody>
                </p:sp>
                <p:sp>
                  <p:nvSpPr>
                    <p:cNvPr id="110" name="Rectangle 109">
                      <a:extLst>
                        <a:ext uri="{FF2B5EF4-FFF2-40B4-BE49-F238E27FC236}">
                          <a16:creationId xmlns:a16="http://schemas.microsoft.com/office/drawing/2014/main" id="{8BD573F4-E216-4972-6DB9-7A3482835E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10345" y="3381865"/>
                      <a:ext cx="669303" cy="405353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p:txBody>
                </p:sp>
                <p:sp>
                  <p:nvSpPr>
                    <p:cNvPr id="111" name="Rectangle 110">
                      <a:extLst>
                        <a:ext uri="{FF2B5EF4-FFF2-40B4-BE49-F238E27FC236}">
                          <a16:creationId xmlns:a16="http://schemas.microsoft.com/office/drawing/2014/main" id="{B78BD56A-EBF2-22D0-FAFA-F9F290EF947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10345" y="3883844"/>
                      <a:ext cx="669303" cy="367645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p:txBody>
                </p:sp>
              </p:grpSp>
              <p:grpSp>
                <p:nvGrpSpPr>
                  <p:cNvPr id="104" name="Group 103">
                    <a:extLst>
                      <a:ext uri="{FF2B5EF4-FFF2-40B4-BE49-F238E27FC236}">
                        <a16:creationId xmlns:a16="http://schemas.microsoft.com/office/drawing/2014/main" id="{E947D6F2-5B86-B2F0-A36A-3FAD74BDB50F}"/>
                      </a:ext>
                    </a:extLst>
                  </p:cNvPr>
                  <p:cNvGrpSpPr/>
                  <p:nvPr/>
                </p:nvGrpSpPr>
                <p:grpSpPr>
                  <a:xfrm>
                    <a:off x="7715166" y="2641599"/>
                    <a:ext cx="669304" cy="949276"/>
                    <a:chOff x="5010345" y="2366127"/>
                    <a:chExt cx="669304" cy="1421091"/>
                  </a:xfrm>
                </p:grpSpPr>
                <p:sp>
                  <p:nvSpPr>
                    <p:cNvPr id="105" name="Rectangle 104">
                      <a:extLst>
                        <a:ext uri="{FF2B5EF4-FFF2-40B4-BE49-F238E27FC236}">
                          <a16:creationId xmlns:a16="http://schemas.microsoft.com/office/drawing/2014/main" id="{A147E1D8-3A04-A4D6-2801-515E885CE9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10346" y="2366127"/>
                      <a:ext cx="669303" cy="405353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p:txBody>
                </p:sp>
                <p:sp>
                  <p:nvSpPr>
                    <p:cNvPr id="106" name="Rectangle 105">
                      <a:extLst>
                        <a:ext uri="{FF2B5EF4-FFF2-40B4-BE49-F238E27FC236}">
                          <a16:creationId xmlns:a16="http://schemas.microsoft.com/office/drawing/2014/main" id="{BFD687BE-6EFC-020D-22AA-36D3E82D591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10346" y="2903455"/>
                      <a:ext cx="669303" cy="405353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p:txBody>
                </p:sp>
                <p:sp>
                  <p:nvSpPr>
                    <p:cNvPr id="107" name="Rectangle 106">
                      <a:extLst>
                        <a:ext uri="{FF2B5EF4-FFF2-40B4-BE49-F238E27FC236}">
                          <a16:creationId xmlns:a16="http://schemas.microsoft.com/office/drawing/2014/main" id="{73BBFEC7-9DF0-C4E7-913C-FF895AE5A12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10345" y="3381865"/>
                      <a:ext cx="669303" cy="405353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p:txBody>
                </p:sp>
              </p:grpSp>
            </p:grpSp>
            <p:sp>
              <p:nvSpPr>
                <p:cNvPr id="101" name="Rectangle 100">
                  <a:extLst>
                    <a:ext uri="{FF2B5EF4-FFF2-40B4-BE49-F238E27FC236}">
                      <a16:creationId xmlns:a16="http://schemas.microsoft.com/office/drawing/2014/main" id="{2D13D6B0-EB23-4AB0-9B74-47CDA220BD2C}"/>
                    </a:ext>
                  </a:extLst>
                </p:cNvPr>
                <p:cNvSpPr/>
                <p:nvPr/>
              </p:nvSpPr>
              <p:spPr>
                <a:xfrm>
                  <a:off x="6361913" y="2729757"/>
                  <a:ext cx="494058" cy="270772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1</a:t>
                  </a:r>
                </a:p>
              </p:txBody>
            </p:sp>
            <p:sp>
              <p:nvSpPr>
                <p:cNvPr id="102" name="Rectangle 101">
                  <a:extLst>
                    <a:ext uri="{FF2B5EF4-FFF2-40B4-BE49-F238E27FC236}">
                      <a16:creationId xmlns:a16="http://schemas.microsoft.com/office/drawing/2014/main" id="{70528B84-E803-CF5E-C24E-42DD03EC91C6}"/>
                    </a:ext>
                  </a:extLst>
                </p:cNvPr>
                <p:cNvSpPr/>
                <p:nvPr/>
              </p:nvSpPr>
              <p:spPr>
                <a:xfrm>
                  <a:off x="5758014" y="2729757"/>
                  <a:ext cx="494058" cy="270772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1</a:t>
                  </a:r>
                </a:p>
              </p:txBody>
            </p:sp>
          </p:grpSp>
        </p:grp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41DF7F25-C886-829F-6D13-5DB231B7A5AA}"/>
                </a:ext>
              </a:extLst>
            </p:cNvPr>
            <p:cNvCxnSpPr>
              <a:cxnSpLocks/>
            </p:cNvCxnSpPr>
            <p:nvPr/>
          </p:nvCxnSpPr>
          <p:spPr>
            <a:xfrm>
              <a:off x="11706860" y="4219643"/>
              <a:ext cx="0" cy="875283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F3904028-5F36-49AA-228E-8B426B90528B}"/>
                </a:ext>
              </a:extLst>
            </p:cNvPr>
            <p:cNvCxnSpPr>
              <a:cxnSpLocks/>
            </p:cNvCxnSpPr>
            <p:nvPr/>
          </p:nvCxnSpPr>
          <p:spPr>
            <a:xfrm>
              <a:off x="6946321" y="5123850"/>
              <a:ext cx="4760539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D58F2A0A-FC99-7B0B-B20D-4BA732AF07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38701" y="4234577"/>
              <a:ext cx="0" cy="882279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7" name="Smiley Face 146">
            <a:extLst>
              <a:ext uri="{FF2B5EF4-FFF2-40B4-BE49-F238E27FC236}">
                <a16:creationId xmlns:a16="http://schemas.microsoft.com/office/drawing/2014/main" id="{B6234395-A93B-BAD4-19BE-C6F68015B95A}"/>
              </a:ext>
            </a:extLst>
          </p:cNvPr>
          <p:cNvSpPr/>
          <p:nvPr/>
        </p:nvSpPr>
        <p:spPr>
          <a:xfrm>
            <a:off x="56825" y="1905683"/>
            <a:ext cx="747675" cy="760759"/>
          </a:xfrm>
          <a:prstGeom prst="smileyFace">
            <a:avLst>
              <a:gd name="adj" fmla="val -4653"/>
            </a:avLst>
          </a:prstGeom>
          <a:solidFill>
            <a:srgbClr val="FF0000"/>
          </a:solidFill>
          <a:ln w="254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Smiley Face 147">
            <a:extLst>
              <a:ext uri="{FF2B5EF4-FFF2-40B4-BE49-F238E27FC236}">
                <a16:creationId xmlns:a16="http://schemas.microsoft.com/office/drawing/2014/main" id="{66312785-C089-60D0-EEDF-3AEAD7FB75CE}"/>
              </a:ext>
            </a:extLst>
          </p:cNvPr>
          <p:cNvSpPr/>
          <p:nvPr/>
        </p:nvSpPr>
        <p:spPr>
          <a:xfrm>
            <a:off x="73675" y="3296766"/>
            <a:ext cx="747675" cy="760759"/>
          </a:xfrm>
          <a:prstGeom prst="smileyFace">
            <a:avLst>
              <a:gd name="adj" fmla="val -4653"/>
            </a:avLst>
          </a:prstGeom>
          <a:solidFill>
            <a:srgbClr val="FF0000"/>
          </a:solidFill>
          <a:ln w="254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675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47" grpId="0" animBg="1"/>
      <p:bldP spid="14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C4FEA-4D91-6C00-86C5-40CC431D3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 work on </a:t>
            </a:r>
            <a:r>
              <a:rPr lang="en-US" dirty="0" err="1"/>
              <a:t>Nonpreemptible</a:t>
            </a:r>
            <a:r>
              <a:rPr lang="en-US" dirty="0"/>
              <a:t> MSJ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F8FB7-F4B9-6F39-1357-6AF700BAF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Open Models:</a:t>
            </a:r>
          </a:p>
          <a:p>
            <a:r>
              <a:rPr lang="en-US" dirty="0"/>
              <a:t>Stability-optimal: Randomized Timers [G’16], Markovian Service Rate [C</a:t>
            </a:r>
            <a:r>
              <a:rPr lang="en-US" b="1" dirty="0"/>
              <a:t>G</a:t>
            </a:r>
            <a:r>
              <a:rPr lang="en-US" dirty="0"/>
              <a:t>B’25]</a:t>
            </a:r>
          </a:p>
          <a:p>
            <a:r>
              <a:rPr lang="en-US" dirty="0"/>
              <a:t>FCFS: Stability region [RM’17], response time [</a:t>
            </a:r>
            <a:r>
              <a:rPr lang="en-US" b="1" dirty="0"/>
              <a:t>G</a:t>
            </a:r>
            <a:r>
              <a:rPr lang="en-US" dirty="0"/>
              <a:t>HHS’23]</a:t>
            </a:r>
          </a:p>
          <a:p>
            <a:r>
              <a:rPr lang="en-US" dirty="0"/>
              <a:t>Scaling regimes: [HW’24], [</a:t>
            </a:r>
            <a:r>
              <a:rPr lang="en-US" b="1" dirty="0"/>
              <a:t>G</a:t>
            </a:r>
            <a:r>
              <a:rPr lang="en-US" dirty="0"/>
              <a:t>A’25]</a:t>
            </a:r>
          </a:p>
          <a:p>
            <a:pPr marL="0" indent="0">
              <a:buNone/>
            </a:pPr>
            <a:r>
              <a:rPr lang="en-US" dirty="0"/>
              <a:t>Closed Models:</a:t>
            </a:r>
          </a:p>
          <a:p>
            <a:r>
              <a:rPr lang="en-US" dirty="0"/>
              <a:t>FCFS: Equivalence between closed and open throughput and response time. [BF’95], [</a:t>
            </a:r>
            <a:r>
              <a:rPr lang="en-US" b="1" dirty="0"/>
              <a:t>G</a:t>
            </a:r>
            <a:r>
              <a:rPr lang="en-US" dirty="0"/>
              <a:t>HHS’23]. Product forms [C</a:t>
            </a:r>
            <a:r>
              <a:rPr lang="en-US" b="1" dirty="0"/>
              <a:t>G</a:t>
            </a:r>
            <a:r>
              <a:rPr lang="en-US" dirty="0"/>
              <a:t> ’26].</a:t>
            </a:r>
            <a:endParaRPr lang="en-US" b="1" dirty="0"/>
          </a:p>
          <a:p>
            <a:r>
              <a:rPr lang="en-US" dirty="0"/>
              <a:t>Large and small jobs: Throughput characterization [OMBM’23].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22E09E-8E7F-D5DB-8CEE-710F2EC5D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Allerton Conference, 9-16-26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8B6386-32C5-500D-9F38-5F55B3947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85CE2-2EC4-4027-8BA4-D2509B7ADC9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276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3B122-0582-6135-A1F4-3EA40604D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Half-batch MSJ Model [W</a:t>
            </a:r>
            <a:r>
              <a:rPr lang="en-US" b="1" dirty="0"/>
              <a:t>G</a:t>
            </a:r>
            <a:r>
              <a:rPr lang="en-US" dirty="0"/>
              <a:t> ‘26]</a:t>
            </a:r>
            <a:endParaRPr 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0F58EC-BD98-DC83-3D70-B59E94AA96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5018343"/>
                <a:ext cx="10515600" cy="115861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Policy: When to serve smalls, when to hold idle, when to serve larges.</a:t>
                </a:r>
              </a:p>
              <a:p>
                <a:pPr marL="0" indent="0">
                  <a:buNone/>
                </a:pPr>
                <a:r>
                  <a:rPr lang="en-US" dirty="0"/>
                  <a:t>Goal: Identify Pareto-optimal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family of policies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0F58EC-BD98-DC83-3D70-B59E94AA96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5018343"/>
                <a:ext cx="10515600" cy="1158619"/>
              </a:xfrm>
              <a:blipFill>
                <a:blip r:embed="rId2"/>
                <a:stretch>
                  <a:fillRect l="-1217" t="-8421" b="-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716948-BC7F-29F0-6001-DA8FA6FD4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Allerton Conference, 9-16-26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8A3391-5CFC-E509-8A3E-89ABFA77A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85CE2-2EC4-4027-8BA4-D2509B7ADC92}" type="slidenum">
              <a:rPr lang="en-US" smtClean="0"/>
              <a:t>6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D5E858E2-2AC6-BEA5-F3E8-BE93C323B858}"/>
                  </a:ext>
                </a:extLst>
              </p:cNvPr>
              <p:cNvSpPr txBox="1"/>
              <p:nvPr/>
            </p:nvSpPr>
            <p:spPr>
              <a:xfrm>
                <a:off x="2105948" y="1720371"/>
                <a:ext cx="2688361" cy="1569660"/>
              </a:xfrm>
              <a:prstGeom prst="rect">
                <a:avLst/>
              </a:prstGeom>
              <a:noFill/>
              <a:ln w="25400">
                <a:solidFill>
                  <a:srgbClr val="7030A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Large jobs</a:t>
                </a:r>
                <a:br>
                  <a:rPr lang="en-US" sz="2400" dirty="0"/>
                </a:br>
                <a:r>
                  <a:rPr lang="en-US" sz="2400" dirty="0" err="1"/>
                  <a:t>PoissonP</a:t>
                </a:r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400" dirty="0"/>
                  <a:t>)</a:t>
                </a:r>
                <a:br>
                  <a:rPr lang="en-US" sz="2400" dirty="0"/>
                </a:br>
                <a:r>
                  <a:rPr lang="en-US" sz="2400" dirty="0"/>
                  <a:t>General </a:t>
                </a:r>
                <a:r>
                  <a:rPr lang="en-US" sz="2400" dirty="0" err="1"/>
                  <a:t>i.i.d.</a:t>
                </a:r>
                <a:r>
                  <a:rPr lang="en-US" sz="2400" dirty="0"/>
                  <a:t> size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sz="2400" dirty="0"/>
              </a:p>
              <a:p>
                <a:r>
                  <a:rPr lang="en-US" sz="2400" dirty="0"/>
                  <a:t>Minimize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D5E858E2-2AC6-BEA5-F3E8-BE93C323B8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5948" y="1720371"/>
                <a:ext cx="2688361" cy="1569660"/>
              </a:xfrm>
              <a:prstGeom prst="rect">
                <a:avLst/>
              </a:prstGeom>
              <a:blipFill>
                <a:blip r:embed="rId3"/>
                <a:stretch>
                  <a:fillRect l="-2921" t="-2290" b="-6870"/>
                </a:stretch>
              </a:blipFill>
              <a:ln w="25400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AC67DD42-F886-F758-CD6A-04FF856A1289}"/>
                  </a:ext>
                </a:extLst>
              </p:cNvPr>
              <p:cNvSpPr txBox="1"/>
              <p:nvPr/>
            </p:nvSpPr>
            <p:spPr>
              <a:xfrm>
                <a:off x="4543425" y="3331075"/>
                <a:ext cx="2198361" cy="1569660"/>
              </a:xfrm>
              <a:prstGeom prst="rect">
                <a:avLst/>
              </a:prstGeom>
              <a:noFill/>
              <a:ln w="25400">
                <a:solidFill>
                  <a:schemeClr val="accent4">
                    <a:lumMod val="5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Small jobs</a:t>
                </a:r>
              </a:p>
              <a:p>
                <a:r>
                  <a:rPr lang="en-US" sz="2400" dirty="0"/>
                  <a:t>Always available</a:t>
                </a:r>
              </a:p>
              <a:p>
                <a:r>
                  <a:rPr lang="en-US" sz="2400" dirty="0"/>
                  <a:t>Exp(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)</a:t>
                </a:r>
              </a:p>
              <a:p>
                <a:r>
                  <a:rPr lang="en-US" sz="2400" dirty="0"/>
                  <a:t>Maximize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AC67DD42-F886-F758-CD6A-04FF856A12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3425" y="3331075"/>
                <a:ext cx="2198361" cy="1569660"/>
              </a:xfrm>
              <a:prstGeom prst="rect">
                <a:avLst/>
              </a:prstGeom>
              <a:blipFill>
                <a:blip r:embed="rId4"/>
                <a:stretch>
                  <a:fillRect l="-3562" t="-2290" r="-3014" b="-6870"/>
                </a:stretch>
              </a:blipFill>
              <a:ln w="25400">
                <a:solidFill>
                  <a:schemeClr val="accent4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5" name="Group 94">
            <a:extLst>
              <a:ext uri="{FF2B5EF4-FFF2-40B4-BE49-F238E27FC236}">
                <a16:creationId xmlns:a16="http://schemas.microsoft.com/office/drawing/2014/main" id="{EB572733-725E-46A2-F258-F1451B8D745A}"/>
              </a:ext>
            </a:extLst>
          </p:cNvPr>
          <p:cNvGrpSpPr/>
          <p:nvPr/>
        </p:nvGrpSpPr>
        <p:grpSpPr>
          <a:xfrm>
            <a:off x="4818436" y="1627780"/>
            <a:ext cx="6499916" cy="2567804"/>
            <a:chOff x="4818436" y="1627780"/>
            <a:chExt cx="6499916" cy="2567804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18CD1C4-EC71-CBE3-CD1B-3705A758C757}"/>
                </a:ext>
              </a:extLst>
            </p:cNvPr>
            <p:cNvGrpSpPr/>
            <p:nvPr/>
          </p:nvGrpSpPr>
          <p:grpSpPr>
            <a:xfrm>
              <a:off x="4818436" y="1639118"/>
              <a:ext cx="3652520" cy="1122639"/>
              <a:chOff x="3764420" y="1582942"/>
              <a:chExt cx="3652520" cy="1885361"/>
            </a:xfrm>
          </p:grpSpPr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FA0EB307-896F-8B3B-146C-A789DB1698A5}"/>
                  </a:ext>
                </a:extLst>
              </p:cNvPr>
              <p:cNvGrpSpPr/>
              <p:nvPr/>
            </p:nvGrpSpPr>
            <p:grpSpPr>
              <a:xfrm>
                <a:off x="3764420" y="2204337"/>
                <a:ext cx="3652520" cy="1097915"/>
                <a:chOff x="4612" y="3721"/>
                <a:chExt cx="5752" cy="1729"/>
              </a:xfrm>
            </p:grpSpPr>
            <p:grpSp>
              <p:nvGrpSpPr>
                <p:cNvPr id="33" name="Group 32">
                  <a:extLst>
                    <a:ext uri="{FF2B5EF4-FFF2-40B4-BE49-F238E27FC236}">
                      <a16:creationId xmlns:a16="http://schemas.microsoft.com/office/drawing/2014/main" id="{3BF688C1-A2B3-6E28-D743-3B019922571B}"/>
                    </a:ext>
                  </a:extLst>
                </p:cNvPr>
                <p:cNvGrpSpPr/>
                <p:nvPr/>
              </p:nvGrpSpPr>
              <p:grpSpPr>
                <a:xfrm>
                  <a:off x="5630" y="3721"/>
                  <a:ext cx="4734" cy="1729"/>
                  <a:chOff x="5630" y="3721"/>
                  <a:chExt cx="4734" cy="1729"/>
                </a:xfrm>
              </p:grpSpPr>
              <p:sp>
                <p:nvSpPr>
                  <p:cNvPr id="35" name="Rectangles 39">
                    <a:extLst>
                      <a:ext uri="{FF2B5EF4-FFF2-40B4-BE49-F238E27FC236}">
                        <a16:creationId xmlns:a16="http://schemas.microsoft.com/office/drawing/2014/main" id="{E3B557FA-3C58-DF42-BABE-89E6BB128910}"/>
                      </a:ext>
                    </a:extLst>
                  </p:cNvPr>
                  <p:cNvSpPr/>
                  <p:nvPr/>
                </p:nvSpPr>
                <p:spPr>
                  <a:xfrm>
                    <a:off x="6596" y="3735"/>
                    <a:ext cx="942" cy="171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6" name="Rectangles 40">
                    <a:extLst>
                      <a:ext uri="{FF2B5EF4-FFF2-40B4-BE49-F238E27FC236}">
                        <a16:creationId xmlns:a16="http://schemas.microsoft.com/office/drawing/2014/main" id="{342EBC6A-A71A-281F-F4FA-8F1D27C3A8A0}"/>
                      </a:ext>
                    </a:extLst>
                  </p:cNvPr>
                  <p:cNvSpPr/>
                  <p:nvPr/>
                </p:nvSpPr>
                <p:spPr>
                  <a:xfrm>
                    <a:off x="7538" y="3735"/>
                    <a:ext cx="942" cy="171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7" name="Rectangles 41">
                    <a:extLst>
                      <a:ext uri="{FF2B5EF4-FFF2-40B4-BE49-F238E27FC236}">
                        <a16:creationId xmlns:a16="http://schemas.microsoft.com/office/drawing/2014/main" id="{CE835BBE-5CF0-9309-04BE-A41917DA9D53}"/>
                      </a:ext>
                    </a:extLst>
                  </p:cNvPr>
                  <p:cNvSpPr/>
                  <p:nvPr/>
                </p:nvSpPr>
                <p:spPr>
                  <a:xfrm>
                    <a:off x="8480" y="3735"/>
                    <a:ext cx="942" cy="171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8" name="Rectangles 42">
                    <a:extLst>
                      <a:ext uri="{FF2B5EF4-FFF2-40B4-BE49-F238E27FC236}">
                        <a16:creationId xmlns:a16="http://schemas.microsoft.com/office/drawing/2014/main" id="{CB152E5C-BA21-6B93-2E40-B8C825F3AC34}"/>
                      </a:ext>
                    </a:extLst>
                  </p:cNvPr>
                  <p:cNvSpPr/>
                  <p:nvPr/>
                </p:nvSpPr>
                <p:spPr>
                  <a:xfrm>
                    <a:off x="9422" y="3735"/>
                    <a:ext cx="942" cy="171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39" name="Straight Connector 38">
                    <a:extLst>
                      <a:ext uri="{FF2B5EF4-FFF2-40B4-BE49-F238E27FC236}">
                        <a16:creationId xmlns:a16="http://schemas.microsoft.com/office/drawing/2014/main" id="{0761D209-26F6-6A51-8EF4-6D79901D9D79}"/>
                      </a:ext>
                    </a:extLst>
                  </p:cNvPr>
                  <p:cNvCxnSpPr/>
                  <p:nvPr/>
                </p:nvCxnSpPr>
                <p:spPr>
                  <a:xfrm>
                    <a:off x="5630" y="3721"/>
                    <a:ext cx="966" cy="15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" name="Straight Connector 39">
                    <a:extLst>
                      <a:ext uri="{FF2B5EF4-FFF2-40B4-BE49-F238E27FC236}">
                        <a16:creationId xmlns:a16="http://schemas.microsoft.com/office/drawing/2014/main" id="{D2943A72-6679-7FD2-9373-9C32BDC09EA6}"/>
                      </a:ext>
                    </a:extLst>
                  </p:cNvPr>
                  <p:cNvCxnSpPr/>
                  <p:nvPr/>
                </p:nvCxnSpPr>
                <p:spPr>
                  <a:xfrm>
                    <a:off x="5630" y="5435"/>
                    <a:ext cx="966" cy="15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34" name="Straight Arrow Connector 33">
                  <a:extLst>
                    <a:ext uri="{FF2B5EF4-FFF2-40B4-BE49-F238E27FC236}">
                      <a16:creationId xmlns:a16="http://schemas.microsoft.com/office/drawing/2014/main" id="{FF6D7B73-6D9B-B8B5-016D-088AA093BD60}"/>
                    </a:ext>
                  </a:extLst>
                </p:cNvPr>
                <p:cNvCxnSpPr/>
                <p:nvPr/>
              </p:nvCxnSpPr>
              <p:spPr>
                <a:xfrm flipV="1">
                  <a:off x="4612" y="4647"/>
                  <a:ext cx="1018" cy="6"/>
                </a:xfrm>
                <a:prstGeom prst="straightConnector1">
                  <a:avLst/>
                </a:prstGeom>
                <a:ln w="63500">
                  <a:solidFill>
                    <a:schemeClr val="tx1"/>
                  </a:solidFill>
                  <a:tailEnd type="arrow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A41E3D8-E741-CC9D-3A7E-A000684C699B}"/>
                  </a:ext>
                </a:extLst>
              </p:cNvPr>
              <p:cNvSpPr/>
              <p:nvPr/>
            </p:nvSpPr>
            <p:spPr>
              <a:xfrm>
                <a:off x="6876555" y="1582942"/>
                <a:ext cx="464845" cy="188536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n</a:t>
                </a:r>
              </a:p>
            </p:txBody>
          </p:sp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9FB2B593-3C56-C9BB-C809-FA6104EC4F4D}"/>
                </a:ext>
              </a:extLst>
            </p:cNvPr>
            <p:cNvSpPr/>
            <p:nvPr/>
          </p:nvSpPr>
          <p:spPr>
            <a:xfrm>
              <a:off x="6734681" y="1627780"/>
              <a:ext cx="464845" cy="11226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8E36D0EE-2097-47FE-A7C5-5555BF772449}"/>
                </a:ext>
              </a:extLst>
            </p:cNvPr>
            <p:cNvSpPr/>
            <p:nvPr/>
          </p:nvSpPr>
          <p:spPr>
            <a:xfrm>
              <a:off x="7341278" y="1648386"/>
              <a:ext cx="464845" cy="11226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</a:t>
              </a:r>
            </a:p>
          </p:txBody>
        </p: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015839BB-09B4-7C7D-CDCE-6E5AD162CA34}"/>
                </a:ext>
              </a:extLst>
            </p:cNvPr>
            <p:cNvGrpSpPr/>
            <p:nvPr/>
          </p:nvGrpSpPr>
          <p:grpSpPr>
            <a:xfrm>
              <a:off x="9645195" y="2292332"/>
              <a:ext cx="288925" cy="1578614"/>
              <a:chOff x="8696381" y="1692292"/>
              <a:chExt cx="288925" cy="1578614"/>
            </a:xfrm>
          </p:grpSpPr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D0023881-F4C9-899C-0B46-A940A2C43CED}"/>
                  </a:ext>
                </a:extLst>
              </p:cNvPr>
              <p:cNvGrpSpPr/>
              <p:nvPr/>
            </p:nvGrpSpPr>
            <p:grpSpPr>
              <a:xfrm>
                <a:off x="8696381" y="1692292"/>
                <a:ext cx="288925" cy="1578614"/>
                <a:chOff x="8696381" y="1692292"/>
                <a:chExt cx="288925" cy="1578614"/>
              </a:xfrm>
            </p:grpSpPr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79A0C008-F3A8-BF40-08F2-55925FE2D862}"/>
                    </a:ext>
                  </a:extLst>
                </p:cNvPr>
                <p:cNvSpPr/>
                <p:nvPr/>
              </p:nvSpPr>
              <p:spPr>
                <a:xfrm>
                  <a:off x="8696381" y="3098109"/>
                  <a:ext cx="288925" cy="172797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AA4C74FE-7D0F-B9DB-2FF9-65E41EDC7774}"/>
                    </a:ext>
                  </a:extLst>
                </p:cNvPr>
                <p:cNvSpPr/>
                <p:nvPr/>
              </p:nvSpPr>
              <p:spPr>
                <a:xfrm>
                  <a:off x="8696381" y="2288573"/>
                  <a:ext cx="288925" cy="172797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26AA2D31-D0A4-07E8-1DE6-3217713DB5F4}"/>
                    </a:ext>
                  </a:extLst>
                </p:cNvPr>
                <p:cNvSpPr/>
                <p:nvPr/>
              </p:nvSpPr>
              <p:spPr>
                <a:xfrm>
                  <a:off x="8696381" y="2682565"/>
                  <a:ext cx="288925" cy="172797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A3920035-2921-3D49-D21B-8ACF8EA3A521}"/>
                    </a:ext>
                  </a:extLst>
                </p:cNvPr>
                <p:cNvSpPr/>
                <p:nvPr/>
              </p:nvSpPr>
              <p:spPr>
                <a:xfrm>
                  <a:off x="8696381" y="2887879"/>
                  <a:ext cx="288925" cy="172797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BB25FCD4-A8E6-CA66-3C8C-DA4AE58C3DDB}"/>
                    </a:ext>
                  </a:extLst>
                </p:cNvPr>
                <p:cNvSpPr/>
                <p:nvPr/>
              </p:nvSpPr>
              <p:spPr>
                <a:xfrm>
                  <a:off x="8696381" y="1692292"/>
                  <a:ext cx="288925" cy="172797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F7A830A2-FF12-63D4-F57E-0112BAEE1717}"/>
                    </a:ext>
                  </a:extLst>
                </p:cNvPr>
                <p:cNvSpPr/>
                <p:nvPr/>
              </p:nvSpPr>
              <p:spPr>
                <a:xfrm>
                  <a:off x="8696381" y="1892691"/>
                  <a:ext cx="288925" cy="172797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96F3E3B9-2D6D-0992-1EB6-6C42E45F341D}"/>
                    </a:ext>
                  </a:extLst>
                </p:cNvPr>
                <p:cNvSpPr/>
                <p:nvPr/>
              </p:nvSpPr>
              <p:spPr>
                <a:xfrm>
                  <a:off x="8696381" y="2098005"/>
                  <a:ext cx="288925" cy="172797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AFD60497-D4A6-6048-042E-1A7B37FE3A4A}"/>
                  </a:ext>
                </a:extLst>
              </p:cNvPr>
              <p:cNvSpPr/>
              <p:nvPr/>
            </p:nvSpPr>
            <p:spPr>
              <a:xfrm>
                <a:off x="8696381" y="2482166"/>
                <a:ext cx="288925" cy="17279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0B7FDF8F-D635-7DD9-3DC9-1C47CF0624B5}"/>
                </a:ext>
              </a:extLst>
            </p:cNvPr>
            <p:cNvGrpSpPr/>
            <p:nvPr/>
          </p:nvGrpSpPr>
          <p:grpSpPr>
            <a:xfrm>
              <a:off x="9756879" y="2292332"/>
              <a:ext cx="669305" cy="1369230"/>
              <a:chOff x="8685654" y="1542419"/>
              <a:chExt cx="669305" cy="1369230"/>
            </a:xfrm>
          </p:grpSpPr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F896FEE3-694D-A060-F3F7-C9A7BF93C13F}"/>
                  </a:ext>
                </a:extLst>
              </p:cNvPr>
              <p:cNvSpPr/>
              <p:nvPr/>
            </p:nvSpPr>
            <p:spPr>
              <a:xfrm>
                <a:off x="8685656" y="1542419"/>
                <a:ext cx="669303" cy="16123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28F5B112-131C-98EB-AA00-357E567909ED}"/>
                  </a:ext>
                </a:extLst>
              </p:cNvPr>
              <p:cNvSpPr/>
              <p:nvPr/>
            </p:nvSpPr>
            <p:spPr>
              <a:xfrm>
                <a:off x="8685656" y="1756144"/>
                <a:ext cx="669303" cy="16123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8194FD22-6811-73CB-4788-2281F3D1DD6C}"/>
                  </a:ext>
                </a:extLst>
              </p:cNvPr>
              <p:cNvSpPr/>
              <p:nvPr/>
            </p:nvSpPr>
            <p:spPr>
              <a:xfrm>
                <a:off x="8685655" y="1946434"/>
                <a:ext cx="669303" cy="16123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D6EFF76C-1AE4-78D1-F014-7F92F0CEACB4}"/>
                  </a:ext>
                </a:extLst>
              </p:cNvPr>
              <p:cNvSpPr/>
              <p:nvPr/>
            </p:nvSpPr>
            <p:spPr>
              <a:xfrm>
                <a:off x="8685655" y="2146099"/>
                <a:ext cx="669303" cy="14623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6E3CD8C0-621E-C196-D60C-5A4C75440577}"/>
                  </a:ext>
                </a:extLst>
              </p:cNvPr>
              <p:cNvSpPr/>
              <p:nvPr/>
            </p:nvSpPr>
            <p:spPr>
              <a:xfrm>
                <a:off x="8685655" y="2346402"/>
                <a:ext cx="669303" cy="16123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9C7AA9B3-D209-1602-20B8-CB48B3D5C2D4}"/>
                  </a:ext>
                </a:extLst>
              </p:cNvPr>
              <p:cNvSpPr/>
              <p:nvPr/>
            </p:nvSpPr>
            <p:spPr>
              <a:xfrm>
                <a:off x="8685655" y="2560127"/>
                <a:ext cx="669303" cy="16123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E4ACC138-3B44-9456-44EA-359C00D090F2}"/>
                  </a:ext>
                </a:extLst>
              </p:cNvPr>
              <p:cNvSpPr/>
              <p:nvPr/>
            </p:nvSpPr>
            <p:spPr>
              <a:xfrm>
                <a:off x="8685654" y="2750418"/>
                <a:ext cx="669303" cy="16123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</p:grp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CA2220B4-0006-DC7B-D041-E5C18CFE0B32}"/>
                </a:ext>
              </a:extLst>
            </p:cNvPr>
            <p:cNvSpPr/>
            <p:nvPr/>
          </p:nvSpPr>
          <p:spPr>
            <a:xfrm>
              <a:off x="10853507" y="2338984"/>
              <a:ext cx="464845" cy="153196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</a:t>
              </a:r>
            </a:p>
          </p:txBody>
        </p: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75471BDC-E03D-E332-9D67-BDBC417878F8}"/>
                </a:ext>
              </a:extLst>
            </p:cNvPr>
            <p:cNvCxnSpPr>
              <a:cxnSpLocks/>
            </p:cNvCxnSpPr>
            <p:nvPr/>
          </p:nvCxnSpPr>
          <p:spPr>
            <a:xfrm>
              <a:off x="8469107" y="2452891"/>
              <a:ext cx="921236" cy="435722"/>
            </a:xfrm>
            <a:prstGeom prst="straightConnector1">
              <a:avLst/>
            </a:prstGeom>
            <a:ln w="63500"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E258E311-8A24-512D-B62D-53CAC29273ED}"/>
                </a:ext>
              </a:extLst>
            </p:cNvPr>
            <p:cNvSpPr/>
            <p:nvPr/>
          </p:nvSpPr>
          <p:spPr>
            <a:xfrm>
              <a:off x="7799804" y="3778530"/>
              <a:ext cx="669303" cy="16123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9DA9B218-9ABE-7842-0D07-99215B8B478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10600" y="3324335"/>
              <a:ext cx="978753" cy="546611"/>
            </a:xfrm>
            <a:prstGeom prst="straightConnector1">
              <a:avLst/>
            </a:prstGeom>
            <a:ln w="63500"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855A7F33-6C11-3610-C2E3-91070E2BD1AE}"/>
                    </a:ext>
                  </a:extLst>
                </p:cNvPr>
                <p:cNvSpPr txBox="1"/>
                <p:nvPr/>
              </p:nvSpPr>
              <p:spPr>
                <a:xfrm>
                  <a:off x="6789886" y="3549253"/>
                  <a:ext cx="1039595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∞×</m:t>
                        </m:r>
                      </m:oMath>
                    </m:oMathPara>
                  </a14:m>
                  <a:endParaRPr lang="en-US" sz="3600" dirty="0"/>
                </a:p>
              </p:txBody>
            </p:sp>
          </mc:Choice>
          <mc:Fallback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855A7F33-6C11-3610-C2E3-91070E2BD1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89886" y="3549253"/>
                  <a:ext cx="1039595" cy="64633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6AEDF159-048E-240F-3AEB-A540459A9207}"/>
                </a:ext>
              </a:extLst>
            </p:cNvPr>
            <p:cNvSpPr txBox="1"/>
            <p:nvPr/>
          </p:nvSpPr>
          <p:spPr>
            <a:xfrm>
              <a:off x="10426182" y="2865449"/>
              <a:ext cx="538536" cy="461665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or</a:t>
              </a:r>
            </a:p>
          </p:txBody>
        </p:sp>
      </p:grp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BDFF2279-63CD-01FE-FF66-07CCB36CEB05}"/>
              </a:ext>
            </a:extLst>
          </p:cNvPr>
          <p:cNvSpPr/>
          <p:nvPr/>
        </p:nvSpPr>
        <p:spPr>
          <a:xfrm>
            <a:off x="838199" y="5495926"/>
            <a:ext cx="8552143" cy="520836"/>
          </a:xfrm>
          <a:prstGeom prst="roundRect">
            <a:avLst/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055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2" grpId="0" animBg="1"/>
      <p:bldP spid="93" grpId="0" animBg="1"/>
      <p:bldP spid="9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9A8683E7-08FD-FCDE-2EC9-3AED692B3F3A}"/>
              </a:ext>
            </a:extLst>
          </p:cNvPr>
          <p:cNvGrpSpPr/>
          <p:nvPr/>
        </p:nvGrpSpPr>
        <p:grpSpPr>
          <a:xfrm>
            <a:off x="2324100" y="2406650"/>
            <a:ext cx="9146685" cy="1949450"/>
            <a:chOff x="2324100" y="2406650"/>
            <a:chExt cx="9146685" cy="1949450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FA0DE5BC-85F4-B41B-772B-534183CC4BD4}"/>
                </a:ext>
              </a:extLst>
            </p:cNvPr>
            <p:cNvSpPr/>
            <p:nvPr/>
          </p:nvSpPr>
          <p:spPr>
            <a:xfrm>
              <a:off x="2324100" y="2406650"/>
              <a:ext cx="6991350" cy="1949450"/>
            </a:xfrm>
            <a:custGeom>
              <a:avLst/>
              <a:gdLst>
                <a:gd name="connsiteX0" fmla="*/ 0 w 6991350"/>
                <a:gd name="connsiteY0" fmla="*/ 1593850 h 1949450"/>
                <a:gd name="connsiteX1" fmla="*/ 0 w 6991350"/>
                <a:gd name="connsiteY1" fmla="*/ 1949450 h 1949450"/>
                <a:gd name="connsiteX2" fmla="*/ 6991350 w 6991350"/>
                <a:gd name="connsiteY2" fmla="*/ 1949450 h 1949450"/>
                <a:gd name="connsiteX3" fmla="*/ 6991350 w 6991350"/>
                <a:gd name="connsiteY3" fmla="*/ 6350 h 1949450"/>
                <a:gd name="connsiteX4" fmla="*/ 6324600 w 6991350"/>
                <a:gd name="connsiteY4" fmla="*/ 0 h 1949450"/>
                <a:gd name="connsiteX5" fmla="*/ 4845050 w 6991350"/>
                <a:gd name="connsiteY5" fmla="*/ 76200 h 1949450"/>
                <a:gd name="connsiteX6" fmla="*/ 3803650 w 6991350"/>
                <a:gd name="connsiteY6" fmla="*/ 171450 h 1949450"/>
                <a:gd name="connsiteX7" fmla="*/ 2705100 w 6991350"/>
                <a:gd name="connsiteY7" fmla="*/ 361950 h 1949450"/>
                <a:gd name="connsiteX8" fmla="*/ 1143000 w 6991350"/>
                <a:gd name="connsiteY8" fmla="*/ 730250 h 1949450"/>
                <a:gd name="connsiteX9" fmla="*/ 0 w 6991350"/>
                <a:gd name="connsiteY9" fmla="*/ 1593850 h 1949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91350" h="1949450">
                  <a:moveTo>
                    <a:pt x="0" y="1593850"/>
                  </a:moveTo>
                  <a:lnTo>
                    <a:pt x="0" y="1949450"/>
                  </a:lnTo>
                  <a:lnTo>
                    <a:pt x="6991350" y="1949450"/>
                  </a:lnTo>
                  <a:lnTo>
                    <a:pt x="6991350" y="6350"/>
                  </a:lnTo>
                  <a:lnTo>
                    <a:pt x="6324600" y="0"/>
                  </a:lnTo>
                  <a:lnTo>
                    <a:pt x="4845050" y="76200"/>
                  </a:lnTo>
                  <a:lnTo>
                    <a:pt x="3803650" y="171450"/>
                  </a:lnTo>
                  <a:lnTo>
                    <a:pt x="2705100" y="361950"/>
                  </a:lnTo>
                  <a:lnTo>
                    <a:pt x="1143000" y="730250"/>
                  </a:lnTo>
                  <a:lnTo>
                    <a:pt x="0" y="1593850"/>
                  </a:lnTo>
                  <a:close/>
                </a:path>
              </a:pathLst>
            </a:custGeom>
            <a:solidFill>
              <a:srgbClr val="00B050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FCAB964-BF2E-FAC0-6A6D-BA52DE073075}"/>
                </a:ext>
              </a:extLst>
            </p:cNvPr>
            <p:cNvSpPr txBox="1"/>
            <p:nvPr/>
          </p:nvSpPr>
          <p:spPr>
            <a:xfrm>
              <a:off x="9803217" y="3001159"/>
              <a:ext cx="1667568" cy="461665"/>
            </a:xfrm>
            <a:prstGeom prst="rect">
              <a:avLst/>
            </a:prstGeom>
            <a:noFill/>
            <a:ln w="38100"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0" dirty="0"/>
                <a:t>Convex Hull</a:t>
              </a:r>
              <a:endParaRPr lang="en-US" sz="240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682DC15-96D1-0484-F56B-B81D583E7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Pareto-optimal policies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40EB98-BE67-5514-DAEB-616DF5DF2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Allerton Conference, 9-16-26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A01BF8-3F83-7A9F-8500-336F4B9F9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85CE2-2EC4-4027-8BA4-D2509B7ADC92}" type="slidenum">
              <a:rPr lang="en-US" smtClean="0"/>
              <a:t>7</a:t>
            </a:fld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E44E94B-DF0C-D3BA-1E30-5CEA7427FC2B}"/>
              </a:ext>
            </a:extLst>
          </p:cNvPr>
          <p:cNvGrpSpPr/>
          <p:nvPr/>
        </p:nvGrpSpPr>
        <p:grpSpPr>
          <a:xfrm>
            <a:off x="903747" y="2457450"/>
            <a:ext cx="8526003" cy="2465943"/>
            <a:chOff x="903747" y="2457450"/>
            <a:chExt cx="8526003" cy="2465943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CD9B3B7E-8299-04B7-590D-BE255D6724AD}"/>
                </a:ext>
              </a:extLst>
            </p:cNvPr>
            <p:cNvCxnSpPr/>
            <p:nvPr/>
          </p:nvCxnSpPr>
          <p:spPr>
            <a:xfrm flipV="1">
              <a:off x="2314575" y="2457450"/>
              <a:ext cx="0" cy="19050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F43C5242-9DD9-4EE7-5F09-743AE9C32A70}"/>
                </a:ext>
              </a:extLst>
            </p:cNvPr>
            <p:cNvCxnSpPr>
              <a:cxnSpLocks/>
            </p:cNvCxnSpPr>
            <p:nvPr/>
          </p:nvCxnSpPr>
          <p:spPr>
            <a:xfrm>
              <a:off x="2314575" y="4362450"/>
              <a:ext cx="711517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23DCC7F8-3C4B-F283-EABF-DFE5669DBBB2}"/>
                    </a:ext>
                  </a:extLst>
                </p:cNvPr>
                <p:cNvSpPr txBox="1"/>
                <p:nvPr/>
              </p:nvSpPr>
              <p:spPr>
                <a:xfrm>
                  <a:off x="903747" y="2770327"/>
                  <a:ext cx="1287002" cy="461665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400" dirty="0"/>
                    <a:t>Small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23DCC7F8-3C4B-F283-EABF-DFE5669DBB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747" y="2770327"/>
                  <a:ext cx="1287002" cy="461665"/>
                </a:xfrm>
                <a:prstGeom prst="rect">
                  <a:avLst/>
                </a:prstGeom>
                <a:blipFill>
                  <a:blip r:embed="rId2"/>
                  <a:stretch>
                    <a:fillRect l="-5213" t="-10526" b="-28947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6EA8A7E5-868D-FA31-CC02-D94806CD14B1}"/>
                    </a:ext>
                  </a:extLst>
                </p:cNvPr>
                <p:cNvSpPr txBox="1"/>
                <p:nvPr/>
              </p:nvSpPr>
              <p:spPr>
                <a:xfrm>
                  <a:off x="4238625" y="4461728"/>
                  <a:ext cx="3267074" cy="461665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400" b="0" dirty="0"/>
                    <a:t>Large </a:t>
                  </a:r>
                  <a14:m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6EA8A7E5-868D-FA31-CC02-D94806CD14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38625" y="4461728"/>
                  <a:ext cx="3267074" cy="461665"/>
                </a:xfrm>
                <a:prstGeom prst="rect">
                  <a:avLst/>
                </a:prstGeom>
                <a:blipFill>
                  <a:blip r:embed="rId3"/>
                  <a:stretch>
                    <a:fillRect t="-10526" b="-28947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0C619B0-FF6E-B6B0-B192-3229CAF88E4D}"/>
              </a:ext>
            </a:extLst>
          </p:cNvPr>
          <p:cNvGrpSpPr/>
          <p:nvPr/>
        </p:nvGrpSpPr>
        <p:grpSpPr>
          <a:xfrm>
            <a:off x="2300894" y="2376938"/>
            <a:ext cx="6887613" cy="1830967"/>
            <a:chOff x="2300894" y="2376938"/>
            <a:chExt cx="6887613" cy="1830967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EFA79B4-A5E2-EA8B-FA44-A8DF4EB90D77}"/>
                </a:ext>
              </a:extLst>
            </p:cNvPr>
            <p:cNvSpPr/>
            <p:nvPr/>
          </p:nvSpPr>
          <p:spPr>
            <a:xfrm>
              <a:off x="5001664" y="2738323"/>
              <a:ext cx="66675" cy="640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EFF9F56D-A4E8-ABF6-1D11-99075860DFDD}"/>
                </a:ext>
              </a:extLst>
            </p:cNvPr>
            <p:cNvSpPr/>
            <p:nvPr/>
          </p:nvSpPr>
          <p:spPr>
            <a:xfrm>
              <a:off x="3434280" y="3107131"/>
              <a:ext cx="66675" cy="640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6FA7711-07BC-F66A-475B-B9962E5853B8}"/>
                </a:ext>
              </a:extLst>
            </p:cNvPr>
            <p:cNvSpPr/>
            <p:nvPr/>
          </p:nvSpPr>
          <p:spPr>
            <a:xfrm>
              <a:off x="2300894" y="3959511"/>
              <a:ext cx="66675" cy="640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8A7278A-EBBA-4D09-2414-0CB4C9F08B19}"/>
                </a:ext>
              </a:extLst>
            </p:cNvPr>
            <p:cNvSpPr/>
            <p:nvPr/>
          </p:nvSpPr>
          <p:spPr>
            <a:xfrm>
              <a:off x="3367605" y="4001463"/>
              <a:ext cx="66675" cy="640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A9381DE-E5C3-45B4-05E8-E38DBB6A272A}"/>
                </a:ext>
              </a:extLst>
            </p:cNvPr>
            <p:cNvSpPr/>
            <p:nvPr/>
          </p:nvSpPr>
          <p:spPr>
            <a:xfrm>
              <a:off x="3088351" y="3754387"/>
              <a:ext cx="66675" cy="640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B62AB99F-6746-E64F-F59B-5E53E02E9886}"/>
                </a:ext>
              </a:extLst>
            </p:cNvPr>
            <p:cNvSpPr/>
            <p:nvPr/>
          </p:nvSpPr>
          <p:spPr>
            <a:xfrm>
              <a:off x="4124844" y="3317536"/>
              <a:ext cx="66675" cy="640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39C6C4F-EA5E-BD05-E7D6-339E91C38B43}"/>
                </a:ext>
              </a:extLst>
            </p:cNvPr>
            <p:cNvSpPr/>
            <p:nvPr/>
          </p:nvSpPr>
          <p:spPr>
            <a:xfrm>
              <a:off x="4511732" y="3764749"/>
              <a:ext cx="66675" cy="640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452FA237-B0C0-2B56-236A-51C56DA9453E}"/>
                </a:ext>
              </a:extLst>
            </p:cNvPr>
            <p:cNvSpPr/>
            <p:nvPr/>
          </p:nvSpPr>
          <p:spPr>
            <a:xfrm>
              <a:off x="5395133" y="3301493"/>
              <a:ext cx="66675" cy="640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1EF3AC35-4741-91AE-268C-36CE7C99403C}"/>
                </a:ext>
              </a:extLst>
            </p:cNvPr>
            <p:cNvSpPr/>
            <p:nvPr/>
          </p:nvSpPr>
          <p:spPr>
            <a:xfrm>
              <a:off x="6096000" y="2547806"/>
              <a:ext cx="66675" cy="640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B45C403A-AB84-368A-FC57-8D3CF8BB5732}"/>
                </a:ext>
              </a:extLst>
            </p:cNvPr>
            <p:cNvSpPr/>
            <p:nvPr/>
          </p:nvSpPr>
          <p:spPr>
            <a:xfrm>
              <a:off x="7131107" y="2457450"/>
              <a:ext cx="66675" cy="640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204F3429-2841-1A52-8A78-68E3C92E12A0}"/>
                </a:ext>
              </a:extLst>
            </p:cNvPr>
            <p:cNvSpPr/>
            <p:nvPr/>
          </p:nvSpPr>
          <p:spPr>
            <a:xfrm>
              <a:off x="4058169" y="4090049"/>
              <a:ext cx="66675" cy="640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C3B961E5-4F7C-211A-C0F5-EFDD2EFC6057}"/>
                </a:ext>
              </a:extLst>
            </p:cNvPr>
            <p:cNvSpPr/>
            <p:nvPr/>
          </p:nvSpPr>
          <p:spPr>
            <a:xfrm>
              <a:off x="6718242" y="2969155"/>
              <a:ext cx="66675" cy="640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8D34D21D-08F7-EB53-E8CD-7373ABC662CE}"/>
                </a:ext>
              </a:extLst>
            </p:cNvPr>
            <p:cNvSpPr/>
            <p:nvPr/>
          </p:nvSpPr>
          <p:spPr>
            <a:xfrm>
              <a:off x="5224722" y="3925344"/>
              <a:ext cx="66675" cy="640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88601FBA-6C20-E896-360C-2E41DBDF65A7}"/>
                </a:ext>
              </a:extLst>
            </p:cNvPr>
            <p:cNvSpPr/>
            <p:nvPr/>
          </p:nvSpPr>
          <p:spPr>
            <a:xfrm>
              <a:off x="6004733" y="3911093"/>
              <a:ext cx="66675" cy="640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6E3FAE09-DD01-9CE0-F198-6507F0EFA062}"/>
                </a:ext>
              </a:extLst>
            </p:cNvPr>
            <p:cNvSpPr/>
            <p:nvPr/>
          </p:nvSpPr>
          <p:spPr>
            <a:xfrm>
              <a:off x="6834621" y="3349540"/>
              <a:ext cx="66675" cy="640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3C3B107C-3151-3FF2-E4AD-3164DE7C3E37}"/>
                </a:ext>
              </a:extLst>
            </p:cNvPr>
            <p:cNvSpPr/>
            <p:nvPr/>
          </p:nvSpPr>
          <p:spPr>
            <a:xfrm>
              <a:off x="7240559" y="3882474"/>
              <a:ext cx="66675" cy="640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7730415F-C0FC-621B-9FB8-5D54D3D5A1DF}"/>
                </a:ext>
              </a:extLst>
            </p:cNvPr>
            <p:cNvSpPr/>
            <p:nvPr/>
          </p:nvSpPr>
          <p:spPr>
            <a:xfrm>
              <a:off x="9121832" y="3349540"/>
              <a:ext cx="66675" cy="640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CA4265A0-20C6-DAAD-3BD7-CC21C56A73F9}"/>
                </a:ext>
              </a:extLst>
            </p:cNvPr>
            <p:cNvSpPr/>
            <p:nvPr/>
          </p:nvSpPr>
          <p:spPr>
            <a:xfrm>
              <a:off x="8610600" y="2376938"/>
              <a:ext cx="66675" cy="640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BDE18B61-FCD6-AF8B-07DF-D15227E6FD42}"/>
                </a:ext>
              </a:extLst>
            </p:cNvPr>
            <p:cNvSpPr/>
            <p:nvPr/>
          </p:nvSpPr>
          <p:spPr>
            <a:xfrm>
              <a:off x="8826557" y="3791987"/>
              <a:ext cx="66675" cy="640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8E4467BD-905F-49AC-1F07-E4C0590F9075}"/>
                </a:ext>
              </a:extLst>
            </p:cNvPr>
            <p:cNvSpPr/>
            <p:nvPr/>
          </p:nvSpPr>
          <p:spPr>
            <a:xfrm>
              <a:off x="7740707" y="3067050"/>
              <a:ext cx="66675" cy="640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7F9E168D-0E78-0671-5FC7-609AF5AA2DFC}"/>
                </a:ext>
              </a:extLst>
            </p:cNvPr>
            <p:cNvSpPr/>
            <p:nvPr/>
          </p:nvSpPr>
          <p:spPr>
            <a:xfrm>
              <a:off x="8142344" y="4143897"/>
              <a:ext cx="66675" cy="640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5EEE4986-CDF0-30A9-B380-C0DE85144809}"/>
                </a:ext>
              </a:extLst>
            </p:cNvPr>
            <p:cNvSpPr/>
            <p:nvPr/>
          </p:nvSpPr>
          <p:spPr>
            <a:xfrm>
              <a:off x="8045507" y="3371850"/>
              <a:ext cx="66675" cy="640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57520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9A8683E7-08FD-FCDE-2EC9-3AED692B3F3A}"/>
              </a:ext>
            </a:extLst>
          </p:cNvPr>
          <p:cNvGrpSpPr/>
          <p:nvPr/>
        </p:nvGrpSpPr>
        <p:grpSpPr>
          <a:xfrm>
            <a:off x="2324100" y="2406650"/>
            <a:ext cx="9146685" cy="1949450"/>
            <a:chOff x="2324100" y="2406650"/>
            <a:chExt cx="9146685" cy="1949450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FA0DE5BC-85F4-B41B-772B-534183CC4BD4}"/>
                </a:ext>
              </a:extLst>
            </p:cNvPr>
            <p:cNvSpPr/>
            <p:nvPr/>
          </p:nvSpPr>
          <p:spPr>
            <a:xfrm>
              <a:off x="2324100" y="2406650"/>
              <a:ext cx="6991350" cy="1949450"/>
            </a:xfrm>
            <a:custGeom>
              <a:avLst/>
              <a:gdLst>
                <a:gd name="connsiteX0" fmla="*/ 0 w 6991350"/>
                <a:gd name="connsiteY0" fmla="*/ 1593850 h 1949450"/>
                <a:gd name="connsiteX1" fmla="*/ 0 w 6991350"/>
                <a:gd name="connsiteY1" fmla="*/ 1949450 h 1949450"/>
                <a:gd name="connsiteX2" fmla="*/ 6991350 w 6991350"/>
                <a:gd name="connsiteY2" fmla="*/ 1949450 h 1949450"/>
                <a:gd name="connsiteX3" fmla="*/ 6991350 w 6991350"/>
                <a:gd name="connsiteY3" fmla="*/ 6350 h 1949450"/>
                <a:gd name="connsiteX4" fmla="*/ 6324600 w 6991350"/>
                <a:gd name="connsiteY4" fmla="*/ 0 h 1949450"/>
                <a:gd name="connsiteX5" fmla="*/ 4845050 w 6991350"/>
                <a:gd name="connsiteY5" fmla="*/ 76200 h 1949450"/>
                <a:gd name="connsiteX6" fmla="*/ 3803650 w 6991350"/>
                <a:gd name="connsiteY6" fmla="*/ 171450 h 1949450"/>
                <a:gd name="connsiteX7" fmla="*/ 2705100 w 6991350"/>
                <a:gd name="connsiteY7" fmla="*/ 361950 h 1949450"/>
                <a:gd name="connsiteX8" fmla="*/ 1143000 w 6991350"/>
                <a:gd name="connsiteY8" fmla="*/ 730250 h 1949450"/>
                <a:gd name="connsiteX9" fmla="*/ 0 w 6991350"/>
                <a:gd name="connsiteY9" fmla="*/ 1593850 h 1949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91350" h="1949450">
                  <a:moveTo>
                    <a:pt x="0" y="1593850"/>
                  </a:moveTo>
                  <a:lnTo>
                    <a:pt x="0" y="1949450"/>
                  </a:lnTo>
                  <a:lnTo>
                    <a:pt x="6991350" y="1949450"/>
                  </a:lnTo>
                  <a:lnTo>
                    <a:pt x="6991350" y="6350"/>
                  </a:lnTo>
                  <a:lnTo>
                    <a:pt x="6324600" y="0"/>
                  </a:lnTo>
                  <a:lnTo>
                    <a:pt x="4845050" y="76200"/>
                  </a:lnTo>
                  <a:lnTo>
                    <a:pt x="3803650" y="171450"/>
                  </a:lnTo>
                  <a:lnTo>
                    <a:pt x="2705100" y="361950"/>
                  </a:lnTo>
                  <a:lnTo>
                    <a:pt x="1143000" y="730250"/>
                  </a:lnTo>
                  <a:lnTo>
                    <a:pt x="0" y="1593850"/>
                  </a:lnTo>
                  <a:close/>
                </a:path>
              </a:pathLst>
            </a:custGeom>
            <a:solidFill>
              <a:srgbClr val="00B050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FCAB964-BF2E-FAC0-6A6D-BA52DE073075}"/>
                </a:ext>
              </a:extLst>
            </p:cNvPr>
            <p:cNvSpPr txBox="1"/>
            <p:nvPr/>
          </p:nvSpPr>
          <p:spPr>
            <a:xfrm>
              <a:off x="9803217" y="3001159"/>
              <a:ext cx="1667568" cy="461665"/>
            </a:xfrm>
            <a:prstGeom prst="rect">
              <a:avLst/>
            </a:prstGeom>
            <a:noFill/>
            <a:ln w="38100"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0" dirty="0"/>
                <a:t>Convex Hull</a:t>
              </a:r>
              <a:endParaRPr lang="en-US" sz="240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682DC15-96D1-0484-F56B-B81D583E7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Pareto-optimal policies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40EB98-BE67-5514-DAEB-616DF5DF2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Allerton Conference, 9-16-26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A01BF8-3F83-7A9F-8500-336F4B9F9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85CE2-2EC4-4027-8BA4-D2509B7ADC92}" type="slidenum">
              <a:rPr lang="en-US" smtClean="0"/>
              <a:t>8</a:t>
            </a:fld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E44E94B-DF0C-D3BA-1E30-5CEA7427FC2B}"/>
              </a:ext>
            </a:extLst>
          </p:cNvPr>
          <p:cNvGrpSpPr/>
          <p:nvPr/>
        </p:nvGrpSpPr>
        <p:grpSpPr>
          <a:xfrm>
            <a:off x="2314575" y="2457450"/>
            <a:ext cx="7115175" cy="2465943"/>
            <a:chOff x="2314575" y="2457450"/>
            <a:chExt cx="7115175" cy="2465943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CD9B3B7E-8299-04B7-590D-BE255D6724AD}"/>
                </a:ext>
              </a:extLst>
            </p:cNvPr>
            <p:cNvCxnSpPr/>
            <p:nvPr/>
          </p:nvCxnSpPr>
          <p:spPr>
            <a:xfrm flipV="1">
              <a:off x="2314575" y="2457450"/>
              <a:ext cx="0" cy="19050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F43C5242-9DD9-4EE7-5F09-743AE9C32A70}"/>
                </a:ext>
              </a:extLst>
            </p:cNvPr>
            <p:cNvCxnSpPr>
              <a:cxnSpLocks/>
            </p:cNvCxnSpPr>
            <p:nvPr/>
          </p:nvCxnSpPr>
          <p:spPr>
            <a:xfrm>
              <a:off x="2314575" y="4362450"/>
              <a:ext cx="711517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6EA8A7E5-868D-FA31-CC02-D94806CD14B1}"/>
                    </a:ext>
                  </a:extLst>
                </p:cNvPr>
                <p:cNvSpPr txBox="1"/>
                <p:nvPr/>
              </p:nvSpPr>
              <p:spPr>
                <a:xfrm>
                  <a:off x="4238625" y="4461728"/>
                  <a:ext cx="3267074" cy="461665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400" b="0" dirty="0"/>
                    <a:t>Large </a:t>
                  </a:r>
                  <a14:m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6EA8A7E5-868D-FA31-CC02-D94806CD14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38625" y="4461728"/>
                  <a:ext cx="3267074" cy="461665"/>
                </a:xfrm>
                <a:prstGeom prst="rect">
                  <a:avLst/>
                </a:prstGeom>
                <a:blipFill>
                  <a:blip r:embed="rId2"/>
                  <a:stretch>
                    <a:fillRect t="-10526" b="-28947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0C619B0-FF6E-B6B0-B192-3229CAF88E4D}"/>
              </a:ext>
            </a:extLst>
          </p:cNvPr>
          <p:cNvGrpSpPr/>
          <p:nvPr/>
        </p:nvGrpSpPr>
        <p:grpSpPr>
          <a:xfrm>
            <a:off x="3088351" y="2969155"/>
            <a:ext cx="6100156" cy="1238750"/>
            <a:chOff x="3088351" y="2969155"/>
            <a:chExt cx="6100156" cy="123875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8A7278A-EBBA-4D09-2414-0CB4C9F08B19}"/>
                </a:ext>
              </a:extLst>
            </p:cNvPr>
            <p:cNvSpPr/>
            <p:nvPr/>
          </p:nvSpPr>
          <p:spPr>
            <a:xfrm>
              <a:off x="3367605" y="4001463"/>
              <a:ext cx="66675" cy="640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A9381DE-E5C3-45B4-05E8-E38DBB6A272A}"/>
                </a:ext>
              </a:extLst>
            </p:cNvPr>
            <p:cNvSpPr/>
            <p:nvPr/>
          </p:nvSpPr>
          <p:spPr>
            <a:xfrm>
              <a:off x="3088351" y="3754387"/>
              <a:ext cx="66675" cy="640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B62AB99F-6746-E64F-F59B-5E53E02E9886}"/>
                </a:ext>
              </a:extLst>
            </p:cNvPr>
            <p:cNvSpPr/>
            <p:nvPr/>
          </p:nvSpPr>
          <p:spPr>
            <a:xfrm>
              <a:off x="4124844" y="3317536"/>
              <a:ext cx="66675" cy="640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39C6C4F-EA5E-BD05-E7D6-339E91C38B43}"/>
                </a:ext>
              </a:extLst>
            </p:cNvPr>
            <p:cNvSpPr/>
            <p:nvPr/>
          </p:nvSpPr>
          <p:spPr>
            <a:xfrm>
              <a:off x="4511732" y="3764749"/>
              <a:ext cx="66675" cy="640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452FA237-B0C0-2B56-236A-51C56DA9453E}"/>
                </a:ext>
              </a:extLst>
            </p:cNvPr>
            <p:cNvSpPr/>
            <p:nvPr/>
          </p:nvSpPr>
          <p:spPr>
            <a:xfrm>
              <a:off x="5395133" y="3301493"/>
              <a:ext cx="66675" cy="640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204F3429-2841-1A52-8A78-68E3C92E12A0}"/>
                </a:ext>
              </a:extLst>
            </p:cNvPr>
            <p:cNvSpPr/>
            <p:nvPr/>
          </p:nvSpPr>
          <p:spPr>
            <a:xfrm>
              <a:off x="4058169" y="4090049"/>
              <a:ext cx="66675" cy="640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C3B961E5-4F7C-211A-C0F5-EFDD2EFC6057}"/>
                </a:ext>
              </a:extLst>
            </p:cNvPr>
            <p:cNvSpPr/>
            <p:nvPr/>
          </p:nvSpPr>
          <p:spPr>
            <a:xfrm>
              <a:off x="6718242" y="2969155"/>
              <a:ext cx="66675" cy="640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8D34D21D-08F7-EB53-E8CD-7373ABC662CE}"/>
                </a:ext>
              </a:extLst>
            </p:cNvPr>
            <p:cNvSpPr/>
            <p:nvPr/>
          </p:nvSpPr>
          <p:spPr>
            <a:xfrm>
              <a:off x="5224722" y="3925344"/>
              <a:ext cx="66675" cy="640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88601FBA-6C20-E896-360C-2E41DBDF65A7}"/>
                </a:ext>
              </a:extLst>
            </p:cNvPr>
            <p:cNvSpPr/>
            <p:nvPr/>
          </p:nvSpPr>
          <p:spPr>
            <a:xfrm>
              <a:off x="6004733" y="3911093"/>
              <a:ext cx="66675" cy="640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6E3FAE09-DD01-9CE0-F198-6507F0EFA062}"/>
                </a:ext>
              </a:extLst>
            </p:cNvPr>
            <p:cNvSpPr/>
            <p:nvPr/>
          </p:nvSpPr>
          <p:spPr>
            <a:xfrm>
              <a:off x="6834621" y="3349540"/>
              <a:ext cx="66675" cy="640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3C3B107C-3151-3FF2-E4AD-3164DE7C3E37}"/>
                </a:ext>
              </a:extLst>
            </p:cNvPr>
            <p:cNvSpPr/>
            <p:nvPr/>
          </p:nvSpPr>
          <p:spPr>
            <a:xfrm>
              <a:off x="7240559" y="3882474"/>
              <a:ext cx="66675" cy="640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7730415F-C0FC-621B-9FB8-5D54D3D5A1DF}"/>
                </a:ext>
              </a:extLst>
            </p:cNvPr>
            <p:cNvSpPr/>
            <p:nvPr/>
          </p:nvSpPr>
          <p:spPr>
            <a:xfrm>
              <a:off x="9121832" y="3349540"/>
              <a:ext cx="66675" cy="640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BDE18B61-FCD6-AF8B-07DF-D15227E6FD42}"/>
                </a:ext>
              </a:extLst>
            </p:cNvPr>
            <p:cNvSpPr/>
            <p:nvPr/>
          </p:nvSpPr>
          <p:spPr>
            <a:xfrm>
              <a:off x="8826557" y="3791987"/>
              <a:ext cx="66675" cy="640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8E4467BD-905F-49AC-1F07-E4C0590F9075}"/>
                </a:ext>
              </a:extLst>
            </p:cNvPr>
            <p:cNvSpPr/>
            <p:nvPr/>
          </p:nvSpPr>
          <p:spPr>
            <a:xfrm>
              <a:off x="7740707" y="3067050"/>
              <a:ext cx="66675" cy="640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7F9E168D-0E78-0671-5FC7-609AF5AA2DFC}"/>
                </a:ext>
              </a:extLst>
            </p:cNvPr>
            <p:cNvSpPr/>
            <p:nvPr/>
          </p:nvSpPr>
          <p:spPr>
            <a:xfrm>
              <a:off x="8142344" y="4143897"/>
              <a:ext cx="66675" cy="640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5EEE4986-CDF0-30A9-B380-C0DE85144809}"/>
                </a:ext>
              </a:extLst>
            </p:cNvPr>
            <p:cNvSpPr/>
            <p:nvPr/>
          </p:nvSpPr>
          <p:spPr>
            <a:xfrm>
              <a:off x="8045507" y="3371850"/>
              <a:ext cx="66675" cy="640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0E66A93-FE75-1BF8-F8E9-4FF61A633409}"/>
              </a:ext>
            </a:extLst>
          </p:cNvPr>
          <p:cNvGrpSpPr/>
          <p:nvPr/>
        </p:nvGrpSpPr>
        <p:grpSpPr>
          <a:xfrm>
            <a:off x="2300894" y="2376938"/>
            <a:ext cx="6376381" cy="1646581"/>
            <a:chOff x="2300894" y="2376938"/>
            <a:chExt cx="6376381" cy="1646581"/>
          </a:xfrm>
          <a:solidFill>
            <a:schemeClr val="accent2">
              <a:lumMod val="75000"/>
            </a:schemeClr>
          </a:solidFill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D6A48615-0392-814C-7167-6B210DDBF33F}"/>
                </a:ext>
              </a:extLst>
            </p:cNvPr>
            <p:cNvSpPr/>
            <p:nvPr/>
          </p:nvSpPr>
          <p:spPr>
            <a:xfrm>
              <a:off x="5001664" y="2738323"/>
              <a:ext cx="66675" cy="64008"/>
            </a:xfrm>
            <a:prstGeom prst="ellipse">
              <a:avLst/>
            </a:prstGeom>
            <a:grpFill/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530FA2FC-4DFB-C53E-F014-552FAE5E1305}"/>
                </a:ext>
              </a:extLst>
            </p:cNvPr>
            <p:cNvSpPr/>
            <p:nvPr/>
          </p:nvSpPr>
          <p:spPr>
            <a:xfrm>
              <a:off x="3434280" y="3107131"/>
              <a:ext cx="66675" cy="64008"/>
            </a:xfrm>
            <a:prstGeom prst="ellipse">
              <a:avLst/>
            </a:prstGeom>
            <a:grpFill/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B79DC120-FB9A-B8A8-9DF7-88F35FB0D806}"/>
                </a:ext>
              </a:extLst>
            </p:cNvPr>
            <p:cNvSpPr/>
            <p:nvPr/>
          </p:nvSpPr>
          <p:spPr>
            <a:xfrm>
              <a:off x="2300894" y="3959511"/>
              <a:ext cx="66675" cy="64008"/>
            </a:xfrm>
            <a:prstGeom prst="ellipse">
              <a:avLst/>
            </a:prstGeom>
            <a:grpFill/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87C22AD-8253-8A23-54E1-ECC02348E3B6}"/>
                </a:ext>
              </a:extLst>
            </p:cNvPr>
            <p:cNvSpPr/>
            <p:nvPr/>
          </p:nvSpPr>
          <p:spPr>
            <a:xfrm>
              <a:off x="6096000" y="2547806"/>
              <a:ext cx="66675" cy="64008"/>
            </a:xfrm>
            <a:prstGeom prst="ellipse">
              <a:avLst/>
            </a:prstGeom>
            <a:grpFill/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B976336B-2023-23B5-C08F-FF8EDF95F208}"/>
                </a:ext>
              </a:extLst>
            </p:cNvPr>
            <p:cNvSpPr/>
            <p:nvPr/>
          </p:nvSpPr>
          <p:spPr>
            <a:xfrm>
              <a:off x="7131107" y="2457450"/>
              <a:ext cx="66675" cy="64008"/>
            </a:xfrm>
            <a:prstGeom prst="ellipse">
              <a:avLst/>
            </a:prstGeom>
            <a:grpFill/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FA175F5E-24AA-7A78-671A-F7E9AF64E135}"/>
                </a:ext>
              </a:extLst>
            </p:cNvPr>
            <p:cNvSpPr/>
            <p:nvPr/>
          </p:nvSpPr>
          <p:spPr>
            <a:xfrm>
              <a:off x="8610600" y="2376938"/>
              <a:ext cx="66675" cy="64008"/>
            </a:xfrm>
            <a:prstGeom prst="ellipse">
              <a:avLst/>
            </a:prstGeom>
            <a:grpFill/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70806476-9921-DD7C-4E33-02E257B4A2DF}"/>
              </a:ext>
            </a:extLst>
          </p:cNvPr>
          <p:cNvGrpSpPr/>
          <p:nvPr/>
        </p:nvGrpSpPr>
        <p:grpSpPr>
          <a:xfrm>
            <a:off x="2424630" y="1628451"/>
            <a:ext cx="6084686" cy="2115649"/>
            <a:chOff x="2424630" y="1628451"/>
            <a:chExt cx="6084686" cy="2115649"/>
          </a:xfrm>
        </p:grpSpPr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8AF84785-4E6F-BB4C-6402-89EC9F33343F}"/>
                </a:ext>
              </a:extLst>
            </p:cNvPr>
            <p:cNvSpPr/>
            <p:nvPr/>
          </p:nvSpPr>
          <p:spPr>
            <a:xfrm>
              <a:off x="3266909" y="1628451"/>
              <a:ext cx="4811935" cy="520836"/>
            </a:xfrm>
            <a:prstGeom prst="roundRect">
              <a:avLst/>
            </a:prstGeom>
            <a:noFill/>
            <a:ln w="381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Goal: Pareto-Optimal Policy family</a:t>
              </a:r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6F31410C-66E9-3B56-C409-D70A1561AA0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24630" y="2123653"/>
              <a:ext cx="942975" cy="1620447"/>
            </a:xfrm>
            <a:prstGeom prst="straightConnector1">
              <a:avLst/>
            </a:prstGeom>
            <a:ln w="254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A173E5AF-0E90-4FF4-A754-AF67838667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00955" y="2143790"/>
              <a:ext cx="286354" cy="825365"/>
            </a:xfrm>
            <a:prstGeom prst="straightConnector1">
              <a:avLst/>
            </a:prstGeom>
            <a:ln w="254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F799A0CD-5E1B-42D4-BBF2-CC16C57F9C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35001" y="2143790"/>
              <a:ext cx="27708" cy="436020"/>
            </a:xfrm>
            <a:prstGeom prst="straightConnector1">
              <a:avLst/>
            </a:prstGeom>
            <a:ln w="254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7DB230C4-E725-971A-DD39-85FC751D24A4}"/>
                </a:ext>
              </a:extLst>
            </p:cNvPr>
            <p:cNvCxnSpPr>
              <a:cxnSpLocks/>
            </p:cNvCxnSpPr>
            <p:nvPr/>
          </p:nvCxnSpPr>
          <p:spPr>
            <a:xfrm>
              <a:off x="5995379" y="2165316"/>
              <a:ext cx="87675" cy="292134"/>
            </a:xfrm>
            <a:prstGeom prst="straightConnector1">
              <a:avLst/>
            </a:prstGeom>
            <a:ln w="254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BEC7B61C-8AA7-1590-BC46-CE595A367201}"/>
                </a:ext>
              </a:extLst>
            </p:cNvPr>
            <p:cNvCxnSpPr>
              <a:cxnSpLocks/>
            </p:cNvCxnSpPr>
            <p:nvPr/>
          </p:nvCxnSpPr>
          <p:spPr>
            <a:xfrm>
              <a:off x="7057567" y="2155637"/>
              <a:ext cx="71726" cy="212914"/>
            </a:xfrm>
            <a:prstGeom prst="straightConnector1">
              <a:avLst/>
            </a:prstGeom>
            <a:ln w="254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B02D6705-4980-A533-0790-809F4798778A}"/>
                </a:ext>
              </a:extLst>
            </p:cNvPr>
            <p:cNvCxnSpPr>
              <a:cxnSpLocks/>
            </p:cNvCxnSpPr>
            <p:nvPr/>
          </p:nvCxnSpPr>
          <p:spPr>
            <a:xfrm>
              <a:off x="8032080" y="2120479"/>
              <a:ext cx="477236" cy="186894"/>
            </a:xfrm>
            <a:prstGeom prst="straightConnector1">
              <a:avLst/>
            </a:prstGeom>
            <a:ln w="254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9F7E6B32-7EB7-72FA-120A-876F12E3B071}"/>
                  </a:ext>
                </a:extLst>
              </p:cNvPr>
              <p:cNvSpPr txBox="1"/>
              <p:nvPr/>
            </p:nvSpPr>
            <p:spPr>
              <a:xfrm>
                <a:off x="903747" y="2770327"/>
                <a:ext cx="1287002" cy="461665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Small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9F7E6B32-7EB7-72FA-120A-876F12E3B0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747" y="2770327"/>
                <a:ext cx="1287002" cy="461665"/>
              </a:xfrm>
              <a:prstGeom prst="rect">
                <a:avLst/>
              </a:prstGeom>
              <a:blipFill>
                <a:blip r:embed="rId3"/>
                <a:stretch>
                  <a:fillRect l="-5213" t="-10526" b="-28947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267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7A2DB-B6BA-0C93-1C5B-F13EC3593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Convoy Policies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473803-6390-C759-D1C7-6424BEBDF3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-convoy: Serve small jobs on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servers until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large jobs arrive.</a:t>
                </a:r>
                <a:br>
                  <a:rPr lang="en-US" dirty="0"/>
                </a:br>
                <a:r>
                  <a:rPr lang="en-US" dirty="0"/>
                  <a:t>Then let all servers empty, and serve all large jobs.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473803-6390-C759-D1C7-6424BEBDF3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 r="-2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9CF262-0A44-7F97-8116-5FCBC5931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Allerton Conference, 9-16-26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A817A0-1218-F1E4-590F-B54E42372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85CE2-2EC4-4027-8BA4-D2509B7ADC92}" type="slidenum">
              <a:rPr lang="en-US" smtClean="0"/>
              <a:t>9</a:t>
            </a:fld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D214D051-F018-2BC2-1D06-B65BD86809F0}"/>
              </a:ext>
            </a:extLst>
          </p:cNvPr>
          <p:cNvGrpSpPr/>
          <p:nvPr/>
        </p:nvGrpSpPr>
        <p:grpSpPr>
          <a:xfrm>
            <a:off x="1179078" y="3625519"/>
            <a:ext cx="4520452" cy="2175730"/>
            <a:chOff x="1179078" y="3625519"/>
            <a:chExt cx="4520452" cy="2175730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C388E54-8DDE-7D28-2CDD-928B50958EF0}"/>
                </a:ext>
              </a:extLst>
            </p:cNvPr>
            <p:cNvGrpSpPr/>
            <p:nvPr/>
          </p:nvGrpSpPr>
          <p:grpSpPr>
            <a:xfrm>
              <a:off x="1179078" y="3625519"/>
              <a:ext cx="3652520" cy="1131907"/>
              <a:chOff x="1554028" y="3427416"/>
              <a:chExt cx="3652520" cy="1131907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33D70A73-BD7E-0A3D-0CC6-91D6E131D4BD}"/>
                  </a:ext>
                </a:extLst>
              </p:cNvPr>
              <p:cNvGrpSpPr/>
              <p:nvPr/>
            </p:nvGrpSpPr>
            <p:grpSpPr>
              <a:xfrm>
                <a:off x="1554028" y="3427416"/>
                <a:ext cx="3652520" cy="1122639"/>
                <a:chOff x="3764420" y="1582942"/>
                <a:chExt cx="3652520" cy="1885361"/>
              </a:xfrm>
            </p:grpSpPr>
            <p:grpSp>
              <p:nvGrpSpPr>
                <p:cNvPr id="34" name="Group 33">
                  <a:extLst>
                    <a:ext uri="{FF2B5EF4-FFF2-40B4-BE49-F238E27FC236}">
                      <a16:creationId xmlns:a16="http://schemas.microsoft.com/office/drawing/2014/main" id="{78D3A588-0E8D-3F8B-6C2A-02975CF80C75}"/>
                    </a:ext>
                  </a:extLst>
                </p:cNvPr>
                <p:cNvGrpSpPr/>
                <p:nvPr/>
              </p:nvGrpSpPr>
              <p:grpSpPr>
                <a:xfrm>
                  <a:off x="3764420" y="2204337"/>
                  <a:ext cx="3652520" cy="1097915"/>
                  <a:chOff x="4612" y="3721"/>
                  <a:chExt cx="5752" cy="1729"/>
                </a:xfrm>
              </p:grpSpPr>
              <p:grpSp>
                <p:nvGrpSpPr>
                  <p:cNvPr id="36" name="Group 35">
                    <a:extLst>
                      <a:ext uri="{FF2B5EF4-FFF2-40B4-BE49-F238E27FC236}">
                        <a16:creationId xmlns:a16="http://schemas.microsoft.com/office/drawing/2014/main" id="{6D20B62F-05AC-6A37-AF3F-987100C5A8D8}"/>
                      </a:ext>
                    </a:extLst>
                  </p:cNvPr>
                  <p:cNvGrpSpPr/>
                  <p:nvPr/>
                </p:nvGrpSpPr>
                <p:grpSpPr>
                  <a:xfrm>
                    <a:off x="5630" y="3721"/>
                    <a:ext cx="4734" cy="1729"/>
                    <a:chOff x="5630" y="3721"/>
                    <a:chExt cx="4734" cy="1729"/>
                  </a:xfrm>
                </p:grpSpPr>
                <p:sp>
                  <p:nvSpPr>
                    <p:cNvPr id="38" name="Rectangles 39">
                      <a:extLst>
                        <a:ext uri="{FF2B5EF4-FFF2-40B4-BE49-F238E27FC236}">
                          <a16:creationId xmlns:a16="http://schemas.microsoft.com/office/drawing/2014/main" id="{49D71428-78D5-BE04-FCCB-09185D815EC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96" y="3735"/>
                      <a:ext cx="942" cy="1714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38100">
                      <a:solidFill>
                        <a:srgbClr val="20202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39" name="Rectangles 40">
                      <a:extLst>
                        <a:ext uri="{FF2B5EF4-FFF2-40B4-BE49-F238E27FC236}">
                          <a16:creationId xmlns:a16="http://schemas.microsoft.com/office/drawing/2014/main" id="{F60FAB49-951B-8EEA-5E6D-DB05116567D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38" y="3735"/>
                      <a:ext cx="942" cy="1714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38100">
                      <a:solidFill>
                        <a:srgbClr val="20202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40" name="Rectangles 41">
                      <a:extLst>
                        <a:ext uri="{FF2B5EF4-FFF2-40B4-BE49-F238E27FC236}">
                          <a16:creationId xmlns:a16="http://schemas.microsoft.com/office/drawing/2014/main" id="{8A9842B8-D62B-3442-D856-CD0A9AD2897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80" y="3735"/>
                      <a:ext cx="942" cy="1714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38100">
                      <a:solidFill>
                        <a:srgbClr val="20202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41" name="Rectangles 42">
                      <a:extLst>
                        <a:ext uri="{FF2B5EF4-FFF2-40B4-BE49-F238E27FC236}">
                          <a16:creationId xmlns:a16="http://schemas.microsoft.com/office/drawing/2014/main" id="{4FB54272-917B-C4B5-FE43-B618A56EDB4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22" y="3735"/>
                      <a:ext cx="942" cy="1714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38100">
                      <a:solidFill>
                        <a:srgbClr val="20202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cxnSp>
                  <p:nvCxnSpPr>
                    <p:cNvPr id="42" name="Straight Connector 41">
                      <a:extLst>
                        <a:ext uri="{FF2B5EF4-FFF2-40B4-BE49-F238E27FC236}">
                          <a16:creationId xmlns:a16="http://schemas.microsoft.com/office/drawing/2014/main" id="{11DF5709-141F-B07A-CA72-A0564F038915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5630" y="3721"/>
                      <a:ext cx="966" cy="15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3" name="Straight Connector 42">
                      <a:extLst>
                        <a:ext uri="{FF2B5EF4-FFF2-40B4-BE49-F238E27FC236}">
                          <a16:creationId xmlns:a16="http://schemas.microsoft.com/office/drawing/2014/main" id="{4572A5BF-D4CD-D670-6C62-01BDDE7AF689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5630" y="5435"/>
                      <a:ext cx="966" cy="15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37" name="Straight Arrow Connector 36">
                    <a:extLst>
                      <a:ext uri="{FF2B5EF4-FFF2-40B4-BE49-F238E27FC236}">
                        <a16:creationId xmlns:a16="http://schemas.microsoft.com/office/drawing/2014/main" id="{564BB271-9309-1005-F5C4-6F235E389FE2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4612" y="4647"/>
                    <a:ext cx="1018" cy="6"/>
                  </a:xfrm>
                  <a:prstGeom prst="straightConnector1">
                    <a:avLst/>
                  </a:prstGeom>
                  <a:ln w="63500">
                    <a:solidFill>
                      <a:schemeClr val="tx1"/>
                    </a:solidFill>
                    <a:tailEnd type="arrow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1DF9C1D5-F28E-15BB-863F-53990E1E3B3A}"/>
                    </a:ext>
                  </a:extLst>
                </p:cNvPr>
                <p:cNvSpPr/>
                <p:nvPr/>
              </p:nvSpPr>
              <p:spPr>
                <a:xfrm>
                  <a:off x="6876555" y="1582942"/>
                  <a:ext cx="464845" cy="1885361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n</a:t>
                  </a:r>
                </a:p>
              </p:txBody>
            </p:sp>
          </p:grp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61B5723-5305-A444-A244-FA6A83AE345A}"/>
                  </a:ext>
                </a:extLst>
              </p:cNvPr>
              <p:cNvSpPr/>
              <p:nvPr/>
            </p:nvSpPr>
            <p:spPr>
              <a:xfrm>
                <a:off x="4076870" y="3436684"/>
                <a:ext cx="464845" cy="112263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n</a:t>
                </a:r>
              </a:p>
            </p:txBody>
          </p:sp>
        </p:grpSp>
        <p:sp>
          <p:nvSpPr>
            <p:cNvPr id="45" name="Right Brace 44">
              <a:extLst>
                <a:ext uri="{FF2B5EF4-FFF2-40B4-BE49-F238E27FC236}">
                  <a16:creationId xmlns:a16="http://schemas.microsoft.com/office/drawing/2014/main" id="{A36CAE85-208E-A752-9056-F3E14CAE3BEE}"/>
                </a:ext>
              </a:extLst>
            </p:cNvPr>
            <p:cNvSpPr/>
            <p:nvPr/>
          </p:nvSpPr>
          <p:spPr>
            <a:xfrm rot="5400000">
              <a:off x="3610301" y="4103698"/>
              <a:ext cx="648083" cy="1794510"/>
            </a:xfrm>
            <a:prstGeom prst="rightBrac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BFCE3C9B-583A-4790-A86D-926015F33539}"/>
                    </a:ext>
                  </a:extLst>
                </p:cNvPr>
                <p:cNvSpPr txBox="1"/>
                <p:nvPr/>
              </p:nvSpPr>
              <p:spPr>
                <a:xfrm>
                  <a:off x="1940766" y="5339584"/>
                  <a:ext cx="3758764" cy="461665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400" dirty="0"/>
                    <a:t>Wait until </a:t>
                  </a:r>
                  <a14:m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a14:m>
                  <a:r>
                    <a:rPr lang="en-US" sz="2400" dirty="0"/>
                    <a:t> large jobs arrive</a:t>
                  </a:r>
                </a:p>
              </p:txBody>
            </p:sp>
          </mc:Choice>
          <mc:Fallback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BFCE3C9B-583A-4790-A86D-926015F335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40766" y="5339584"/>
                  <a:ext cx="3758764" cy="461665"/>
                </a:xfrm>
                <a:prstGeom prst="rect">
                  <a:avLst/>
                </a:prstGeom>
                <a:blipFill>
                  <a:blip r:embed="rId3"/>
                  <a:stretch>
                    <a:fillRect l="-1459" t="-10526" r="-1297" b="-28947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31244E29-3C8A-3B48-654C-CF6C3027D588}"/>
              </a:ext>
            </a:extLst>
          </p:cNvPr>
          <p:cNvGrpSpPr/>
          <p:nvPr/>
        </p:nvGrpSpPr>
        <p:grpSpPr>
          <a:xfrm>
            <a:off x="5794589" y="3417368"/>
            <a:ext cx="780989" cy="1578614"/>
            <a:chOff x="6380787" y="4080630"/>
            <a:chExt cx="780989" cy="1578614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F578B81-78B9-7007-32CB-46C98C0524F8}"/>
                </a:ext>
              </a:extLst>
            </p:cNvPr>
            <p:cNvGrpSpPr/>
            <p:nvPr/>
          </p:nvGrpSpPr>
          <p:grpSpPr>
            <a:xfrm>
              <a:off x="6380787" y="4080630"/>
              <a:ext cx="288925" cy="1578614"/>
              <a:chOff x="8696381" y="1692292"/>
              <a:chExt cx="288925" cy="1578614"/>
            </a:xfrm>
          </p:grpSpPr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5930AA69-C222-FF72-A4D9-36E44224EF32}"/>
                  </a:ext>
                </a:extLst>
              </p:cNvPr>
              <p:cNvGrpSpPr/>
              <p:nvPr/>
            </p:nvGrpSpPr>
            <p:grpSpPr>
              <a:xfrm>
                <a:off x="8696381" y="1692292"/>
                <a:ext cx="288925" cy="1578614"/>
                <a:chOff x="8696381" y="1692292"/>
                <a:chExt cx="288925" cy="1578614"/>
              </a:xfrm>
            </p:grpSpPr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A12054EF-D68F-6772-3BF9-C8F6A2147828}"/>
                    </a:ext>
                  </a:extLst>
                </p:cNvPr>
                <p:cNvSpPr/>
                <p:nvPr/>
              </p:nvSpPr>
              <p:spPr>
                <a:xfrm>
                  <a:off x="8696381" y="3098109"/>
                  <a:ext cx="288925" cy="172797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FFEE9FCF-7D24-E4E4-DFC5-680EB3A3C474}"/>
                    </a:ext>
                  </a:extLst>
                </p:cNvPr>
                <p:cNvSpPr/>
                <p:nvPr/>
              </p:nvSpPr>
              <p:spPr>
                <a:xfrm>
                  <a:off x="8696381" y="2288573"/>
                  <a:ext cx="288925" cy="172797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D38C846C-5F8D-F3EC-4435-717FCE8AD346}"/>
                    </a:ext>
                  </a:extLst>
                </p:cNvPr>
                <p:cNvSpPr/>
                <p:nvPr/>
              </p:nvSpPr>
              <p:spPr>
                <a:xfrm>
                  <a:off x="8696381" y="2682565"/>
                  <a:ext cx="288925" cy="172797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769C09BF-699A-3B5E-8944-942ABDE34DC6}"/>
                    </a:ext>
                  </a:extLst>
                </p:cNvPr>
                <p:cNvSpPr/>
                <p:nvPr/>
              </p:nvSpPr>
              <p:spPr>
                <a:xfrm>
                  <a:off x="8696381" y="2887879"/>
                  <a:ext cx="288925" cy="172797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D16DC20A-2201-16EA-A463-AB7305224B98}"/>
                    </a:ext>
                  </a:extLst>
                </p:cNvPr>
                <p:cNvSpPr/>
                <p:nvPr/>
              </p:nvSpPr>
              <p:spPr>
                <a:xfrm>
                  <a:off x="8696381" y="1692292"/>
                  <a:ext cx="288925" cy="172797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5C357F7C-8CB8-7161-F5B5-827CC1FBAD52}"/>
                    </a:ext>
                  </a:extLst>
                </p:cNvPr>
                <p:cNvSpPr/>
                <p:nvPr/>
              </p:nvSpPr>
              <p:spPr>
                <a:xfrm>
                  <a:off x="8696381" y="1892691"/>
                  <a:ext cx="288925" cy="172797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4B5BB4B8-91EC-3531-1D0F-515F6F317DD4}"/>
                    </a:ext>
                  </a:extLst>
                </p:cNvPr>
                <p:cNvSpPr/>
                <p:nvPr/>
              </p:nvSpPr>
              <p:spPr>
                <a:xfrm>
                  <a:off x="8696381" y="2098005"/>
                  <a:ext cx="288925" cy="172797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7ED37A09-0F22-4C72-BC45-01A637810D76}"/>
                  </a:ext>
                </a:extLst>
              </p:cNvPr>
              <p:cNvSpPr/>
              <p:nvPr/>
            </p:nvSpPr>
            <p:spPr>
              <a:xfrm>
                <a:off x="8696381" y="2482166"/>
                <a:ext cx="288925" cy="17279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177B0D1-6D11-B80B-7C60-5929245B795C}"/>
                </a:ext>
              </a:extLst>
            </p:cNvPr>
            <p:cNvGrpSpPr/>
            <p:nvPr/>
          </p:nvGrpSpPr>
          <p:grpSpPr>
            <a:xfrm>
              <a:off x="6492471" y="4080630"/>
              <a:ext cx="669305" cy="1369230"/>
              <a:chOff x="8685654" y="1542419"/>
              <a:chExt cx="669305" cy="136923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7365152B-5CE5-36D1-5FB3-BED3233CB49B}"/>
                  </a:ext>
                </a:extLst>
              </p:cNvPr>
              <p:cNvSpPr/>
              <p:nvPr/>
            </p:nvSpPr>
            <p:spPr>
              <a:xfrm>
                <a:off x="8685656" y="1542419"/>
                <a:ext cx="669303" cy="16123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C0ECBB2B-CC01-3E05-13AC-055BF513DC36}"/>
                  </a:ext>
                </a:extLst>
              </p:cNvPr>
              <p:cNvSpPr/>
              <p:nvPr/>
            </p:nvSpPr>
            <p:spPr>
              <a:xfrm>
                <a:off x="8685656" y="1756144"/>
                <a:ext cx="669303" cy="16123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8A76477D-4BBB-2F6F-CFDE-D8B42C4CEED0}"/>
                  </a:ext>
                </a:extLst>
              </p:cNvPr>
              <p:cNvSpPr/>
              <p:nvPr/>
            </p:nvSpPr>
            <p:spPr>
              <a:xfrm>
                <a:off x="8685655" y="1946434"/>
                <a:ext cx="669303" cy="16123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BF0F9D39-50D1-7549-6351-40D5DE4BB204}"/>
                  </a:ext>
                </a:extLst>
              </p:cNvPr>
              <p:cNvSpPr/>
              <p:nvPr/>
            </p:nvSpPr>
            <p:spPr>
              <a:xfrm>
                <a:off x="8685655" y="2146099"/>
                <a:ext cx="669303" cy="14623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04C55732-9349-FCBB-5F89-5CC12DBD4B0B}"/>
                  </a:ext>
                </a:extLst>
              </p:cNvPr>
              <p:cNvSpPr/>
              <p:nvPr/>
            </p:nvSpPr>
            <p:spPr>
              <a:xfrm>
                <a:off x="8685655" y="2346402"/>
                <a:ext cx="669303" cy="16123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FE6F66ED-7CFA-C939-8F7A-BD0251F1E85D}"/>
                  </a:ext>
                </a:extLst>
              </p:cNvPr>
              <p:cNvSpPr/>
              <p:nvPr/>
            </p:nvSpPr>
            <p:spPr>
              <a:xfrm>
                <a:off x="8685655" y="2560127"/>
                <a:ext cx="669303" cy="16123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91C38CDF-54F8-9FA9-F1C8-9FA17E616B62}"/>
                  </a:ext>
                </a:extLst>
              </p:cNvPr>
              <p:cNvSpPr/>
              <p:nvPr/>
            </p:nvSpPr>
            <p:spPr>
              <a:xfrm>
                <a:off x="8685654" y="2750418"/>
                <a:ext cx="669303" cy="16123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</p:grp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4A01F4A6-F4D3-BE1D-7253-14462CCD4DA7}"/>
                </a:ext>
              </a:extLst>
            </p:cNvPr>
            <p:cNvSpPr/>
            <p:nvPr/>
          </p:nvSpPr>
          <p:spPr>
            <a:xfrm>
              <a:off x="6492471" y="5498013"/>
              <a:ext cx="669303" cy="16123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DEF58AE0-3439-7965-AE5A-4220C08C3780}"/>
              </a:ext>
            </a:extLst>
          </p:cNvPr>
          <p:cNvSpPr/>
          <p:nvPr/>
        </p:nvSpPr>
        <p:spPr>
          <a:xfrm>
            <a:off x="3095323" y="3614181"/>
            <a:ext cx="464845" cy="11226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3750AE39-40E5-A9E3-E8DA-E23BD3C41666}"/>
              </a:ext>
            </a:extLst>
          </p:cNvPr>
          <p:cNvGrpSpPr/>
          <p:nvPr/>
        </p:nvGrpSpPr>
        <p:grpSpPr>
          <a:xfrm>
            <a:off x="6781897" y="3432044"/>
            <a:ext cx="780989" cy="1578614"/>
            <a:chOff x="6380787" y="4080630"/>
            <a:chExt cx="780989" cy="1578614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A27404A0-9F97-A798-FBBB-47711052F882}"/>
                </a:ext>
              </a:extLst>
            </p:cNvPr>
            <p:cNvGrpSpPr/>
            <p:nvPr/>
          </p:nvGrpSpPr>
          <p:grpSpPr>
            <a:xfrm>
              <a:off x="6380787" y="4080630"/>
              <a:ext cx="288925" cy="1578614"/>
              <a:chOff x="8696381" y="1692292"/>
              <a:chExt cx="288925" cy="1578614"/>
            </a:xfrm>
          </p:grpSpPr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EFCDA0B4-00F7-4D37-C98B-F660FED7133D}"/>
                  </a:ext>
                </a:extLst>
              </p:cNvPr>
              <p:cNvGrpSpPr/>
              <p:nvPr/>
            </p:nvGrpSpPr>
            <p:grpSpPr>
              <a:xfrm>
                <a:off x="8696381" y="1692292"/>
                <a:ext cx="288925" cy="1578614"/>
                <a:chOff x="8696381" y="1692292"/>
                <a:chExt cx="288925" cy="1578614"/>
              </a:xfrm>
            </p:grpSpPr>
            <p:sp>
              <p:nvSpPr>
                <p:cNvPr id="65" name="Oval 64">
                  <a:extLst>
                    <a:ext uri="{FF2B5EF4-FFF2-40B4-BE49-F238E27FC236}">
                      <a16:creationId xmlns:a16="http://schemas.microsoft.com/office/drawing/2014/main" id="{BFB99C77-7D05-01BF-7F50-13A0371642CD}"/>
                    </a:ext>
                  </a:extLst>
                </p:cNvPr>
                <p:cNvSpPr/>
                <p:nvPr/>
              </p:nvSpPr>
              <p:spPr>
                <a:xfrm>
                  <a:off x="8696381" y="3098109"/>
                  <a:ext cx="288925" cy="172797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6" name="Oval 65">
                  <a:extLst>
                    <a:ext uri="{FF2B5EF4-FFF2-40B4-BE49-F238E27FC236}">
                      <a16:creationId xmlns:a16="http://schemas.microsoft.com/office/drawing/2014/main" id="{34723CA9-8E3B-7FAB-E49A-2D7C20451CE5}"/>
                    </a:ext>
                  </a:extLst>
                </p:cNvPr>
                <p:cNvSpPr/>
                <p:nvPr/>
              </p:nvSpPr>
              <p:spPr>
                <a:xfrm>
                  <a:off x="8696381" y="2288573"/>
                  <a:ext cx="288925" cy="172797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7" name="Oval 66">
                  <a:extLst>
                    <a:ext uri="{FF2B5EF4-FFF2-40B4-BE49-F238E27FC236}">
                      <a16:creationId xmlns:a16="http://schemas.microsoft.com/office/drawing/2014/main" id="{023D3744-BB8F-DFB0-65EE-181068E979C0}"/>
                    </a:ext>
                  </a:extLst>
                </p:cNvPr>
                <p:cNvSpPr/>
                <p:nvPr/>
              </p:nvSpPr>
              <p:spPr>
                <a:xfrm>
                  <a:off x="8696381" y="2682565"/>
                  <a:ext cx="288925" cy="172797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8" name="Oval 67">
                  <a:extLst>
                    <a:ext uri="{FF2B5EF4-FFF2-40B4-BE49-F238E27FC236}">
                      <a16:creationId xmlns:a16="http://schemas.microsoft.com/office/drawing/2014/main" id="{AC252E7E-D588-927A-C9F9-61C08F6DF9BF}"/>
                    </a:ext>
                  </a:extLst>
                </p:cNvPr>
                <p:cNvSpPr/>
                <p:nvPr/>
              </p:nvSpPr>
              <p:spPr>
                <a:xfrm>
                  <a:off x="8696381" y="2887879"/>
                  <a:ext cx="288925" cy="172797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9" name="Oval 68">
                  <a:extLst>
                    <a:ext uri="{FF2B5EF4-FFF2-40B4-BE49-F238E27FC236}">
                      <a16:creationId xmlns:a16="http://schemas.microsoft.com/office/drawing/2014/main" id="{E0F41354-3394-BB3F-61C1-1D59939A4635}"/>
                    </a:ext>
                  </a:extLst>
                </p:cNvPr>
                <p:cNvSpPr/>
                <p:nvPr/>
              </p:nvSpPr>
              <p:spPr>
                <a:xfrm>
                  <a:off x="8696381" y="1692292"/>
                  <a:ext cx="288925" cy="172797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0" name="Oval 69">
                  <a:extLst>
                    <a:ext uri="{FF2B5EF4-FFF2-40B4-BE49-F238E27FC236}">
                      <a16:creationId xmlns:a16="http://schemas.microsoft.com/office/drawing/2014/main" id="{B222BAE7-B958-C1E1-8249-E41EA8020FC3}"/>
                    </a:ext>
                  </a:extLst>
                </p:cNvPr>
                <p:cNvSpPr/>
                <p:nvPr/>
              </p:nvSpPr>
              <p:spPr>
                <a:xfrm>
                  <a:off x="8696381" y="1892691"/>
                  <a:ext cx="288925" cy="172797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1" name="Oval 70">
                  <a:extLst>
                    <a:ext uri="{FF2B5EF4-FFF2-40B4-BE49-F238E27FC236}">
                      <a16:creationId xmlns:a16="http://schemas.microsoft.com/office/drawing/2014/main" id="{52534F2C-4F6D-2864-5B93-48A4B12650B8}"/>
                    </a:ext>
                  </a:extLst>
                </p:cNvPr>
                <p:cNvSpPr/>
                <p:nvPr/>
              </p:nvSpPr>
              <p:spPr>
                <a:xfrm>
                  <a:off x="8696381" y="2098005"/>
                  <a:ext cx="288925" cy="172797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8B471741-961E-7420-5625-415F577301F1}"/>
                  </a:ext>
                </a:extLst>
              </p:cNvPr>
              <p:cNvSpPr/>
              <p:nvPr/>
            </p:nvSpPr>
            <p:spPr>
              <a:xfrm>
                <a:off x="8696381" y="2482166"/>
                <a:ext cx="288925" cy="17279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3BD1C3E5-76D4-5A64-CE93-9562BA5A4243}"/>
                </a:ext>
              </a:extLst>
            </p:cNvPr>
            <p:cNvGrpSpPr/>
            <p:nvPr/>
          </p:nvGrpSpPr>
          <p:grpSpPr>
            <a:xfrm>
              <a:off x="6492471" y="4080630"/>
              <a:ext cx="669305" cy="1369230"/>
              <a:chOff x="8685654" y="1542419"/>
              <a:chExt cx="669305" cy="1369230"/>
            </a:xfrm>
          </p:grpSpPr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112C113D-3E2A-D57F-ABD0-C7ECB9E2B94B}"/>
                  </a:ext>
                </a:extLst>
              </p:cNvPr>
              <p:cNvSpPr/>
              <p:nvPr/>
            </p:nvSpPr>
            <p:spPr>
              <a:xfrm>
                <a:off x="8685656" y="1542419"/>
                <a:ext cx="669303" cy="16123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53E15241-DE78-8717-9A18-FD64780D4FE4}"/>
                  </a:ext>
                </a:extLst>
              </p:cNvPr>
              <p:cNvSpPr/>
              <p:nvPr/>
            </p:nvSpPr>
            <p:spPr>
              <a:xfrm>
                <a:off x="8685656" y="1756144"/>
                <a:ext cx="669303" cy="16123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046D519C-5DB2-C149-422C-2CE6A3EBBEC5}"/>
                  </a:ext>
                </a:extLst>
              </p:cNvPr>
              <p:cNvSpPr/>
              <p:nvPr/>
            </p:nvSpPr>
            <p:spPr>
              <a:xfrm>
                <a:off x="8685655" y="1946434"/>
                <a:ext cx="669303" cy="16123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01259FB0-F0D6-EA6C-696F-725C031EFE2A}"/>
                  </a:ext>
                </a:extLst>
              </p:cNvPr>
              <p:cNvSpPr/>
              <p:nvPr/>
            </p:nvSpPr>
            <p:spPr>
              <a:xfrm>
                <a:off x="8685655" y="2146099"/>
                <a:ext cx="669303" cy="14623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9D56FBB5-25DF-2F09-121E-BC5A3CDC5EB7}"/>
                  </a:ext>
                </a:extLst>
              </p:cNvPr>
              <p:cNvSpPr/>
              <p:nvPr/>
            </p:nvSpPr>
            <p:spPr>
              <a:xfrm>
                <a:off x="8685655" y="2346402"/>
                <a:ext cx="669303" cy="16123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2616FFBD-38A0-21AC-9D00-886B909AAF80}"/>
                  </a:ext>
                </a:extLst>
              </p:cNvPr>
              <p:cNvSpPr/>
              <p:nvPr/>
            </p:nvSpPr>
            <p:spPr>
              <a:xfrm>
                <a:off x="8685655" y="2560127"/>
                <a:ext cx="669303" cy="16123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FABB9B79-B45A-036C-6FC4-945F8DFC88CC}"/>
                  </a:ext>
                </a:extLst>
              </p:cNvPr>
              <p:cNvSpPr/>
              <p:nvPr/>
            </p:nvSpPr>
            <p:spPr>
              <a:xfrm>
                <a:off x="8685654" y="2750418"/>
                <a:ext cx="669303" cy="16123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</p:grp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809B566D-38D1-351E-5866-965E759B08E4}"/>
              </a:ext>
            </a:extLst>
          </p:cNvPr>
          <p:cNvGrpSpPr/>
          <p:nvPr/>
        </p:nvGrpSpPr>
        <p:grpSpPr>
          <a:xfrm>
            <a:off x="8370659" y="3446720"/>
            <a:ext cx="780989" cy="1578614"/>
            <a:chOff x="6380787" y="4080630"/>
            <a:chExt cx="780989" cy="1578614"/>
          </a:xfrm>
        </p:grpSpPr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EBF77DC8-FE64-FAD6-0E9D-3319DB7140F0}"/>
                </a:ext>
              </a:extLst>
            </p:cNvPr>
            <p:cNvGrpSpPr/>
            <p:nvPr/>
          </p:nvGrpSpPr>
          <p:grpSpPr>
            <a:xfrm>
              <a:off x="6380787" y="4080630"/>
              <a:ext cx="288925" cy="1578614"/>
              <a:chOff x="8696381" y="1692292"/>
              <a:chExt cx="288925" cy="1578614"/>
            </a:xfrm>
          </p:grpSpPr>
          <p:grpSp>
            <p:nvGrpSpPr>
              <p:cNvPr id="83" name="Group 82">
                <a:extLst>
                  <a:ext uri="{FF2B5EF4-FFF2-40B4-BE49-F238E27FC236}">
                    <a16:creationId xmlns:a16="http://schemas.microsoft.com/office/drawing/2014/main" id="{638D851C-6D1B-EE7E-3F7D-05BC2E31987D}"/>
                  </a:ext>
                </a:extLst>
              </p:cNvPr>
              <p:cNvGrpSpPr/>
              <p:nvPr/>
            </p:nvGrpSpPr>
            <p:grpSpPr>
              <a:xfrm>
                <a:off x="8696381" y="1692292"/>
                <a:ext cx="288925" cy="1578614"/>
                <a:chOff x="8696381" y="1692292"/>
                <a:chExt cx="288925" cy="1578614"/>
              </a:xfrm>
            </p:grpSpPr>
            <p:sp>
              <p:nvSpPr>
                <p:cNvPr id="85" name="Oval 84">
                  <a:extLst>
                    <a:ext uri="{FF2B5EF4-FFF2-40B4-BE49-F238E27FC236}">
                      <a16:creationId xmlns:a16="http://schemas.microsoft.com/office/drawing/2014/main" id="{16D9B063-D151-E54A-0287-F36264265F1D}"/>
                    </a:ext>
                  </a:extLst>
                </p:cNvPr>
                <p:cNvSpPr/>
                <p:nvPr/>
              </p:nvSpPr>
              <p:spPr>
                <a:xfrm>
                  <a:off x="8696381" y="3098109"/>
                  <a:ext cx="288925" cy="172797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Oval 85">
                  <a:extLst>
                    <a:ext uri="{FF2B5EF4-FFF2-40B4-BE49-F238E27FC236}">
                      <a16:creationId xmlns:a16="http://schemas.microsoft.com/office/drawing/2014/main" id="{1532BD6A-9D90-41D0-4D50-D58E245201D9}"/>
                    </a:ext>
                  </a:extLst>
                </p:cNvPr>
                <p:cNvSpPr/>
                <p:nvPr/>
              </p:nvSpPr>
              <p:spPr>
                <a:xfrm>
                  <a:off x="8696381" y="2288573"/>
                  <a:ext cx="288925" cy="172797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7" name="Oval 86">
                  <a:extLst>
                    <a:ext uri="{FF2B5EF4-FFF2-40B4-BE49-F238E27FC236}">
                      <a16:creationId xmlns:a16="http://schemas.microsoft.com/office/drawing/2014/main" id="{D6E12EB2-F4A8-AB5D-FEDF-61EA9B6C7CDD}"/>
                    </a:ext>
                  </a:extLst>
                </p:cNvPr>
                <p:cNvSpPr/>
                <p:nvPr/>
              </p:nvSpPr>
              <p:spPr>
                <a:xfrm>
                  <a:off x="8696381" y="2682565"/>
                  <a:ext cx="288925" cy="172797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Oval 87">
                  <a:extLst>
                    <a:ext uri="{FF2B5EF4-FFF2-40B4-BE49-F238E27FC236}">
                      <a16:creationId xmlns:a16="http://schemas.microsoft.com/office/drawing/2014/main" id="{6C20954E-6C1C-0E05-9A4C-1352C7C46717}"/>
                    </a:ext>
                  </a:extLst>
                </p:cNvPr>
                <p:cNvSpPr/>
                <p:nvPr/>
              </p:nvSpPr>
              <p:spPr>
                <a:xfrm>
                  <a:off x="8696381" y="2887879"/>
                  <a:ext cx="288925" cy="172797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Oval 88">
                  <a:extLst>
                    <a:ext uri="{FF2B5EF4-FFF2-40B4-BE49-F238E27FC236}">
                      <a16:creationId xmlns:a16="http://schemas.microsoft.com/office/drawing/2014/main" id="{2EECAEFB-5764-D9F3-302A-506E6052F107}"/>
                    </a:ext>
                  </a:extLst>
                </p:cNvPr>
                <p:cNvSpPr/>
                <p:nvPr/>
              </p:nvSpPr>
              <p:spPr>
                <a:xfrm>
                  <a:off x="8696381" y="1692292"/>
                  <a:ext cx="288925" cy="172797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0" name="Oval 89">
                  <a:extLst>
                    <a:ext uri="{FF2B5EF4-FFF2-40B4-BE49-F238E27FC236}">
                      <a16:creationId xmlns:a16="http://schemas.microsoft.com/office/drawing/2014/main" id="{155B7B4C-4956-C1D4-DFDD-B79181B84BB3}"/>
                    </a:ext>
                  </a:extLst>
                </p:cNvPr>
                <p:cNvSpPr/>
                <p:nvPr/>
              </p:nvSpPr>
              <p:spPr>
                <a:xfrm>
                  <a:off x="8696381" y="1892691"/>
                  <a:ext cx="288925" cy="172797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1" name="Oval 90">
                  <a:extLst>
                    <a:ext uri="{FF2B5EF4-FFF2-40B4-BE49-F238E27FC236}">
                      <a16:creationId xmlns:a16="http://schemas.microsoft.com/office/drawing/2014/main" id="{8EA688F4-2209-E9A8-B8A0-7916443BCEE7}"/>
                    </a:ext>
                  </a:extLst>
                </p:cNvPr>
                <p:cNvSpPr/>
                <p:nvPr/>
              </p:nvSpPr>
              <p:spPr>
                <a:xfrm>
                  <a:off x="8696381" y="2098005"/>
                  <a:ext cx="288925" cy="172797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BC8E46AD-3213-6B48-2F3C-396BAEA297BA}"/>
                  </a:ext>
                </a:extLst>
              </p:cNvPr>
              <p:cNvSpPr/>
              <p:nvPr/>
            </p:nvSpPr>
            <p:spPr>
              <a:xfrm>
                <a:off x="8696381" y="2482166"/>
                <a:ext cx="288925" cy="17279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DF3E204A-5962-B4AE-A69B-DBC7B4C09D51}"/>
                </a:ext>
              </a:extLst>
            </p:cNvPr>
            <p:cNvSpPr/>
            <p:nvPr/>
          </p:nvSpPr>
          <p:spPr>
            <a:xfrm>
              <a:off x="6492473" y="4080630"/>
              <a:ext cx="669303" cy="16123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</p:grpSp>
      <p:sp>
        <p:nvSpPr>
          <p:cNvPr id="92" name="TextBox 91">
            <a:extLst>
              <a:ext uri="{FF2B5EF4-FFF2-40B4-BE49-F238E27FC236}">
                <a16:creationId xmlns:a16="http://schemas.microsoft.com/office/drawing/2014/main" id="{8DCE57DC-EE56-653E-E8FF-85F934DA84BE}"/>
              </a:ext>
            </a:extLst>
          </p:cNvPr>
          <p:cNvSpPr txBox="1"/>
          <p:nvPr/>
        </p:nvSpPr>
        <p:spPr>
          <a:xfrm>
            <a:off x="7718707" y="4062807"/>
            <a:ext cx="538536" cy="461665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r>
              <a:rPr lang="en-US" sz="3600" baseline="-25000" dirty="0"/>
              <a:t>…</a:t>
            </a:r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ACF38E4A-535C-C30A-42C3-1C3F02F1BEB1}"/>
              </a:ext>
            </a:extLst>
          </p:cNvPr>
          <p:cNvGrpSpPr/>
          <p:nvPr/>
        </p:nvGrpSpPr>
        <p:grpSpPr>
          <a:xfrm>
            <a:off x="9347203" y="3463819"/>
            <a:ext cx="610728" cy="1578614"/>
            <a:chOff x="9347203" y="3463819"/>
            <a:chExt cx="610728" cy="1578614"/>
          </a:xfrm>
        </p:grpSpPr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F735FBE4-2799-EBE0-A611-A98077FEF1F9}"/>
                </a:ext>
              </a:extLst>
            </p:cNvPr>
            <p:cNvGrpSpPr/>
            <p:nvPr/>
          </p:nvGrpSpPr>
          <p:grpSpPr>
            <a:xfrm>
              <a:off x="9347203" y="3463819"/>
              <a:ext cx="288925" cy="1578614"/>
              <a:chOff x="8696381" y="1692292"/>
              <a:chExt cx="288925" cy="1578614"/>
            </a:xfrm>
          </p:grpSpPr>
          <p:grpSp>
            <p:nvGrpSpPr>
              <p:cNvPr id="96" name="Group 95">
                <a:extLst>
                  <a:ext uri="{FF2B5EF4-FFF2-40B4-BE49-F238E27FC236}">
                    <a16:creationId xmlns:a16="http://schemas.microsoft.com/office/drawing/2014/main" id="{689CBE07-1665-1051-5CD5-506EF3B5327E}"/>
                  </a:ext>
                </a:extLst>
              </p:cNvPr>
              <p:cNvGrpSpPr/>
              <p:nvPr/>
            </p:nvGrpSpPr>
            <p:grpSpPr>
              <a:xfrm>
                <a:off x="8696381" y="1692292"/>
                <a:ext cx="288925" cy="1578614"/>
                <a:chOff x="8696381" y="1692292"/>
                <a:chExt cx="288925" cy="1578614"/>
              </a:xfrm>
            </p:grpSpPr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203C493C-DB13-D1AF-9205-52C3F4E5CBEE}"/>
                    </a:ext>
                  </a:extLst>
                </p:cNvPr>
                <p:cNvSpPr/>
                <p:nvPr/>
              </p:nvSpPr>
              <p:spPr>
                <a:xfrm>
                  <a:off x="8696381" y="3098109"/>
                  <a:ext cx="288925" cy="172797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9" name="Oval 98">
                  <a:extLst>
                    <a:ext uri="{FF2B5EF4-FFF2-40B4-BE49-F238E27FC236}">
                      <a16:creationId xmlns:a16="http://schemas.microsoft.com/office/drawing/2014/main" id="{3B933AB4-2829-19BC-2454-9F51B7240DC5}"/>
                    </a:ext>
                  </a:extLst>
                </p:cNvPr>
                <p:cNvSpPr/>
                <p:nvPr/>
              </p:nvSpPr>
              <p:spPr>
                <a:xfrm>
                  <a:off x="8696381" y="2288573"/>
                  <a:ext cx="288925" cy="172797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0" name="Oval 99">
                  <a:extLst>
                    <a:ext uri="{FF2B5EF4-FFF2-40B4-BE49-F238E27FC236}">
                      <a16:creationId xmlns:a16="http://schemas.microsoft.com/office/drawing/2014/main" id="{43794F65-0CC5-19C4-7D2E-96C9060F8432}"/>
                    </a:ext>
                  </a:extLst>
                </p:cNvPr>
                <p:cNvSpPr/>
                <p:nvPr/>
              </p:nvSpPr>
              <p:spPr>
                <a:xfrm>
                  <a:off x="8696381" y="2682565"/>
                  <a:ext cx="288925" cy="172797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1" name="Oval 100">
                  <a:extLst>
                    <a:ext uri="{FF2B5EF4-FFF2-40B4-BE49-F238E27FC236}">
                      <a16:creationId xmlns:a16="http://schemas.microsoft.com/office/drawing/2014/main" id="{6D0E0621-BE2E-1207-F7D0-3D6C171F4EEF}"/>
                    </a:ext>
                  </a:extLst>
                </p:cNvPr>
                <p:cNvSpPr/>
                <p:nvPr/>
              </p:nvSpPr>
              <p:spPr>
                <a:xfrm>
                  <a:off x="8696381" y="2887879"/>
                  <a:ext cx="288925" cy="172797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8888BB88-2FAA-C617-9402-4BD0C2757482}"/>
                    </a:ext>
                  </a:extLst>
                </p:cNvPr>
                <p:cNvSpPr/>
                <p:nvPr/>
              </p:nvSpPr>
              <p:spPr>
                <a:xfrm>
                  <a:off x="8696381" y="1692292"/>
                  <a:ext cx="288925" cy="172797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3" name="Oval 102">
                  <a:extLst>
                    <a:ext uri="{FF2B5EF4-FFF2-40B4-BE49-F238E27FC236}">
                      <a16:creationId xmlns:a16="http://schemas.microsoft.com/office/drawing/2014/main" id="{7780C41B-A220-915A-F5F9-1F5E5B2B72EB}"/>
                    </a:ext>
                  </a:extLst>
                </p:cNvPr>
                <p:cNvSpPr/>
                <p:nvPr/>
              </p:nvSpPr>
              <p:spPr>
                <a:xfrm>
                  <a:off x="8696381" y="1892691"/>
                  <a:ext cx="288925" cy="172797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4" name="Oval 103">
                  <a:extLst>
                    <a:ext uri="{FF2B5EF4-FFF2-40B4-BE49-F238E27FC236}">
                      <a16:creationId xmlns:a16="http://schemas.microsoft.com/office/drawing/2014/main" id="{C9EAA17E-49BC-DB01-4AD0-755F94620479}"/>
                    </a:ext>
                  </a:extLst>
                </p:cNvPr>
                <p:cNvSpPr/>
                <p:nvPr/>
              </p:nvSpPr>
              <p:spPr>
                <a:xfrm>
                  <a:off x="8696381" y="2098005"/>
                  <a:ext cx="288925" cy="172797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6EF7348B-36AA-D6CB-DF59-8750DB51397C}"/>
                  </a:ext>
                </a:extLst>
              </p:cNvPr>
              <p:cNvSpPr/>
              <p:nvPr/>
            </p:nvSpPr>
            <p:spPr>
              <a:xfrm>
                <a:off x="8696381" y="2482166"/>
                <a:ext cx="288925" cy="17279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04A4595-89BC-7D61-5148-F7362B29345B}"/>
                </a:ext>
              </a:extLst>
            </p:cNvPr>
            <p:cNvSpPr/>
            <p:nvPr/>
          </p:nvSpPr>
          <p:spPr>
            <a:xfrm>
              <a:off x="9493086" y="3466916"/>
              <a:ext cx="464845" cy="153196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</a:t>
              </a:r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4B8B57F1-53C6-085C-2A83-9381C16CA5EC}"/>
              </a:ext>
            </a:extLst>
          </p:cNvPr>
          <p:cNvGrpSpPr/>
          <p:nvPr/>
        </p:nvGrpSpPr>
        <p:grpSpPr>
          <a:xfrm>
            <a:off x="10187443" y="3497983"/>
            <a:ext cx="610728" cy="1578614"/>
            <a:chOff x="9347203" y="3463819"/>
            <a:chExt cx="610728" cy="1578614"/>
          </a:xfrm>
        </p:grpSpPr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292EBC29-3EA1-A012-E17D-973F968F040D}"/>
                </a:ext>
              </a:extLst>
            </p:cNvPr>
            <p:cNvGrpSpPr/>
            <p:nvPr/>
          </p:nvGrpSpPr>
          <p:grpSpPr>
            <a:xfrm>
              <a:off x="9347203" y="3463819"/>
              <a:ext cx="288925" cy="1578614"/>
              <a:chOff x="8696381" y="1692292"/>
              <a:chExt cx="288925" cy="1578614"/>
            </a:xfrm>
          </p:grpSpPr>
          <p:grpSp>
            <p:nvGrpSpPr>
              <p:cNvPr id="109" name="Group 108">
                <a:extLst>
                  <a:ext uri="{FF2B5EF4-FFF2-40B4-BE49-F238E27FC236}">
                    <a16:creationId xmlns:a16="http://schemas.microsoft.com/office/drawing/2014/main" id="{77888397-9E44-21B0-8B53-128129C939BE}"/>
                  </a:ext>
                </a:extLst>
              </p:cNvPr>
              <p:cNvGrpSpPr/>
              <p:nvPr/>
            </p:nvGrpSpPr>
            <p:grpSpPr>
              <a:xfrm>
                <a:off x="8696381" y="1692292"/>
                <a:ext cx="288925" cy="1578614"/>
                <a:chOff x="8696381" y="1692292"/>
                <a:chExt cx="288925" cy="1578614"/>
              </a:xfrm>
            </p:grpSpPr>
            <p:sp>
              <p:nvSpPr>
                <p:cNvPr id="111" name="Oval 110">
                  <a:extLst>
                    <a:ext uri="{FF2B5EF4-FFF2-40B4-BE49-F238E27FC236}">
                      <a16:creationId xmlns:a16="http://schemas.microsoft.com/office/drawing/2014/main" id="{6E97E997-4DCE-A1B8-1B6D-A5C576366177}"/>
                    </a:ext>
                  </a:extLst>
                </p:cNvPr>
                <p:cNvSpPr/>
                <p:nvPr/>
              </p:nvSpPr>
              <p:spPr>
                <a:xfrm>
                  <a:off x="8696381" y="3098109"/>
                  <a:ext cx="288925" cy="172797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Oval 111">
                  <a:extLst>
                    <a:ext uri="{FF2B5EF4-FFF2-40B4-BE49-F238E27FC236}">
                      <a16:creationId xmlns:a16="http://schemas.microsoft.com/office/drawing/2014/main" id="{39670A45-1CB9-1146-9C34-0FF9F06A10E5}"/>
                    </a:ext>
                  </a:extLst>
                </p:cNvPr>
                <p:cNvSpPr/>
                <p:nvPr/>
              </p:nvSpPr>
              <p:spPr>
                <a:xfrm>
                  <a:off x="8696381" y="2288573"/>
                  <a:ext cx="288925" cy="172797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3" name="Oval 112">
                  <a:extLst>
                    <a:ext uri="{FF2B5EF4-FFF2-40B4-BE49-F238E27FC236}">
                      <a16:creationId xmlns:a16="http://schemas.microsoft.com/office/drawing/2014/main" id="{48B57C4C-9D54-426F-18AB-903F2217E94A}"/>
                    </a:ext>
                  </a:extLst>
                </p:cNvPr>
                <p:cNvSpPr/>
                <p:nvPr/>
              </p:nvSpPr>
              <p:spPr>
                <a:xfrm>
                  <a:off x="8696381" y="2682565"/>
                  <a:ext cx="288925" cy="172797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Oval 113">
                  <a:extLst>
                    <a:ext uri="{FF2B5EF4-FFF2-40B4-BE49-F238E27FC236}">
                      <a16:creationId xmlns:a16="http://schemas.microsoft.com/office/drawing/2014/main" id="{AF3793BE-0480-1758-ED95-45EBF3D832A0}"/>
                    </a:ext>
                  </a:extLst>
                </p:cNvPr>
                <p:cNvSpPr/>
                <p:nvPr/>
              </p:nvSpPr>
              <p:spPr>
                <a:xfrm>
                  <a:off x="8696381" y="2887879"/>
                  <a:ext cx="288925" cy="172797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Oval 114">
                  <a:extLst>
                    <a:ext uri="{FF2B5EF4-FFF2-40B4-BE49-F238E27FC236}">
                      <a16:creationId xmlns:a16="http://schemas.microsoft.com/office/drawing/2014/main" id="{63078D5A-AC70-9B0B-D9A2-2E4783A37E84}"/>
                    </a:ext>
                  </a:extLst>
                </p:cNvPr>
                <p:cNvSpPr/>
                <p:nvPr/>
              </p:nvSpPr>
              <p:spPr>
                <a:xfrm>
                  <a:off x="8696381" y="1692292"/>
                  <a:ext cx="288925" cy="172797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Oval 115">
                  <a:extLst>
                    <a:ext uri="{FF2B5EF4-FFF2-40B4-BE49-F238E27FC236}">
                      <a16:creationId xmlns:a16="http://schemas.microsoft.com/office/drawing/2014/main" id="{8FED4E35-CA86-A712-115D-E1D6A5606034}"/>
                    </a:ext>
                  </a:extLst>
                </p:cNvPr>
                <p:cNvSpPr/>
                <p:nvPr/>
              </p:nvSpPr>
              <p:spPr>
                <a:xfrm>
                  <a:off x="8696381" y="1892691"/>
                  <a:ext cx="288925" cy="172797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Oval 116">
                  <a:extLst>
                    <a:ext uri="{FF2B5EF4-FFF2-40B4-BE49-F238E27FC236}">
                      <a16:creationId xmlns:a16="http://schemas.microsoft.com/office/drawing/2014/main" id="{8ABBA840-2D71-0109-0E7D-080CE7C22C6B}"/>
                    </a:ext>
                  </a:extLst>
                </p:cNvPr>
                <p:cNvSpPr/>
                <p:nvPr/>
              </p:nvSpPr>
              <p:spPr>
                <a:xfrm>
                  <a:off x="8696381" y="2098005"/>
                  <a:ext cx="288925" cy="172797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C6A1161B-460F-312B-C21E-D586770C72FA}"/>
                  </a:ext>
                </a:extLst>
              </p:cNvPr>
              <p:cNvSpPr/>
              <p:nvPr/>
            </p:nvSpPr>
            <p:spPr>
              <a:xfrm>
                <a:off x="8696381" y="2482166"/>
                <a:ext cx="288925" cy="17279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DE800007-A5D5-3A88-D9EC-751219A647E0}"/>
                </a:ext>
              </a:extLst>
            </p:cNvPr>
            <p:cNvSpPr/>
            <p:nvPr/>
          </p:nvSpPr>
          <p:spPr>
            <a:xfrm>
              <a:off x="9493086" y="3466916"/>
              <a:ext cx="464845" cy="153196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</a:t>
              </a:r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9F2041CC-D539-3C4D-8C98-94DDFC549E65}"/>
              </a:ext>
            </a:extLst>
          </p:cNvPr>
          <p:cNvGrpSpPr/>
          <p:nvPr/>
        </p:nvGrpSpPr>
        <p:grpSpPr>
          <a:xfrm>
            <a:off x="11110660" y="3518141"/>
            <a:ext cx="610728" cy="1578614"/>
            <a:chOff x="9347203" y="3463819"/>
            <a:chExt cx="610728" cy="1578614"/>
          </a:xfrm>
        </p:grpSpPr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5F951B67-AC17-1122-C5D9-3982EAAC1065}"/>
                </a:ext>
              </a:extLst>
            </p:cNvPr>
            <p:cNvGrpSpPr/>
            <p:nvPr/>
          </p:nvGrpSpPr>
          <p:grpSpPr>
            <a:xfrm>
              <a:off x="9347203" y="3463819"/>
              <a:ext cx="288925" cy="1578614"/>
              <a:chOff x="8696381" y="1692292"/>
              <a:chExt cx="288925" cy="1578614"/>
            </a:xfrm>
          </p:grpSpPr>
          <p:grpSp>
            <p:nvGrpSpPr>
              <p:cNvPr id="121" name="Group 120">
                <a:extLst>
                  <a:ext uri="{FF2B5EF4-FFF2-40B4-BE49-F238E27FC236}">
                    <a16:creationId xmlns:a16="http://schemas.microsoft.com/office/drawing/2014/main" id="{904F32A7-801A-764D-9C1F-76AFB0401451}"/>
                  </a:ext>
                </a:extLst>
              </p:cNvPr>
              <p:cNvGrpSpPr/>
              <p:nvPr/>
            </p:nvGrpSpPr>
            <p:grpSpPr>
              <a:xfrm>
                <a:off x="8696381" y="1692292"/>
                <a:ext cx="288925" cy="1578614"/>
                <a:chOff x="8696381" y="1692292"/>
                <a:chExt cx="288925" cy="1578614"/>
              </a:xfrm>
            </p:grpSpPr>
            <p:sp>
              <p:nvSpPr>
                <p:cNvPr id="123" name="Oval 122">
                  <a:extLst>
                    <a:ext uri="{FF2B5EF4-FFF2-40B4-BE49-F238E27FC236}">
                      <a16:creationId xmlns:a16="http://schemas.microsoft.com/office/drawing/2014/main" id="{DA3C2CD3-A975-2690-6D46-DEA8DC17521B}"/>
                    </a:ext>
                  </a:extLst>
                </p:cNvPr>
                <p:cNvSpPr/>
                <p:nvPr/>
              </p:nvSpPr>
              <p:spPr>
                <a:xfrm>
                  <a:off x="8696381" y="3098109"/>
                  <a:ext cx="288925" cy="172797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4" name="Oval 123">
                  <a:extLst>
                    <a:ext uri="{FF2B5EF4-FFF2-40B4-BE49-F238E27FC236}">
                      <a16:creationId xmlns:a16="http://schemas.microsoft.com/office/drawing/2014/main" id="{FAACF8CB-07AF-B5EE-B683-27E350258788}"/>
                    </a:ext>
                  </a:extLst>
                </p:cNvPr>
                <p:cNvSpPr/>
                <p:nvPr/>
              </p:nvSpPr>
              <p:spPr>
                <a:xfrm>
                  <a:off x="8696381" y="2288573"/>
                  <a:ext cx="288925" cy="172797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5" name="Oval 124">
                  <a:extLst>
                    <a:ext uri="{FF2B5EF4-FFF2-40B4-BE49-F238E27FC236}">
                      <a16:creationId xmlns:a16="http://schemas.microsoft.com/office/drawing/2014/main" id="{6AD6CE82-DC68-4B71-1007-E0267F5F2EC0}"/>
                    </a:ext>
                  </a:extLst>
                </p:cNvPr>
                <p:cNvSpPr/>
                <p:nvPr/>
              </p:nvSpPr>
              <p:spPr>
                <a:xfrm>
                  <a:off x="8696381" y="2682565"/>
                  <a:ext cx="288925" cy="172797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6" name="Oval 125">
                  <a:extLst>
                    <a:ext uri="{FF2B5EF4-FFF2-40B4-BE49-F238E27FC236}">
                      <a16:creationId xmlns:a16="http://schemas.microsoft.com/office/drawing/2014/main" id="{ACCA7315-9485-C8B4-AE14-58EDB543DA65}"/>
                    </a:ext>
                  </a:extLst>
                </p:cNvPr>
                <p:cNvSpPr/>
                <p:nvPr/>
              </p:nvSpPr>
              <p:spPr>
                <a:xfrm>
                  <a:off x="8696381" y="2887879"/>
                  <a:ext cx="288925" cy="172797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7" name="Oval 126">
                  <a:extLst>
                    <a:ext uri="{FF2B5EF4-FFF2-40B4-BE49-F238E27FC236}">
                      <a16:creationId xmlns:a16="http://schemas.microsoft.com/office/drawing/2014/main" id="{5FFF0124-73E0-E2F3-EF2A-637913E187E2}"/>
                    </a:ext>
                  </a:extLst>
                </p:cNvPr>
                <p:cNvSpPr/>
                <p:nvPr/>
              </p:nvSpPr>
              <p:spPr>
                <a:xfrm>
                  <a:off x="8696381" y="1692292"/>
                  <a:ext cx="288925" cy="172797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8" name="Oval 127">
                  <a:extLst>
                    <a:ext uri="{FF2B5EF4-FFF2-40B4-BE49-F238E27FC236}">
                      <a16:creationId xmlns:a16="http://schemas.microsoft.com/office/drawing/2014/main" id="{E7967E09-1995-90AF-DB3A-A5C2F6B65060}"/>
                    </a:ext>
                  </a:extLst>
                </p:cNvPr>
                <p:cNvSpPr/>
                <p:nvPr/>
              </p:nvSpPr>
              <p:spPr>
                <a:xfrm>
                  <a:off x="8696381" y="1892691"/>
                  <a:ext cx="288925" cy="172797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9" name="Oval 128">
                  <a:extLst>
                    <a:ext uri="{FF2B5EF4-FFF2-40B4-BE49-F238E27FC236}">
                      <a16:creationId xmlns:a16="http://schemas.microsoft.com/office/drawing/2014/main" id="{1E4A2D5C-4FF4-082C-EEDD-9E65A20465C8}"/>
                    </a:ext>
                  </a:extLst>
                </p:cNvPr>
                <p:cNvSpPr/>
                <p:nvPr/>
              </p:nvSpPr>
              <p:spPr>
                <a:xfrm>
                  <a:off x="8696381" y="2098005"/>
                  <a:ext cx="288925" cy="172797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22" name="Oval 121">
                <a:extLst>
                  <a:ext uri="{FF2B5EF4-FFF2-40B4-BE49-F238E27FC236}">
                    <a16:creationId xmlns:a16="http://schemas.microsoft.com/office/drawing/2014/main" id="{1E87F27F-68B7-141E-333C-A759F5102AFE}"/>
                  </a:ext>
                </a:extLst>
              </p:cNvPr>
              <p:cNvSpPr/>
              <p:nvPr/>
            </p:nvSpPr>
            <p:spPr>
              <a:xfrm>
                <a:off x="8696381" y="2482166"/>
                <a:ext cx="288925" cy="17279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CC8F70DA-24B5-639E-1212-3752E75E613D}"/>
                </a:ext>
              </a:extLst>
            </p:cNvPr>
            <p:cNvSpPr/>
            <p:nvPr/>
          </p:nvSpPr>
          <p:spPr>
            <a:xfrm>
              <a:off x="9493086" y="3466916"/>
              <a:ext cx="464845" cy="153196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57358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8" grpId="0" animBg="1"/>
      <p:bldP spid="9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7CF94-93DD-48CE-723E-D6196ECA3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result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B947AC-0197-B179-3C1C-1FE41FB719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1030712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 err="1"/>
                  <a:t>Thm</a:t>
                </a:r>
                <a:r>
                  <a:rPr lang="en-US" dirty="0"/>
                  <a:t>: For any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, the Pareto-optimal frontier is formed by the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-convoy policies, the “only large” policy, and convex combinations.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B947AC-0197-B179-3C1C-1FE41FB719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1030712" cy="4351338"/>
              </a:xfrm>
              <a:blipFill>
                <a:blip r:embed="rId2"/>
                <a:stretch>
                  <a:fillRect l="-1161" t="-2241" r="-14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B41F63-89F8-9922-2758-432122905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Allerton Conference, 9-16-26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B1E3E-2130-B22C-B489-A190E6EAF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85CE2-2EC4-4027-8BA4-D2509B7ADC92}" type="slidenum">
              <a:rPr lang="en-US" smtClean="0"/>
              <a:t>10</a:t>
            </a:fld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0E52813-CC5B-9F2E-DB92-F985A50B49E6}"/>
              </a:ext>
            </a:extLst>
          </p:cNvPr>
          <p:cNvSpPr/>
          <p:nvPr/>
        </p:nvSpPr>
        <p:spPr>
          <a:xfrm>
            <a:off x="838200" y="1825624"/>
            <a:ext cx="11030712" cy="890143"/>
          </a:xfrm>
          <a:prstGeom prst="roundRect">
            <a:avLst/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B2AE7105-5FE2-9377-126C-ADD89FBD8F5E}"/>
              </a:ext>
            </a:extLst>
          </p:cNvPr>
          <p:cNvGrpSpPr/>
          <p:nvPr/>
        </p:nvGrpSpPr>
        <p:grpSpPr>
          <a:xfrm>
            <a:off x="1331276" y="2895154"/>
            <a:ext cx="8496601" cy="3294942"/>
            <a:chOff x="1331276" y="2895154"/>
            <a:chExt cx="8496601" cy="3294942"/>
          </a:xfrm>
        </p:grpSpPr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E7D103B6-CF8F-D528-0B39-F2746E8DC2A4}"/>
                </a:ext>
              </a:extLst>
            </p:cNvPr>
            <p:cNvGrpSpPr/>
            <p:nvPr/>
          </p:nvGrpSpPr>
          <p:grpSpPr>
            <a:xfrm>
              <a:off x="1331276" y="2895154"/>
              <a:ext cx="8496601" cy="3294942"/>
              <a:chOff x="1331276" y="2895154"/>
              <a:chExt cx="8496601" cy="3294942"/>
            </a:xfrm>
          </p:grpSpPr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4D7FE656-981F-B9E0-032A-FD1FC219527F}"/>
                  </a:ext>
                </a:extLst>
              </p:cNvPr>
              <p:cNvSpPr/>
              <p:nvPr/>
            </p:nvSpPr>
            <p:spPr>
              <a:xfrm>
                <a:off x="2722227" y="3673353"/>
                <a:ext cx="6991350" cy="1949450"/>
              </a:xfrm>
              <a:custGeom>
                <a:avLst/>
                <a:gdLst>
                  <a:gd name="connsiteX0" fmla="*/ 0 w 6991350"/>
                  <a:gd name="connsiteY0" fmla="*/ 1593850 h 1949450"/>
                  <a:gd name="connsiteX1" fmla="*/ 0 w 6991350"/>
                  <a:gd name="connsiteY1" fmla="*/ 1949450 h 1949450"/>
                  <a:gd name="connsiteX2" fmla="*/ 6991350 w 6991350"/>
                  <a:gd name="connsiteY2" fmla="*/ 1949450 h 1949450"/>
                  <a:gd name="connsiteX3" fmla="*/ 6991350 w 6991350"/>
                  <a:gd name="connsiteY3" fmla="*/ 6350 h 1949450"/>
                  <a:gd name="connsiteX4" fmla="*/ 6324600 w 6991350"/>
                  <a:gd name="connsiteY4" fmla="*/ 0 h 1949450"/>
                  <a:gd name="connsiteX5" fmla="*/ 4845050 w 6991350"/>
                  <a:gd name="connsiteY5" fmla="*/ 76200 h 1949450"/>
                  <a:gd name="connsiteX6" fmla="*/ 3803650 w 6991350"/>
                  <a:gd name="connsiteY6" fmla="*/ 171450 h 1949450"/>
                  <a:gd name="connsiteX7" fmla="*/ 2705100 w 6991350"/>
                  <a:gd name="connsiteY7" fmla="*/ 361950 h 1949450"/>
                  <a:gd name="connsiteX8" fmla="*/ 1143000 w 6991350"/>
                  <a:gd name="connsiteY8" fmla="*/ 730250 h 1949450"/>
                  <a:gd name="connsiteX9" fmla="*/ 0 w 6991350"/>
                  <a:gd name="connsiteY9" fmla="*/ 1593850 h 1949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991350" h="1949450">
                    <a:moveTo>
                      <a:pt x="0" y="1593850"/>
                    </a:moveTo>
                    <a:lnTo>
                      <a:pt x="0" y="1949450"/>
                    </a:lnTo>
                    <a:lnTo>
                      <a:pt x="6991350" y="1949450"/>
                    </a:lnTo>
                    <a:lnTo>
                      <a:pt x="6991350" y="6350"/>
                    </a:lnTo>
                    <a:lnTo>
                      <a:pt x="6324600" y="0"/>
                    </a:lnTo>
                    <a:lnTo>
                      <a:pt x="4845050" y="76200"/>
                    </a:lnTo>
                    <a:lnTo>
                      <a:pt x="3803650" y="171450"/>
                    </a:lnTo>
                    <a:lnTo>
                      <a:pt x="2705100" y="361950"/>
                    </a:lnTo>
                    <a:lnTo>
                      <a:pt x="1143000" y="730250"/>
                    </a:lnTo>
                    <a:lnTo>
                      <a:pt x="0" y="1593850"/>
                    </a:lnTo>
                    <a:close/>
                  </a:path>
                </a:pathLst>
              </a:custGeom>
              <a:solidFill>
                <a:srgbClr val="00B050"/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5DFA4E63-C879-3279-878C-15DF8E680FB7}"/>
                  </a:ext>
                </a:extLst>
              </p:cNvPr>
              <p:cNvGrpSpPr/>
              <p:nvPr/>
            </p:nvGrpSpPr>
            <p:grpSpPr>
              <a:xfrm>
                <a:off x="1331276" y="3724153"/>
                <a:ext cx="8496601" cy="2465943"/>
                <a:chOff x="933149" y="2457450"/>
                <a:chExt cx="8496601" cy="2465943"/>
              </a:xfrm>
            </p:grpSpPr>
            <p:cxnSp>
              <p:nvCxnSpPr>
                <p:cNvPr id="51" name="Straight Arrow Connector 50">
                  <a:extLst>
                    <a:ext uri="{FF2B5EF4-FFF2-40B4-BE49-F238E27FC236}">
                      <a16:creationId xmlns:a16="http://schemas.microsoft.com/office/drawing/2014/main" id="{671E9B3B-1339-C305-7695-7C13A1C6D89D}"/>
                    </a:ext>
                  </a:extLst>
                </p:cNvPr>
                <p:cNvCxnSpPr/>
                <p:nvPr/>
              </p:nvCxnSpPr>
              <p:spPr>
                <a:xfrm flipV="1">
                  <a:off x="2314575" y="2457450"/>
                  <a:ext cx="0" cy="190500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Arrow Connector 51">
                  <a:extLst>
                    <a:ext uri="{FF2B5EF4-FFF2-40B4-BE49-F238E27FC236}">
                      <a16:creationId xmlns:a16="http://schemas.microsoft.com/office/drawing/2014/main" id="{ADD77C5A-15B7-12A2-4684-B21D8ECA704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14575" y="4362450"/>
                  <a:ext cx="7115175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53" name="TextBox 52">
                      <a:extLst>
                        <a:ext uri="{FF2B5EF4-FFF2-40B4-BE49-F238E27FC236}">
                          <a16:creationId xmlns:a16="http://schemas.microsoft.com/office/drawing/2014/main" id="{61DE2619-2950-8445-9526-4640D11746A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33149" y="2770327"/>
                      <a:ext cx="1257599" cy="461665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sz="2400" dirty="0"/>
                        <a:t>Small </a:t>
                      </a:r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a14:m>
                      <a:endParaRPr lang="en-US" sz="2400" dirty="0"/>
                    </a:p>
                  </p:txBody>
                </p:sp>
              </mc:Choice>
              <mc:Fallback>
                <p:sp>
                  <p:nvSpPr>
                    <p:cNvPr id="53" name="TextBox 52">
                      <a:extLst>
                        <a:ext uri="{FF2B5EF4-FFF2-40B4-BE49-F238E27FC236}">
                          <a16:creationId xmlns:a16="http://schemas.microsoft.com/office/drawing/2014/main" id="{61DE2619-2950-8445-9526-4640D11746A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33149" y="2770327"/>
                      <a:ext cx="1257599" cy="461665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6763" t="-10526" b="-28947"/>
                      </a:stretch>
                    </a:blipFill>
                    <a:ln w="254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54" name="TextBox 53">
                      <a:extLst>
                        <a:ext uri="{FF2B5EF4-FFF2-40B4-BE49-F238E27FC236}">
                          <a16:creationId xmlns:a16="http://schemas.microsoft.com/office/drawing/2014/main" id="{BEE997DF-7FCF-81B2-BAF0-58815664A34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38625" y="4461728"/>
                      <a:ext cx="3267074" cy="461665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sz="2400" b="0" dirty="0"/>
                        <a:t>Large </a:t>
                      </a:r>
                      <a14:m>
                        <m:oMath xmlns:m="http://schemas.openxmlformats.org/officeDocument/2006/math"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oMath>
                      </a14:m>
                      <a:endParaRPr lang="en-US" sz="2400" dirty="0"/>
                    </a:p>
                  </p:txBody>
                </p:sp>
              </mc:Choice>
              <mc:Fallback>
                <p:sp>
                  <p:nvSpPr>
                    <p:cNvPr id="54" name="TextBox 53">
                      <a:extLst>
                        <a:ext uri="{FF2B5EF4-FFF2-40B4-BE49-F238E27FC236}">
                          <a16:creationId xmlns:a16="http://schemas.microsoft.com/office/drawing/2014/main" id="{BEE997DF-7FCF-81B2-BAF0-58815664A34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238625" y="4461728"/>
                      <a:ext cx="3267074" cy="461665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t="-10667" b="-30667"/>
                      </a:stretch>
                    </a:blipFill>
                    <a:ln w="254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44FB9173-2082-1E1F-06C7-46B4475150E1}"/>
                  </a:ext>
                </a:extLst>
              </p:cNvPr>
              <p:cNvGrpSpPr/>
              <p:nvPr/>
            </p:nvGrpSpPr>
            <p:grpSpPr>
              <a:xfrm>
                <a:off x="3486478" y="4235858"/>
                <a:ext cx="6100156" cy="1238750"/>
                <a:chOff x="3088351" y="2969155"/>
                <a:chExt cx="6100156" cy="1238750"/>
              </a:xfrm>
            </p:grpSpPr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F5CCD7C6-E5EC-AF7C-A4DC-1A0B00D58207}"/>
                    </a:ext>
                  </a:extLst>
                </p:cNvPr>
                <p:cNvSpPr/>
                <p:nvPr/>
              </p:nvSpPr>
              <p:spPr>
                <a:xfrm>
                  <a:off x="3367605" y="4001463"/>
                  <a:ext cx="66675" cy="6400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7" name="Oval 56">
                  <a:extLst>
                    <a:ext uri="{FF2B5EF4-FFF2-40B4-BE49-F238E27FC236}">
                      <a16:creationId xmlns:a16="http://schemas.microsoft.com/office/drawing/2014/main" id="{C759A359-2F4C-240D-01AA-DD82CBE4E94C}"/>
                    </a:ext>
                  </a:extLst>
                </p:cNvPr>
                <p:cNvSpPr/>
                <p:nvPr/>
              </p:nvSpPr>
              <p:spPr>
                <a:xfrm>
                  <a:off x="3088351" y="3754387"/>
                  <a:ext cx="66675" cy="6400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CBBDA52F-C7B4-062A-338B-CE018226DD85}"/>
                    </a:ext>
                  </a:extLst>
                </p:cNvPr>
                <p:cNvSpPr/>
                <p:nvPr/>
              </p:nvSpPr>
              <p:spPr>
                <a:xfrm>
                  <a:off x="4124844" y="3317536"/>
                  <a:ext cx="66675" cy="6400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9" name="Oval 58">
                  <a:extLst>
                    <a:ext uri="{FF2B5EF4-FFF2-40B4-BE49-F238E27FC236}">
                      <a16:creationId xmlns:a16="http://schemas.microsoft.com/office/drawing/2014/main" id="{C7F6C984-6C6F-DAD2-421B-8F409C875297}"/>
                    </a:ext>
                  </a:extLst>
                </p:cNvPr>
                <p:cNvSpPr/>
                <p:nvPr/>
              </p:nvSpPr>
              <p:spPr>
                <a:xfrm>
                  <a:off x="4511732" y="3764749"/>
                  <a:ext cx="66675" cy="6400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0" name="Oval 59">
                  <a:extLst>
                    <a:ext uri="{FF2B5EF4-FFF2-40B4-BE49-F238E27FC236}">
                      <a16:creationId xmlns:a16="http://schemas.microsoft.com/office/drawing/2014/main" id="{7D094614-BBEB-B3FC-BE7A-C7CAB495A629}"/>
                    </a:ext>
                  </a:extLst>
                </p:cNvPr>
                <p:cNvSpPr/>
                <p:nvPr/>
              </p:nvSpPr>
              <p:spPr>
                <a:xfrm>
                  <a:off x="5395133" y="3301493"/>
                  <a:ext cx="66675" cy="6400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1" name="Oval 60">
                  <a:extLst>
                    <a:ext uri="{FF2B5EF4-FFF2-40B4-BE49-F238E27FC236}">
                      <a16:creationId xmlns:a16="http://schemas.microsoft.com/office/drawing/2014/main" id="{D06F55D9-4225-F7D8-EFFC-542FAA70F332}"/>
                    </a:ext>
                  </a:extLst>
                </p:cNvPr>
                <p:cNvSpPr/>
                <p:nvPr/>
              </p:nvSpPr>
              <p:spPr>
                <a:xfrm>
                  <a:off x="4058169" y="4090049"/>
                  <a:ext cx="66675" cy="6400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2" name="Oval 61">
                  <a:extLst>
                    <a:ext uri="{FF2B5EF4-FFF2-40B4-BE49-F238E27FC236}">
                      <a16:creationId xmlns:a16="http://schemas.microsoft.com/office/drawing/2014/main" id="{F659FF95-600C-0280-DE2E-29B05908B42F}"/>
                    </a:ext>
                  </a:extLst>
                </p:cNvPr>
                <p:cNvSpPr/>
                <p:nvPr/>
              </p:nvSpPr>
              <p:spPr>
                <a:xfrm>
                  <a:off x="6718242" y="2969155"/>
                  <a:ext cx="66675" cy="6400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3" name="Oval 62">
                  <a:extLst>
                    <a:ext uri="{FF2B5EF4-FFF2-40B4-BE49-F238E27FC236}">
                      <a16:creationId xmlns:a16="http://schemas.microsoft.com/office/drawing/2014/main" id="{BF5ED8FD-EEF1-A040-FB7A-D5DD0A8F73D2}"/>
                    </a:ext>
                  </a:extLst>
                </p:cNvPr>
                <p:cNvSpPr/>
                <p:nvPr/>
              </p:nvSpPr>
              <p:spPr>
                <a:xfrm>
                  <a:off x="5224722" y="3925344"/>
                  <a:ext cx="66675" cy="6400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25387DEE-18F3-27A7-641D-FBB28C6E5736}"/>
                    </a:ext>
                  </a:extLst>
                </p:cNvPr>
                <p:cNvSpPr/>
                <p:nvPr/>
              </p:nvSpPr>
              <p:spPr>
                <a:xfrm>
                  <a:off x="6004733" y="3911093"/>
                  <a:ext cx="66675" cy="6400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5" name="Oval 64">
                  <a:extLst>
                    <a:ext uri="{FF2B5EF4-FFF2-40B4-BE49-F238E27FC236}">
                      <a16:creationId xmlns:a16="http://schemas.microsoft.com/office/drawing/2014/main" id="{3F80D733-B6E2-FB34-4304-2D87C625C926}"/>
                    </a:ext>
                  </a:extLst>
                </p:cNvPr>
                <p:cNvSpPr/>
                <p:nvPr/>
              </p:nvSpPr>
              <p:spPr>
                <a:xfrm>
                  <a:off x="6834621" y="3349540"/>
                  <a:ext cx="66675" cy="6400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6" name="Oval 65">
                  <a:extLst>
                    <a:ext uri="{FF2B5EF4-FFF2-40B4-BE49-F238E27FC236}">
                      <a16:creationId xmlns:a16="http://schemas.microsoft.com/office/drawing/2014/main" id="{CB69FDA9-2E6F-5F0B-FFB6-846C450A726A}"/>
                    </a:ext>
                  </a:extLst>
                </p:cNvPr>
                <p:cNvSpPr/>
                <p:nvPr/>
              </p:nvSpPr>
              <p:spPr>
                <a:xfrm>
                  <a:off x="7240559" y="3882474"/>
                  <a:ext cx="66675" cy="6400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7" name="Oval 66">
                  <a:extLst>
                    <a:ext uri="{FF2B5EF4-FFF2-40B4-BE49-F238E27FC236}">
                      <a16:creationId xmlns:a16="http://schemas.microsoft.com/office/drawing/2014/main" id="{6DB9F3D8-1745-DF76-822D-E99BACFD3F69}"/>
                    </a:ext>
                  </a:extLst>
                </p:cNvPr>
                <p:cNvSpPr/>
                <p:nvPr/>
              </p:nvSpPr>
              <p:spPr>
                <a:xfrm>
                  <a:off x="9121832" y="3349540"/>
                  <a:ext cx="66675" cy="6400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8" name="Oval 67">
                  <a:extLst>
                    <a:ext uri="{FF2B5EF4-FFF2-40B4-BE49-F238E27FC236}">
                      <a16:creationId xmlns:a16="http://schemas.microsoft.com/office/drawing/2014/main" id="{EC71DBC2-E7CB-8E5E-F78C-2F0E95C609A1}"/>
                    </a:ext>
                  </a:extLst>
                </p:cNvPr>
                <p:cNvSpPr/>
                <p:nvPr/>
              </p:nvSpPr>
              <p:spPr>
                <a:xfrm>
                  <a:off x="8826557" y="3791987"/>
                  <a:ext cx="66675" cy="6400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9" name="Oval 68">
                  <a:extLst>
                    <a:ext uri="{FF2B5EF4-FFF2-40B4-BE49-F238E27FC236}">
                      <a16:creationId xmlns:a16="http://schemas.microsoft.com/office/drawing/2014/main" id="{9B7AB613-508E-DD00-4A6E-15EBC5A6CEF6}"/>
                    </a:ext>
                  </a:extLst>
                </p:cNvPr>
                <p:cNvSpPr/>
                <p:nvPr/>
              </p:nvSpPr>
              <p:spPr>
                <a:xfrm>
                  <a:off x="7740707" y="3067050"/>
                  <a:ext cx="66675" cy="6400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0" name="Oval 69">
                  <a:extLst>
                    <a:ext uri="{FF2B5EF4-FFF2-40B4-BE49-F238E27FC236}">
                      <a16:creationId xmlns:a16="http://schemas.microsoft.com/office/drawing/2014/main" id="{35BE92FE-24D2-2928-5A4D-59B630337675}"/>
                    </a:ext>
                  </a:extLst>
                </p:cNvPr>
                <p:cNvSpPr/>
                <p:nvPr/>
              </p:nvSpPr>
              <p:spPr>
                <a:xfrm>
                  <a:off x="8142344" y="4143897"/>
                  <a:ext cx="66675" cy="6400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1" name="Oval 70">
                  <a:extLst>
                    <a:ext uri="{FF2B5EF4-FFF2-40B4-BE49-F238E27FC236}">
                      <a16:creationId xmlns:a16="http://schemas.microsoft.com/office/drawing/2014/main" id="{07EBD353-47F7-E0A5-C05A-03CB98C09F01}"/>
                    </a:ext>
                  </a:extLst>
                </p:cNvPr>
                <p:cNvSpPr/>
                <p:nvPr/>
              </p:nvSpPr>
              <p:spPr>
                <a:xfrm>
                  <a:off x="8045507" y="3371850"/>
                  <a:ext cx="66675" cy="6400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5C7DF812-95D6-E35F-7720-434E821733A6}"/>
                  </a:ext>
                </a:extLst>
              </p:cNvPr>
              <p:cNvGrpSpPr/>
              <p:nvPr/>
            </p:nvGrpSpPr>
            <p:grpSpPr>
              <a:xfrm>
                <a:off x="2699021" y="3643641"/>
                <a:ext cx="6376381" cy="1646581"/>
                <a:chOff x="2300894" y="2376938"/>
                <a:chExt cx="6376381" cy="1646581"/>
              </a:xfrm>
              <a:solidFill>
                <a:schemeClr val="accent2">
                  <a:lumMod val="75000"/>
                </a:schemeClr>
              </a:solidFill>
            </p:grpSpPr>
            <p:sp>
              <p:nvSpPr>
                <p:cNvPr id="73" name="Oval 72">
                  <a:extLst>
                    <a:ext uri="{FF2B5EF4-FFF2-40B4-BE49-F238E27FC236}">
                      <a16:creationId xmlns:a16="http://schemas.microsoft.com/office/drawing/2014/main" id="{1822C1E6-63D4-6603-09DD-34589DA3B765}"/>
                    </a:ext>
                  </a:extLst>
                </p:cNvPr>
                <p:cNvSpPr/>
                <p:nvPr/>
              </p:nvSpPr>
              <p:spPr>
                <a:xfrm>
                  <a:off x="5001664" y="2738323"/>
                  <a:ext cx="66675" cy="64008"/>
                </a:xfrm>
                <a:prstGeom prst="ellipse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4" name="Oval 73">
                  <a:extLst>
                    <a:ext uri="{FF2B5EF4-FFF2-40B4-BE49-F238E27FC236}">
                      <a16:creationId xmlns:a16="http://schemas.microsoft.com/office/drawing/2014/main" id="{C475B283-E32D-E062-6B30-0A1AE86F6EAD}"/>
                    </a:ext>
                  </a:extLst>
                </p:cNvPr>
                <p:cNvSpPr/>
                <p:nvPr/>
              </p:nvSpPr>
              <p:spPr>
                <a:xfrm>
                  <a:off x="3434280" y="3107131"/>
                  <a:ext cx="66675" cy="64008"/>
                </a:xfrm>
                <a:prstGeom prst="ellipse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5" name="Oval 74">
                  <a:extLst>
                    <a:ext uri="{FF2B5EF4-FFF2-40B4-BE49-F238E27FC236}">
                      <a16:creationId xmlns:a16="http://schemas.microsoft.com/office/drawing/2014/main" id="{EFCE60A0-67DF-68A8-CF2F-5D69317A4F4D}"/>
                    </a:ext>
                  </a:extLst>
                </p:cNvPr>
                <p:cNvSpPr/>
                <p:nvPr/>
              </p:nvSpPr>
              <p:spPr>
                <a:xfrm>
                  <a:off x="2300894" y="3959511"/>
                  <a:ext cx="66675" cy="64008"/>
                </a:xfrm>
                <a:prstGeom prst="ellipse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6" name="Oval 75">
                  <a:extLst>
                    <a:ext uri="{FF2B5EF4-FFF2-40B4-BE49-F238E27FC236}">
                      <a16:creationId xmlns:a16="http://schemas.microsoft.com/office/drawing/2014/main" id="{514D19A2-B0BE-DBD7-88BB-ED2130F96AE8}"/>
                    </a:ext>
                  </a:extLst>
                </p:cNvPr>
                <p:cNvSpPr/>
                <p:nvPr/>
              </p:nvSpPr>
              <p:spPr>
                <a:xfrm>
                  <a:off x="6096000" y="2547806"/>
                  <a:ext cx="66675" cy="64008"/>
                </a:xfrm>
                <a:prstGeom prst="ellipse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7" name="Oval 76">
                  <a:extLst>
                    <a:ext uri="{FF2B5EF4-FFF2-40B4-BE49-F238E27FC236}">
                      <a16:creationId xmlns:a16="http://schemas.microsoft.com/office/drawing/2014/main" id="{99420CF2-E81B-63A8-A8FE-8FE8C4129B11}"/>
                    </a:ext>
                  </a:extLst>
                </p:cNvPr>
                <p:cNvSpPr/>
                <p:nvPr/>
              </p:nvSpPr>
              <p:spPr>
                <a:xfrm>
                  <a:off x="7131107" y="2457450"/>
                  <a:ext cx="66675" cy="64008"/>
                </a:xfrm>
                <a:prstGeom prst="ellipse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8" name="Oval 77">
                  <a:extLst>
                    <a:ext uri="{FF2B5EF4-FFF2-40B4-BE49-F238E27FC236}">
                      <a16:creationId xmlns:a16="http://schemas.microsoft.com/office/drawing/2014/main" id="{4FF263F3-9E05-F543-0228-A6F589E6FA0F}"/>
                    </a:ext>
                  </a:extLst>
                </p:cNvPr>
                <p:cNvSpPr/>
                <p:nvPr/>
              </p:nvSpPr>
              <p:spPr>
                <a:xfrm>
                  <a:off x="8610600" y="2376938"/>
                  <a:ext cx="66675" cy="64008"/>
                </a:xfrm>
                <a:prstGeom prst="ellipse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9" name="Group 78">
                <a:extLst>
                  <a:ext uri="{FF2B5EF4-FFF2-40B4-BE49-F238E27FC236}">
                    <a16:creationId xmlns:a16="http://schemas.microsoft.com/office/drawing/2014/main" id="{E8A16D00-2335-B39B-7D3D-6123A906A1DF}"/>
                  </a:ext>
                </a:extLst>
              </p:cNvPr>
              <p:cNvGrpSpPr/>
              <p:nvPr/>
            </p:nvGrpSpPr>
            <p:grpSpPr>
              <a:xfrm>
                <a:off x="3899082" y="2895154"/>
                <a:ext cx="5008361" cy="1340704"/>
                <a:chOff x="3500955" y="1628451"/>
                <a:chExt cx="5008361" cy="1340704"/>
              </a:xfrm>
            </p:grpSpPr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80" name="Rectangle: Rounded Corners 79">
                      <a:extLst>
                        <a:ext uri="{FF2B5EF4-FFF2-40B4-BE49-F238E27FC236}">
                          <a16:creationId xmlns:a16="http://schemas.microsoft.com/office/drawing/2014/main" id="{9E93CCD3-F7D4-4D49-52AB-09968D98770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40473" y="1628451"/>
                      <a:ext cx="4438371" cy="520836"/>
                    </a:xfrm>
                    <a:prstGeom prst="roundRect">
                      <a:avLst/>
                    </a:prstGeom>
                    <a:noFill/>
                    <a:ln w="38100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 xmlns:m="http://schemas.openxmlformats.org/officeDocument/2006/math">
                          <m: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a14:m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-convoy policies</a:t>
                      </a:r>
                    </a:p>
                  </p:txBody>
                </p:sp>
              </mc:Choice>
              <mc:Fallback>
                <p:sp>
                  <p:nvSpPr>
                    <p:cNvPr id="80" name="Rectangle: Rounded Corners 79">
                      <a:extLst>
                        <a:ext uri="{FF2B5EF4-FFF2-40B4-BE49-F238E27FC236}">
                          <a16:creationId xmlns:a16="http://schemas.microsoft.com/office/drawing/2014/main" id="{9E93CCD3-F7D4-4D49-52AB-09968D987701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640473" y="1628451"/>
                      <a:ext cx="4438371" cy="520836"/>
                    </a:xfrm>
                    <a:prstGeom prst="roundRect">
                      <a:avLst/>
                    </a:prstGeom>
                    <a:blipFill>
                      <a:blip r:embed="rId5"/>
                      <a:stretch>
                        <a:fillRect b="-16484"/>
                      </a:stretch>
                    </a:blipFill>
                    <a:ln w="38100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82" name="Straight Arrow Connector 81">
                  <a:extLst>
                    <a:ext uri="{FF2B5EF4-FFF2-40B4-BE49-F238E27FC236}">
                      <a16:creationId xmlns:a16="http://schemas.microsoft.com/office/drawing/2014/main" id="{8EB72BDA-4451-04D3-90DE-6CCA618E14B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500955" y="2143790"/>
                  <a:ext cx="286354" cy="825365"/>
                </a:xfrm>
                <a:prstGeom prst="straightConnector1">
                  <a:avLst/>
                </a:prstGeom>
                <a:ln w="25400">
                  <a:solidFill>
                    <a:schemeClr val="accent2">
                      <a:lumMod val="60000"/>
                      <a:lumOff val="4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Straight Arrow Connector 82">
                  <a:extLst>
                    <a:ext uri="{FF2B5EF4-FFF2-40B4-BE49-F238E27FC236}">
                      <a16:creationId xmlns:a16="http://schemas.microsoft.com/office/drawing/2014/main" id="{F9316117-3D3F-97AB-9345-193C4768B38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035001" y="2143790"/>
                  <a:ext cx="27708" cy="436020"/>
                </a:xfrm>
                <a:prstGeom prst="straightConnector1">
                  <a:avLst/>
                </a:prstGeom>
                <a:ln w="25400">
                  <a:solidFill>
                    <a:schemeClr val="accent2">
                      <a:lumMod val="60000"/>
                      <a:lumOff val="4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Straight Arrow Connector 83">
                  <a:extLst>
                    <a:ext uri="{FF2B5EF4-FFF2-40B4-BE49-F238E27FC236}">
                      <a16:creationId xmlns:a16="http://schemas.microsoft.com/office/drawing/2014/main" id="{E4014143-DA33-E1A5-EBB4-219074291CB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995379" y="2165316"/>
                  <a:ext cx="87675" cy="292134"/>
                </a:xfrm>
                <a:prstGeom prst="straightConnector1">
                  <a:avLst/>
                </a:prstGeom>
                <a:ln w="25400">
                  <a:solidFill>
                    <a:schemeClr val="accent2">
                      <a:lumMod val="60000"/>
                      <a:lumOff val="4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Arrow Connector 84">
                  <a:extLst>
                    <a:ext uri="{FF2B5EF4-FFF2-40B4-BE49-F238E27FC236}">
                      <a16:creationId xmlns:a16="http://schemas.microsoft.com/office/drawing/2014/main" id="{35A940F6-21D0-5710-2D69-B4F84CCAEDD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057567" y="2155637"/>
                  <a:ext cx="71726" cy="212914"/>
                </a:xfrm>
                <a:prstGeom prst="straightConnector1">
                  <a:avLst/>
                </a:prstGeom>
                <a:ln w="25400">
                  <a:solidFill>
                    <a:schemeClr val="accent2">
                      <a:lumMod val="60000"/>
                      <a:lumOff val="4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Straight Arrow Connector 85">
                  <a:extLst>
                    <a:ext uri="{FF2B5EF4-FFF2-40B4-BE49-F238E27FC236}">
                      <a16:creationId xmlns:a16="http://schemas.microsoft.com/office/drawing/2014/main" id="{23CA6D24-8B78-DCBA-5D38-06B83CBCEB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032080" y="2120479"/>
                  <a:ext cx="477236" cy="186894"/>
                </a:xfrm>
                <a:prstGeom prst="straightConnector1">
                  <a:avLst/>
                </a:prstGeom>
                <a:ln w="25400">
                  <a:solidFill>
                    <a:schemeClr val="accent2">
                      <a:lumMod val="60000"/>
                      <a:lumOff val="4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88" name="Rectangle: Rounded Corners 87">
              <a:extLst>
                <a:ext uri="{FF2B5EF4-FFF2-40B4-BE49-F238E27FC236}">
                  <a16:creationId xmlns:a16="http://schemas.microsoft.com/office/drawing/2014/main" id="{FFC3E863-7721-1D9F-7F9F-51BB1265046D}"/>
                </a:ext>
              </a:extLst>
            </p:cNvPr>
            <p:cNvSpPr/>
            <p:nvPr/>
          </p:nvSpPr>
          <p:spPr>
            <a:xfrm>
              <a:off x="2765481" y="3714974"/>
              <a:ext cx="894904" cy="779287"/>
            </a:xfrm>
            <a:prstGeom prst="roundRect">
              <a:avLst/>
            </a:prstGeom>
            <a:noFill/>
            <a:ln w="381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Only</a:t>
              </a:r>
              <a:br>
                <a:rPr lang="en-US" sz="2400" dirty="0">
                  <a:solidFill>
                    <a:schemeClr val="tx1"/>
                  </a:solidFill>
                </a:rPr>
              </a:br>
              <a:r>
                <a:rPr lang="en-US" sz="2400" dirty="0">
                  <a:solidFill>
                    <a:schemeClr val="tx1"/>
                  </a:solidFill>
                </a:rPr>
                <a:t>larges</a:t>
              </a:r>
            </a:p>
          </p:txBody>
        </p: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59E2069B-A734-C696-6162-95AF4620DE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21549" y="4474449"/>
              <a:ext cx="211150" cy="572556"/>
            </a:xfrm>
            <a:prstGeom prst="straightConnector1">
              <a:avLst/>
            </a:prstGeom>
            <a:ln w="254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98510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D6F21-CC5B-3B1E-3C54-6EFE2B51F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 outline: Narrowing optimality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083C4-66CC-233C-B337-70D64E1EA4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62374"/>
            <a:ext cx="10706100" cy="243681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Threshold policy: Either hold smalls fixed, or drop to target # of smalls.</a:t>
            </a:r>
          </a:p>
          <a:p>
            <a:pPr marL="0" indent="0">
              <a:buNone/>
            </a:pPr>
            <a:r>
              <a:rPr lang="en-US" dirty="0"/>
              <a:t>Mixture of thresholds: Probabilistic mixture of threshold policies, between each pair of large arrivals.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04214B-8740-F588-5DF2-DA4BC6914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Allerton Conference, 9-16-26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50632C-842E-8C52-F930-18C8E5262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85CE2-2EC4-4027-8BA4-D2509B7ADC92}" type="slidenum">
              <a:rPr lang="en-US" smtClean="0"/>
              <a:t>11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0A31BB-0A92-21BB-8072-F4299403750D}"/>
              </a:ext>
            </a:extLst>
          </p:cNvPr>
          <p:cNvSpPr txBox="1"/>
          <p:nvPr/>
        </p:nvSpPr>
        <p:spPr>
          <a:xfrm>
            <a:off x="1407459" y="2456329"/>
            <a:ext cx="1580029" cy="461665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All policies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0334D2B-8FBA-FDE3-C797-8BAD08E3267B}"/>
              </a:ext>
            </a:extLst>
          </p:cNvPr>
          <p:cNvGrpSpPr/>
          <p:nvPr/>
        </p:nvGrpSpPr>
        <p:grpSpPr>
          <a:xfrm>
            <a:off x="9071721" y="2453748"/>
            <a:ext cx="1712820" cy="830997"/>
            <a:chOff x="9071721" y="2453748"/>
            <a:chExt cx="1712820" cy="830997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37579C2-3EC4-C091-651F-9DCD72896EB7}"/>
                </a:ext>
              </a:extLst>
            </p:cNvPr>
            <p:cNvSpPr txBox="1"/>
            <p:nvPr/>
          </p:nvSpPr>
          <p:spPr>
            <a:xfrm>
              <a:off x="9647144" y="2453748"/>
              <a:ext cx="1137397" cy="830997"/>
            </a:xfrm>
            <a:prstGeom prst="rect">
              <a:avLst/>
            </a:prstGeom>
            <a:noFill/>
            <a:ln w="38100">
              <a:solidFill>
                <a:srgbClr val="00B0F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Convoy policies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F00D3E05-E237-3BEB-563B-2FA8FCEFBB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71721" y="2684938"/>
              <a:ext cx="575423" cy="1112"/>
            </a:xfrm>
            <a:prstGeom prst="straightConnector1">
              <a:avLst/>
            </a:prstGeom>
            <a:ln w="38100">
              <a:solidFill>
                <a:srgbClr val="0B0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1A21F7E-576F-ACBB-E026-66D813EE4B8B}"/>
              </a:ext>
            </a:extLst>
          </p:cNvPr>
          <p:cNvGrpSpPr/>
          <p:nvPr/>
        </p:nvGrpSpPr>
        <p:grpSpPr>
          <a:xfrm>
            <a:off x="2788584" y="1943313"/>
            <a:ext cx="3147874" cy="1704935"/>
            <a:chOff x="2788584" y="1943313"/>
            <a:chExt cx="3147874" cy="170493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3D9FAF7-9F44-B8B8-052A-925700A984FE}"/>
                </a:ext>
              </a:extLst>
            </p:cNvPr>
            <p:cNvSpPr txBox="1"/>
            <p:nvPr/>
          </p:nvSpPr>
          <p:spPr>
            <a:xfrm>
              <a:off x="4316646" y="2447919"/>
              <a:ext cx="1619812" cy="1200329"/>
            </a:xfrm>
            <a:prstGeom prst="rect">
              <a:avLst/>
            </a:prstGeom>
            <a:noFill/>
            <a:ln w="38100">
              <a:solidFill>
                <a:srgbClr val="00B0F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Mixture-of-thresholds policies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C3D25391-0056-17C5-0416-D3373AA33094}"/>
                </a:ext>
              </a:extLst>
            </p:cNvPr>
            <p:cNvCxnSpPr>
              <a:cxnSpLocks/>
              <a:stCxn id="6" idx="3"/>
            </p:cNvCxnSpPr>
            <p:nvPr/>
          </p:nvCxnSpPr>
          <p:spPr>
            <a:xfrm>
              <a:off x="2987488" y="2687162"/>
              <a:ext cx="1305907" cy="0"/>
            </a:xfrm>
            <a:prstGeom prst="straightConnector1">
              <a:avLst/>
            </a:prstGeom>
            <a:ln w="38100">
              <a:solidFill>
                <a:srgbClr val="0B0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A7DC7AC-E63A-57FF-9DE8-B59BC3FAC3FE}"/>
                </a:ext>
              </a:extLst>
            </p:cNvPr>
            <p:cNvSpPr txBox="1"/>
            <p:nvPr/>
          </p:nvSpPr>
          <p:spPr>
            <a:xfrm>
              <a:off x="2788584" y="1943313"/>
              <a:ext cx="1668837" cy="461665"/>
            </a:xfrm>
            <a:prstGeom prst="rect">
              <a:avLst/>
            </a:prstGeom>
            <a:noFill/>
            <a:ln w="38100">
              <a:solidFill>
                <a:srgbClr val="0B00F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Replication!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6526F97-7B7D-2683-9DD5-E49F696AB1D3}"/>
              </a:ext>
            </a:extLst>
          </p:cNvPr>
          <p:cNvGrpSpPr/>
          <p:nvPr/>
        </p:nvGrpSpPr>
        <p:grpSpPr>
          <a:xfrm>
            <a:off x="5817184" y="1943313"/>
            <a:ext cx="3231286" cy="1341432"/>
            <a:chOff x="5817184" y="1943313"/>
            <a:chExt cx="3231286" cy="134143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7B2B3D97-5E0C-A74F-776F-7AC02BFBBFDE}"/>
                    </a:ext>
                  </a:extLst>
                </p:cNvPr>
                <p:cNvSpPr txBox="1"/>
                <p:nvPr/>
              </p:nvSpPr>
              <p:spPr>
                <a:xfrm>
                  <a:off x="7258330" y="2453748"/>
                  <a:ext cx="1790140" cy="830997"/>
                </a:xfrm>
                <a:prstGeom prst="rect">
                  <a:avLst/>
                </a:prstGeom>
                <a:noFill/>
                <a:ln w="38100">
                  <a:solidFill>
                    <a:srgbClr val="00B0F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400" dirty="0"/>
                    <a:t>Hold-at-</a:t>
                  </a:r>
                  <a14:m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a14:m>
                  <a:r>
                    <a:rPr lang="en-US" sz="2400" dirty="0"/>
                    <a:t> or drop-to-</a:t>
                  </a:r>
                  <a14:m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a14:m>
                  <a:r>
                    <a:rPr lang="en-US" sz="2400" dirty="0"/>
                    <a:t>.</a:t>
                  </a:r>
                </a:p>
              </p:txBody>
            </p:sp>
          </mc:Choice>
          <mc:Fallback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7B2B3D97-5E0C-A74F-776F-7AC02BFBBF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58330" y="2453748"/>
                  <a:ext cx="1790140" cy="830997"/>
                </a:xfrm>
                <a:prstGeom prst="rect">
                  <a:avLst/>
                </a:prstGeom>
                <a:blipFill>
                  <a:blip r:embed="rId2"/>
                  <a:stretch>
                    <a:fillRect l="-2007" t="-3521" r="-6020" b="-13380"/>
                  </a:stretch>
                </a:blipFill>
                <a:ln w="38100">
                  <a:solidFill>
                    <a:srgbClr val="00B0F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B1572396-8E80-DC8D-ECED-CA7921432D7B}"/>
                </a:ext>
              </a:extLst>
            </p:cNvPr>
            <p:cNvCxnSpPr>
              <a:cxnSpLocks/>
            </p:cNvCxnSpPr>
            <p:nvPr/>
          </p:nvCxnSpPr>
          <p:spPr>
            <a:xfrm>
              <a:off x="5936458" y="2686050"/>
              <a:ext cx="1298621" cy="0"/>
            </a:xfrm>
            <a:prstGeom prst="straightConnector1">
              <a:avLst/>
            </a:prstGeom>
            <a:ln w="38100">
              <a:solidFill>
                <a:srgbClr val="0B0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4B4E284-950E-BF5A-9667-C4902C9B9ABF}"/>
                </a:ext>
              </a:extLst>
            </p:cNvPr>
            <p:cNvSpPr txBox="1"/>
            <p:nvPr/>
          </p:nvSpPr>
          <p:spPr>
            <a:xfrm>
              <a:off x="5817184" y="1943313"/>
              <a:ext cx="1537167" cy="461665"/>
            </a:xfrm>
            <a:prstGeom prst="rect">
              <a:avLst/>
            </a:prstGeom>
            <a:noFill/>
            <a:ln w="38100">
              <a:solidFill>
                <a:srgbClr val="0B00F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Convexity!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38636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2F774-36D0-6C47-9A69-46611AFAF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 details: Replication lemma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C4F91C-E590-B6EA-6DC1-0CDE79EF1F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13538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Replication lemma: Between any two large arrivals, for any policy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, we construct a mixture-of-thresholds (</a:t>
                </a:r>
                <a:r>
                  <a:rPr lang="en-US" dirty="0" err="1"/>
                  <a:t>MoT</a:t>
                </a:r>
                <a:r>
                  <a:rPr lang="en-US" dirty="0"/>
                  <a:t>) policy which matches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 in terms of:</a:t>
                </a:r>
              </a:p>
              <a:p>
                <a:r>
                  <a:rPr lang="en-US" dirty="0"/>
                  <a:t>Distribution of number of small jobs completed</a:t>
                </a:r>
              </a:p>
              <a:p>
                <a:r>
                  <a:rPr lang="en-US" dirty="0"/>
                  <a:t>Distribution of number of small jobs in service when the large job arrives.</a:t>
                </a:r>
              </a:p>
              <a:p>
                <a:pPr marL="0" indent="0">
                  <a:buNone/>
                </a:pPr>
                <a:r>
                  <a:rPr lang="en-US" dirty="0"/>
                  <a:t>This is sufficient to replicate any policy’s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C4F91C-E590-B6EA-6DC1-0CDE79EF1F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1353800" cy="4351338"/>
              </a:xfrm>
              <a:blipFill>
                <a:blip r:embed="rId2"/>
                <a:stretch>
                  <a:fillRect l="-1128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140C3F-943C-C024-E465-C3EBADEFE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Allerton Conference, 9-16-26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60B067-2303-B2A5-9F31-5563C7548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85CE2-2EC4-4027-8BA4-D2509B7ADC92}" type="slidenum">
              <a:rPr lang="en-US" smtClean="0"/>
              <a:t>12</a:t>
            </a:fld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C21AFD1-E620-C844-BBAB-5902BFFC06C2}"/>
              </a:ext>
            </a:extLst>
          </p:cNvPr>
          <p:cNvSpPr/>
          <p:nvPr/>
        </p:nvSpPr>
        <p:spPr>
          <a:xfrm>
            <a:off x="838200" y="1825625"/>
            <a:ext cx="11174506" cy="1903694"/>
          </a:xfrm>
          <a:prstGeom prst="roundRect">
            <a:avLst/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</p:spTree>
    <p:extLst>
      <p:ext uri="{BB962C8B-B14F-4D97-AF65-F5344CB8AC3E}">
        <p14:creationId xmlns:p14="http://schemas.microsoft.com/office/powerpoint/2010/main" val="185010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F12A1-D161-E7E0-4917-EC64F430E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 details: Convexity lemma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5AAE57-2C32-27CF-6FCF-EB6C617102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636624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Convexity lemma: Among threshold policies, both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are convex in the number of small jobs in service as of the final large arrival.</a:t>
                </a:r>
              </a:p>
              <a:p>
                <a:pPr marL="0" indent="0">
                  <a:buNone/>
                </a:pPr>
                <a:r>
                  <a:rPr lang="en-US" dirty="0"/>
                  <a:t>As a result, any </a:t>
                </a:r>
                <a:r>
                  <a:rPr lang="en-US" dirty="0" err="1"/>
                  <a:t>MoT</a:t>
                </a:r>
                <a:r>
                  <a:rPr lang="en-US" dirty="0"/>
                  <a:t> policy can be improved by a convex combination of the hold-at-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and drop-to-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policies.</a:t>
                </a:r>
              </a:p>
              <a:p>
                <a:pPr marL="0" indent="0">
                  <a:buNone/>
                </a:pPr>
                <a:r>
                  <a:rPr lang="en-US" dirty="0"/>
                  <a:t>This implies that convoy policies (and the Only Large policy) are the only Pareto-Optimal policies.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5AAE57-2C32-27CF-6FCF-EB6C617102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636624" cy="4351338"/>
              </a:xfrm>
              <a:blipFill>
                <a:blip r:embed="rId2"/>
                <a:stretch>
                  <a:fillRect l="-1204" t="-2241" r="-12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0467DF-0A99-3546-0C98-0F736A34E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Allerton Conference, 9-16-26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D93C47-0FC1-3D4D-D162-C55112EEE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85CE2-2EC4-4027-8BA4-D2509B7ADC92}" type="slidenum">
              <a:rPr lang="en-US" smtClean="0"/>
              <a:t>13</a:t>
            </a:fld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CC47426-E213-415E-A7B4-CCD718E098F4}"/>
              </a:ext>
            </a:extLst>
          </p:cNvPr>
          <p:cNvSpPr/>
          <p:nvPr/>
        </p:nvSpPr>
        <p:spPr>
          <a:xfrm>
            <a:off x="838200" y="1825625"/>
            <a:ext cx="10636624" cy="1742328"/>
          </a:xfrm>
          <a:prstGeom prst="roundRect">
            <a:avLst/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266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C2C7CBB-EAF7-4B79-8DD5-B3C9E0AC9F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177" y="1242390"/>
            <a:ext cx="9821646" cy="44392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2DCB94-E419-B641-E4A4-91A1CD367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Empirical validation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2472E2-8F32-41E9-2AB8-A5F8C8CAD5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5811836"/>
                <a:ext cx="10515600" cy="779463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Empirically, optimality holds for IHR small jobs, not for DHR.</a:t>
                </a:r>
                <a:br>
                  <a:rPr lang="en-US" dirty="0"/>
                </a:br>
                <a:r>
                  <a:rPr lang="en-US" dirty="0"/>
                  <a:t>Holds if large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∈(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/2,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2472E2-8F32-41E9-2AB8-A5F8C8CAD5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5811836"/>
                <a:ext cx="10515600" cy="779463"/>
              </a:xfrm>
              <a:blipFill>
                <a:blip r:embed="rId3"/>
                <a:stretch>
                  <a:fillRect l="-1043" t="-15625" b="-148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3E1C5B-DE4D-39F1-A891-3CD350BF3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Allerton Conference, 9-16-26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3CD1CA-2DA9-05AF-9FD4-D8D3304A8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85CE2-2EC4-4027-8BA4-D2509B7ADC9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433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4D1E6-537C-67E3-D341-9D0C572A4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2D940-D51A-3EEE-4323-9B4F19BDB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Allerton Conference, 9-16-26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341EA8-B242-D2F7-6860-4DDAE3B33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85CE2-2EC4-4027-8BA4-D2509B7ADC92}" type="slidenum">
              <a:rPr lang="en-US" smtClean="0"/>
              <a:t>15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608994D-FD9A-D3E6-722E-26638E837BE0}"/>
              </a:ext>
            </a:extLst>
          </p:cNvPr>
          <p:cNvGrpSpPr/>
          <p:nvPr/>
        </p:nvGrpSpPr>
        <p:grpSpPr>
          <a:xfrm>
            <a:off x="4047577" y="406678"/>
            <a:ext cx="6499916" cy="2567804"/>
            <a:chOff x="4818436" y="1627780"/>
            <a:chExt cx="6499916" cy="2567804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D6F9591-FB63-DD95-856B-D4C5A4056C6D}"/>
                </a:ext>
              </a:extLst>
            </p:cNvPr>
            <p:cNvGrpSpPr/>
            <p:nvPr/>
          </p:nvGrpSpPr>
          <p:grpSpPr>
            <a:xfrm>
              <a:off x="4818436" y="1639118"/>
              <a:ext cx="3652520" cy="1122639"/>
              <a:chOff x="3764420" y="1582942"/>
              <a:chExt cx="3652520" cy="1885361"/>
            </a:xfrm>
          </p:grpSpPr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FCB8B743-FB7F-BA7F-379B-66C1CB6457BB}"/>
                  </a:ext>
                </a:extLst>
              </p:cNvPr>
              <p:cNvGrpSpPr/>
              <p:nvPr/>
            </p:nvGrpSpPr>
            <p:grpSpPr>
              <a:xfrm>
                <a:off x="3764420" y="2204337"/>
                <a:ext cx="3652520" cy="1097915"/>
                <a:chOff x="4612" y="3721"/>
                <a:chExt cx="5752" cy="1729"/>
              </a:xfrm>
            </p:grpSpPr>
            <p:grpSp>
              <p:nvGrpSpPr>
                <p:cNvPr id="36" name="Group 35">
                  <a:extLst>
                    <a:ext uri="{FF2B5EF4-FFF2-40B4-BE49-F238E27FC236}">
                      <a16:creationId xmlns:a16="http://schemas.microsoft.com/office/drawing/2014/main" id="{97475559-98E7-FFE1-3CCB-380F99AA0A2E}"/>
                    </a:ext>
                  </a:extLst>
                </p:cNvPr>
                <p:cNvGrpSpPr/>
                <p:nvPr/>
              </p:nvGrpSpPr>
              <p:grpSpPr>
                <a:xfrm>
                  <a:off x="5630" y="3721"/>
                  <a:ext cx="4734" cy="1729"/>
                  <a:chOff x="5630" y="3721"/>
                  <a:chExt cx="4734" cy="1729"/>
                </a:xfrm>
              </p:grpSpPr>
              <p:sp>
                <p:nvSpPr>
                  <p:cNvPr id="38" name="Rectangles 39">
                    <a:extLst>
                      <a:ext uri="{FF2B5EF4-FFF2-40B4-BE49-F238E27FC236}">
                        <a16:creationId xmlns:a16="http://schemas.microsoft.com/office/drawing/2014/main" id="{C806D482-896E-63EE-33AD-C0FF69FDE390}"/>
                      </a:ext>
                    </a:extLst>
                  </p:cNvPr>
                  <p:cNvSpPr/>
                  <p:nvPr/>
                </p:nvSpPr>
                <p:spPr>
                  <a:xfrm>
                    <a:off x="6596" y="3735"/>
                    <a:ext cx="942" cy="171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9" name="Rectangles 40">
                    <a:extLst>
                      <a:ext uri="{FF2B5EF4-FFF2-40B4-BE49-F238E27FC236}">
                        <a16:creationId xmlns:a16="http://schemas.microsoft.com/office/drawing/2014/main" id="{778F5EAB-4FA1-438D-5479-260C131F8FB8}"/>
                      </a:ext>
                    </a:extLst>
                  </p:cNvPr>
                  <p:cNvSpPr/>
                  <p:nvPr/>
                </p:nvSpPr>
                <p:spPr>
                  <a:xfrm>
                    <a:off x="7538" y="3735"/>
                    <a:ext cx="942" cy="171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0" name="Rectangles 41">
                    <a:extLst>
                      <a:ext uri="{FF2B5EF4-FFF2-40B4-BE49-F238E27FC236}">
                        <a16:creationId xmlns:a16="http://schemas.microsoft.com/office/drawing/2014/main" id="{EB5B369A-783D-99A6-5A96-CF65952B9250}"/>
                      </a:ext>
                    </a:extLst>
                  </p:cNvPr>
                  <p:cNvSpPr/>
                  <p:nvPr/>
                </p:nvSpPr>
                <p:spPr>
                  <a:xfrm>
                    <a:off x="8480" y="3735"/>
                    <a:ext cx="942" cy="171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1" name="Rectangles 42">
                    <a:extLst>
                      <a:ext uri="{FF2B5EF4-FFF2-40B4-BE49-F238E27FC236}">
                        <a16:creationId xmlns:a16="http://schemas.microsoft.com/office/drawing/2014/main" id="{C46C18F8-88ED-EB3E-9F49-88ED2D23EBB5}"/>
                      </a:ext>
                    </a:extLst>
                  </p:cNvPr>
                  <p:cNvSpPr/>
                  <p:nvPr/>
                </p:nvSpPr>
                <p:spPr>
                  <a:xfrm>
                    <a:off x="9422" y="3735"/>
                    <a:ext cx="942" cy="171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42" name="Straight Connector 41">
                    <a:extLst>
                      <a:ext uri="{FF2B5EF4-FFF2-40B4-BE49-F238E27FC236}">
                        <a16:creationId xmlns:a16="http://schemas.microsoft.com/office/drawing/2014/main" id="{72EBBF58-4A89-CB04-5F29-23FDFC2C4D31}"/>
                      </a:ext>
                    </a:extLst>
                  </p:cNvPr>
                  <p:cNvCxnSpPr/>
                  <p:nvPr/>
                </p:nvCxnSpPr>
                <p:spPr>
                  <a:xfrm>
                    <a:off x="5630" y="3721"/>
                    <a:ext cx="966" cy="15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" name="Straight Connector 42">
                    <a:extLst>
                      <a:ext uri="{FF2B5EF4-FFF2-40B4-BE49-F238E27FC236}">
                        <a16:creationId xmlns:a16="http://schemas.microsoft.com/office/drawing/2014/main" id="{0079766C-141D-236B-3EE9-347731878812}"/>
                      </a:ext>
                    </a:extLst>
                  </p:cNvPr>
                  <p:cNvCxnSpPr/>
                  <p:nvPr/>
                </p:nvCxnSpPr>
                <p:spPr>
                  <a:xfrm>
                    <a:off x="5630" y="5435"/>
                    <a:ext cx="966" cy="15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37" name="Straight Arrow Connector 36">
                  <a:extLst>
                    <a:ext uri="{FF2B5EF4-FFF2-40B4-BE49-F238E27FC236}">
                      <a16:creationId xmlns:a16="http://schemas.microsoft.com/office/drawing/2014/main" id="{20DF28E4-04B2-16D8-8510-A0741A627B30}"/>
                    </a:ext>
                  </a:extLst>
                </p:cNvPr>
                <p:cNvCxnSpPr/>
                <p:nvPr/>
              </p:nvCxnSpPr>
              <p:spPr>
                <a:xfrm flipV="1">
                  <a:off x="4612" y="4647"/>
                  <a:ext cx="1018" cy="6"/>
                </a:xfrm>
                <a:prstGeom prst="straightConnector1">
                  <a:avLst/>
                </a:prstGeom>
                <a:ln w="63500">
                  <a:solidFill>
                    <a:schemeClr val="tx1"/>
                  </a:solidFill>
                  <a:tailEnd type="arrow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89E7D2A2-E063-412B-5A64-6248A3E3E3FE}"/>
                  </a:ext>
                </a:extLst>
              </p:cNvPr>
              <p:cNvSpPr/>
              <p:nvPr/>
            </p:nvSpPr>
            <p:spPr>
              <a:xfrm>
                <a:off x="6876555" y="1582942"/>
                <a:ext cx="464845" cy="188536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n</a:t>
                </a:r>
              </a:p>
            </p:txBody>
          </p:sp>
        </p:grp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7C33D2B-BC08-F2C3-1929-6C1AA454CFBF}"/>
                </a:ext>
              </a:extLst>
            </p:cNvPr>
            <p:cNvSpPr/>
            <p:nvPr/>
          </p:nvSpPr>
          <p:spPr>
            <a:xfrm>
              <a:off x="6734681" y="1627780"/>
              <a:ext cx="464845" cy="11226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B05539C-97EA-31D2-83F1-E0083D237F0A}"/>
                </a:ext>
              </a:extLst>
            </p:cNvPr>
            <p:cNvSpPr/>
            <p:nvPr/>
          </p:nvSpPr>
          <p:spPr>
            <a:xfrm>
              <a:off x="7341278" y="1648386"/>
              <a:ext cx="464845" cy="11226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</a:t>
              </a: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865BC8C-94AF-AEBB-7C03-1B42BBBCD758}"/>
                </a:ext>
              </a:extLst>
            </p:cNvPr>
            <p:cNvGrpSpPr/>
            <p:nvPr/>
          </p:nvGrpSpPr>
          <p:grpSpPr>
            <a:xfrm>
              <a:off x="9645195" y="2292332"/>
              <a:ext cx="288925" cy="1578614"/>
              <a:chOff x="8696381" y="1692292"/>
              <a:chExt cx="288925" cy="1578614"/>
            </a:xfrm>
          </p:grpSpPr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7749A2DE-ED3E-B982-61A3-6003DF568C0C}"/>
                  </a:ext>
                </a:extLst>
              </p:cNvPr>
              <p:cNvGrpSpPr/>
              <p:nvPr/>
            </p:nvGrpSpPr>
            <p:grpSpPr>
              <a:xfrm>
                <a:off x="8696381" y="1692292"/>
                <a:ext cx="288925" cy="1578614"/>
                <a:chOff x="8696381" y="1692292"/>
                <a:chExt cx="288925" cy="1578614"/>
              </a:xfrm>
            </p:grpSpPr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E68BCC55-2ECE-8338-EFBC-B92D7158F1C6}"/>
                    </a:ext>
                  </a:extLst>
                </p:cNvPr>
                <p:cNvSpPr/>
                <p:nvPr/>
              </p:nvSpPr>
              <p:spPr>
                <a:xfrm>
                  <a:off x="8696381" y="3098109"/>
                  <a:ext cx="288925" cy="172797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BCCB4DA6-9E38-86AC-6CD0-9692BBC829A6}"/>
                    </a:ext>
                  </a:extLst>
                </p:cNvPr>
                <p:cNvSpPr/>
                <p:nvPr/>
              </p:nvSpPr>
              <p:spPr>
                <a:xfrm>
                  <a:off x="8696381" y="2288573"/>
                  <a:ext cx="288925" cy="172797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47BE3FC9-E4BD-7ACB-0ABA-D8C10665BF43}"/>
                    </a:ext>
                  </a:extLst>
                </p:cNvPr>
                <p:cNvSpPr/>
                <p:nvPr/>
              </p:nvSpPr>
              <p:spPr>
                <a:xfrm>
                  <a:off x="8696381" y="2682565"/>
                  <a:ext cx="288925" cy="172797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11E5F067-0D06-2FCB-0A14-67C3FF9B0CF6}"/>
                    </a:ext>
                  </a:extLst>
                </p:cNvPr>
                <p:cNvSpPr/>
                <p:nvPr/>
              </p:nvSpPr>
              <p:spPr>
                <a:xfrm>
                  <a:off x="8696381" y="2887879"/>
                  <a:ext cx="288925" cy="172797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AB00F041-C4F0-F796-1EA4-EA362259A7EE}"/>
                    </a:ext>
                  </a:extLst>
                </p:cNvPr>
                <p:cNvSpPr/>
                <p:nvPr/>
              </p:nvSpPr>
              <p:spPr>
                <a:xfrm>
                  <a:off x="8696381" y="1692292"/>
                  <a:ext cx="288925" cy="172797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F828A38E-DE5A-255C-15FC-5AAEF0E02EE2}"/>
                    </a:ext>
                  </a:extLst>
                </p:cNvPr>
                <p:cNvSpPr/>
                <p:nvPr/>
              </p:nvSpPr>
              <p:spPr>
                <a:xfrm>
                  <a:off x="8696381" y="1892691"/>
                  <a:ext cx="288925" cy="172797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7C8646F5-8957-8A7F-DB6D-9368191F3206}"/>
                    </a:ext>
                  </a:extLst>
                </p:cNvPr>
                <p:cNvSpPr/>
                <p:nvPr/>
              </p:nvSpPr>
              <p:spPr>
                <a:xfrm>
                  <a:off x="8696381" y="2098005"/>
                  <a:ext cx="288925" cy="172797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9974A799-2EB8-7E10-CAF7-31A475977FE2}"/>
                  </a:ext>
                </a:extLst>
              </p:cNvPr>
              <p:cNvSpPr/>
              <p:nvPr/>
            </p:nvSpPr>
            <p:spPr>
              <a:xfrm>
                <a:off x="8696381" y="2482166"/>
                <a:ext cx="288925" cy="17279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0002BEB-6707-1EE6-DCF5-A4078A327DEB}"/>
                </a:ext>
              </a:extLst>
            </p:cNvPr>
            <p:cNvGrpSpPr/>
            <p:nvPr/>
          </p:nvGrpSpPr>
          <p:grpSpPr>
            <a:xfrm>
              <a:off x="9756879" y="2292332"/>
              <a:ext cx="669305" cy="1369230"/>
              <a:chOff x="8685654" y="1542419"/>
              <a:chExt cx="669305" cy="136923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9CFFDB7C-FD3D-EC90-A136-1C4FD75B8A64}"/>
                  </a:ext>
                </a:extLst>
              </p:cNvPr>
              <p:cNvSpPr/>
              <p:nvPr/>
            </p:nvSpPr>
            <p:spPr>
              <a:xfrm>
                <a:off x="8685656" y="1542419"/>
                <a:ext cx="669303" cy="16123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A91B01E2-4B7A-6E7E-EB4F-C94EABD58BF4}"/>
                  </a:ext>
                </a:extLst>
              </p:cNvPr>
              <p:cNvSpPr/>
              <p:nvPr/>
            </p:nvSpPr>
            <p:spPr>
              <a:xfrm>
                <a:off x="8685656" y="1756144"/>
                <a:ext cx="669303" cy="16123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24A13BD8-4942-5EE6-D34C-395E2ADF92FF}"/>
                  </a:ext>
                </a:extLst>
              </p:cNvPr>
              <p:cNvSpPr/>
              <p:nvPr/>
            </p:nvSpPr>
            <p:spPr>
              <a:xfrm>
                <a:off x="8685655" y="1946434"/>
                <a:ext cx="669303" cy="16123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EDDBF803-7C39-2758-27CA-F90E7BE6FD6B}"/>
                  </a:ext>
                </a:extLst>
              </p:cNvPr>
              <p:cNvSpPr/>
              <p:nvPr/>
            </p:nvSpPr>
            <p:spPr>
              <a:xfrm>
                <a:off x="8685655" y="2146099"/>
                <a:ext cx="669303" cy="14623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C12FAEB5-EDC7-4DDD-EE6A-B3472492BE92}"/>
                  </a:ext>
                </a:extLst>
              </p:cNvPr>
              <p:cNvSpPr/>
              <p:nvPr/>
            </p:nvSpPr>
            <p:spPr>
              <a:xfrm>
                <a:off x="8685655" y="2346402"/>
                <a:ext cx="669303" cy="16123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4042D3FC-89C7-B252-2B3E-C7A8A749AE04}"/>
                  </a:ext>
                </a:extLst>
              </p:cNvPr>
              <p:cNvSpPr/>
              <p:nvPr/>
            </p:nvSpPr>
            <p:spPr>
              <a:xfrm>
                <a:off x="8685655" y="2560127"/>
                <a:ext cx="669303" cy="16123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BFE0C435-B265-31E5-00F0-DFCC9FC6E843}"/>
                  </a:ext>
                </a:extLst>
              </p:cNvPr>
              <p:cNvSpPr/>
              <p:nvPr/>
            </p:nvSpPr>
            <p:spPr>
              <a:xfrm>
                <a:off x="8685654" y="2750418"/>
                <a:ext cx="669303" cy="16123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</p:grp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0CB4FF2-2A42-8F6B-699B-84F82136EDF8}"/>
                </a:ext>
              </a:extLst>
            </p:cNvPr>
            <p:cNvSpPr/>
            <p:nvPr/>
          </p:nvSpPr>
          <p:spPr>
            <a:xfrm>
              <a:off x="10853507" y="2338984"/>
              <a:ext cx="464845" cy="153196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6629E0CC-7F83-D7FB-8898-90CD66AB6717}"/>
                </a:ext>
              </a:extLst>
            </p:cNvPr>
            <p:cNvCxnSpPr>
              <a:cxnSpLocks/>
            </p:cNvCxnSpPr>
            <p:nvPr/>
          </p:nvCxnSpPr>
          <p:spPr>
            <a:xfrm>
              <a:off x="8469107" y="2452891"/>
              <a:ext cx="921236" cy="435722"/>
            </a:xfrm>
            <a:prstGeom prst="straightConnector1">
              <a:avLst/>
            </a:prstGeom>
            <a:ln w="63500"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CAF2AAC-48BE-CECB-83F9-253FF067717F}"/>
                </a:ext>
              </a:extLst>
            </p:cNvPr>
            <p:cNvSpPr/>
            <p:nvPr/>
          </p:nvSpPr>
          <p:spPr>
            <a:xfrm>
              <a:off x="7799804" y="3778530"/>
              <a:ext cx="669303" cy="16123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DCD551F4-9653-DE0F-765A-D9AEAE2ECC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10600" y="3324335"/>
              <a:ext cx="978753" cy="546611"/>
            </a:xfrm>
            <a:prstGeom prst="straightConnector1">
              <a:avLst/>
            </a:prstGeom>
            <a:ln w="63500"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151B131A-8B12-63FF-840E-009851C6381E}"/>
                    </a:ext>
                  </a:extLst>
                </p:cNvPr>
                <p:cNvSpPr txBox="1"/>
                <p:nvPr/>
              </p:nvSpPr>
              <p:spPr>
                <a:xfrm>
                  <a:off x="6789886" y="3549253"/>
                  <a:ext cx="1039595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∞×</m:t>
                        </m:r>
                      </m:oMath>
                    </m:oMathPara>
                  </a14:m>
                  <a:endParaRPr lang="en-US" sz="3600" dirty="0"/>
                </a:p>
              </p:txBody>
            </p:sp>
          </mc:Choice>
          <mc:Fallback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151B131A-8B12-63FF-840E-009851C638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89886" y="3549253"/>
                  <a:ext cx="1039595" cy="646331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46F60FA-9C70-7197-9126-088773C9148E}"/>
                </a:ext>
              </a:extLst>
            </p:cNvPr>
            <p:cNvSpPr txBox="1"/>
            <p:nvPr/>
          </p:nvSpPr>
          <p:spPr>
            <a:xfrm>
              <a:off x="10426182" y="2865449"/>
              <a:ext cx="538536" cy="461665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or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326CF30-A7B4-099A-AE11-8E41F2296F84}"/>
              </a:ext>
            </a:extLst>
          </p:cNvPr>
          <p:cNvGrpSpPr/>
          <p:nvPr/>
        </p:nvGrpSpPr>
        <p:grpSpPr>
          <a:xfrm>
            <a:off x="65391" y="3148335"/>
            <a:ext cx="5645557" cy="2486902"/>
            <a:chOff x="1152678" y="2766014"/>
            <a:chExt cx="8675199" cy="3424082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1E2D8957-5C25-1D24-1FDD-67B9C8101E2E}"/>
                </a:ext>
              </a:extLst>
            </p:cNvPr>
            <p:cNvGrpSpPr/>
            <p:nvPr/>
          </p:nvGrpSpPr>
          <p:grpSpPr>
            <a:xfrm>
              <a:off x="1152678" y="2895154"/>
              <a:ext cx="8675199" cy="3294942"/>
              <a:chOff x="1152678" y="2895154"/>
              <a:chExt cx="8675199" cy="3294942"/>
            </a:xfrm>
          </p:grpSpPr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604792AE-EEC3-796D-5187-4BDD55DD4035}"/>
                  </a:ext>
                </a:extLst>
              </p:cNvPr>
              <p:cNvSpPr/>
              <p:nvPr/>
            </p:nvSpPr>
            <p:spPr>
              <a:xfrm>
                <a:off x="2722227" y="3673353"/>
                <a:ext cx="6991350" cy="1949450"/>
              </a:xfrm>
              <a:custGeom>
                <a:avLst/>
                <a:gdLst>
                  <a:gd name="connsiteX0" fmla="*/ 0 w 6991350"/>
                  <a:gd name="connsiteY0" fmla="*/ 1593850 h 1949450"/>
                  <a:gd name="connsiteX1" fmla="*/ 0 w 6991350"/>
                  <a:gd name="connsiteY1" fmla="*/ 1949450 h 1949450"/>
                  <a:gd name="connsiteX2" fmla="*/ 6991350 w 6991350"/>
                  <a:gd name="connsiteY2" fmla="*/ 1949450 h 1949450"/>
                  <a:gd name="connsiteX3" fmla="*/ 6991350 w 6991350"/>
                  <a:gd name="connsiteY3" fmla="*/ 6350 h 1949450"/>
                  <a:gd name="connsiteX4" fmla="*/ 6324600 w 6991350"/>
                  <a:gd name="connsiteY4" fmla="*/ 0 h 1949450"/>
                  <a:gd name="connsiteX5" fmla="*/ 4845050 w 6991350"/>
                  <a:gd name="connsiteY5" fmla="*/ 76200 h 1949450"/>
                  <a:gd name="connsiteX6" fmla="*/ 3803650 w 6991350"/>
                  <a:gd name="connsiteY6" fmla="*/ 171450 h 1949450"/>
                  <a:gd name="connsiteX7" fmla="*/ 2705100 w 6991350"/>
                  <a:gd name="connsiteY7" fmla="*/ 361950 h 1949450"/>
                  <a:gd name="connsiteX8" fmla="*/ 1143000 w 6991350"/>
                  <a:gd name="connsiteY8" fmla="*/ 730250 h 1949450"/>
                  <a:gd name="connsiteX9" fmla="*/ 0 w 6991350"/>
                  <a:gd name="connsiteY9" fmla="*/ 1593850 h 1949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991350" h="1949450">
                    <a:moveTo>
                      <a:pt x="0" y="1593850"/>
                    </a:moveTo>
                    <a:lnTo>
                      <a:pt x="0" y="1949450"/>
                    </a:lnTo>
                    <a:lnTo>
                      <a:pt x="6991350" y="1949450"/>
                    </a:lnTo>
                    <a:lnTo>
                      <a:pt x="6991350" y="6350"/>
                    </a:lnTo>
                    <a:lnTo>
                      <a:pt x="6324600" y="0"/>
                    </a:lnTo>
                    <a:lnTo>
                      <a:pt x="4845050" y="76200"/>
                    </a:lnTo>
                    <a:lnTo>
                      <a:pt x="3803650" y="171450"/>
                    </a:lnTo>
                    <a:lnTo>
                      <a:pt x="2705100" y="361950"/>
                    </a:lnTo>
                    <a:lnTo>
                      <a:pt x="1143000" y="730250"/>
                    </a:lnTo>
                    <a:lnTo>
                      <a:pt x="0" y="1593850"/>
                    </a:lnTo>
                    <a:close/>
                  </a:path>
                </a:pathLst>
              </a:custGeom>
              <a:solidFill>
                <a:srgbClr val="00B050"/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62438584-3005-11EE-81C4-857743EC30DA}"/>
                  </a:ext>
                </a:extLst>
              </p:cNvPr>
              <p:cNvGrpSpPr/>
              <p:nvPr/>
            </p:nvGrpSpPr>
            <p:grpSpPr>
              <a:xfrm>
                <a:off x="1152678" y="3724153"/>
                <a:ext cx="8675199" cy="2465943"/>
                <a:chOff x="754551" y="2457450"/>
                <a:chExt cx="8675199" cy="2465943"/>
              </a:xfrm>
            </p:grpSpPr>
            <p:cxnSp>
              <p:nvCxnSpPr>
                <p:cNvPr id="81" name="Straight Arrow Connector 80">
                  <a:extLst>
                    <a:ext uri="{FF2B5EF4-FFF2-40B4-BE49-F238E27FC236}">
                      <a16:creationId xmlns:a16="http://schemas.microsoft.com/office/drawing/2014/main" id="{4C71ED22-EE51-F2B8-8568-FF86F54D2094}"/>
                    </a:ext>
                  </a:extLst>
                </p:cNvPr>
                <p:cNvCxnSpPr/>
                <p:nvPr/>
              </p:nvCxnSpPr>
              <p:spPr>
                <a:xfrm flipV="1">
                  <a:off x="2314575" y="2457450"/>
                  <a:ext cx="0" cy="190500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Straight Arrow Connector 81">
                  <a:extLst>
                    <a:ext uri="{FF2B5EF4-FFF2-40B4-BE49-F238E27FC236}">
                      <a16:creationId xmlns:a16="http://schemas.microsoft.com/office/drawing/2014/main" id="{540D6B4D-561C-3E02-3261-74DD4676FB2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14575" y="4362450"/>
                  <a:ext cx="7115175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83" name="TextBox 82">
                      <a:extLst>
                        <a:ext uri="{FF2B5EF4-FFF2-40B4-BE49-F238E27FC236}">
                          <a16:creationId xmlns:a16="http://schemas.microsoft.com/office/drawing/2014/main" id="{B9E32268-D246-1B09-84A2-6BF47E0E3F2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54551" y="2770327"/>
                      <a:ext cx="1436196" cy="1144155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sz="2400" dirty="0"/>
                        <a:t>Small </a:t>
                      </a:r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a14:m>
                      <a:endParaRPr lang="en-US" sz="2400" dirty="0"/>
                    </a:p>
                  </p:txBody>
                </p:sp>
              </mc:Choice>
              <mc:Fallback>
                <p:sp>
                  <p:nvSpPr>
                    <p:cNvPr id="83" name="TextBox 82">
                      <a:extLst>
                        <a:ext uri="{FF2B5EF4-FFF2-40B4-BE49-F238E27FC236}">
                          <a16:creationId xmlns:a16="http://schemas.microsoft.com/office/drawing/2014/main" id="{B9E32268-D246-1B09-84A2-6BF47E0E3F2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54551" y="2770327"/>
                      <a:ext cx="1436196" cy="1144155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5882" t="-5882" r="-13072"/>
                      </a:stretch>
                    </a:blipFill>
                    <a:ln w="254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84" name="TextBox 83">
                      <a:extLst>
                        <a:ext uri="{FF2B5EF4-FFF2-40B4-BE49-F238E27FC236}">
                          <a16:creationId xmlns:a16="http://schemas.microsoft.com/office/drawing/2014/main" id="{A60C116B-2103-4F72-A096-F73F99BCFD4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38625" y="4461728"/>
                      <a:ext cx="3267074" cy="461665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sz="2400" b="0" dirty="0"/>
                        <a:t>Large </a:t>
                      </a:r>
                      <a14:m>
                        <m:oMath xmlns:m="http://schemas.openxmlformats.org/officeDocument/2006/math"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oMath>
                      </a14:m>
                      <a:endParaRPr lang="en-US" sz="2400" dirty="0"/>
                    </a:p>
                  </p:txBody>
                </p:sp>
              </mc:Choice>
              <mc:Fallback>
                <p:sp>
                  <p:nvSpPr>
                    <p:cNvPr id="84" name="TextBox 83">
                      <a:extLst>
                        <a:ext uri="{FF2B5EF4-FFF2-40B4-BE49-F238E27FC236}">
                          <a16:creationId xmlns:a16="http://schemas.microsoft.com/office/drawing/2014/main" id="{A60C116B-2103-4F72-A096-F73F99BCFD4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238625" y="4461728"/>
                      <a:ext cx="3267074" cy="461665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t="-14545" b="-78182"/>
                      </a:stretch>
                    </a:blipFill>
                    <a:ln w="254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BD8AE8A4-6095-4FDA-0929-5D21CBDF6CA3}"/>
                  </a:ext>
                </a:extLst>
              </p:cNvPr>
              <p:cNvGrpSpPr/>
              <p:nvPr/>
            </p:nvGrpSpPr>
            <p:grpSpPr>
              <a:xfrm>
                <a:off x="3486478" y="4235858"/>
                <a:ext cx="6100156" cy="1238750"/>
                <a:chOff x="3088351" y="2969155"/>
                <a:chExt cx="6100156" cy="1238750"/>
              </a:xfrm>
            </p:grpSpPr>
            <p:sp>
              <p:nvSpPr>
                <p:cNvPr id="65" name="Oval 64">
                  <a:extLst>
                    <a:ext uri="{FF2B5EF4-FFF2-40B4-BE49-F238E27FC236}">
                      <a16:creationId xmlns:a16="http://schemas.microsoft.com/office/drawing/2014/main" id="{01C2F02F-E9B7-C241-8FF4-073B22266C2A}"/>
                    </a:ext>
                  </a:extLst>
                </p:cNvPr>
                <p:cNvSpPr/>
                <p:nvPr/>
              </p:nvSpPr>
              <p:spPr>
                <a:xfrm>
                  <a:off x="3367605" y="4001463"/>
                  <a:ext cx="66675" cy="6400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6" name="Oval 65">
                  <a:extLst>
                    <a:ext uri="{FF2B5EF4-FFF2-40B4-BE49-F238E27FC236}">
                      <a16:creationId xmlns:a16="http://schemas.microsoft.com/office/drawing/2014/main" id="{6F31FE50-8EFE-1EF2-56CB-4191478C44EA}"/>
                    </a:ext>
                  </a:extLst>
                </p:cNvPr>
                <p:cNvSpPr/>
                <p:nvPr/>
              </p:nvSpPr>
              <p:spPr>
                <a:xfrm>
                  <a:off x="3088351" y="3754387"/>
                  <a:ext cx="66675" cy="6400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7" name="Oval 66">
                  <a:extLst>
                    <a:ext uri="{FF2B5EF4-FFF2-40B4-BE49-F238E27FC236}">
                      <a16:creationId xmlns:a16="http://schemas.microsoft.com/office/drawing/2014/main" id="{D2F0FE5B-D779-7981-07A9-2ACF18689AA6}"/>
                    </a:ext>
                  </a:extLst>
                </p:cNvPr>
                <p:cNvSpPr/>
                <p:nvPr/>
              </p:nvSpPr>
              <p:spPr>
                <a:xfrm>
                  <a:off x="4124844" y="3317536"/>
                  <a:ext cx="66675" cy="6400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8" name="Oval 67">
                  <a:extLst>
                    <a:ext uri="{FF2B5EF4-FFF2-40B4-BE49-F238E27FC236}">
                      <a16:creationId xmlns:a16="http://schemas.microsoft.com/office/drawing/2014/main" id="{7E997E64-E196-E1A0-7810-2982C6993673}"/>
                    </a:ext>
                  </a:extLst>
                </p:cNvPr>
                <p:cNvSpPr/>
                <p:nvPr/>
              </p:nvSpPr>
              <p:spPr>
                <a:xfrm>
                  <a:off x="4511732" y="3764749"/>
                  <a:ext cx="66675" cy="6400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9" name="Oval 68">
                  <a:extLst>
                    <a:ext uri="{FF2B5EF4-FFF2-40B4-BE49-F238E27FC236}">
                      <a16:creationId xmlns:a16="http://schemas.microsoft.com/office/drawing/2014/main" id="{E79F5BB7-3C04-FA1A-E760-D3F59DC863F1}"/>
                    </a:ext>
                  </a:extLst>
                </p:cNvPr>
                <p:cNvSpPr/>
                <p:nvPr/>
              </p:nvSpPr>
              <p:spPr>
                <a:xfrm>
                  <a:off x="5395133" y="3301493"/>
                  <a:ext cx="66675" cy="6400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0" name="Oval 69">
                  <a:extLst>
                    <a:ext uri="{FF2B5EF4-FFF2-40B4-BE49-F238E27FC236}">
                      <a16:creationId xmlns:a16="http://schemas.microsoft.com/office/drawing/2014/main" id="{4495E748-83C3-D29F-8501-7C2B3B3A5E2F}"/>
                    </a:ext>
                  </a:extLst>
                </p:cNvPr>
                <p:cNvSpPr/>
                <p:nvPr/>
              </p:nvSpPr>
              <p:spPr>
                <a:xfrm>
                  <a:off x="4058169" y="4090049"/>
                  <a:ext cx="66675" cy="6400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1" name="Oval 70">
                  <a:extLst>
                    <a:ext uri="{FF2B5EF4-FFF2-40B4-BE49-F238E27FC236}">
                      <a16:creationId xmlns:a16="http://schemas.microsoft.com/office/drawing/2014/main" id="{BD9BC7E5-A0BE-CFF6-5A70-5FC441BB3452}"/>
                    </a:ext>
                  </a:extLst>
                </p:cNvPr>
                <p:cNvSpPr/>
                <p:nvPr/>
              </p:nvSpPr>
              <p:spPr>
                <a:xfrm>
                  <a:off x="6718242" y="2969155"/>
                  <a:ext cx="66675" cy="6400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2" name="Oval 71">
                  <a:extLst>
                    <a:ext uri="{FF2B5EF4-FFF2-40B4-BE49-F238E27FC236}">
                      <a16:creationId xmlns:a16="http://schemas.microsoft.com/office/drawing/2014/main" id="{DA770E40-78B9-1047-62A5-DFC72BF8268C}"/>
                    </a:ext>
                  </a:extLst>
                </p:cNvPr>
                <p:cNvSpPr/>
                <p:nvPr/>
              </p:nvSpPr>
              <p:spPr>
                <a:xfrm>
                  <a:off x="5224722" y="3925344"/>
                  <a:ext cx="66675" cy="6400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3" name="Oval 72">
                  <a:extLst>
                    <a:ext uri="{FF2B5EF4-FFF2-40B4-BE49-F238E27FC236}">
                      <a16:creationId xmlns:a16="http://schemas.microsoft.com/office/drawing/2014/main" id="{6319491F-FF47-D0D1-324C-AD6294C51180}"/>
                    </a:ext>
                  </a:extLst>
                </p:cNvPr>
                <p:cNvSpPr/>
                <p:nvPr/>
              </p:nvSpPr>
              <p:spPr>
                <a:xfrm>
                  <a:off x="6004733" y="3911093"/>
                  <a:ext cx="66675" cy="6400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4" name="Oval 73">
                  <a:extLst>
                    <a:ext uri="{FF2B5EF4-FFF2-40B4-BE49-F238E27FC236}">
                      <a16:creationId xmlns:a16="http://schemas.microsoft.com/office/drawing/2014/main" id="{1A7C0751-68BC-C65B-86ED-F6AC47DB8426}"/>
                    </a:ext>
                  </a:extLst>
                </p:cNvPr>
                <p:cNvSpPr/>
                <p:nvPr/>
              </p:nvSpPr>
              <p:spPr>
                <a:xfrm>
                  <a:off x="6834621" y="3349540"/>
                  <a:ext cx="66675" cy="6400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5" name="Oval 74">
                  <a:extLst>
                    <a:ext uri="{FF2B5EF4-FFF2-40B4-BE49-F238E27FC236}">
                      <a16:creationId xmlns:a16="http://schemas.microsoft.com/office/drawing/2014/main" id="{DCEED9F1-0951-C6AF-80BC-8E4D4AA30F61}"/>
                    </a:ext>
                  </a:extLst>
                </p:cNvPr>
                <p:cNvSpPr/>
                <p:nvPr/>
              </p:nvSpPr>
              <p:spPr>
                <a:xfrm>
                  <a:off x="7240559" y="3882474"/>
                  <a:ext cx="66675" cy="6400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6" name="Oval 75">
                  <a:extLst>
                    <a:ext uri="{FF2B5EF4-FFF2-40B4-BE49-F238E27FC236}">
                      <a16:creationId xmlns:a16="http://schemas.microsoft.com/office/drawing/2014/main" id="{4943BE02-D22E-F60B-B1ED-AB61D54B7267}"/>
                    </a:ext>
                  </a:extLst>
                </p:cNvPr>
                <p:cNvSpPr/>
                <p:nvPr/>
              </p:nvSpPr>
              <p:spPr>
                <a:xfrm>
                  <a:off x="9121832" y="3349540"/>
                  <a:ext cx="66675" cy="6400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7" name="Oval 76">
                  <a:extLst>
                    <a:ext uri="{FF2B5EF4-FFF2-40B4-BE49-F238E27FC236}">
                      <a16:creationId xmlns:a16="http://schemas.microsoft.com/office/drawing/2014/main" id="{5D4B20F2-1133-E421-EA13-46E042219351}"/>
                    </a:ext>
                  </a:extLst>
                </p:cNvPr>
                <p:cNvSpPr/>
                <p:nvPr/>
              </p:nvSpPr>
              <p:spPr>
                <a:xfrm>
                  <a:off x="8826557" y="3791987"/>
                  <a:ext cx="66675" cy="6400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8" name="Oval 77">
                  <a:extLst>
                    <a:ext uri="{FF2B5EF4-FFF2-40B4-BE49-F238E27FC236}">
                      <a16:creationId xmlns:a16="http://schemas.microsoft.com/office/drawing/2014/main" id="{8705E798-0EB0-3363-8F58-908711DBA725}"/>
                    </a:ext>
                  </a:extLst>
                </p:cNvPr>
                <p:cNvSpPr/>
                <p:nvPr/>
              </p:nvSpPr>
              <p:spPr>
                <a:xfrm>
                  <a:off x="7740707" y="3067050"/>
                  <a:ext cx="66675" cy="6400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Oval 78">
                  <a:extLst>
                    <a:ext uri="{FF2B5EF4-FFF2-40B4-BE49-F238E27FC236}">
                      <a16:creationId xmlns:a16="http://schemas.microsoft.com/office/drawing/2014/main" id="{FFD62FC5-32E4-A5D8-93C1-E1AE4E2BA214}"/>
                    </a:ext>
                  </a:extLst>
                </p:cNvPr>
                <p:cNvSpPr/>
                <p:nvPr/>
              </p:nvSpPr>
              <p:spPr>
                <a:xfrm>
                  <a:off x="8142344" y="4143897"/>
                  <a:ext cx="66675" cy="6400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Oval 79">
                  <a:extLst>
                    <a:ext uri="{FF2B5EF4-FFF2-40B4-BE49-F238E27FC236}">
                      <a16:creationId xmlns:a16="http://schemas.microsoft.com/office/drawing/2014/main" id="{1E632057-B90C-CF6A-1362-5E575DBDEE62}"/>
                    </a:ext>
                  </a:extLst>
                </p:cNvPr>
                <p:cNvSpPr/>
                <p:nvPr/>
              </p:nvSpPr>
              <p:spPr>
                <a:xfrm>
                  <a:off x="8045507" y="3371850"/>
                  <a:ext cx="66675" cy="6400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080FDADA-7ED6-3FC7-FBC4-6011BB159A0D}"/>
                  </a:ext>
                </a:extLst>
              </p:cNvPr>
              <p:cNvGrpSpPr/>
              <p:nvPr/>
            </p:nvGrpSpPr>
            <p:grpSpPr>
              <a:xfrm>
                <a:off x="2699021" y="3643641"/>
                <a:ext cx="6376381" cy="1646581"/>
                <a:chOff x="2300894" y="2376938"/>
                <a:chExt cx="6376381" cy="1646581"/>
              </a:xfrm>
              <a:solidFill>
                <a:schemeClr val="accent2">
                  <a:lumMod val="75000"/>
                </a:schemeClr>
              </a:solidFill>
            </p:grpSpPr>
            <p:sp>
              <p:nvSpPr>
                <p:cNvPr id="59" name="Oval 58">
                  <a:extLst>
                    <a:ext uri="{FF2B5EF4-FFF2-40B4-BE49-F238E27FC236}">
                      <a16:creationId xmlns:a16="http://schemas.microsoft.com/office/drawing/2014/main" id="{F5933EDC-5B41-BF0D-AAA7-CB01C1174F46}"/>
                    </a:ext>
                  </a:extLst>
                </p:cNvPr>
                <p:cNvSpPr/>
                <p:nvPr/>
              </p:nvSpPr>
              <p:spPr>
                <a:xfrm>
                  <a:off x="5001664" y="2738323"/>
                  <a:ext cx="66675" cy="64008"/>
                </a:xfrm>
                <a:prstGeom prst="ellipse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0" name="Oval 59">
                  <a:extLst>
                    <a:ext uri="{FF2B5EF4-FFF2-40B4-BE49-F238E27FC236}">
                      <a16:creationId xmlns:a16="http://schemas.microsoft.com/office/drawing/2014/main" id="{DA325814-EF8B-E90C-82C8-51F2D0D5940E}"/>
                    </a:ext>
                  </a:extLst>
                </p:cNvPr>
                <p:cNvSpPr/>
                <p:nvPr/>
              </p:nvSpPr>
              <p:spPr>
                <a:xfrm>
                  <a:off x="3434280" y="3107131"/>
                  <a:ext cx="66675" cy="64008"/>
                </a:xfrm>
                <a:prstGeom prst="ellipse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1" name="Oval 60">
                  <a:extLst>
                    <a:ext uri="{FF2B5EF4-FFF2-40B4-BE49-F238E27FC236}">
                      <a16:creationId xmlns:a16="http://schemas.microsoft.com/office/drawing/2014/main" id="{FF56997F-84C7-1F70-0148-6A2666CB8574}"/>
                    </a:ext>
                  </a:extLst>
                </p:cNvPr>
                <p:cNvSpPr/>
                <p:nvPr/>
              </p:nvSpPr>
              <p:spPr>
                <a:xfrm>
                  <a:off x="2300894" y="3959511"/>
                  <a:ext cx="66675" cy="64008"/>
                </a:xfrm>
                <a:prstGeom prst="ellipse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2" name="Oval 61">
                  <a:extLst>
                    <a:ext uri="{FF2B5EF4-FFF2-40B4-BE49-F238E27FC236}">
                      <a16:creationId xmlns:a16="http://schemas.microsoft.com/office/drawing/2014/main" id="{18B3578C-421C-5C2D-E288-9342346458E7}"/>
                    </a:ext>
                  </a:extLst>
                </p:cNvPr>
                <p:cNvSpPr/>
                <p:nvPr/>
              </p:nvSpPr>
              <p:spPr>
                <a:xfrm>
                  <a:off x="6096000" y="2547806"/>
                  <a:ext cx="66675" cy="64008"/>
                </a:xfrm>
                <a:prstGeom prst="ellipse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3" name="Oval 62">
                  <a:extLst>
                    <a:ext uri="{FF2B5EF4-FFF2-40B4-BE49-F238E27FC236}">
                      <a16:creationId xmlns:a16="http://schemas.microsoft.com/office/drawing/2014/main" id="{45C0A7F9-1B1D-5E5F-4800-222654776AA1}"/>
                    </a:ext>
                  </a:extLst>
                </p:cNvPr>
                <p:cNvSpPr/>
                <p:nvPr/>
              </p:nvSpPr>
              <p:spPr>
                <a:xfrm>
                  <a:off x="7131107" y="2457450"/>
                  <a:ext cx="66675" cy="64008"/>
                </a:xfrm>
                <a:prstGeom prst="ellipse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ECE399BF-F050-7ADC-8E51-54EA5E25A56F}"/>
                    </a:ext>
                  </a:extLst>
                </p:cNvPr>
                <p:cNvSpPr/>
                <p:nvPr/>
              </p:nvSpPr>
              <p:spPr>
                <a:xfrm>
                  <a:off x="8610600" y="2376938"/>
                  <a:ext cx="66675" cy="64008"/>
                </a:xfrm>
                <a:prstGeom prst="ellipse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C8E34305-BBC6-B9C7-567C-997791FAEDD4}"/>
                  </a:ext>
                </a:extLst>
              </p:cNvPr>
              <p:cNvGrpSpPr/>
              <p:nvPr/>
            </p:nvGrpSpPr>
            <p:grpSpPr>
              <a:xfrm>
                <a:off x="3899082" y="2895154"/>
                <a:ext cx="5008361" cy="1340704"/>
                <a:chOff x="3500955" y="1628451"/>
                <a:chExt cx="5008361" cy="1340704"/>
              </a:xfrm>
            </p:grpSpPr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53" name="Rectangle: Rounded Corners 52">
                      <a:extLst>
                        <a:ext uri="{FF2B5EF4-FFF2-40B4-BE49-F238E27FC236}">
                          <a16:creationId xmlns:a16="http://schemas.microsoft.com/office/drawing/2014/main" id="{626992FA-4869-6F59-6B23-DCB65EDB8B3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40473" y="1628451"/>
                      <a:ext cx="4568546" cy="520836"/>
                    </a:xfrm>
                    <a:prstGeom prst="roundRect">
                      <a:avLst/>
                    </a:prstGeom>
                    <a:noFill/>
                    <a:ln w="38100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 xmlns:m="http://schemas.openxmlformats.org/officeDocument/2006/math">
                          <m: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a14:m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-convoy policies</a:t>
                      </a:r>
                    </a:p>
                  </p:txBody>
                </p:sp>
              </mc:Choice>
              <mc:Fallback>
                <p:sp>
                  <p:nvSpPr>
                    <p:cNvPr id="53" name="Rectangle: Rounded Corners 52">
                      <a:extLst>
                        <a:ext uri="{FF2B5EF4-FFF2-40B4-BE49-F238E27FC236}">
                          <a16:creationId xmlns:a16="http://schemas.microsoft.com/office/drawing/2014/main" id="{626992FA-4869-6F59-6B23-DCB65EDB8B3F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640473" y="1628451"/>
                      <a:ext cx="4568546" cy="520836"/>
                    </a:xfrm>
                    <a:prstGeom prst="roundRect">
                      <a:avLst/>
                    </a:prstGeom>
                    <a:blipFill>
                      <a:blip r:embed="rId5"/>
                      <a:stretch>
                        <a:fillRect t="-17647" r="-607" b="-38235"/>
                      </a:stretch>
                    </a:blipFill>
                    <a:ln w="38100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54" name="Straight Arrow Connector 53">
                  <a:extLst>
                    <a:ext uri="{FF2B5EF4-FFF2-40B4-BE49-F238E27FC236}">
                      <a16:creationId xmlns:a16="http://schemas.microsoft.com/office/drawing/2014/main" id="{4C6EC992-8136-BD55-EC81-F1348427904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500955" y="2143790"/>
                  <a:ext cx="286354" cy="825365"/>
                </a:xfrm>
                <a:prstGeom prst="straightConnector1">
                  <a:avLst/>
                </a:prstGeom>
                <a:ln w="25400">
                  <a:solidFill>
                    <a:schemeClr val="accent2">
                      <a:lumMod val="60000"/>
                      <a:lumOff val="4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Arrow Connector 54">
                  <a:extLst>
                    <a:ext uri="{FF2B5EF4-FFF2-40B4-BE49-F238E27FC236}">
                      <a16:creationId xmlns:a16="http://schemas.microsoft.com/office/drawing/2014/main" id="{313E5452-66B1-9149-76C8-22FB3BFCBA4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035001" y="2143790"/>
                  <a:ext cx="27708" cy="436020"/>
                </a:xfrm>
                <a:prstGeom prst="straightConnector1">
                  <a:avLst/>
                </a:prstGeom>
                <a:ln w="25400">
                  <a:solidFill>
                    <a:schemeClr val="accent2">
                      <a:lumMod val="60000"/>
                      <a:lumOff val="4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Arrow Connector 55">
                  <a:extLst>
                    <a:ext uri="{FF2B5EF4-FFF2-40B4-BE49-F238E27FC236}">
                      <a16:creationId xmlns:a16="http://schemas.microsoft.com/office/drawing/2014/main" id="{8AE8CB3E-1DC3-5E9D-96BE-764EB933096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995379" y="2165316"/>
                  <a:ext cx="87675" cy="292134"/>
                </a:xfrm>
                <a:prstGeom prst="straightConnector1">
                  <a:avLst/>
                </a:prstGeom>
                <a:ln w="25400">
                  <a:solidFill>
                    <a:schemeClr val="accent2">
                      <a:lumMod val="60000"/>
                      <a:lumOff val="4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Arrow Connector 56">
                  <a:extLst>
                    <a:ext uri="{FF2B5EF4-FFF2-40B4-BE49-F238E27FC236}">
                      <a16:creationId xmlns:a16="http://schemas.microsoft.com/office/drawing/2014/main" id="{CEA1A408-D26B-2A97-9C7D-30D772AF3A2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057567" y="2155637"/>
                  <a:ext cx="71726" cy="212914"/>
                </a:xfrm>
                <a:prstGeom prst="straightConnector1">
                  <a:avLst/>
                </a:prstGeom>
                <a:ln w="25400">
                  <a:solidFill>
                    <a:schemeClr val="accent2">
                      <a:lumMod val="60000"/>
                      <a:lumOff val="4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Arrow Connector 57">
                  <a:extLst>
                    <a:ext uri="{FF2B5EF4-FFF2-40B4-BE49-F238E27FC236}">
                      <a16:creationId xmlns:a16="http://schemas.microsoft.com/office/drawing/2014/main" id="{1FFBA2CE-BB42-B3D7-1AED-778AB05ABC3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032080" y="2120479"/>
                  <a:ext cx="477236" cy="186894"/>
                </a:xfrm>
                <a:prstGeom prst="straightConnector1">
                  <a:avLst/>
                </a:prstGeom>
                <a:ln w="25400">
                  <a:solidFill>
                    <a:schemeClr val="accent2">
                      <a:lumMod val="60000"/>
                      <a:lumOff val="4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33711899-56B7-9CA6-5A96-E1FE8F3015D1}"/>
                </a:ext>
              </a:extLst>
            </p:cNvPr>
            <p:cNvSpPr/>
            <p:nvPr/>
          </p:nvSpPr>
          <p:spPr>
            <a:xfrm>
              <a:off x="2396476" y="2766014"/>
              <a:ext cx="1304701" cy="892483"/>
            </a:xfrm>
            <a:prstGeom prst="roundRect">
              <a:avLst/>
            </a:prstGeom>
            <a:noFill/>
            <a:ln w="381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Only</a:t>
              </a:r>
              <a:br>
                <a:rPr lang="en-US" sz="2400" dirty="0">
                  <a:solidFill>
                    <a:schemeClr val="tx1"/>
                  </a:solidFill>
                </a:rPr>
              </a:br>
              <a:r>
                <a:rPr lang="en-US" sz="2400" dirty="0">
                  <a:solidFill>
                    <a:schemeClr val="tx1"/>
                  </a:solidFill>
                </a:rPr>
                <a:t>larges</a:t>
              </a:r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7A1ECFE2-A3E9-D4C4-63CB-00574F5DC1EA}"/>
                </a:ext>
              </a:extLst>
            </p:cNvPr>
            <p:cNvCxnSpPr>
              <a:cxnSpLocks/>
              <a:stCxn id="46" idx="2"/>
            </p:cNvCxnSpPr>
            <p:nvPr/>
          </p:nvCxnSpPr>
          <p:spPr>
            <a:xfrm flipH="1">
              <a:off x="2821550" y="3658497"/>
              <a:ext cx="227277" cy="1388508"/>
            </a:xfrm>
            <a:prstGeom prst="straightConnector1">
              <a:avLst/>
            </a:prstGeom>
            <a:ln w="254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3A4D284C-DAD7-BC95-265E-2E11DB887076}"/>
              </a:ext>
            </a:extLst>
          </p:cNvPr>
          <p:cNvGrpSpPr/>
          <p:nvPr/>
        </p:nvGrpSpPr>
        <p:grpSpPr>
          <a:xfrm>
            <a:off x="6101129" y="3539629"/>
            <a:ext cx="5571839" cy="1732170"/>
            <a:chOff x="3476631" y="1917023"/>
            <a:chExt cx="5571839" cy="1732170"/>
          </a:xfrm>
        </p:grpSpPr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530A239E-24D6-104C-BC3A-A289D7EF06D4}"/>
                </a:ext>
              </a:extLst>
            </p:cNvPr>
            <p:cNvSpPr txBox="1"/>
            <p:nvPr/>
          </p:nvSpPr>
          <p:spPr>
            <a:xfrm>
              <a:off x="3476631" y="2455217"/>
              <a:ext cx="1580029" cy="461665"/>
            </a:xfrm>
            <a:prstGeom prst="rect">
              <a:avLst/>
            </a:prstGeom>
            <a:noFill/>
            <a:ln w="38100">
              <a:solidFill>
                <a:srgbClr val="00B0F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All policies</a:t>
              </a:r>
            </a:p>
          </p:txBody>
        </p: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23D4186B-2687-AD09-1C85-195743D5B2FD}"/>
                </a:ext>
              </a:extLst>
            </p:cNvPr>
            <p:cNvGrpSpPr/>
            <p:nvPr/>
          </p:nvGrpSpPr>
          <p:grpSpPr>
            <a:xfrm>
              <a:off x="3984150" y="1933061"/>
              <a:ext cx="2961692" cy="1716132"/>
              <a:chOff x="3984150" y="1933061"/>
              <a:chExt cx="2961692" cy="1716132"/>
            </a:xfrm>
          </p:grpSpPr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9BE04C56-F800-48B4-8FE8-29760A25FC12}"/>
                  </a:ext>
                </a:extLst>
              </p:cNvPr>
              <p:cNvSpPr txBox="1"/>
              <p:nvPr/>
            </p:nvSpPr>
            <p:spPr>
              <a:xfrm>
                <a:off x="5326030" y="2448864"/>
                <a:ext cx="1619812" cy="1200329"/>
              </a:xfrm>
              <a:prstGeom prst="rect">
                <a:avLst/>
              </a:prstGeom>
              <a:noFill/>
              <a:ln w="38100">
                <a:solidFill>
                  <a:srgbClr val="00B0F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Mixture-of-thresholds policies</a:t>
                </a:r>
              </a:p>
            </p:txBody>
          </p:sp>
          <p:cxnSp>
            <p:nvCxnSpPr>
              <p:cNvPr id="92" name="Straight Arrow Connector 91">
                <a:extLst>
                  <a:ext uri="{FF2B5EF4-FFF2-40B4-BE49-F238E27FC236}">
                    <a16:creationId xmlns:a16="http://schemas.microsoft.com/office/drawing/2014/main" id="{D4B8CE3E-8F30-3B67-0C4D-E902591C40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67219" y="2647910"/>
                <a:ext cx="242952" cy="0"/>
              </a:xfrm>
              <a:prstGeom prst="straightConnector1">
                <a:avLst/>
              </a:prstGeom>
              <a:ln w="38100">
                <a:solidFill>
                  <a:srgbClr val="0B0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55355A91-F34E-C8B9-5486-215E6A1BE73E}"/>
                  </a:ext>
                </a:extLst>
              </p:cNvPr>
              <p:cNvSpPr txBox="1"/>
              <p:nvPr/>
            </p:nvSpPr>
            <p:spPr>
              <a:xfrm>
                <a:off x="3984150" y="1933061"/>
                <a:ext cx="1668837" cy="461665"/>
              </a:xfrm>
              <a:prstGeom prst="rect">
                <a:avLst/>
              </a:prstGeom>
              <a:noFill/>
              <a:ln w="38100">
                <a:solidFill>
                  <a:srgbClr val="0B00F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Replication!</a:t>
                </a:r>
              </a:p>
            </p:txBody>
          </p:sp>
        </p:grp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BCD4A69A-E136-32D9-DE62-4D200A33724F}"/>
                </a:ext>
              </a:extLst>
            </p:cNvPr>
            <p:cNvGrpSpPr/>
            <p:nvPr/>
          </p:nvGrpSpPr>
          <p:grpSpPr>
            <a:xfrm>
              <a:off x="6586684" y="1917023"/>
              <a:ext cx="2461786" cy="1367722"/>
              <a:chOff x="6586684" y="1917023"/>
              <a:chExt cx="2461786" cy="1367722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95" name="TextBox 94">
                    <a:extLst>
                      <a:ext uri="{FF2B5EF4-FFF2-40B4-BE49-F238E27FC236}">
                        <a16:creationId xmlns:a16="http://schemas.microsoft.com/office/drawing/2014/main" id="{700F1CBF-E1AA-23FB-4D56-A15DF36AFFED}"/>
                      </a:ext>
                    </a:extLst>
                  </p:cNvPr>
                  <p:cNvSpPr txBox="1"/>
                  <p:nvPr/>
                </p:nvSpPr>
                <p:spPr>
                  <a:xfrm>
                    <a:off x="7258330" y="2453748"/>
                    <a:ext cx="1790140" cy="830997"/>
                  </a:xfrm>
                  <a:prstGeom prst="rect">
                    <a:avLst/>
                  </a:prstGeom>
                  <a:noFill/>
                  <a:ln w="38100">
                    <a:solidFill>
                      <a:srgbClr val="00B0F0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2400" dirty="0"/>
                      <a:t>Hold-at-</a:t>
                    </a:r>
                    <a14:m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a14:m>
                    <a:r>
                      <a:rPr lang="en-US" sz="2400" dirty="0"/>
                      <a:t> or drop-to-</a:t>
                    </a:r>
                    <a14:m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a14:m>
                    <a:r>
                      <a:rPr lang="en-US" sz="2400" dirty="0"/>
                      <a:t>.</a:t>
                    </a:r>
                  </a:p>
                </p:txBody>
              </p:sp>
            </mc:Choice>
            <mc:Fallback>
              <p:sp>
                <p:nvSpPr>
                  <p:cNvPr id="95" name="TextBox 94">
                    <a:extLst>
                      <a:ext uri="{FF2B5EF4-FFF2-40B4-BE49-F238E27FC236}">
                        <a16:creationId xmlns:a16="http://schemas.microsoft.com/office/drawing/2014/main" id="{700F1CBF-E1AA-23FB-4D56-A15DF36AFFE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258330" y="2453748"/>
                    <a:ext cx="1790140" cy="830997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1667" t="-3521" r="-6000" b="-13380"/>
                    </a:stretch>
                  </a:blipFill>
                  <a:ln w="38100">
                    <a:solidFill>
                      <a:srgbClr val="00B0F0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96" name="Straight Arrow Connector 95">
                <a:extLst>
                  <a:ext uri="{FF2B5EF4-FFF2-40B4-BE49-F238E27FC236}">
                    <a16:creationId xmlns:a16="http://schemas.microsoft.com/office/drawing/2014/main" id="{EE58A5F0-7F71-C2CE-BADD-4F4022B4C1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63254" y="2678172"/>
                <a:ext cx="271825" cy="7878"/>
              </a:xfrm>
              <a:prstGeom prst="straightConnector1">
                <a:avLst/>
              </a:prstGeom>
              <a:ln w="38100">
                <a:solidFill>
                  <a:srgbClr val="0B0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FA9BA811-7107-914F-2841-693CBDE9CE6D}"/>
                  </a:ext>
                </a:extLst>
              </p:cNvPr>
              <p:cNvSpPr txBox="1"/>
              <p:nvPr/>
            </p:nvSpPr>
            <p:spPr>
              <a:xfrm>
                <a:off x="6586684" y="1917023"/>
                <a:ext cx="1537167" cy="461665"/>
              </a:xfrm>
              <a:prstGeom prst="rect">
                <a:avLst/>
              </a:prstGeom>
              <a:noFill/>
              <a:ln w="38100">
                <a:solidFill>
                  <a:srgbClr val="0B00F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Convexity!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25590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813</Words>
  <Application>Microsoft Office PowerPoint</Application>
  <PresentationFormat>Widescreen</PresentationFormat>
  <Paragraphs>191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Office Theme</vt:lpstr>
      <vt:lpstr>Pareto-Optimal Scheduling in the Half-Batch Multiserver-job Model</vt:lpstr>
      <vt:lpstr>Motivation: Supercomputing Scheduling</vt:lpstr>
      <vt:lpstr>Prioritizing Large-requirement jobs</vt:lpstr>
      <vt:lpstr>Existing MSJ Models can’t capture tradeoff</vt:lpstr>
      <vt:lpstr>Prior work on Nonpreemptible MSJ</vt:lpstr>
      <vt:lpstr>Half-batch MSJ Model [WG ‘26]</vt:lpstr>
      <vt:lpstr>Pareto-optimal policies</vt:lpstr>
      <vt:lpstr>Pareto-optimal policies</vt:lpstr>
      <vt:lpstr>Convoy Policies</vt:lpstr>
      <vt:lpstr>Main result</vt:lpstr>
      <vt:lpstr>Proof outline: Narrowing optimality</vt:lpstr>
      <vt:lpstr>Proof details: Replication lemma</vt:lpstr>
      <vt:lpstr>Proof details: Convexity lemma</vt:lpstr>
      <vt:lpstr>Empirical validation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Pareto-Optimal Scheduling in the Half-Batch Multiserver-job Model</dc:title>
  <dc:creator>Izzy Grosof</dc:creator>
  <cp:lastModifiedBy>Izzy Grosof</cp:lastModifiedBy>
  <cp:revision>16</cp:revision>
  <dcterms:created xsi:type="dcterms:W3CDTF">2026-09-15T18:31:57Z</dcterms:created>
  <dcterms:modified xsi:type="dcterms:W3CDTF">2026-09-15T21:26:58Z</dcterms:modified>
</cp:coreProperties>
</file>